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Lst>
  <p:sldSz cy="5143500" cx="9144000"/>
  <p:notesSz cx="6858000" cy="9144000"/>
  <p:embeddedFontLst>
    <p:embeddedFont>
      <p:font typeface="Google Sans Code"/>
      <p:regular r:id="rId129"/>
      <p:bold r:id="rId130"/>
      <p:italic r:id="rId131"/>
      <p:boldItalic r:id="rId132"/>
    </p:embeddedFont>
    <p:embeddedFont>
      <p:font typeface="Encode Sans"/>
      <p:regular r:id="rId133"/>
      <p:bold r:id="rId134"/>
    </p:embeddedFont>
    <p:embeddedFont>
      <p:font typeface="Encode Sans SemiBold"/>
      <p:regular r:id="rId135"/>
      <p:bold r:id="rId136"/>
    </p:embeddedFont>
    <p:embeddedFont>
      <p:font typeface="Google Sans"/>
      <p:regular r:id="rId137"/>
      <p:bold r:id="rId138"/>
      <p:italic r:id="rId139"/>
      <p:boldItalic r:id="rId140"/>
    </p:embeddedFont>
    <p:embeddedFont>
      <p:font typeface="Google Sans Flex Medium"/>
      <p:regular r:id="rId141"/>
      <p:bold r:id="rId142"/>
    </p:embeddedFont>
    <p:embeddedFont>
      <p:font typeface="Google Sans Flex"/>
      <p:regular r:id="rId143"/>
      <p:bold r:id="rId144"/>
    </p:embeddedFont>
    <p:embeddedFont>
      <p:font typeface="Roboto Mono"/>
      <p:regular r:id="rId145"/>
      <p:bold r:id="rId146"/>
      <p:italic r:id="rId147"/>
      <p:boldItalic r:id="rId148"/>
    </p:embeddedFont>
    <p:embeddedFont>
      <p:font typeface="Google Sans Flex SemiBold"/>
      <p:regular r:id="rId149"/>
      <p:bold r:id="rId1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FC44EA-366B-4BA2-B91E-D6936A406109}">
  <a:tblStyle styleId="{DBFC44EA-366B-4BA2-B91E-D6936A406109}" styleName="Table_0">
    <a:wholeTbl>
      <a:tcTxStyle>
        <a:font>
          <a:latin typeface="Arial"/>
          <a:ea typeface="Arial"/>
          <a:cs typeface="Arial"/>
        </a:font>
        <a:srgbClr val="000000"/>
      </a:tcTxStyle>
      <a:tcStyle>
        <a:tcBdr>
          <a:left>
            <a:ln cap="flat" cmpd="sng" w="6350">
              <a:solidFill>
                <a:srgbClr val="CCCCCC"/>
              </a:solidFill>
              <a:prstDash val="solid"/>
              <a:round/>
              <a:headEnd len="sm" w="sm" type="none"/>
              <a:tailEnd len="sm" w="sm" type="none"/>
            </a:ln>
          </a:left>
          <a:right>
            <a:ln cap="flat" cmpd="sng" w="6350">
              <a:solidFill>
                <a:srgbClr val="CCCCCC"/>
              </a:solidFill>
              <a:prstDash val="solid"/>
              <a:round/>
              <a:headEnd len="sm" w="sm" type="none"/>
              <a:tailEnd len="sm" w="sm" type="none"/>
            </a:ln>
          </a:right>
          <a:top>
            <a:ln cap="flat" cmpd="sng" w="6350">
              <a:solidFill>
                <a:srgbClr val="CCCCCC"/>
              </a:solidFill>
              <a:prstDash val="solid"/>
              <a:round/>
              <a:headEnd len="sm" w="sm" type="none"/>
              <a:tailEnd len="sm" w="sm" type="none"/>
            </a:ln>
          </a:top>
          <a:bottom>
            <a:ln cap="flat" cmpd="sng" w="6350">
              <a:solidFill>
                <a:srgbClr val="CCCCCC"/>
              </a:solidFill>
              <a:prstDash val="solid"/>
              <a:round/>
              <a:headEnd len="sm" w="sm" type="none"/>
              <a:tailEnd len="sm" w="sm" type="none"/>
            </a:ln>
          </a:bottom>
          <a:insideH>
            <a:ln cap="flat" cmpd="sng" w="6350">
              <a:solidFill>
                <a:srgbClr val="CCCCCC"/>
              </a:solidFill>
              <a:prstDash val="solid"/>
              <a:round/>
              <a:headEnd len="sm" w="sm" type="none"/>
              <a:tailEnd len="sm" w="sm" type="none"/>
            </a:ln>
          </a:insideH>
          <a:insideV>
            <a:ln cap="flat" cmpd="sng" w="6350">
              <a:solidFill>
                <a:srgbClr val="CCCCCC"/>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2E992ED-6B25-4E48-9C0A-EFB178C94E49}" styleName="Table_1">
    <a:wholeTbl>
      <a:tcTxStyle>
        <a:font>
          <a:latin typeface="Arial"/>
          <a:ea typeface="Arial"/>
          <a:cs typeface="Arial"/>
        </a:font>
        <a:srgbClr val="000000"/>
      </a:tcTxStyle>
      <a:tcStyle>
        <a:tcBdr>
          <a:left>
            <a:ln cap="flat" cmpd="sng">
              <a:solidFill>
                <a:srgbClr val="1F1F1F"/>
              </a:solidFill>
              <a:prstDash val="solid"/>
              <a:round/>
              <a:headEnd len="sm" w="sm" type="none"/>
              <a:tailEnd len="sm" w="sm" type="none"/>
            </a:ln>
          </a:left>
          <a:right>
            <a:ln cap="flat" cmpd="sng">
              <a:solidFill>
                <a:srgbClr val="1F1F1F"/>
              </a:solidFill>
              <a:prstDash val="solid"/>
              <a:round/>
              <a:headEnd len="sm" w="sm" type="none"/>
              <a:tailEnd len="sm" w="sm" type="none"/>
            </a:ln>
          </a:right>
          <a:top>
            <a:ln cap="flat" cmpd="sng">
              <a:solidFill>
                <a:srgbClr val="1F1F1F"/>
              </a:solidFill>
              <a:prstDash val="solid"/>
              <a:round/>
              <a:headEnd len="sm" w="sm" type="none"/>
              <a:tailEnd len="sm" w="sm" type="none"/>
            </a:ln>
          </a:top>
          <a:bottom>
            <a:ln cap="flat" cmpd="sng">
              <a:solidFill>
                <a:srgbClr val="1F1F1F"/>
              </a:solidFill>
              <a:prstDash val="solid"/>
              <a:round/>
              <a:headEnd len="sm" w="sm" type="none"/>
              <a:tailEnd len="sm" w="sm" type="none"/>
            </a:ln>
          </a:bottom>
          <a:insideH>
            <a:ln cap="flat" cmpd="sng">
              <a:solidFill>
                <a:srgbClr val="1F1F1F"/>
              </a:solidFill>
              <a:prstDash val="solid"/>
              <a:round/>
              <a:headEnd len="sm" w="sm" type="none"/>
              <a:tailEnd len="sm" w="sm" type="none"/>
            </a:ln>
          </a:insideH>
          <a:insideV>
            <a:ln cap="flat" cmpd="sng">
              <a:solidFill>
                <a:srgbClr val="1F1F1F"/>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font" Target="fonts/GoogleSansCode-regular.fntdata"/><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font" Target="fonts/GoogleSansFlexSemiBold-bold.fntdata"/><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font" Target="fonts/GoogleSansFlexSemiBold-regular.fntdata"/><Relationship Id="rId4" Type="http://schemas.openxmlformats.org/officeDocument/2006/relationships/slideMaster" Target="slideMasters/slideMaster1.xml"/><Relationship Id="rId148" Type="http://schemas.openxmlformats.org/officeDocument/2006/relationships/font" Target="fonts/RobotoMono-boldItalic.fntdata"/><Relationship Id="rId9" Type="http://schemas.openxmlformats.org/officeDocument/2006/relationships/slide" Target="slides/slide4.xml"/><Relationship Id="rId143" Type="http://schemas.openxmlformats.org/officeDocument/2006/relationships/font" Target="fonts/GoogleSansFlex-regular.fntdata"/><Relationship Id="rId142" Type="http://schemas.openxmlformats.org/officeDocument/2006/relationships/font" Target="fonts/GoogleSansFlexMedium-bold.fntdata"/><Relationship Id="rId141" Type="http://schemas.openxmlformats.org/officeDocument/2006/relationships/font" Target="fonts/GoogleSansFlexMedium-regular.fntdata"/><Relationship Id="rId140" Type="http://schemas.openxmlformats.org/officeDocument/2006/relationships/font" Target="fonts/GoogleSans-boldItalic.fntdata"/><Relationship Id="rId5" Type="http://schemas.openxmlformats.org/officeDocument/2006/relationships/notesMaster" Target="notesMasters/notesMaster1.xml"/><Relationship Id="rId147" Type="http://schemas.openxmlformats.org/officeDocument/2006/relationships/font" Target="fonts/RobotoMono-italic.fntdata"/><Relationship Id="rId6" Type="http://schemas.openxmlformats.org/officeDocument/2006/relationships/slide" Target="slides/slide1.xml"/><Relationship Id="rId146" Type="http://schemas.openxmlformats.org/officeDocument/2006/relationships/font" Target="fonts/RobotoMono-bold.fntdata"/><Relationship Id="rId7" Type="http://schemas.openxmlformats.org/officeDocument/2006/relationships/slide" Target="slides/slide2.xml"/><Relationship Id="rId145" Type="http://schemas.openxmlformats.org/officeDocument/2006/relationships/font" Target="fonts/RobotoMono-regular.fntdata"/><Relationship Id="rId8" Type="http://schemas.openxmlformats.org/officeDocument/2006/relationships/slide" Target="slides/slide3.xml"/><Relationship Id="rId144" Type="http://schemas.openxmlformats.org/officeDocument/2006/relationships/font" Target="fonts/GoogleSansFlex-bold.fntdata"/><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font" Target="fonts/GoogleSans-italic.fntdata"/><Relationship Id="rId138" Type="http://schemas.openxmlformats.org/officeDocument/2006/relationships/font" Target="fonts/GoogleSans-bold.fntdata"/><Relationship Id="rId137" Type="http://schemas.openxmlformats.org/officeDocument/2006/relationships/font" Target="fonts/GoogleSans-regular.fntdata"/><Relationship Id="rId132" Type="http://schemas.openxmlformats.org/officeDocument/2006/relationships/font" Target="fonts/GoogleSansCode-boldItalic.fntdata"/><Relationship Id="rId131" Type="http://schemas.openxmlformats.org/officeDocument/2006/relationships/font" Target="fonts/GoogleSansCode-italic.fntdata"/><Relationship Id="rId130" Type="http://schemas.openxmlformats.org/officeDocument/2006/relationships/font" Target="fonts/GoogleSansCode-bold.fntdata"/><Relationship Id="rId136" Type="http://schemas.openxmlformats.org/officeDocument/2006/relationships/font" Target="fonts/EncodeSansSemiBold-bold.fntdata"/><Relationship Id="rId135" Type="http://schemas.openxmlformats.org/officeDocument/2006/relationships/font" Target="fonts/EncodeSansSemiBold-regular.fntdata"/><Relationship Id="rId134" Type="http://schemas.openxmlformats.org/officeDocument/2006/relationships/font" Target="fonts/EncodeSans-bold.fntdata"/><Relationship Id="rId133" Type="http://schemas.openxmlformats.org/officeDocument/2006/relationships/font" Target="fonts/EncodeSans-regular.fntdata"/><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70f55463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70f55463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70f55463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70f55463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70f554639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70f554639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adc09ee4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adc09ee4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7380b83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7380b83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7380b83a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7380b83a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7380b83a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7380b83a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7380b83a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7380b83a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7380b83a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7380b83a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7380b83a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7380b83a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7380b83a1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7380b83a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7380b83a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7380b83a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7380b83a1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f7380b83a1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7380b83a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7380b83a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7380b83a1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f7380b83a1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ad78734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ad78734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ad787340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fad787340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857bc726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f857bc726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857bc726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857bc726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857bc726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f857bc726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f857bc7269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f857bc7269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857bc726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f857bc726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857bc726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f857bc726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fadc09ee42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fadc09ee42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f87bc9cec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f87bc9cec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857bc7269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f857bc726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857bc726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f857bc726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f857bc726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f857bc7269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f857bc7269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f857bc7269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fadc09ee42_5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fadc09ee42_5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fadc09ee42_5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fadc09ee42_5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fadc09ee42_5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fadc09ee42_5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f857bc7269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f857bc726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f857bc726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f857bc726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f857bc726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f857bc726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f882c86f0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f882c86f0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f857bc7269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f857bc7269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f857bc7269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f857bc7269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f857bc7269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f857bc7269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f857bc7269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f857bc7269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f857bc7269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f857bc7269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857bc7269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f857bc7269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f857bc7269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f857bc7269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f857bc726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f857bc726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f857bc7269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f857bc7269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f857bc7269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f857bc7269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f857bc7269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f857bc7269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f857bc7269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f857bc7269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f857bc7269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f857bc7269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f857bc726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f857bc726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f857bc7269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f857bc7269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fadc09ee42_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fadc09ee42_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fadc09ee42_5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fadc09ee42_5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fadc09ee42_5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fadc09ee42_5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857bc7269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f857bc7269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f7521616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f7521616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f75216169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f75216169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854786ef3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f854786ef3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f854786ef3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f854786ef3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f854786ef3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f854786ef3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f854786ef3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f854786ef3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f75216169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f75216169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f75216169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f75216169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f75216169a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f75216169a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f75216169a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f75216169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f75216169a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f75216169a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75216169a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f75216169a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f75216169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f75216169a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f75216169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3f75216169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f75216169a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f75216169a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75216169a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f75216169a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f75216169a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3f75216169a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f75216169a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f75216169a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f75216169a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f75216169a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f75216169a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3f75216169a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f75216169a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f75216169a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f75216169a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f75216169a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f3fb22f5a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f3fb22f5a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f854786ef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f854786ef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f3fb22f5a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3f3fb22f5a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f3fb22f5a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3f3fb22f5a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3fb22f5a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f3fb22f5a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f3fb22f5a4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3f3fb22f5a4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f3fb22f5a4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3f3fb22f5a4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f3fb22f5a4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3f3fb22f5a4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f3fb22f5a4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3f3fb22f5a4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f3fb22f5a4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f3fb22f5a4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f3fb22f5a4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3f3fb22f5a4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f3fb22f5a4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3f3fb22f5a4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f3fb22f5a4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3f3fb22f5a4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f3fb22f5a4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3f3fb22f5a4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f3fb22f5a4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3f3fb22f5a4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f3fb22f5a4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f3fb22f5a4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f3fb22f5a4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3f3fb22f5a4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3fb22f5a4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3f3fb22f5a4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f3fb22f5a4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f3fb22f5a4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f3fb22f5a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3f3fb22f5a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3f3fb22f5a4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7" name="Google Shape;1097;g3f3fb22f5a4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fad49e6d7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3fad49e6d7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3fad49e6d7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3fad49e6d7a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f854786ef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f854786ef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854786ef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3f854786ef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3f854786ef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3f854786ef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3f854786ef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3f854786ef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f854786ef3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3f854786ef3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f854786ef3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3f854786ef3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f854786ef3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3f854786ef3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3f854786ef3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3f854786ef3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3f854786ef3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3f854786ef3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3f854786ef3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2" name="Google Shape;1252;g3f854786ef3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3f854786ef3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8" name="Google Shape;1278;g3f854786ef3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3f854786ef3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5" name="Google Shape;1295;g3f854786ef3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3f854786ef3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3f854786ef3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g3f854786ef3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2" name="Google Shape;1322;g3f854786ef3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3f854786ef3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3f854786ef3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g3f854786ef3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8" name="Google Shape;1348;g3f854786ef3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3f854786ef3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3f854786ef3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3f854786ef3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5" name="Google Shape;1365;g3f854786ef3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3f854786ef3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g3f854786ef3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3f87a319b0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3f87a319b0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3f87a319b0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9" name="Google Shape;1399;g3f87a319b0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3f87a319b0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6" name="Google Shape;1406;g3f87a319b0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147573"/>
            <a:ext cx="5460600" cy="325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3" name="Google Shape;13;p2"/>
          <p:cNvSpPr/>
          <p:nvPr/>
        </p:nvSpPr>
        <p:spPr>
          <a:xfrm>
            <a:off x="0" y="-47700"/>
            <a:ext cx="137100" cy="5238900"/>
          </a:xfrm>
          <a:prstGeom prst="rect">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idx="1" type="body"/>
          </p:nvPr>
        </p:nvSpPr>
        <p:spPr>
          <a:xfrm>
            <a:off x="311700" y="900000"/>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0" name="Google Shape;20;p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lvl1pPr lvl="0">
              <a:lnSpc>
                <a:spcPct val="10000"/>
              </a:lnSpc>
              <a:spcBef>
                <a:spcPts val="0"/>
              </a:spcBef>
              <a:spcAft>
                <a:spcPts val="0"/>
              </a:spcAft>
              <a:buSzPts val="800"/>
              <a:buFont typeface="Google Sans Flex Medium"/>
              <a:buNone/>
              <a:defRPr sz="800">
                <a:latin typeface="Google Sans Flex Medium"/>
                <a:ea typeface="Google Sans Flex Medium"/>
                <a:cs typeface="Google Sans Flex Medium"/>
                <a:sym typeface="Google Sans Flex Medium"/>
              </a:defRPr>
            </a:lvl1pPr>
            <a:lvl2pPr lvl="1" algn="ctr">
              <a:lnSpc>
                <a:spcPct val="100000"/>
              </a:lnSpc>
              <a:spcBef>
                <a:spcPts val="0"/>
              </a:spcBef>
              <a:spcAft>
                <a:spcPts val="0"/>
              </a:spcAft>
              <a:buSzPts val="800"/>
              <a:buFont typeface="Google Sans Flex Medium"/>
              <a:buNone/>
              <a:defRPr sz="800">
                <a:latin typeface="Google Sans Flex Medium"/>
                <a:ea typeface="Google Sans Flex Medium"/>
                <a:cs typeface="Google Sans Flex Medium"/>
                <a:sym typeface="Google Sans Flex Medium"/>
              </a:defRPr>
            </a:lvl2pPr>
            <a:lvl3pPr lvl="2" algn="ctr">
              <a:lnSpc>
                <a:spcPct val="100000"/>
              </a:lnSpc>
              <a:spcBef>
                <a:spcPts val="0"/>
              </a:spcBef>
              <a:spcAft>
                <a:spcPts val="0"/>
              </a:spcAft>
              <a:buSzPts val="800"/>
              <a:buFont typeface="Google Sans Flex Medium"/>
              <a:buNone/>
              <a:defRPr sz="800">
                <a:latin typeface="Google Sans Flex Medium"/>
                <a:ea typeface="Google Sans Flex Medium"/>
                <a:cs typeface="Google Sans Flex Medium"/>
                <a:sym typeface="Google Sans Flex Medium"/>
              </a:defRPr>
            </a:lvl3pPr>
            <a:lvl4pPr lvl="3" algn="ctr">
              <a:lnSpc>
                <a:spcPct val="100000"/>
              </a:lnSpc>
              <a:spcBef>
                <a:spcPts val="0"/>
              </a:spcBef>
              <a:spcAft>
                <a:spcPts val="0"/>
              </a:spcAft>
              <a:buSzPts val="800"/>
              <a:buFont typeface="Google Sans Flex Medium"/>
              <a:buNone/>
              <a:defRPr sz="800">
                <a:latin typeface="Google Sans Flex Medium"/>
                <a:ea typeface="Google Sans Flex Medium"/>
                <a:cs typeface="Google Sans Flex Medium"/>
                <a:sym typeface="Google Sans Flex Medium"/>
              </a:defRPr>
            </a:lvl4pPr>
            <a:lvl5pPr lvl="4" algn="ctr">
              <a:lnSpc>
                <a:spcPct val="100000"/>
              </a:lnSpc>
              <a:spcBef>
                <a:spcPts val="0"/>
              </a:spcBef>
              <a:spcAft>
                <a:spcPts val="0"/>
              </a:spcAft>
              <a:buSzPts val="800"/>
              <a:buFont typeface="Google Sans Flex Medium"/>
              <a:buNone/>
              <a:defRPr sz="800">
                <a:latin typeface="Google Sans Flex Medium"/>
                <a:ea typeface="Google Sans Flex Medium"/>
                <a:cs typeface="Google Sans Flex Medium"/>
                <a:sym typeface="Google Sans Flex Medium"/>
              </a:defRPr>
            </a:lvl5pPr>
            <a:lvl6pPr lvl="5" algn="ctr">
              <a:lnSpc>
                <a:spcPct val="100000"/>
              </a:lnSpc>
              <a:spcBef>
                <a:spcPts val="0"/>
              </a:spcBef>
              <a:spcAft>
                <a:spcPts val="0"/>
              </a:spcAft>
              <a:buSzPts val="800"/>
              <a:buFont typeface="Google Sans Flex Medium"/>
              <a:buNone/>
              <a:defRPr sz="800">
                <a:latin typeface="Google Sans Flex Medium"/>
                <a:ea typeface="Google Sans Flex Medium"/>
                <a:cs typeface="Google Sans Flex Medium"/>
                <a:sym typeface="Google Sans Flex Medium"/>
              </a:defRPr>
            </a:lvl6pPr>
            <a:lvl7pPr lvl="6" algn="ctr">
              <a:lnSpc>
                <a:spcPct val="100000"/>
              </a:lnSpc>
              <a:spcBef>
                <a:spcPts val="0"/>
              </a:spcBef>
              <a:spcAft>
                <a:spcPts val="0"/>
              </a:spcAft>
              <a:buSzPts val="800"/>
              <a:buFont typeface="Google Sans Flex Medium"/>
              <a:buNone/>
              <a:defRPr sz="800">
                <a:latin typeface="Google Sans Flex Medium"/>
                <a:ea typeface="Google Sans Flex Medium"/>
                <a:cs typeface="Google Sans Flex Medium"/>
                <a:sym typeface="Google Sans Flex Medium"/>
              </a:defRPr>
            </a:lvl7pPr>
            <a:lvl8pPr lvl="7" algn="ctr">
              <a:lnSpc>
                <a:spcPct val="100000"/>
              </a:lnSpc>
              <a:spcBef>
                <a:spcPts val="0"/>
              </a:spcBef>
              <a:spcAft>
                <a:spcPts val="0"/>
              </a:spcAft>
              <a:buSzPts val="800"/>
              <a:buFont typeface="Google Sans Flex Medium"/>
              <a:buNone/>
              <a:defRPr sz="800">
                <a:latin typeface="Google Sans Flex Medium"/>
                <a:ea typeface="Google Sans Flex Medium"/>
                <a:cs typeface="Google Sans Flex Medium"/>
                <a:sym typeface="Google Sans Flex Medium"/>
              </a:defRPr>
            </a:lvl8pPr>
            <a:lvl9pPr lvl="8" algn="ctr">
              <a:lnSpc>
                <a:spcPct val="100000"/>
              </a:lnSpc>
              <a:spcBef>
                <a:spcPts val="0"/>
              </a:spcBef>
              <a:spcAft>
                <a:spcPts val="0"/>
              </a:spcAft>
              <a:buSzPts val="800"/>
              <a:buFont typeface="Google Sans Flex Medium"/>
              <a:buNone/>
              <a:defRPr sz="800">
                <a:latin typeface="Google Sans Flex Medium"/>
                <a:ea typeface="Google Sans Flex Medium"/>
                <a:cs typeface="Google Sans Flex Medium"/>
                <a:sym typeface="Google Sans Flex Medium"/>
              </a:defRPr>
            </a:lvl9pPr>
          </a:lstStyle>
          <a:p/>
        </p:txBody>
      </p:sp>
      <p:sp>
        <p:nvSpPr>
          <p:cNvPr id="21" name="Google Shape;21;p4"/>
          <p:cNvSpPr txBox="1"/>
          <p:nvPr>
            <p:ph type="title"/>
          </p:nvPr>
        </p:nvSpPr>
        <p:spPr>
          <a:xfrm>
            <a:off x="311700" y="308850"/>
            <a:ext cx="8520600" cy="4377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2400"/>
              <a:buFont typeface="Google Sans Flex SemiBold"/>
              <a:buNone/>
              <a:defRPr sz="2400">
                <a:solidFill>
                  <a:schemeClr val="dk1"/>
                </a:solidFill>
                <a:latin typeface="Google Sans Flex SemiBold"/>
                <a:ea typeface="Google Sans Flex SemiBold"/>
                <a:cs typeface="Google Sans Flex SemiBold"/>
                <a:sym typeface="Google Sans Flex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6" name="Google Shape;26;p5"/>
          <p:cNvSpPr txBox="1"/>
          <p:nvPr>
            <p:ph type="title"/>
          </p:nvPr>
        </p:nvSpPr>
        <p:spPr>
          <a:xfrm>
            <a:off x="311700" y="308850"/>
            <a:ext cx="8520600" cy="4377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2400"/>
              <a:buFont typeface="Google Sans Flex SemiBold"/>
              <a:buNone/>
              <a:defRPr sz="2400">
                <a:solidFill>
                  <a:schemeClr val="dk1"/>
                </a:solidFill>
                <a:latin typeface="Google Sans Flex SemiBold"/>
                <a:ea typeface="Google Sans Flex SemiBold"/>
                <a:cs typeface="Google Sans Flex SemiBold"/>
                <a:sym typeface="Google Sans Flex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9" name="Google Shape;29;p6"/>
          <p:cNvSpPr txBox="1"/>
          <p:nvPr>
            <p:ph type="title"/>
          </p:nvPr>
        </p:nvSpPr>
        <p:spPr>
          <a:xfrm>
            <a:off x="311700" y="308850"/>
            <a:ext cx="8520600" cy="4377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2400"/>
              <a:buFont typeface="Google Sans Flex SemiBold"/>
              <a:buNone/>
              <a:defRPr sz="2400">
                <a:solidFill>
                  <a:schemeClr val="dk1"/>
                </a:solidFill>
                <a:latin typeface="Google Sans Flex SemiBold"/>
                <a:ea typeface="Google Sans Flex SemiBold"/>
                <a:cs typeface="Google Sans Flex SemiBold"/>
                <a:sym typeface="Google Sans Flex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F4F3EE"/>
        </a:solidFill>
      </p:bgPr>
    </p:bg>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920500" y="1267200"/>
            <a:ext cx="2516700" cy="1003800"/>
          </a:xfrm>
          <a:prstGeom prst="rect">
            <a:avLst/>
          </a:prstGeom>
        </p:spPr>
        <p:txBody>
          <a:bodyPr anchorCtr="0" anchor="b" bIns="91425" lIns="91425" spcFirstLastPara="1" rIns="91425" wrap="square" tIns="91425">
            <a:normAutofit/>
          </a:bodyPr>
          <a:lstStyle>
            <a:lvl1pPr lvl="0">
              <a:spcBef>
                <a:spcPts val="0"/>
              </a:spcBef>
              <a:spcAft>
                <a:spcPts val="0"/>
              </a:spcAft>
              <a:buClr>
                <a:srgbClr val="CE6948"/>
              </a:buClr>
              <a:buSzPts val="6000"/>
              <a:buFont typeface="Google Sans Flex"/>
              <a:buNone/>
              <a:defRPr b="1" sz="6000">
                <a:solidFill>
                  <a:srgbClr val="CE6948"/>
                </a:solidFill>
                <a:latin typeface="Google Sans Flex"/>
                <a:ea typeface="Google Sans Flex"/>
                <a:cs typeface="Google Sans Flex"/>
                <a:sym typeface="Google Sans Flex"/>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920500" y="3453036"/>
            <a:ext cx="7551900" cy="13008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50" name="Google Shape;50;p11"/>
          <p:cNvSpPr/>
          <p:nvPr/>
        </p:nvSpPr>
        <p:spPr>
          <a:xfrm>
            <a:off x="0" y="-47700"/>
            <a:ext cx="365700" cy="5238900"/>
          </a:xfrm>
          <a:prstGeom prst="rect">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51" name="Google Shape;51;p11"/>
          <p:cNvSpPr txBox="1"/>
          <p:nvPr>
            <p:ph hasCustomPrompt="1" idx="2" type="title"/>
          </p:nvPr>
        </p:nvSpPr>
        <p:spPr>
          <a:xfrm>
            <a:off x="920500" y="2437713"/>
            <a:ext cx="7551900" cy="904800"/>
          </a:xfrm>
          <a:prstGeom prst="rect">
            <a:avLst/>
          </a:prstGeom>
        </p:spPr>
        <p:txBody>
          <a:bodyPr anchorCtr="0" anchor="b" bIns="91425" lIns="91425" spcFirstLastPara="1" rIns="91425" wrap="square" tIns="91425">
            <a:normAutofit/>
          </a:bodyPr>
          <a:lstStyle>
            <a:lvl1pPr lvl="0">
              <a:spcBef>
                <a:spcPts val="0"/>
              </a:spcBef>
              <a:spcAft>
                <a:spcPts val="0"/>
              </a:spcAft>
              <a:buSzPts val="4600"/>
              <a:buFont typeface="Google Sans Flex"/>
              <a:buNone/>
              <a:defRPr b="1" sz="4600">
                <a:latin typeface="Google Sans Flex"/>
                <a:ea typeface="Google Sans Flex"/>
                <a:cs typeface="Google Sans Flex"/>
                <a:sym typeface="Google Sans Flex"/>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 name="Google Shape;52;p11"/>
          <p:cNvSpPr/>
          <p:nvPr/>
        </p:nvSpPr>
        <p:spPr>
          <a:xfrm>
            <a:off x="9027200" y="1657350"/>
            <a:ext cx="137100" cy="1828800"/>
          </a:xfrm>
          <a:prstGeom prst="rect">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11700" y="900000"/>
            <a:ext cx="8520600" cy="34164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rgbClr val="666666"/>
              </a:buClr>
              <a:buSzPts val="1000"/>
              <a:buFont typeface="Google Sans Flex"/>
              <a:buChar char="●"/>
              <a:defRPr sz="1300">
                <a:solidFill>
                  <a:srgbClr val="666666"/>
                </a:solidFill>
                <a:latin typeface="Google Sans Flex"/>
                <a:ea typeface="Google Sans Flex"/>
                <a:cs typeface="Google Sans Flex"/>
                <a:sym typeface="Google Sans Flex"/>
              </a:defRPr>
            </a:lvl1pPr>
            <a:lvl2pPr indent="-292100" lvl="1" marL="914400">
              <a:lnSpc>
                <a:spcPct val="115000"/>
              </a:lnSpc>
              <a:spcBef>
                <a:spcPts val="0"/>
              </a:spcBef>
              <a:spcAft>
                <a:spcPts val="0"/>
              </a:spcAft>
              <a:buClr>
                <a:srgbClr val="666666"/>
              </a:buClr>
              <a:buSzPts val="1000"/>
              <a:buFont typeface="Google Sans Flex"/>
              <a:buChar char="○"/>
              <a:defRPr sz="1300">
                <a:solidFill>
                  <a:srgbClr val="666666"/>
                </a:solidFill>
                <a:latin typeface="Google Sans Flex"/>
                <a:ea typeface="Google Sans Flex"/>
                <a:cs typeface="Google Sans Flex"/>
                <a:sym typeface="Google Sans Flex"/>
              </a:defRPr>
            </a:lvl2pPr>
            <a:lvl3pPr indent="-292100" lvl="2" marL="1371600">
              <a:lnSpc>
                <a:spcPct val="115000"/>
              </a:lnSpc>
              <a:spcBef>
                <a:spcPts val="0"/>
              </a:spcBef>
              <a:spcAft>
                <a:spcPts val="0"/>
              </a:spcAft>
              <a:buClr>
                <a:srgbClr val="666666"/>
              </a:buClr>
              <a:buSzPts val="1000"/>
              <a:buFont typeface="Google Sans Flex"/>
              <a:buChar char="■"/>
              <a:defRPr sz="1300">
                <a:solidFill>
                  <a:srgbClr val="666666"/>
                </a:solidFill>
                <a:latin typeface="Google Sans Flex"/>
                <a:ea typeface="Google Sans Flex"/>
                <a:cs typeface="Google Sans Flex"/>
                <a:sym typeface="Google Sans Flex"/>
              </a:defRPr>
            </a:lvl3pPr>
            <a:lvl4pPr indent="-292100" lvl="3" marL="1828800">
              <a:lnSpc>
                <a:spcPct val="115000"/>
              </a:lnSpc>
              <a:spcBef>
                <a:spcPts val="0"/>
              </a:spcBef>
              <a:spcAft>
                <a:spcPts val="0"/>
              </a:spcAft>
              <a:buClr>
                <a:srgbClr val="666666"/>
              </a:buClr>
              <a:buSzPts val="1000"/>
              <a:buFont typeface="Google Sans Flex"/>
              <a:buChar char="●"/>
              <a:defRPr sz="1300">
                <a:solidFill>
                  <a:srgbClr val="666666"/>
                </a:solidFill>
                <a:latin typeface="Google Sans Flex"/>
                <a:ea typeface="Google Sans Flex"/>
                <a:cs typeface="Google Sans Flex"/>
                <a:sym typeface="Google Sans Flex"/>
              </a:defRPr>
            </a:lvl4pPr>
            <a:lvl5pPr indent="-292100" lvl="4" marL="2286000">
              <a:lnSpc>
                <a:spcPct val="115000"/>
              </a:lnSpc>
              <a:spcBef>
                <a:spcPts val="0"/>
              </a:spcBef>
              <a:spcAft>
                <a:spcPts val="0"/>
              </a:spcAft>
              <a:buClr>
                <a:srgbClr val="666666"/>
              </a:buClr>
              <a:buSzPts val="1000"/>
              <a:buFont typeface="Google Sans Flex"/>
              <a:buChar char="○"/>
              <a:defRPr sz="1300">
                <a:solidFill>
                  <a:srgbClr val="666666"/>
                </a:solidFill>
                <a:latin typeface="Google Sans Flex"/>
                <a:ea typeface="Google Sans Flex"/>
                <a:cs typeface="Google Sans Flex"/>
                <a:sym typeface="Google Sans Flex"/>
              </a:defRPr>
            </a:lvl5pPr>
            <a:lvl6pPr indent="-292100" lvl="5" marL="2743200">
              <a:lnSpc>
                <a:spcPct val="115000"/>
              </a:lnSpc>
              <a:spcBef>
                <a:spcPts val="0"/>
              </a:spcBef>
              <a:spcAft>
                <a:spcPts val="0"/>
              </a:spcAft>
              <a:buClr>
                <a:srgbClr val="666666"/>
              </a:buClr>
              <a:buSzPts val="1000"/>
              <a:buFont typeface="Google Sans Flex"/>
              <a:buChar char="■"/>
              <a:defRPr sz="1300">
                <a:solidFill>
                  <a:srgbClr val="666666"/>
                </a:solidFill>
                <a:latin typeface="Google Sans Flex"/>
                <a:ea typeface="Google Sans Flex"/>
                <a:cs typeface="Google Sans Flex"/>
                <a:sym typeface="Google Sans Flex"/>
              </a:defRPr>
            </a:lvl6pPr>
            <a:lvl7pPr indent="-292100" lvl="6" marL="3200400">
              <a:lnSpc>
                <a:spcPct val="115000"/>
              </a:lnSpc>
              <a:spcBef>
                <a:spcPts val="0"/>
              </a:spcBef>
              <a:spcAft>
                <a:spcPts val="0"/>
              </a:spcAft>
              <a:buClr>
                <a:srgbClr val="666666"/>
              </a:buClr>
              <a:buSzPts val="1000"/>
              <a:buFont typeface="Google Sans Flex"/>
              <a:buChar char="●"/>
              <a:defRPr sz="1300">
                <a:solidFill>
                  <a:srgbClr val="666666"/>
                </a:solidFill>
                <a:latin typeface="Google Sans Flex"/>
                <a:ea typeface="Google Sans Flex"/>
                <a:cs typeface="Google Sans Flex"/>
                <a:sym typeface="Google Sans Flex"/>
              </a:defRPr>
            </a:lvl7pPr>
            <a:lvl8pPr indent="-292100" lvl="7" marL="3657600">
              <a:lnSpc>
                <a:spcPct val="115000"/>
              </a:lnSpc>
              <a:spcBef>
                <a:spcPts val="0"/>
              </a:spcBef>
              <a:spcAft>
                <a:spcPts val="0"/>
              </a:spcAft>
              <a:buClr>
                <a:srgbClr val="666666"/>
              </a:buClr>
              <a:buSzPts val="1000"/>
              <a:buFont typeface="Google Sans Flex"/>
              <a:buChar char="○"/>
              <a:defRPr sz="1300">
                <a:solidFill>
                  <a:srgbClr val="666666"/>
                </a:solidFill>
                <a:latin typeface="Google Sans Flex"/>
                <a:ea typeface="Google Sans Flex"/>
                <a:cs typeface="Google Sans Flex"/>
                <a:sym typeface="Google Sans Flex"/>
              </a:defRPr>
            </a:lvl8pPr>
            <a:lvl9pPr indent="-292100" lvl="8" marL="4114800">
              <a:lnSpc>
                <a:spcPct val="115000"/>
              </a:lnSpc>
              <a:spcBef>
                <a:spcPts val="0"/>
              </a:spcBef>
              <a:spcAft>
                <a:spcPts val="0"/>
              </a:spcAft>
              <a:buClr>
                <a:srgbClr val="666666"/>
              </a:buClr>
              <a:buSzPts val="1000"/>
              <a:buFont typeface="Google Sans Flex"/>
              <a:buChar char="■"/>
              <a:defRPr sz="1300">
                <a:solidFill>
                  <a:srgbClr val="666666"/>
                </a:solidFill>
                <a:latin typeface="Google Sans Flex"/>
                <a:ea typeface="Google Sans Flex"/>
                <a:cs typeface="Google Sans Flex"/>
                <a:sym typeface="Google Sans Flex"/>
              </a:defRPr>
            </a:lvl9pPr>
          </a:lstStyle>
          <a:p/>
        </p:txBody>
      </p:sp>
      <p:sp>
        <p:nvSpPr>
          <p:cNvPr id="7" name="Google Shape;7;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Google Sans Flex Medium"/>
                <a:ea typeface="Google Sans Flex Medium"/>
                <a:cs typeface="Google Sans Flex Medium"/>
                <a:sym typeface="Google Sans Flex Medium"/>
              </a:defRPr>
            </a:lvl1pPr>
            <a:lvl2pPr lvl="1" algn="r">
              <a:buNone/>
              <a:defRPr sz="1000">
                <a:solidFill>
                  <a:schemeClr val="dk2"/>
                </a:solidFill>
                <a:latin typeface="Google Sans Flex Medium"/>
                <a:ea typeface="Google Sans Flex Medium"/>
                <a:cs typeface="Google Sans Flex Medium"/>
                <a:sym typeface="Google Sans Flex Medium"/>
              </a:defRPr>
            </a:lvl2pPr>
            <a:lvl3pPr lvl="2" algn="r">
              <a:buNone/>
              <a:defRPr sz="1000">
                <a:solidFill>
                  <a:schemeClr val="dk2"/>
                </a:solidFill>
                <a:latin typeface="Google Sans Flex Medium"/>
                <a:ea typeface="Google Sans Flex Medium"/>
                <a:cs typeface="Google Sans Flex Medium"/>
                <a:sym typeface="Google Sans Flex Medium"/>
              </a:defRPr>
            </a:lvl3pPr>
            <a:lvl4pPr lvl="3" algn="r">
              <a:buNone/>
              <a:defRPr sz="1000">
                <a:solidFill>
                  <a:schemeClr val="dk2"/>
                </a:solidFill>
                <a:latin typeface="Google Sans Flex Medium"/>
                <a:ea typeface="Google Sans Flex Medium"/>
                <a:cs typeface="Google Sans Flex Medium"/>
                <a:sym typeface="Google Sans Flex Medium"/>
              </a:defRPr>
            </a:lvl4pPr>
            <a:lvl5pPr lvl="4" algn="r">
              <a:buNone/>
              <a:defRPr sz="1000">
                <a:solidFill>
                  <a:schemeClr val="dk2"/>
                </a:solidFill>
                <a:latin typeface="Google Sans Flex Medium"/>
                <a:ea typeface="Google Sans Flex Medium"/>
                <a:cs typeface="Google Sans Flex Medium"/>
                <a:sym typeface="Google Sans Flex Medium"/>
              </a:defRPr>
            </a:lvl5pPr>
            <a:lvl6pPr lvl="5" algn="r">
              <a:buNone/>
              <a:defRPr sz="1000">
                <a:solidFill>
                  <a:schemeClr val="dk2"/>
                </a:solidFill>
                <a:latin typeface="Google Sans Flex Medium"/>
                <a:ea typeface="Google Sans Flex Medium"/>
                <a:cs typeface="Google Sans Flex Medium"/>
                <a:sym typeface="Google Sans Flex Medium"/>
              </a:defRPr>
            </a:lvl6pPr>
            <a:lvl7pPr lvl="6" algn="r">
              <a:buNone/>
              <a:defRPr sz="1000">
                <a:solidFill>
                  <a:schemeClr val="dk2"/>
                </a:solidFill>
                <a:latin typeface="Google Sans Flex Medium"/>
                <a:ea typeface="Google Sans Flex Medium"/>
                <a:cs typeface="Google Sans Flex Medium"/>
                <a:sym typeface="Google Sans Flex Medium"/>
              </a:defRPr>
            </a:lvl7pPr>
            <a:lvl8pPr lvl="7" algn="r">
              <a:buNone/>
              <a:defRPr sz="1000">
                <a:solidFill>
                  <a:schemeClr val="dk2"/>
                </a:solidFill>
                <a:latin typeface="Google Sans Flex Medium"/>
                <a:ea typeface="Google Sans Flex Medium"/>
                <a:cs typeface="Google Sans Flex Medium"/>
                <a:sym typeface="Google Sans Flex Medium"/>
              </a:defRPr>
            </a:lvl8pPr>
            <a:lvl9pPr lvl="8" algn="r">
              <a:buNone/>
              <a:defRPr sz="1000">
                <a:solidFill>
                  <a:schemeClr val="dk2"/>
                </a:solidFill>
                <a:latin typeface="Google Sans Flex Medium"/>
                <a:ea typeface="Google Sans Flex Medium"/>
                <a:cs typeface="Google Sans Flex Medium"/>
                <a:sym typeface="Google Sans Flex Medium"/>
              </a:defRPr>
            </a:lvl9pPr>
          </a:lstStyle>
          <a:p>
            <a:pPr indent="0" lvl="0" marL="0" rtl="0" algn="r">
              <a:spcBef>
                <a:spcPts val="0"/>
              </a:spcBef>
              <a:spcAft>
                <a:spcPts val="0"/>
              </a:spcAft>
              <a:buNone/>
            </a:pPr>
            <a:fld id="{00000000-1234-1234-1234-123412341234}" type="slidenum">
              <a:rPr lang="en-GB"/>
              <a:t>‹#›</a:t>
            </a:fld>
            <a:endParaRPr/>
          </a:p>
        </p:txBody>
      </p:sp>
      <p:sp>
        <p:nvSpPr>
          <p:cNvPr id="8" name="Google Shape;8;p1"/>
          <p:cNvSpPr txBox="1"/>
          <p:nvPr>
            <p:ph type="title"/>
          </p:nvPr>
        </p:nvSpPr>
        <p:spPr>
          <a:xfrm>
            <a:off x="311700" y="308850"/>
            <a:ext cx="8520600" cy="437700"/>
          </a:xfrm>
          <a:prstGeom prst="rect">
            <a:avLst/>
          </a:prstGeom>
          <a:noFill/>
          <a:ln>
            <a:noFill/>
          </a:ln>
        </p:spPr>
        <p:txBody>
          <a:bodyPr anchorCtr="0" anchor="t" bIns="91425" lIns="91425" spcFirstLastPara="1" rIns="91425" wrap="square" tIns="91425">
            <a:normAutofit/>
          </a:bodyPr>
          <a:lstStyle>
            <a:lvl1pPr lvl="0">
              <a:lnSpc>
                <a:spcPct val="80000"/>
              </a:lnSpc>
              <a:spcBef>
                <a:spcPts val="0"/>
              </a:spcBef>
              <a:spcAft>
                <a:spcPts val="0"/>
              </a:spcAft>
              <a:buClr>
                <a:srgbClr val="CE6948"/>
              </a:buClr>
              <a:buSzPts val="2400"/>
              <a:buFont typeface="Google Sans Flex"/>
              <a:buNone/>
              <a:defRPr b="1" sz="2400">
                <a:solidFill>
                  <a:srgbClr val="CE6948"/>
                </a:solidFill>
                <a:latin typeface="Google Sans Flex"/>
                <a:ea typeface="Google Sans Flex"/>
                <a:cs typeface="Google Sans Flex"/>
                <a:sym typeface="Google Sans Flex"/>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20.png"/><Relationship Id="rId7" Type="http://schemas.openxmlformats.org/officeDocument/2006/relationships/image" Target="../media/image3.png"/><Relationship Id="rId8"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1.xml"/><Relationship Id="rId3" Type="http://schemas.openxmlformats.org/officeDocument/2006/relationships/image" Target="../media/image16.png"/><Relationship Id="rId4" Type="http://schemas.openxmlformats.org/officeDocument/2006/relationships/image" Target="../media/image1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hyperlink" Target="http://drive.google.com/file/d/17B2YsJxOmXK3VJ8zGpRTn2zP7x5yMjCo/view" TargetMode="External"/><Relationship Id="rId4" Type="http://schemas.openxmlformats.org/officeDocument/2006/relationships/image" Target="../media/image23.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hyperlink" Target="https://github.com/Th-Kimhout/workflow-engineering-orchestration-framework-demo/tree/main/llamaindex" TargetMode="External"/><Relationship Id="rId4" Type="http://schemas.openxmlformats.org/officeDocument/2006/relationships/image" Target="../media/image2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hyperlink" Target="https://github.com/Th-Kimhout/orchestration-framework-demo" TargetMode="External"/><Relationship Id="rId4" Type="http://schemas.openxmlformats.org/officeDocument/2006/relationships/image" Target="../media/image3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2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2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2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3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hyperlink" Target="https://github.com/Th-Kimhout/orchestration-framework-demo" TargetMode="External"/><Relationship Id="rId4" Type="http://schemas.openxmlformats.org/officeDocument/2006/relationships/image" Target="../media/image29.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hyperlink" Target="https://mlflow.org/articles/llm-application-architecture-a-2026-engineers-guide/" TargetMode="External"/><Relationship Id="rId4" Type="http://schemas.openxmlformats.org/officeDocument/2006/relationships/hyperlink" Target="https://arxiv.org/pdf/2412.05299" TargetMode="External"/><Relationship Id="rId11" Type="http://schemas.openxmlformats.org/officeDocument/2006/relationships/hyperlink" Target="https://reference.langchain.com/python/langgraph/graph/state/StateGraph" TargetMode="External"/><Relationship Id="rId10" Type="http://schemas.openxmlformats.org/officeDocument/2006/relationships/hyperlink" Target="https://docs.langchain.com/oss/python/langgraph/overview" TargetMode="External"/><Relationship Id="rId9" Type="http://schemas.openxmlformats.org/officeDocument/2006/relationships/hyperlink" Target="https://reference.langchain.com/python/langchain-core/runnables/base/Runnable" TargetMode="External"/><Relationship Id="rId5" Type="http://schemas.openxmlformats.org/officeDocument/2006/relationships/hyperlink" Target="https://www.emergentmind.com/topics/modular-llm-architectures" TargetMode="External"/><Relationship Id="rId6" Type="http://schemas.openxmlformats.org/officeDocument/2006/relationships/hyperlink" Target="https://developers.llamaindex.ai/" TargetMode="External"/><Relationship Id="rId7" Type="http://schemas.openxmlformats.org/officeDocument/2006/relationships/hyperlink" Target="https://developers.llamaindex.ai/python/framework-api-reference/llms/openai_like/" TargetMode="External"/><Relationship Id="rId8" Type="http://schemas.openxmlformats.org/officeDocument/2006/relationships/hyperlink" Target="https://docs.langchain.com/oss/python/langchain/overview"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p:nvPr/>
        </p:nvSpPr>
        <p:spPr>
          <a:xfrm>
            <a:off x="849975" y="1904476"/>
            <a:ext cx="1678200" cy="255300"/>
          </a:xfrm>
          <a:prstGeom prst="rect">
            <a:avLst/>
          </a:prstGeom>
          <a:noFill/>
          <a:ln>
            <a:noFill/>
          </a:ln>
        </p:spPr>
        <p:txBody>
          <a:bodyPr anchorCtr="0" anchor="t" bIns="10900" lIns="10900" spcFirstLastPara="1" rIns="10900" wrap="square" tIns="10900">
            <a:noAutofit/>
          </a:bodyPr>
          <a:lstStyle/>
          <a:p>
            <a:pPr indent="0" lvl="0" marL="0" marR="0" rtl="0" algn="l">
              <a:spcBef>
                <a:spcPts val="0"/>
              </a:spcBef>
              <a:spcAft>
                <a:spcPts val="0"/>
              </a:spcAft>
              <a:buClr>
                <a:srgbClr val="D97757"/>
              </a:buClr>
              <a:buSzPts val="774"/>
              <a:buFont typeface="Courier New"/>
              <a:buNone/>
            </a:pPr>
            <a:r>
              <a:rPr b="1" i="0" lang="en-GB" sz="1600" u="none" cap="none" strike="noStrike">
                <a:solidFill>
                  <a:srgbClr val="CE6948"/>
                </a:solidFill>
                <a:latin typeface="Google Sans"/>
                <a:ea typeface="Google Sans"/>
                <a:cs typeface="Google Sans"/>
                <a:sym typeface="Google Sans"/>
              </a:rPr>
              <a:t>TOPIC </a:t>
            </a:r>
            <a:r>
              <a:rPr b="1" lang="en-GB" sz="1600">
                <a:solidFill>
                  <a:srgbClr val="CE6948"/>
                </a:solidFill>
                <a:latin typeface="Google Sans"/>
                <a:ea typeface="Google Sans"/>
                <a:cs typeface="Google Sans"/>
                <a:sym typeface="Google Sans"/>
              </a:rPr>
              <a:t>4</a:t>
            </a:r>
            <a:endParaRPr b="1" i="0" sz="1600" u="none" cap="none" strike="noStrike">
              <a:solidFill>
                <a:srgbClr val="CE6948"/>
              </a:solidFill>
              <a:latin typeface="Google Sans"/>
              <a:ea typeface="Google Sans"/>
              <a:cs typeface="Google Sans"/>
              <a:sym typeface="Google Sans"/>
            </a:endParaRPr>
          </a:p>
        </p:txBody>
      </p:sp>
      <p:sp>
        <p:nvSpPr>
          <p:cNvPr id="60" name="Google Shape;60;p13"/>
          <p:cNvSpPr/>
          <p:nvPr/>
        </p:nvSpPr>
        <p:spPr>
          <a:xfrm>
            <a:off x="849975" y="2303751"/>
            <a:ext cx="6018600" cy="1178100"/>
          </a:xfrm>
          <a:prstGeom prst="rect">
            <a:avLst/>
          </a:prstGeom>
          <a:noFill/>
          <a:ln>
            <a:noFill/>
          </a:ln>
        </p:spPr>
        <p:txBody>
          <a:bodyPr anchorCtr="0" anchor="t" bIns="10900" lIns="10900" spcFirstLastPara="1" rIns="10900" wrap="square" tIns="10900">
            <a:noAutofit/>
          </a:bodyPr>
          <a:lstStyle/>
          <a:p>
            <a:pPr indent="0" lvl="0" marL="0" marR="0" rtl="0" algn="l">
              <a:lnSpc>
                <a:spcPct val="89917"/>
              </a:lnSpc>
              <a:spcBef>
                <a:spcPts val="0"/>
              </a:spcBef>
              <a:spcAft>
                <a:spcPts val="0"/>
              </a:spcAft>
              <a:buClr>
                <a:srgbClr val="212121"/>
              </a:buClr>
              <a:buSzPts val="2676"/>
              <a:buFont typeface="Arial"/>
              <a:buNone/>
            </a:pPr>
            <a:r>
              <a:rPr b="1" lang="en-GB" sz="3600">
                <a:solidFill>
                  <a:srgbClr val="212121"/>
                </a:solidFill>
                <a:latin typeface="Google Sans Flex"/>
                <a:ea typeface="Google Sans Flex"/>
                <a:cs typeface="Google Sans Flex"/>
                <a:sym typeface="Google Sans Flex"/>
              </a:rPr>
              <a:t>Workflow Engineering with LLM Frameworks</a:t>
            </a:r>
            <a:endParaRPr b="1" i="0" sz="3600" u="none" cap="none" strike="noStrike">
              <a:solidFill>
                <a:srgbClr val="000000"/>
              </a:solidFill>
              <a:latin typeface="Google Sans Flex"/>
              <a:ea typeface="Google Sans Flex"/>
              <a:cs typeface="Google Sans Flex"/>
              <a:sym typeface="Google Sans Flex"/>
            </a:endParaRPr>
          </a:p>
        </p:txBody>
      </p:sp>
      <p:sp>
        <p:nvSpPr>
          <p:cNvPr id="61" name="Google Shape;61;p13"/>
          <p:cNvSpPr/>
          <p:nvPr/>
        </p:nvSpPr>
        <p:spPr>
          <a:xfrm>
            <a:off x="849985" y="4089562"/>
            <a:ext cx="2066100" cy="147300"/>
          </a:xfrm>
          <a:prstGeom prst="rect">
            <a:avLst/>
          </a:prstGeom>
          <a:noFill/>
          <a:ln>
            <a:noFill/>
          </a:ln>
        </p:spPr>
        <p:txBody>
          <a:bodyPr anchorCtr="0" anchor="t" bIns="10900" lIns="10900" spcFirstLastPara="1" rIns="10900" wrap="square" tIns="10900">
            <a:noAutofit/>
          </a:bodyPr>
          <a:lstStyle/>
          <a:p>
            <a:pPr indent="0" lvl="0" marL="0" marR="0" rtl="0" algn="l">
              <a:spcBef>
                <a:spcPts val="0"/>
              </a:spcBef>
              <a:spcAft>
                <a:spcPts val="0"/>
              </a:spcAft>
              <a:buClr>
                <a:srgbClr val="78746A"/>
              </a:buClr>
              <a:buSzPts val="774"/>
              <a:buFont typeface="Courier New"/>
              <a:buNone/>
            </a:pPr>
            <a:r>
              <a:rPr b="1" i="0" lang="en-GB" sz="974" u="none" cap="none" strike="noStrike">
                <a:solidFill>
                  <a:srgbClr val="78746A"/>
                </a:solidFill>
                <a:latin typeface="Google Sans"/>
                <a:ea typeface="Google Sans"/>
                <a:cs typeface="Google Sans"/>
                <a:sym typeface="Google Sans"/>
              </a:rPr>
              <a:t>PREPARED BY INSTRUCTOR TEAM</a:t>
            </a:r>
            <a:endParaRPr b="1" i="0" sz="974" u="none" cap="none" strike="noStrike">
              <a:solidFill>
                <a:srgbClr val="000000"/>
              </a:solidFill>
              <a:latin typeface="Google Sans"/>
              <a:ea typeface="Google Sans"/>
              <a:cs typeface="Google Sans"/>
              <a:sym typeface="Google Sans"/>
            </a:endParaRPr>
          </a:p>
        </p:txBody>
      </p:sp>
      <p:pic>
        <p:nvPicPr>
          <p:cNvPr descr="preencoded.png" id="62" name="Google Shape;62;p13"/>
          <p:cNvPicPr preferRelativeResize="0"/>
          <p:nvPr/>
        </p:nvPicPr>
        <p:blipFill rotWithShape="1">
          <a:blip r:embed="rId3">
            <a:alphaModFix/>
          </a:blip>
          <a:srcRect b="10906" l="10421" r="8541" t="10914"/>
          <a:stretch/>
        </p:blipFill>
        <p:spPr>
          <a:xfrm>
            <a:off x="849975" y="626325"/>
            <a:ext cx="2176174" cy="708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idx="1" type="body"/>
          </p:nvPr>
        </p:nvSpPr>
        <p:spPr>
          <a:xfrm>
            <a:off x="311700" y="9000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500">
                <a:solidFill>
                  <a:srgbClr val="CE6948"/>
                </a:solidFill>
              </a:rPr>
              <a:t>01	</a:t>
            </a:r>
            <a:r>
              <a:rPr b="1" lang="en-GB" sz="1500">
                <a:solidFill>
                  <a:srgbClr val="434343"/>
                </a:solidFill>
              </a:rPr>
              <a:t>Introduction to AI Workflow</a:t>
            </a:r>
            <a:endParaRPr b="1" sz="1500">
              <a:solidFill>
                <a:srgbClr val="434343"/>
              </a:solidFill>
            </a:endParaRPr>
          </a:p>
          <a:p>
            <a:pPr indent="0" lvl="0" marL="0" rtl="0" algn="l">
              <a:spcBef>
                <a:spcPts val="1200"/>
              </a:spcBef>
              <a:spcAft>
                <a:spcPts val="0"/>
              </a:spcAft>
              <a:buNone/>
            </a:pPr>
            <a:r>
              <a:rPr b="1" lang="en-GB" sz="1500">
                <a:solidFill>
                  <a:srgbClr val="CE6948"/>
                </a:solidFill>
              </a:rPr>
              <a:t>02 	</a:t>
            </a:r>
            <a:r>
              <a:rPr b="1" lang="en-GB" sz="1500">
                <a:solidFill>
                  <a:srgbClr val="434343"/>
                </a:solidFill>
              </a:rPr>
              <a:t>Chaining &amp; Execution Patterns</a:t>
            </a:r>
            <a:endParaRPr b="1" sz="1500">
              <a:solidFill>
                <a:srgbClr val="434343"/>
              </a:solidFill>
            </a:endParaRPr>
          </a:p>
          <a:p>
            <a:pPr indent="0" lvl="0" marL="0" rtl="0" algn="l">
              <a:spcBef>
                <a:spcPts val="1200"/>
              </a:spcBef>
              <a:spcAft>
                <a:spcPts val="0"/>
              </a:spcAft>
              <a:buNone/>
            </a:pPr>
            <a:r>
              <a:rPr b="1" lang="en-GB" sz="1500">
                <a:solidFill>
                  <a:srgbClr val="CE6948"/>
                </a:solidFill>
              </a:rPr>
              <a:t>03</a:t>
            </a:r>
            <a:r>
              <a:rPr b="1" lang="en-GB" sz="1500">
                <a:solidFill>
                  <a:srgbClr val="434343"/>
                </a:solidFill>
              </a:rPr>
              <a:t> 	Managing State, Memory, and Persistence</a:t>
            </a:r>
            <a:endParaRPr b="1" sz="1500">
              <a:solidFill>
                <a:srgbClr val="434343"/>
              </a:solidFill>
            </a:endParaRPr>
          </a:p>
          <a:p>
            <a:pPr indent="0" lvl="0" marL="0" rtl="0" algn="l">
              <a:spcBef>
                <a:spcPts val="1200"/>
              </a:spcBef>
              <a:spcAft>
                <a:spcPts val="0"/>
              </a:spcAft>
              <a:buNone/>
            </a:pPr>
            <a:r>
              <a:rPr b="1" lang="en-GB" sz="1500">
                <a:solidFill>
                  <a:srgbClr val="CE6948"/>
                </a:solidFill>
              </a:rPr>
              <a:t>04</a:t>
            </a:r>
            <a:r>
              <a:rPr b="1" lang="en-GB" sz="1500">
                <a:solidFill>
                  <a:srgbClr val="434343"/>
                </a:solidFill>
              </a:rPr>
              <a:t> 	Document Ingestion Pipelines</a:t>
            </a:r>
            <a:endParaRPr b="1" sz="1500">
              <a:solidFill>
                <a:srgbClr val="434343"/>
              </a:solidFill>
            </a:endParaRPr>
          </a:p>
          <a:p>
            <a:pPr indent="0" lvl="0" marL="0" rtl="0" algn="l">
              <a:spcBef>
                <a:spcPts val="1200"/>
              </a:spcBef>
              <a:spcAft>
                <a:spcPts val="0"/>
              </a:spcAft>
              <a:buNone/>
            </a:pPr>
            <a:r>
              <a:rPr b="1" lang="en-GB" sz="1500">
                <a:solidFill>
                  <a:srgbClr val="CE6948"/>
                </a:solidFill>
              </a:rPr>
              <a:t>05 	</a:t>
            </a:r>
            <a:r>
              <a:rPr b="1" lang="en-GB" sz="1500">
                <a:solidFill>
                  <a:srgbClr val="434343"/>
                </a:solidFill>
              </a:rPr>
              <a:t>Modular Workflow Design</a:t>
            </a:r>
            <a:endParaRPr b="1" sz="1500">
              <a:solidFill>
                <a:srgbClr val="434343"/>
              </a:solidFill>
            </a:endParaRPr>
          </a:p>
          <a:p>
            <a:pPr indent="0" lvl="0" marL="0" rtl="0" algn="l">
              <a:spcBef>
                <a:spcPts val="1200"/>
              </a:spcBef>
              <a:spcAft>
                <a:spcPts val="0"/>
              </a:spcAft>
              <a:buNone/>
            </a:pPr>
            <a:r>
              <a:rPr b="1" lang="en-GB" sz="1500">
                <a:solidFill>
                  <a:srgbClr val="CE6948"/>
                </a:solidFill>
              </a:rPr>
              <a:t>06</a:t>
            </a:r>
            <a:r>
              <a:rPr b="1" lang="en-GB" sz="1500">
                <a:solidFill>
                  <a:srgbClr val="434343"/>
                </a:solidFill>
              </a:rPr>
              <a:t> 	Orchestration Framework</a:t>
            </a:r>
            <a:endParaRPr b="1" sz="1500">
              <a:solidFill>
                <a:srgbClr val="434343"/>
              </a:solidFill>
            </a:endParaRPr>
          </a:p>
          <a:p>
            <a:pPr indent="0" lvl="0" marL="0" rtl="0" algn="l">
              <a:spcBef>
                <a:spcPts val="1200"/>
              </a:spcBef>
              <a:spcAft>
                <a:spcPts val="1200"/>
              </a:spcAft>
              <a:buNone/>
            </a:pPr>
            <a:r>
              <a:t/>
            </a:r>
            <a:endParaRPr b="1" sz="1500">
              <a:solidFill>
                <a:srgbClr val="434343"/>
              </a:solidFill>
            </a:endParaRPr>
          </a:p>
        </p:txBody>
      </p:sp>
      <p:sp>
        <p:nvSpPr>
          <p:cNvPr id="68" name="Google Shape;68;p1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CONTENTS</a:t>
            </a:r>
            <a:endParaRPr/>
          </a:p>
        </p:txBody>
      </p:sp>
      <p:sp>
        <p:nvSpPr>
          <p:cNvPr id="69" name="Google Shape;6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idx="1" type="body"/>
          </p:nvPr>
        </p:nvSpPr>
        <p:spPr>
          <a:xfrm>
            <a:off x="920500" y="3453036"/>
            <a:ext cx="7551900" cy="130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An overview of AI Workflow, covering their purpose, key characteristics, automation levels, core components, and popular frameworks. It also explains how workflows make LLM applications more structured, reliable, and scalable.</a:t>
            </a:r>
            <a:endParaRPr/>
          </a:p>
          <a:p>
            <a:pPr indent="0" lvl="0" marL="0" rtl="0" algn="l">
              <a:spcBef>
                <a:spcPts val="1200"/>
              </a:spcBef>
              <a:spcAft>
                <a:spcPts val="1200"/>
              </a:spcAft>
              <a:buNone/>
            </a:pPr>
            <a:r>
              <a:t/>
            </a:r>
            <a:endParaRPr/>
          </a:p>
        </p:txBody>
      </p:sp>
      <p:sp>
        <p:nvSpPr>
          <p:cNvPr id="75" name="Google Shape;75;p15"/>
          <p:cNvSpPr txBox="1"/>
          <p:nvPr>
            <p:ph type="title"/>
          </p:nvPr>
        </p:nvSpPr>
        <p:spPr>
          <a:xfrm>
            <a:off x="920500" y="1267200"/>
            <a:ext cx="2516700" cy="1003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01</a:t>
            </a:r>
            <a:endParaRPr/>
          </a:p>
        </p:txBody>
      </p:sp>
      <p:sp>
        <p:nvSpPr>
          <p:cNvPr id="76" name="Google Shape;76;p15"/>
          <p:cNvSpPr/>
          <p:nvPr/>
        </p:nvSpPr>
        <p:spPr>
          <a:xfrm>
            <a:off x="0" y="-47700"/>
            <a:ext cx="137100" cy="5238900"/>
          </a:xfrm>
          <a:prstGeom prst="rect">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77" name="Google Shape;77;p15"/>
          <p:cNvSpPr txBox="1"/>
          <p:nvPr>
            <p:ph idx="2" type="title"/>
          </p:nvPr>
        </p:nvSpPr>
        <p:spPr>
          <a:xfrm>
            <a:off x="920500" y="2437713"/>
            <a:ext cx="7551900" cy="904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Introduction</a:t>
            </a:r>
            <a:endParaRPr/>
          </a:p>
          <a:p>
            <a:pPr indent="0" lvl="0" marL="0" rtl="0" algn="l">
              <a:spcBef>
                <a:spcPts val="0"/>
              </a:spcBef>
              <a:spcAft>
                <a:spcPts val="0"/>
              </a:spcAft>
              <a:buNone/>
            </a:pPr>
            <a:r>
              <a:rPr lang="en-GB"/>
              <a:t>to</a:t>
            </a:r>
            <a:r>
              <a:rPr lang="en-GB"/>
              <a:t> AI Workflow</a:t>
            </a:r>
            <a:endParaRPr>
              <a:solidFill>
                <a:srgbClr val="CE694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What is </a:t>
            </a:r>
            <a:r>
              <a:rPr lang="en-GB">
                <a:solidFill>
                  <a:srgbClr val="CE6948"/>
                </a:solidFill>
              </a:rPr>
              <a:t>AI</a:t>
            </a:r>
            <a:r>
              <a:rPr lang="en-GB">
                <a:solidFill>
                  <a:srgbClr val="CE6948"/>
                </a:solidFill>
              </a:rPr>
              <a:t> Workflow?</a:t>
            </a:r>
            <a:endParaRPr>
              <a:solidFill>
                <a:srgbClr val="CE6948"/>
              </a:solidFill>
            </a:endParaRPr>
          </a:p>
        </p:txBody>
      </p:sp>
      <p:sp>
        <p:nvSpPr>
          <p:cNvPr id="83" name="Google Shape;83;p16"/>
          <p:cNvSpPr txBox="1"/>
          <p:nvPr>
            <p:ph idx="1" type="body"/>
          </p:nvPr>
        </p:nvSpPr>
        <p:spPr>
          <a:xfrm>
            <a:off x="311700" y="993350"/>
            <a:ext cx="8520600" cy="34164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CE6948"/>
                </a:solidFill>
                <a:latin typeface="Encode Sans"/>
                <a:ea typeface="Encode Sans"/>
                <a:cs typeface="Encode Sans"/>
                <a:sym typeface="Encode Sans"/>
              </a:rPr>
              <a:t>AI Workflow</a:t>
            </a:r>
            <a:r>
              <a:rPr lang="en-GB">
                <a:solidFill>
                  <a:srgbClr val="434343"/>
                </a:solidFill>
                <a:latin typeface="Encode Sans"/>
                <a:ea typeface="Encode Sans"/>
                <a:cs typeface="Encode Sans"/>
                <a:sym typeface="Encode Sans"/>
              </a:rPr>
              <a:t> is the process of </a:t>
            </a:r>
            <a:r>
              <a:rPr b="1" lang="en-GB">
                <a:solidFill>
                  <a:srgbClr val="CE6948"/>
                </a:solidFill>
                <a:latin typeface="Encode Sans"/>
                <a:ea typeface="Encode Sans"/>
                <a:cs typeface="Encode Sans"/>
                <a:sym typeface="Encode Sans"/>
              </a:rPr>
              <a:t>combining</a:t>
            </a:r>
            <a:r>
              <a:rPr lang="en-GB">
                <a:solidFill>
                  <a:srgbClr val="434343"/>
                </a:solidFill>
                <a:latin typeface="Encode Sans"/>
                <a:ea typeface="Encode Sans"/>
                <a:cs typeface="Encode Sans"/>
                <a:sym typeface="Encode Sans"/>
              </a:rPr>
              <a:t> multiple </a:t>
            </a:r>
            <a:r>
              <a:rPr b="1" lang="en-GB">
                <a:solidFill>
                  <a:srgbClr val="434343"/>
                </a:solidFill>
                <a:latin typeface="Encode Sans"/>
                <a:ea typeface="Encode Sans"/>
                <a:cs typeface="Encode Sans"/>
                <a:sym typeface="Encode Sans"/>
              </a:rPr>
              <a:t>LLM calls, tool usages, and data-processing steps</a:t>
            </a:r>
            <a:r>
              <a:rPr lang="en-GB">
                <a:solidFill>
                  <a:srgbClr val="434343"/>
                </a:solidFill>
                <a:latin typeface="Encode Sans"/>
                <a:ea typeface="Encode Sans"/>
                <a:cs typeface="Encode Sans"/>
                <a:sym typeface="Encode Sans"/>
              </a:rPr>
              <a:t> into an organized, automated pipeline.</a:t>
            </a:r>
            <a:endParaRPr>
              <a:solidFill>
                <a:srgbClr val="434343"/>
              </a:solidFill>
              <a:latin typeface="Encode Sans"/>
              <a:ea typeface="Encode Sans"/>
              <a:cs typeface="Encode Sans"/>
              <a:sym typeface="Encode Sans"/>
            </a:endParaRPr>
          </a:p>
        </p:txBody>
      </p:sp>
      <p:pic>
        <p:nvPicPr>
          <p:cNvPr id="84" name="Google Shape;84;p16"/>
          <p:cNvPicPr preferRelativeResize="0"/>
          <p:nvPr/>
        </p:nvPicPr>
        <p:blipFill>
          <a:blip r:embed="rId3">
            <a:alphaModFix/>
          </a:blip>
          <a:stretch>
            <a:fillRect/>
          </a:stretch>
        </p:blipFill>
        <p:spPr>
          <a:xfrm>
            <a:off x="1691550" y="1642500"/>
            <a:ext cx="5760900" cy="3063600"/>
          </a:xfrm>
          <a:prstGeom prst="roundRect">
            <a:avLst>
              <a:gd fmla="val 2972" name="adj"/>
            </a:avLst>
          </a:prstGeom>
          <a:noFill/>
          <a:ln>
            <a:noFill/>
          </a:ln>
        </p:spPr>
      </p:pic>
      <p:sp>
        <p:nvSpPr>
          <p:cNvPr id="85" name="Google Shape;85;p16"/>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sp>
        <p:nvSpPr>
          <p:cNvPr id="86" name="Google Shape;8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What is AI Workflow?</a:t>
            </a:r>
            <a:endParaRPr>
              <a:solidFill>
                <a:srgbClr val="CE6948"/>
              </a:solidFill>
            </a:endParaRPr>
          </a:p>
        </p:txBody>
      </p:sp>
      <p:sp>
        <p:nvSpPr>
          <p:cNvPr id="92" name="Google Shape;92;p17"/>
          <p:cNvSpPr txBox="1"/>
          <p:nvPr>
            <p:ph idx="1" type="body"/>
          </p:nvPr>
        </p:nvSpPr>
        <p:spPr>
          <a:xfrm>
            <a:off x="311700" y="993350"/>
            <a:ext cx="8520600" cy="37926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A </a:t>
            </a:r>
            <a:r>
              <a:rPr b="1" lang="en-GB">
                <a:solidFill>
                  <a:srgbClr val="CE6948"/>
                </a:solidFill>
                <a:latin typeface="Encode Sans"/>
                <a:ea typeface="Encode Sans"/>
                <a:cs typeface="Encode Sans"/>
                <a:sym typeface="Encode Sans"/>
              </a:rPr>
              <a:t>single LLM call</a:t>
            </a:r>
            <a:r>
              <a:rPr lang="en-GB">
                <a:solidFill>
                  <a:srgbClr val="434343"/>
                </a:solidFill>
                <a:latin typeface="Encode Sans"/>
                <a:ea typeface="Encode Sans"/>
                <a:cs typeface="Encode Sans"/>
                <a:sym typeface="Encode Sans"/>
              </a:rPr>
              <a:t> can </a:t>
            </a:r>
            <a:r>
              <a:rPr b="1" lang="en-GB">
                <a:solidFill>
                  <a:srgbClr val="434343"/>
                </a:solidFill>
                <a:latin typeface="Encode Sans"/>
                <a:ea typeface="Encode Sans"/>
                <a:cs typeface="Encode Sans"/>
                <a:sym typeface="Encode Sans"/>
              </a:rPr>
              <a:t>answer </a:t>
            </a:r>
            <a:r>
              <a:rPr lang="en-GB">
                <a:solidFill>
                  <a:srgbClr val="434343"/>
                </a:solidFill>
                <a:latin typeface="Encode Sans"/>
                <a:ea typeface="Encode Sans"/>
                <a:cs typeface="Encode Sans"/>
                <a:sym typeface="Encode Sans"/>
              </a:rPr>
              <a:t>a </a:t>
            </a:r>
            <a:r>
              <a:rPr b="1" lang="en-GB">
                <a:solidFill>
                  <a:srgbClr val="434343"/>
                </a:solidFill>
                <a:latin typeface="Encode Sans"/>
                <a:ea typeface="Encode Sans"/>
                <a:cs typeface="Encode Sans"/>
                <a:sym typeface="Encode Sans"/>
              </a:rPr>
              <a:t>simple question</a:t>
            </a:r>
            <a:r>
              <a:rPr lang="en-GB">
                <a:solidFill>
                  <a:srgbClr val="434343"/>
                </a:solidFill>
                <a:latin typeface="Encode Sans"/>
                <a:ea typeface="Encode Sans"/>
                <a:cs typeface="Encode Sans"/>
                <a:sym typeface="Encode Sans"/>
              </a:rPr>
              <a:t>. </a:t>
            </a:r>
            <a:r>
              <a:rPr lang="en-GB">
                <a:solidFill>
                  <a:srgbClr val="434343"/>
                </a:solidFill>
                <a:latin typeface="Encode Sans"/>
                <a:ea typeface="Encode Sans"/>
                <a:cs typeface="Encode Sans"/>
                <a:sym typeface="Encode Sans"/>
              </a:rPr>
              <a:t>But</a:t>
            </a:r>
            <a:r>
              <a:rPr b="1" lang="en-GB">
                <a:solidFill>
                  <a:srgbClr val="434343"/>
                </a:solidFill>
                <a:latin typeface="Encode Sans"/>
                <a:ea typeface="Encode Sans"/>
                <a:cs typeface="Encode Sans"/>
                <a:sym typeface="Encode Sans"/>
              </a:rPr>
              <a:t> real-world tasks </a:t>
            </a:r>
            <a:r>
              <a:rPr lang="en-GB">
                <a:solidFill>
                  <a:srgbClr val="434343"/>
                </a:solidFill>
                <a:latin typeface="Encode Sans"/>
                <a:ea typeface="Encode Sans"/>
                <a:cs typeface="Encode Sans"/>
                <a:sym typeface="Encode Sans"/>
              </a:rPr>
              <a:t>often require </a:t>
            </a:r>
            <a:r>
              <a:rPr b="1" lang="en-GB">
                <a:solidFill>
                  <a:srgbClr val="434343"/>
                </a:solidFill>
                <a:latin typeface="Encode Sans"/>
                <a:ea typeface="Encode Sans"/>
                <a:cs typeface="Encode Sans"/>
                <a:sym typeface="Encode Sans"/>
              </a:rPr>
              <a:t>multiple steps</a:t>
            </a:r>
            <a:r>
              <a:rPr lang="en-GB">
                <a:solidFill>
                  <a:srgbClr val="434343"/>
                </a:solidFill>
                <a:latin typeface="Encode Sans"/>
                <a:ea typeface="Encode Sans"/>
                <a:cs typeface="Encode Sans"/>
                <a:sym typeface="Encode Sans"/>
              </a:rPr>
              <a:t>:</a:t>
            </a:r>
            <a:endParaRPr>
              <a:solidFill>
                <a:srgbClr val="434343"/>
              </a:solidFill>
              <a:latin typeface="Encode Sans"/>
              <a:ea typeface="Encode Sans"/>
              <a:cs typeface="Encode Sans"/>
              <a:sym typeface="Encode Sans"/>
            </a:endParaRPr>
          </a:p>
          <a:p>
            <a:pPr indent="0" lvl="0" marL="228600" marR="0" rtl="0" algn="just">
              <a:lnSpc>
                <a:spcPct val="130000"/>
              </a:lnSpc>
              <a:spcBef>
                <a:spcPts val="600"/>
              </a:spcBef>
              <a:spcAft>
                <a:spcPts val="0"/>
              </a:spcAft>
              <a:buNone/>
            </a:pPr>
            <a:r>
              <a:rPr lang="en-GB">
                <a:solidFill>
                  <a:srgbClr val="434343"/>
                </a:solidFill>
                <a:latin typeface="Encode Sans"/>
                <a:ea typeface="Encode Sans"/>
                <a:cs typeface="Encode Sans"/>
                <a:sym typeface="Encode Sans"/>
              </a:rPr>
              <a:t>Example: </a:t>
            </a:r>
            <a:r>
              <a:rPr b="1" i="1" lang="en-GB">
                <a:solidFill>
                  <a:srgbClr val="434343"/>
                </a:solidFill>
                <a:latin typeface="Encode Sans"/>
                <a:ea typeface="Encode Sans"/>
                <a:cs typeface="Encode Sans"/>
                <a:sym typeface="Encode Sans"/>
              </a:rPr>
              <a:t>“</a:t>
            </a:r>
            <a:r>
              <a:rPr b="1" i="1" lang="en-GB">
                <a:solidFill>
                  <a:srgbClr val="434343"/>
                </a:solidFill>
                <a:latin typeface="Encode Sans"/>
                <a:ea typeface="Encode Sans"/>
                <a:cs typeface="Encode Sans"/>
                <a:sym typeface="Encode Sans"/>
              </a:rPr>
              <a:t>A manager wants a weekly competitor analysis sent to their team every Monday morning.</a:t>
            </a:r>
            <a:r>
              <a:rPr b="1" i="1" lang="en-GB">
                <a:solidFill>
                  <a:srgbClr val="434343"/>
                </a:solidFill>
                <a:latin typeface="Encode Sans"/>
                <a:ea typeface="Encode Sans"/>
                <a:cs typeface="Encode Sans"/>
                <a:sym typeface="Encode Sans"/>
              </a:rPr>
              <a:t>”</a:t>
            </a:r>
            <a:endParaRPr b="1" i="1">
              <a:solidFill>
                <a:srgbClr val="434343"/>
              </a:solidFill>
              <a:latin typeface="Encode Sans"/>
              <a:ea typeface="Encode Sans"/>
              <a:cs typeface="Encode Sans"/>
              <a:sym typeface="Encode Sans"/>
            </a:endParaRPr>
          </a:p>
          <a:p>
            <a:pPr indent="-9525" lvl="0" marL="742950" rtl="0" algn="just">
              <a:lnSpc>
                <a:spcPct val="130000"/>
              </a:lnSpc>
              <a:spcBef>
                <a:spcPts val="1000"/>
              </a:spcBef>
              <a:spcAft>
                <a:spcPts val="0"/>
              </a:spcAft>
              <a:buClr>
                <a:schemeClr val="dk1"/>
              </a:buClr>
              <a:buSzPts val="1100"/>
              <a:buFont typeface="Arial"/>
              <a:buNone/>
            </a:pPr>
            <a:r>
              <a:t/>
            </a:r>
            <a:endParaRPr b="1" sz="1200">
              <a:solidFill>
                <a:srgbClr val="434343"/>
              </a:solidFill>
              <a:latin typeface="Consolas"/>
              <a:ea typeface="Consolas"/>
              <a:cs typeface="Consolas"/>
              <a:sym typeface="Consolas"/>
            </a:endParaRPr>
          </a:p>
          <a:p>
            <a:pPr indent="-9525" lvl="0" marL="742950" rtl="0" algn="just">
              <a:lnSpc>
                <a:spcPct val="130000"/>
              </a:lnSpc>
              <a:spcBef>
                <a:spcPts val="1000"/>
              </a:spcBef>
              <a:spcAft>
                <a:spcPts val="0"/>
              </a:spcAft>
              <a:buClr>
                <a:schemeClr val="dk1"/>
              </a:buClr>
              <a:buSzPts val="1100"/>
              <a:buFont typeface="Arial"/>
              <a:buNone/>
            </a:pPr>
            <a:r>
              <a:t/>
            </a:r>
            <a:endParaRPr b="1" sz="1200">
              <a:solidFill>
                <a:srgbClr val="434343"/>
              </a:solidFill>
              <a:latin typeface="Consolas"/>
              <a:ea typeface="Consolas"/>
              <a:cs typeface="Consolas"/>
              <a:sym typeface="Consolas"/>
            </a:endParaRPr>
          </a:p>
          <a:p>
            <a:pPr indent="-9525" lvl="0" marL="742950" rtl="0" algn="just">
              <a:lnSpc>
                <a:spcPct val="130000"/>
              </a:lnSpc>
              <a:spcBef>
                <a:spcPts val="1000"/>
              </a:spcBef>
              <a:spcAft>
                <a:spcPts val="0"/>
              </a:spcAft>
              <a:buClr>
                <a:schemeClr val="dk1"/>
              </a:buClr>
              <a:buSzPts val="1100"/>
              <a:buFont typeface="Arial"/>
              <a:buNone/>
            </a:pPr>
            <a:r>
              <a:t/>
            </a:r>
            <a:endParaRPr b="1" sz="1200">
              <a:solidFill>
                <a:srgbClr val="434343"/>
              </a:solidFill>
              <a:latin typeface="Consolas"/>
              <a:ea typeface="Consolas"/>
              <a:cs typeface="Consolas"/>
              <a:sym typeface="Consolas"/>
            </a:endParaRPr>
          </a:p>
          <a:p>
            <a:pPr indent="-9525" lvl="0" marL="742950" rtl="0" algn="just">
              <a:lnSpc>
                <a:spcPct val="130000"/>
              </a:lnSpc>
              <a:spcBef>
                <a:spcPts val="1000"/>
              </a:spcBef>
              <a:spcAft>
                <a:spcPts val="0"/>
              </a:spcAft>
              <a:buClr>
                <a:schemeClr val="dk1"/>
              </a:buClr>
              <a:buSzPts val="1100"/>
              <a:buFont typeface="Arial"/>
              <a:buNone/>
            </a:pPr>
            <a:r>
              <a:t/>
            </a:r>
            <a:endParaRPr b="1" sz="1200">
              <a:solidFill>
                <a:srgbClr val="434343"/>
              </a:solidFill>
              <a:latin typeface="Consolas"/>
              <a:ea typeface="Consolas"/>
              <a:cs typeface="Consolas"/>
              <a:sym typeface="Consolas"/>
            </a:endParaRPr>
          </a:p>
          <a:p>
            <a:pPr indent="-9525" lvl="0" marL="742950" rtl="0" algn="just">
              <a:lnSpc>
                <a:spcPct val="130000"/>
              </a:lnSpc>
              <a:spcBef>
                <a:spcPts val="1000"/>
              </a:spcBef>
              <a:spcAft>
                <a:spcPts val="0"/>
              </a:spcAft>
              <a:buClr>
                <a:schemeClr val="dk1"/>
              </a:buClr>
              <a:buSzPts val="1100"/>
              <a:buFont typeface="Arial"/>
              <a:buNone/>
            </a:pPr>
            <a:r>
              <a:t/>
            </a:r>
            <a:endParaRPr b="1" sz="1200">
              <a:solidFill>
                <a:srgbClr val="434343"/>
              </a:solidFill>
              <a:latin typeface="Consolas"/>
              <a:ea typeface="Consolas"/>
              <a:cs typeface="Consolas"/>
              <a:sym typeface="Consolas"/>
            </a:endParaRPr>
          </a:p>
          <a:p>
            <a:pPr indent="-9525" lvl="0" marL="742950" rtl="0" algn="just">
              <a:lnSpc>
                <a:spcPct val="130000"/>
              </a:lnSpc>
              <a:spcBef>
                <a:spcPts val="1000"/>
              </a:spcBef>
              <a:spcAft>
                <a:spcPts val="0"/>
              </a:spcAft>
              <a:buClr>
                <a:schemeClr val="dk1"/>
              </a:buClr>
              <a:buSzPts val="1100"/>
              <a:buFont typeface="Arial"/>
              <a:buNone/>
            </a:pPr>
            <a:r>
              <a:t/>
            </a:r>
            <a:endParaRPr b="1" sz="1200">
              <a:solidFill>
                <a:srgbClr val="434343"/>
              </a:solidFill>
              <a:latin typeface="Consolas"/>
              <a:ea typeface="Consolas"/>
              <a:cs typeface="Consolas"/>
              <a:sym typeface="Consolas"/>
            </a:endParaRPr>
          </a:p>
          <a:p>
            <a:pPr indent="-9525" lvl="0" marL="742950" rtl="0" algn="just">
              <a:lnSpc>
                <a:spcPct val="130000"/>
              </a:lnSpc>
              <a:spcBef>
                <a:spcPts val="1000"/>
              </a:spcBef>
              <a:spcAft>
                <a:spcPts val="0"/>
              </a:spcAft>
              <a:buClr>
                <a:schemeClr val="dk1"/>
              </a:buClr>
              <a:buSzPts val="1100"/>
              <a:buFont typeface="Arial"/>
              <a:buNone/>
            </a:pPr>
            <a:r>
              <a:t/>
            </a:r>
            <a:endParaRPr b="1" sz="1200">
              <a:solidFill>
                <a:srgbClr val="434343"/>
              </a:solidFill>
              <a:latin typeface="Consolas"/>
              <a:ea typeface="Consolas"/>
              <a:cs typeface="Consolas"/>
              <a:sym typeface="Consolas"/>
            </a:endParaRPr>
          </a:p>
          <a:p>
            <a:pPr indent="-225425" lvl="0" marL="228600" marR="0" rtl="0" algn="just">
              <a:lnSpc>
                <a:spcPct val="130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An </a:t>
            </a:r>
            <a:r>
              <a:rPr b="1" lang="en-GB">
                <a:solidFill>
                  <a:srgbClr val="CE6948"/>
                </a:solidFill>
                <a:latin typeface="Encode Sans"/>
                <a:ea typeface="Encode Sans"/>
                <a:cs typeface="Encode Sans"/>
                <a:sym typeface="Encode Sans"/>
              </a:rPr>
              <a:t>AI Workflow</a:t>
            </a:r>
            <a:r>
              <a:rPr lang="en-GB">
                <a:solidFill>
                  <a:srgbClr val="434343"/>
                </a:solidFill>
                <a:latin typeface="Encode Sans"/>
                <a:ea typeface="Encode Sans"/>
                <a:cs typeface="Encode Sans"/>
                <a:sym typeface="Encode Sans"/>
              </a:rPr>
              <a:t> connects </a:t>
            </a:r>
            <a:r>
              <a:rPr lang="en-GB">
                <a:solidFill>
                  <a:srgbClr val="434343"/>
                </a:solidFill>
                <a:latin typeface="Encode Sans"/>
                <a:ea typeface="Encode Sans"/>
                <a:cs typeface="Encode Sans"/>
                <a:sym typeface="Encode Sans"/>
              </a:rPr>
              <a:t>these</a:t>
            </a:r>
            <a:r>
              <a:rPr lang="en-GB">
                <a:solidFill>
                  <a:srgbClr val="434343"/>
                </a:solidFill>
                <a:latin typeface="Encode Sans"/>
                <a:ea typeface="Encode Sans"/>
                <a:cs typeface="Encode Sans"/>
                <a:sym typeface="Encode Sans"/>
              </a:rPr>
              <a:t> steps together, allowing AI to </a:t>
            </a:r>
            <a:r>
              <a:rPr b="1" lang="en-GB">
                <a:solidFill>
                  <a:srgbClr val="434343"/>
                </a:solidFill>
                <a:latin typeface="Encode Sans"/>
                <a:ea typeface="Encode Sans"/>
                <a:cs typeface="Encode Sans"/>
                <a:sym typeface="Encode Sans"/>
              </a:rPr>
              <a:t>automatically complete an entire task</a:t>
            </a:r>
            <a:r>
              <a:rPr lang="en-GB">
                <a:solidFill>
                  <a:srgbClr val="434343"/>
                </a:solidFill>
                <a:latin typeface="Encode Sans"/>
                <a:ea typeface="Encode Sans"/>
                <a:cs typeface="Encode Sans"/>
                <a:sym typeface="Encode Sans"/>
              </a:rPr>
              <a:t> rather than simply generating a single response. </a:t>
            </a:r>
            <a:endParaRPr>
              <a:solidFill>
                <a:srgbClr val="434343"/>
              </a:solidFill>
              <a:latin typeface="Encode Sans"/>
              <a:ea typeface="Encode Sans"/>
              <a:cs typeface="Encode Sans"/>
              <a:sym typeface="Encode Sans"/>
            </a:endParaRPr>
          </a:p>
        </p:txBody>
      </p:sp>
      <p:sp>
        <p:nvSpPr>
          <p:cNvPr id="93" name="Google Shape;93;p1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pic>
        <p:nvPicPr>
          <p:cNvPr id="94" name="Google Shape;94;p17" title="ai_workflow_diagram_v2 1.png"/>
          <p:cNvPicPr preferRelativeResize="0"/>
          <p:nvPr/>
        </p:nvPicPr>
        <p:blipFill>
          <a:blip r:embed="rId3">
            <a:alphaModFix/>
          </a:blip>
          <a:stretch>
            <a:fillRect/>
          </a:stretch>
        </p:blipFill>
        <p:spPr>
          <a:xfrm>
            <a:off x="636208" y="1789421"/>
            <a:ext cx="7990369" cy="2200450"/>
          </a:xfrm>
          <a:prstGeom prst="rect">
            <a:avLst/>
          </a:prstGeom>
          <a:noFill/>
          <a:ln>
            <a:noFill/>
          </a:ln>
        </p:spPr>
      </p:pic>
      <p:sp>
        <p:nvSpPr>
          <p:cNvPr id="95" name="Google Shape;95;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Key Characteristics</a:t>
            </a:r>
            <a:endParaRPr>
              <a:solidFill>
                <a:srgbClr val="CE6948"/>
              </a:solidFill>
            </a:endParaRPr>
          </a:p>
        </p:txBody>
      </p:sp>
      <p:sp>
        <p:nvSpPr>
          <p:cNvPr id="101" name="Google Shape;101;p18"/>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sp>
        <p:nvSpPr>
          <p:cNvPr id="102" name="Google Shape;102;p18"/>
          <p:cNvSpPr txBox="1"/>
          <p:nvPr>
            <p:ph idx="1" type="body"/>
          </p:nvPr>
        </p:nvSpPr>
        <p:spPr>
          <a:xfrm>
            <a:off x="311700" y="1069550"/>
            <a:ext cx="8520600" cy="34164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Unlike a </a:t>
            </a:r>
            <a:r>
              <a:rPr b="1" lang="en-GB">
                <a:solidFill>
                  <a:srgbClr val="434343"/>
                </a:solidFill>
                <a:latin typeface="Encode Sans"/>
                <a:ea typeface="Encode Sans"/>
                <a:cs typeface="Encode Sans"/>
                <a:sym typeface="Encode Sans"/>
              </a:rPr>
              <a:t>one-shot API call</a:t>
            </a:r>
            <a:r>
              <a:rPr lang="en-GB">
                <a:solidFill>
                  <a:srgbClr val="434343"/>
                </a:solidFill>
                <a:latin typeface="Encode Sans"/>
                <a:ea typeface="Encode Sans"/>
                <a:cs typeface="Encode Sans"/>
                <a:sym typeface="Encode Sans"/>
              </a:rPr>
              <a:t>, an AI Workflow can: </a:t>
            </a:r>
            <a:endParaRPr>
              <a:solidFill>
                <a:srgbClr val="434343"/>
              </a:solidFill>
              <a:latin typeface="Encode Sans"/>
              <a:ea typeface="Encode Sans"/>
              <a:cs typeface="Encode Sans"/>
              <a:sym typeface="Encode Sans"/>
            </a:endParaRPr>
          </a:p>
          <a:p>
            <a:pPr indent="-225425" lvl="0" marL="685800" rtl="0" algn="just">
              <a:lnSpc>
                <a:spcPct val="130000"/>
              </a:lnSpc>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Decompose</a:t>
            </a:r>
            <a:r>
              <a:rPr lang="en-GB">
                <a:solidFill>
                  <a:srgbClr val="434343"/>
                </a:solidFill>
                <a:latin typeface="Encode Sans"/>
                <a:ea typeface="Encode Sans"/>
                <a:cs typeface="Encode Sans"/>
                <a:sym typeface="Encode Sans"/>
              </a:rPr>
              <a:t> a complex problem into multiple steps</a:t>
            </a:r>
            <a:endParaRPr>
              <a:solidFill>
                <a:srgbClr val="434343"/>
              </a:solidFill>
              <a:latin typeface="Encode Sans"/>
              <a:ea typeface="Encode Sans"/>
              <a:cs typeface="Encode Sans"/>
              <a:sym typeface="Encode Sans"/>
            </a:endParaRPr>
          </a:p>
          <a:p>
            <a:pPr indent="-225425" lvl="0" marL="685800" rtl="0" algn="just">
              <a:lnSpc>
                <a:spcPct val="130000"/>
              </a:lnSpc>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Each step can use a </a:t>
            </a:r>
            <a:r>
              <a:rPr b="1" lang="en-GB">
                <a:solidFill>
                  <a:srgbClr val="434343"/>
                </a:solidFill>
                <a:latin typeface="Encode Sans"/>
                <a:ea typeface="Encode Sans"/>
                <a:cs typeface="Encode Sans"/>
                <a:sym typeface="Encode Sans"/>
              </a:rPr>
              <a:t>different model</a:t>
            </a:r>
            <a:endParaRPr b="1">
              <a:solidFill>
                <a:srgbClr val="434343"/>
              </a:solidFill>
              <a:latin typeface="Encode Sans"/>
              <a:ea typeface="Encode Sans"/>
              <a:cs typeface="Encode Sans"/>
              <a:sym typeface="Encode Sans"/>
            </a:endParaRPr>
          </a:p>
          <a:p>
            <a:pPr indent="-225425" lvl="0" marL="685800" rtl="0" algn="just">
              <a:lnSpc>
                <a:spcPct val="130000"/>
              </a:lnSpc>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Validate</a:t>
            </a:r>
            <a:r>
              <a:rPr lang="en-GB">
                <a:solidFill>
                  <a:srgbClr val="434343"/>
                </a:solidFill>
                <a:latin typeface="Encode Sans"/>
                <a:ea typeface="Encode Sans"/>
                <a:cs typeface="Encode Sans"/>
                <a:sym typeface="Encode Sans"/>
              </a:rPr>
              <a:t> intermediate results before continuing</a:t>
            </a:r>
            <a:endParaRPr>
              <a:solidFill>
                <a:srgbClr val="434343"/>
              </a:solidFill>
              <a:latin typeface="Encode Sans"/>
              <a:ea typeface="Encode Sans"/>
              <a:cs typeface="Encode Sans"/>
              <a:sym typeface="Encode Sans"/>
            </a:endParaRPr>
          </a:p>
          <a:p>
            <a:pPr indent="-225425" lvl="0" marL="685800" rtl="0" algn="just">
              <a:lnSpc>
                <a:spcPct val="130000"/>
              </a:lnSpc>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Branch</a:t>
            </a:r>
            <a:r>
              <a:rPr lang="en-GB">
                <a:solidFill>
                  <a:srgbClr val="434343"/>
                </a:solidFill>
                <a:latin typeface="Encode Sans"/>
                <a:ea typeface="Encode Sans"/>
                <a:cs typeface="Encode Sans"/>
                <a:sym typeface="Encode Sans"/>
              </a:rPr>
              <a:t> based on conditions or results</a:t>
            </a:r>
            <a:endParaRPr>
              <a:solidFill>
                <a:srgbClr val="434343"/>
              </a:solidFill>
              <a:latin typeface="Encode Sans"/>
              <a:ea typeface="Encode Sans"/>
              <a:cs typeface="Encode Sans"/>
              <a:sym typeface="Encode Sans"/>
            </a:endParaRPr>
          </a:p>
          <a:p>
            <a:pPr indent="-225425" lvl="0" marL="685800" rtl="0" algn="just">
              <a:lnSpc>
                <a:spcPct val="130000"/>
              </a:lnSpc>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Run tasks in parallel</a:t>
            </a:r>
            <a:r>
              <a:rPr lang="en-GB">
                <a:solidFill>
                  <a:srgbClr val="434343"/>
                </a:solidFill>
                <a:latin typeface="Encode Sans"/>
                <a:ea typeface="Encode Sans"/>
                <a:cs typeface="Encode Sans"/>
                <a:sym typeface="Encode Sans"/>
              </a:rPr>
              <a:t> through multiple execution paths</a:t>
            </a:r>
            <a:endParaRPr>
              <a:solidFill>
                <a:srgbClr val="434343"/>
              </a:solidFill>
              <a:latin typeface="Encode Sans"/>
              <a:ea typeface="Encode Sans"/>
              <a:cs typeface="Encode Sans"/>
              <a:sym typeface="Encode Sans"/>
            </a:endParaRPr>
          </a:p>
          <a:p>
            <a:pPr indent="-225425" lvl="0" marL="685800" rtl="0" algn="just">
              <a:lnSpc>
                <a:spcPct val="130000"/>
              </a:lnSpc>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Combine outputs</a:t>
            </a:r>
            <a:r>
              <a:rPr lang="en-GB">
                <a:solidFill>
                  <a:srgbClr val="434343"/>
                </a:solidFill>
                <a:latin typeface="Encode Sans"/>
                <a:ea typeface="Encode Sans"/>
                <a:cs typeface="Encode Sans"/>
                <a:sym typeface="Encode Sans"/>
              </a:rPr>
              <a:t> to produce the final result</a:t>
            </a:r>
            <a:endParaRPr>
              <a:solidFill>
                <a:srgbClr val="434343"/>
              </a:solidFill>
              <a:latin typeface="Encode Sans"/>
              <a:ea typeface="Encode Sans"/>
              <a:cs typeface="Encode Sans"/>
              <a:sym typeface="Encode Sans"/>
            </a:endParaRPr>
          </a:p>
        </p:txBody>
      </p:sp>
      <p:sp>
        <p:nvSpPr>
          <p:cNvPr id="103" name="Google Shape;10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Why We Need It (Problem Statement)</a:t>
            </a:r>
            <a:endParaRPr>
              <a:solidFill>
                <a:srgbClr val="CE6948"/>
              </a:solidFill>
            </a:endParaRPr>
          </a:p>
        </p:txBody>
      </p:sp>
      <p:sp>
        <p:nvSpPr>
          <p:cNvPr id="109" name="Google Shape;109;p19"/>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sp>
        <p:nvSpPr>
          <p:cNvPr id="110" name="Google Shape;110;p19"/>
          <p:cNvSpPr txBox="1"/>
          <p:nvPr>
            <p:ph idx="1" type="body"/>
          </p:nvPr>
        </p:nvSpPr>
        <p:spPr>
          <a:xfrm>
            <a:off x="311700" y="1069550"/>
            <a:ext cx="8520600" cy="34164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The Problem</a:t>
            </a:r>
            <a:endParaRPr>
              <a:solidFill>
                <a:srgbClr val="434343"/>
              </a:solidFill>
              <a:latin typeface="Encode Sans"/>
              <a:ea typeface="Encode Sans"/>
              <a:cs typeface="Encode Sans"/>
              <a:sym typeface="Encode Sans"/>
            </a:endParaRPr>
          </a:p>
          <a:p>
            <a:pPr indent="-212725" lvl="1" marL="685800" marR="0" rtl="0" algn="just">
              <a:lnSpc>
                <a:spcPct val="130000"/>
              </a:lnSpc>
              <a:spcBef>
                <a:spcPts val="0"/>
              </a:spcBef>
              <a:spcAft>
                <a:spcPts val="0"/>
              </a:spcAft>
              <a:buClr>
                <a:srgbClr val="CE6948"/>
              </a:buClr>
              <a:buSzPts val="1100"/>
              <a:buFont typeface="Encode Sans"/>
              <a:buChar char="○"/>
            </a:pPr>
            <a:r>
              <a:rPr lang="en-GB">
                <a:solidFill>
                  <a:srgbClr val="434343"/>
                </a:solidFill>
                <a:latin typeface="Encode Sans"/>
                <a:ea typeface="Encode Sans"/>
                <a:cs typeface="Encode Sans"/>
                <a:sym typeface="Encode Sans"/>
              </a:rPr>
              <a:t>A </a:t>
            </a:r>
            <a:r>
              <a:rPr lang="en-GB">
                <a:solidFill>
                  <a:srgbClr val="434343"/>
                </a:solidFill>
                <a:latin typeface="Encode Sans SemiBold"/>
                <a:ea typeface="Encode Sans SemiBold"/>
                <a:cs typeface="Encode Sans SemiBold"/>
                <a:sym typeface="Encode Sans SemiBold"/>
              </a:rPr>
              <a:t>single LLM</a:t>
            </a:r>
            <a:r>
              <a:rPr lang="en-GB">
                <a:solidFill>
                  <a:srgbClr val="434343"/>
                </a:solidFill>
                <a:latin typeface="Encode Sans"/>
                <a:ea typeface="Encode Sans"/>
                <a:cs typeface="Encode Sans"/>
                <a:sym typeface="Encode Sans"/>
              </a:rPr>
              <a:t> </a:t>
            </a:r>
            <a:r>
              <a:rPr lang="en-GB">
                <a:solidFill>
                  <a:srgbClr val="434343"/>
                </a:solidFill>
                <a:latin typeface="Encode Sans SemiBold"/>
                <a:ea typeface="Encode Sans SemiBold"/>
                <a:cs typeface="Encode Sans SemiBold"/>
                <a:sym typeface="Encode Sans SemiBold"/>
              </a:rPr>
              <a:t>call</a:t>
            </a:r>
            <a:r>
              <a:rPr lang="en-GB">
                <a:solidFill>
                  <a:srgbClr val="434343"/>
                </a:solidFill>
                <a:latin typeface="Encode Sans"/>
                <a:ea typeface="Encode Sans"/>
                <a:cs typeface="Encode Sans"/>
                <a:sym typeface="Encode Sans"/>
              </a:rPr>
              <a:t> is like an </a:t>
            </a:r>
            <a:r>
              <a:rPr lang="en-GB">
                <a:solidFill>
                  <a:srgbClr val="434343"/>
                </a:solidFill>
                <a:latin typeface="Encode Sans SemiBold"/>
                <a:ea typeface="Encode Sans SemiBold"/>
                <a:cs typeface="Encode Sans SemiBold"/>
                <a:sym typeface="Encode Sans SemiBold"/>
              </a:rPr>
              <a:t>intern</a:t>
            </a:r>
            <a:r>
              <a:rPr lang="en-GB">
                <a:solidFill>
                  <a:srgbClr val="434343"/>
                </a:solidFill>
                <a:latin typeface="Encode Sans"/>
                <a:ea typeface="Encode Sans"/>
                <a:cs typeface="Encode Sans"/>
                <a:sym typeface="Encode Sans"/>
              </a:rPr>
              <a:t> with a</a:t>
            </a:r>
            <a:r>
              <a:rPr lang="en-GB">
                <a:solidFill>
                  <a:srgbClr val="434343"/>
                </a:solidFill>
                <a:latin typeface="Encode Sans SemiBold"/>
                <a:ea typeface="Encode Sans SemiBold"/>
                <a:cs typeface="Encode Sans SemiBold"/>
                <a:sym typeface="Encode Sans SemiBold"/>
              </a:rPr>
              <a:t> great memory</a:t>
            </a:r>
            <a:r>
              <a:rPr lang="en-GB">
                <a:solidFill>
                  <a:srgbClr val="434343"/>
                </a:solidFill>
                <a:latin typeface="Encode Sans"/>
                <a:ea typeface="Encode Sans"/>
                <a:cs typeface="Encode Sans"/>
                <a:sym typeface="Encode Sans"/>
              </a:rPr>
              <a:t> but </a:t>
            </a:r>
            <a:r>
              <a:rPr lang="en-GB">
                <a:solidFill>
                  <a:srgbClr val="434343"/>
                </a:solidFill>
                <a:latin typeface="Encode Sans SemiBold"/>
                <a:ea typeface="Encode Sans SemiBold"/>
                <a:cs typeface="Encode Sans SemiBold"/>
                <a:sym typeface="Encode Sans SemiBold"/>
              </a:rPr>
              <a:t>no structure.</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12725" lvl="1" marL="685800" marR="0" rtl="0" algn="just">
              <a:lnSpc>
                <a:spcPct val="130000"/>
              </a:lnSpc>
              <a:spcBef>
                <a:spcPts val="0"/>
              </a:spcBef>
              <a:spcAft>
                <a:spcPts val="0"/>
              </a:spcAft>
              <a:buClr>
                <a:srgbClr val="CE6948"/>
              </a:buClr>
              <a:buSzPts val="1100"/>
              <a:buFont typeface="Encode Sans"/>
              <a:buChar char="○"/>
            </a:pPr>
            <a:r>
              <a:rPr lang="en-GB">
                <a:solidFill>
                  <a:srgbClr val="434343"/>
                </a:solidFill>
                <a:latin typeface="Encode Sans"/>
                <a:ea typeface="Encode Sans"/>
                <a:cs typeface="Encode Sans"/>
                <a:sym typeface="Encode Sans"/>
              </a:rPr>
              <a:t>If you ask it to </a:t>
            </a:r>
            <a:r>
              <a:rPr i="1" lang="en-GB">
                <a:solidFill>
                  <a:srgbClr val="434343"/>
                </a:solidFill>
                <a:latin typeface="Encode Sans"/>
                <a:ea typeface="Encode Sans"/>
                <a:cs typeface="Encode Sans"/>
                <a:sym typeface="Encode Sans"/>
              </a:rPr>
              <a:t>"</a:t>
            </a:r>
            <a:r>
              <a:rPr i="1" lang="en-GB">
                <a:solidFill>
                  <a:srgbClr val="067D17"/>
                </a:solidFill>
                <a:latin typeface="Encode Sans SemiBold"/>
                <a:ea typeface="Encode Sans SemiBold"/>
                <a:cs typeface="Encode Sans SemiBold"/>
                <a:sym typeface="Encode Sans SemiBold"/>
              </a:rPr>
              <a:t>write a whole software project, test it, and deploy it</a:t>
            </a:r>
            <a:r>
              <a:rPr i="1" lang="en-GB">
                <a:solidFill>
                  <a:srgbClr val="434343"/>
                </a:solidFill>
                <a:latin typeface="Encode Sans"/>
                <a:ea typeface="Encode Sans"/>
                <a:cs typeface="Encode Sans"/>
                <a:sym typeface="Encode Sans"/>
              </a:rPr>
              <a:t>"</a:t>
            </a:r>
            <a:r>
              <a:rPr lang="en-GB">
                <a:solidFill>
                  <a:srgbClr val="434343"/>
                </a:solidFill>
                <a:latin typeface="Encode Sans"/>
                <a:ea typeface="Encode Sans"/>
                <a:cs typeface="Encode Sans"/>
                <a:sym typeface="Encode Sans"/>
              </a:rPr>
              <a:t> in </a:t>
            </a:r>
            <a:r>
              <a:rPr lang="en-GB">
                <a:solidFill>
                  <a:srgbClr val="CE6948"/>
                </a:solidFill>
                <a:latin typeface="Encode Sans SemiBold"/>
                <a:ea typeface="Encode Sans SemiBold"/>
                <a:cs typeface="Encode Sans SemiBold"/>
                <a:sym typeface="Encode Sans SemiBold"/>
              </a:rPr>
              <a:t>one prompt</a:t>
            </a:r>
            <a:r>
              <a:rPr lang="en-GB">
                <a:solidFill>
                  <a:srgbClr val="434343"/>
                </a:solidFill>
                <a:latin typeface="Encode Sans"/>
                <a:ea typeface="Encode Sans"/>
                <a:cs typeface="Encode Sans"/>
                <a:sym typeface="Encode Sans"/>
              </a:rPr>
              <a:t>, it will </a:t>
            </a:r>
            <a:r>
              <a:rPr lang="en-GB">
                <a:solidFill>
                  <a:srgbClr val="CE6948"/>
                </a:solidFill>
                <a:latin typeface="Encode Sans SemiBold"/>
                <a:ea typeface="Encode Sans SemiBold"/>
                <a:cs typeface="Encode Sans SemiBold"/>
                <a:sym typeface="Encode Sans SemiBold"/>
              </a:rPr>
              <a:t>fail</a:t>
            </a:r>
            <a:r>
              <a:rPr lang="en-GB">
                <a:solidFill>
                  <a:srgbClr val="434343"/>
                </a:solidFill>
                <a:latin typeface="Encode Sans"/>
                <a:ea typeface="Encode Sans"/>
                <a:cs typeface="Encode Sans"/>
                <a:sym typeface="Encode Sans"/>
              </a:rPr>
              <a:t>.</a:t>
            </a:r>
            <a:endParaRPr>
              <a:solidFill>
                <a:srgbClr val="434343"/>
              </a:solidFill>
              <a:latin typeface="Encode Sans"/>
              <a:ea typeface="Encode Sans"/>
              <a:cs typeface="Encode Sans"/>
              <a:sym typeface="Encode Sans"/>
            </a:endParaRPr>
          </a:p>
          <a:p>
            <a:pPr indent="-212725" lvl="1" marL="685800" marR="0" rtl="0" algn="just">
              <a:lnSpc>
                <a:spcPct val="130000"/>
              </a:lnSpc>
              <a:spcBef>
                <a:spcPts val="0"/>
              </a:spcBef>
              <a:spcAft>
                <a:spcPts val="0"/>
              </a:spcAft>
              <a:buClr>
                <a:srgbClr val="CE6948"/>
              </a:buClr>
              <a:buSzPts val="1100"/>
              <a:buFont typeface="Encode Sans"/>
              <a:buChar char="○"/>
            </a:pPr>
            <a:r>
              <a:rPr lang="en-GB">
                <a:solidFill>
                  <a:srgbClr val="434343"/>
                </a:solidFill>
                <a:latin typeface="Encode Sans"/>
                <a:ea typeface="Encode Sans"/>
                <a:cs typeface="Encode Sans"/>
                <a:sym typeface="Encode Sans"/>
              </a:rPr>
              <a:t>It hits context limits, hallucinates details, and has no memory of what it did two steps ago.</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The Goal</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12725" lvl="1" marL="685800" marR="0" rtl="0" algn="just">
              <a:lnSpc>
                <a:spcPct val="130000"/>
              </a:lnSpc>
              <a:spcBef>
                <a:spcPts val="0"/>
              </a:spcBef>
              <a:spcAft>
                <a:spcPts val="0"/>
              </a:spcAft>
              <a:buClr>
                <a:srgbClr val="CE6948"/>
              </a:buClr>
              <a:buSzPts val="1100"/>
              <a:buFont typeface="Encode Sans"/>
              <a:buChar char="○"/>
            </a:pPr>
            <a:r>
              <a:rPr lang="en-GB">
                <a:solidFill>
                  <a:srgbClr val="434343"/>
                </a:solidFill>
                <a:latin typeface="Encode Sans"/>
                <a:ea typeface="Encode Sans"/>
                <a:cs typeface="Encode Sans"/>
                <a:sym typeface="Encode Sans"/>
              </a:rPr>
              <a:t>We need a way to take a big, </a:t>
            </a:r>
            <a:r>
              <a:rPr lang="en-GB">
                <a:solidFill>
                  <a:srgbClr val="CE6948"/>
                </a:solidFill>
                <a:latin typeface="Encode Sans SemiBold"/>
                <a:ea typeface="Encode Sans SemiBold"/>
                <a:cs typeface="Encode Sans SemiBold"/>
                <a:sym typeface="Encode Sans SemiBold"/>
              </a:rPr>
              <a:t>messy task</a:t>
            </a:r>
            <a:r>
              <a:rPr lang="en-GB">
                <a:solidFill>
                  <a:srgbClr val="434343"/>
                </a:solidFill>
                <a:latin typeface="Encode Sans"/>
                <a:ea typeface="Encode Sans"/>
                <a:cs typeface="Encode Sans"/>
                <a:sym typeface="Encode Sans"/>
              </a:rPr>
              <a:t> and </a:t>
            </a:r>
            <a:r>
              <a:rPr lang="en-GB">
                <a:solidFill>
                  <a:srgbClr val="CE6948"/>
                </a:solidFill>
                <a:latin typeface="Encode Sans SemiBold"/>
                <a:ea typeface="Encode Sans SemiBold"/>
                <a:cs typeface="Encode Sans SemiBold"/>
                <a:sym typeface="Encode Sans SemiBold"/>
              </a:rPr>
              <a:t>break</a:t>
            </a:r>
            <a:r>
              <a:rPr lang="en-GB">
                <a:solidFill>
                  <a:srgbClr val="434343"/>
                </a:solidFill>
                <a:latin typeface="Encode Sans"/>
                <a:ea typeface="Encode Sans"/>
                <a:cs typeface="Encode Sans"/>
                <a:sym typeface="Encode Sans"/>
              </a:rPr>
              <a:t> it down into clean, manageable, reliable steps.</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The Solution</a:t>
            </a:r>
            <a:r>
              <a:rPr lang="en-GB">
                <a:solidFill>
                  <a:srgbClr val="434343"/>
                </a:solidFill>
                <a:latin typeface="Encode Sans"/>
                <a:ea typeface="Encode Sans"/>
                <a:cs typeface="Encode Sans"/>
                <a:sym typeface="Encode Sans"/>
              </a:rPr>
              <a:t> </a:t>
            </a:r>
            <a:r>
              <a:rPr b="1" lang="en-GB">
                <a:solidFill>
                  <a:srgbClr val="434343"/>
                </a:solidFill>
                <a:latin typeface="Encode Sans"/>
                <a:ea typeface="Encode Sans"/>
                <a:cs typeface="Encode Sans"/>
                <a:sym typeface="Encode Sans"/>
              </a:rPr>
              <a:t>(Workflow Engineering / AI Workflow)</a:t>
            </a:r>
            <a:r>
              <a:rPr lang="en-GB">
                <a:solidFill>
                  <a:srgbClr val="434343"/>
                </a:solidFill>
                <a:latin typeface="Encode Sans"/>
                <a:ea typeface="Encode Sans"/>
                <a:cs typeface="Encode Sans"/>
                <a:sym typeface="Encode Sans"/>
              </a:rPr>
              <a:t>:</a:t>
            </a:r>
            <a:endParaRPr>
              <a:solidFill>
                <a:srgbClr val="434343"/>
              </a:solidFill>
              <a:latin typeface="Encode Sans"/>
              <a:ea typeface="Encode Sans"/>
              <a:cs typeface="Encode Sans"/>
              <a:sym typeface="Encode Sans"/>
            </a:endParaRPr>
          </a:p>
          <a:p>
            <a:pPr indent="-212725" lvl="1" marL="685800" marR="0" rtl="0" algn="just">
              <a:lnSpc>
                <a:spcPct val="130000"/>
              </a:lnSpc>
              <a:spcBef>
                <a:spcPts val="0"/>
              </a:spcBef>
              <a:spcAft>
                <a:spcPts val="0"/>
              </a:spcAft>
              <a:buClr>
                <a:srgbClr val="CE6948"/>
              </a:buClr>
              <a:buSzPts val="1100"/>
              <a:buFont typeface="Encode Sans"/>
              <a:buChar char="○"/>
            </a:pPr>
            <a:r>
              <a:rPr lang="en-GB">
                <a:solidFill>
                  <a:srgbClr val="434343"/>
                </a:solidFill>
                <a:latin typeface="Encode Sans"/>
                <a:ea typeface="Encode Sans"/>
                <a:cs typeface="Encode Sans"/>
                <a:sym typeface="Encode Sans"/>
              </a:rPr>
              <a:t>This is the practice of designing, building, and managing structured pathways where code and AI work together step-by-step to get complex jobs done reliably.</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p:txBody>
      </p:sp>
      <p:sp>
        <p:nvSpPr>
          <p:cNvPr id="111" name="Google Shape;11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4 Levels of AI Capability / Levels of AI Automation</a:t>
            </a:r>
            <a:endParaRPr>
              <a:solidFill>
                <a:srgbClr val="CE6948"/>
              </a:solidFill>
            </a:endParaRPr>
          </a:p>
        </p:txBody>
      </p:sp>
      <p:sp>
        <p:nvSpPr>
          <p:cNvPr id="117" name="Google Shape;117;p2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sp>
        <p:nvSpPr>
          <p:cNvPr id="118" name="Google Shape;118;p20"/>
          <p:cNvSpPr txBox="1"/>
          <p:nvPr>
            <p:ph idx="1" type="body"/>
          </p:nvPr>
        </p:nvSpPr>
        <p:spPr>
          <a:xfrm>
            <a:off x="311700" y="1069550"/>
            <a:ext cx="8520600" cy="377700"/>
          </a:xfrm>
          <a:prstGeom prst="rect">
            <a:avLst/>
          </a:prstGeom>
        </p:spPr>
        <p:txBody>
          <a:bodyPr anchorCtr="0" anchor="t" bIns="91425" lIns="91425" spcFirstLastPara="1" rIns="91425" wrap="square" tIns="91425">
            <a:noAutofit/>
          </a:bodyPr>
          <a:lstStyle/>
          <a:p>
            <a:pPr indent="0" lvl="0" marL="0" marR="0" rtl="0" algn="just">
              <a:lnSpc>
                <a:spcPct val="130000"/>
              </a:lnSpc>
              <a:spcBef>
                <a:spcPts val="1000"/>
              </a:spcBef>
              <a:spcAft>
                <a:spcPts val="0"/>
              </a:spcAft>
              <a:buNone/>
            </a:pPr>
            <a:r>
              <a:rPr lang="en-GB">
                <a:solidFill>
                  <a:srgbClr val="434343"/>
                </a:solidFill>
                <a:latin typeface="Encode Sans"/>
                <a:ea typeface="Encode Sans"/>
                <a:cs typeface="Encode Sans"/>
                <a:sym typeface="Encode Sans"/>
              </a:rPr>
              <a:t>Each level gives AI more autonomy, handles more complexity, and requires less human intervention.</a:t>
            </a:r>
            <a:endParaRPr>
              <a:solidFill>
                <a:srgbClr val="434343"/>
              </a:solidFill>
              <a:latin typeface="Encode Sans"/>
              <a:ea typeface="Encode Sans"/>
              <a:cs typeface="Encode Sans"/>
              <a:sym typeface="Encode Sans"/>
            </a:endParaRPr>
          </a:p>
        </p:txBody>
      </p:sp>
      <p:grpSp>
        <p:nvGrpSpPr>
          <p:cNvPr id="119" name="Google Shape;119;p20"/>
          <p:cNvGrpSpPr/>
          <p:nvPr/>
        </p:nvGrpSpPr>
        <p:grpSpPr>
          <a:xfrm>
            <a:off x="255200" y="1485185"/>
            <a:ext cx="1983067" cy="2971200"/>
            <a:chOff x="255200" y="1627400"/>
            <a:chExt cx="1983067" cy="2971200"/>
          </a:xfrm>
        </p:grpSpPr>
        <p:grpSp>
          <p:nvGrpSpPr>
            <p:cNvPr id="120" name="Google Shape;120;p20"/>
            <p:cNvGrpSpPr/>
            <p:nvPr/>
          </p:nvGrpSpPr>
          <p:grpSpPr>
            <a:xfrm>
              <a:off x="419667" y="1627400"/>
              <a:ext cx="1818600" cy="2971200"/>
              <a:chOff x="388775" y="1475000"/>
              <a:chExt cx="1818600" cy="2971200"/>
            </a:xfrm>
          </p:grpSpPr>
          <p:sp>
            <p:nvSpPr>
              <p:cNvPr id="121" name="Google Shape;121;p20"/>
              <p:cNvSpPr/>
              <p:nvPr/>
            </p:nvSpPr>
            <p:spPr>
              <a:xfrm>
                <a:off x="388775" y="1475000"/>
                <a:ext cx="1818600" cy="2971200"/>
              </a:xfrm>
              <a:prstGeom prst="roundRect">
                <a:avLst>
                  <a:gd fmla="val 4845" name="adj"/>
                </a:avLst>
              </a:prstGeom>
              <a:noFill/>
              <a:ln cap="flat" cmpd="sng" w="9525">
                <a:solidFill>
                  <a:srgbClr val="D97757"/>
                </a:solidFill>
                <a:prstDash val="solid"/>
                <a:round/>
                <a:headEnd len="sm" w="sm" type="none"/>
                <a:tailEnd len="sm" w="sm" type="none"/>
              </a:ln>
            </p:spPr>
            <p:txBody>
              <a:bodyPr anchorCtr="0" anchor="t" bIns="91425" lIns="91425" spcFirstLastPara="1" rIns="91425" wrap="square" tIns="91425">
                <a:noAutofit/>
              </a:bodyPr>
              <a:lstStyle/>
              <a:p>
                <a:pPr indent="0" lvl="0" marL="114300" marR="0" rtl="0" algn="l">
                  <a:lnSpc>
                    <a:spcPct val="115000"/>
                  </a:lnSpc>
                  <a:spcBef>
                    <a:spcPts val="1000"/>
                  </a:spcBef>
                  <a:spcAft>
                    <a:spcPts val="0"/>
                  </a:spcAft>
                  <a:buNone/>
                </a:pPr>
                <a:r>
                  <a:rPr b="1" lang="en-GB" sz="900">
                    <a:solidFill>
                      <a:schemeClr val="dk1"/>
                    </a:solidFill>
                    <a:latin typeface="Encode Sans"/>
                    <a:ea typeface="Encode Sans"/>
                    <a:cs typeface="Encode Sans"/>
                    <a:sym typeface="Encode Sans"/>
                  </a:rPr>
                  <a:t>Level 1</a:t>
                </a:r>
                <a:endParaRPr b="1" sz="900">
                  <a:solidFill>
                    <a:schemeClr val="dk1"/>
                  </a:solidFill>
                  <a:latin typeface="Encode Sans"/>
                  <a:ea typeface="Encode Sans"/>
                  <a:cs typeface="Encode Sans"/>
                  <a:sym typeface="Encode Sans"/>
                </a:endParaRPr>
              </a:p>
              <a:p>
                <a:pPr indent="0" lvl="0" marL="114300" rtl="0" algn="l">
                  <a:lnSpc>
                    <a:spcPct val="115000"/>
                  </a:lnSpc>
                  <a:spcBef>
                    <a:spcPts val="0"/>
                  </a:spcBef>
                  <a:spcAft>
                    <a:spcPts val="0"/>
                  </a:spcAft>
                  <a:buNone/>
                </a:pPr>
                <a:r>
                  <a:rPr b="1" lang="en-GB" sz="900">
                    <a:solidFill>
                      <a:srgbClr val="CE6948"/>
                    </a:solidFill>
                    <a:latin typeface="Encode Sans"/>
                    <a:ea typeface="Encode Sans"/>
                    <a:cs typeface="Encode Sans"/>
                    <a:sym typeface="Encode Sans"/>
                  </a:rPr>
                  <a:t>Single Q&amp;A (Prompting)</a:t>
                </a:r>
                <a:endParaRPr sz="800">
                  <a:solidFill>
                    <a:srgbClr val="CE6948"/>
                  </a:solidFill>
                  <a:latin typeface="Encode Sans SemiBold"/>
                  <a:ea typeface="Encode Sans SemiBold"/>
                  <a:cs typeface="Encode Sans SemiBold"/>
                  <a:sym typeface="Encode Sans SemiBold"/>
                </a:endParaRPr>
              </a:p>
              <a:p>
                <a:pPr indent="0" lvl="0" marL="0" marR="0" rtl="0" algn="just">
                  <a:lnSpc>
                    <a:spcPct val="115000"/>
                  </a:lnSpc>
                  <a:spcBef>
                    <a:spcPts val="2000"/>
                  </a:spcBef>
                  <a:spcAft>
                    <a:spcPts val="0"/>
                  </a:spcAft>
                  <a:buNone/>
                </a:pPr>
                <a:r>
                  <a:rPr lang="en-GB" sz="800">
                    <a:solidFill>
                      <a:schemeClr val="dk1"/>
                    </a:solidFill>
                    <a:latin typeface="Encode Sans SemiBold"/>
                    <a:ea typeface="Encode Sans SemiBold"/>
                    <a:cs typeface="Encode Sans SemiBold"/>
                    <a:sym typeface="Encode Sans SemiBold"/>
                  </a:rPr>
                  <a:t>Flow:</a:t>
                </a:r>
                <a:endParaRPr sz="800">
                  <a:solidFill>
                    <a:schemeClr val="dk1"/>
                  </a:solidFill>
                  <a:latin typeface="Encode Sans SemiBold"/>
                  <a:ea typeface="Encode Sans SemiBold"/>
                  <a:cs typeface="Encode Sans SemiBold"/>
                  <a:sym typeface="Encode Sans SemiBold"/>
                </a:endParaRPr>
              </a:p>
              <a:p>
                <a:pPr indent="0" lvl="0" marL="0" marR="0" rtl="0" algn="just">
                  <a:lnSpc>
                    <a:spcPct val="115000"/>
                  </a:lnSpc>
                  <a:spcBef>
                    <a:spcPts val="0"/>
                  </a:spcBef>
                  <a:spcAft>
                    <a:spcPts val="0"/>
                  </a:spcAft>
                  <a:buNone/>
                </a:pPr>
                <a:r>
                  <a:rPr lang="en-GB" sz="900">
                    <a:solidFill>
                      <a:schemeClr val="dk1"/>
                    </a:solidFill>
                    <a:latin typeface="Encode Sans"/>
                    <a:ea typeface="Encode Sans"/>
                    <a:cs typeface="Encode Sans"/>
                    <a:sym typeface="Encode Sans"/>
                  </a:rPr>
                  <a:t> User Input        LLM       Output.</a:t>
                </a:r>
                <a:endParaRPr sz="900">
                  <a:solidFill>
                    <a:schemeClr val="dk1"/>
                  </a:solidFill>
                  <a:latin typeface="Encode Sans"/>
                  <a:ea typeface="Encode Sans"/>
                  <a:cs typeface="Encode Sans"/>
                  <a:sym typeface="Encode Sans"/>
                </a:endParaRPr>
              </a:p>
              <a:p>
                <a:pPr indent="0" lvl="0" marL="0" marR="0" rtl="0" algn="just">
                  <a:lnSpc>
                    <a:spcPct val="115000"/>
                  </a:lnSpc>
                  <a:spcBef>
                    <a:spcPts val="1000"/>
                  </a:spcBef>
                  <a:spcAft>
                    <a:spcPts val="0"/>
                  </a:spcAft>
                  <a:buNone/>
                </a:pPr>
                <a:r>
                  <a:rPr lang="en-GB" sz="800">
                    <a:solidFill>
                      <a:schemeClr val="dk1"/>
                    </a:solidFill>
                    <a:latin typeface="Encode Sans SemiBold"/>
                    <a:ea typeface="Encode Sans SemiBold"/>
                    <a:cs typeface="Encode Sans SemiBold"/>
                    <a:sym typeface="Encode Sans SemiBold"/>
                  </a:rPr>
                  <a:t>Example:</a:t>
                </a:r>
                <a:r>
                  <a:rPr lang="en-GB" sz="900">
                    <a:solidFill>
                      <a:schemeClr val="dk1"/>
                    </a:solidFill>
                    <a:latin typeface="Encode Sans"/>
                    <a:ea typeface="Encode Sans"/>
                    <a:cs typeface="Encode Sans"/>
                    <a:sym typeface="Encode Sans"/>
                  </a:rPr>
                  <a:t> "Write me a poem."</a:t>
                </a:r>
                <a:endParaRPr sz="900">
                  <a:solidFill>
                    <a:schemeClr val="dk1"/>
                  </a:solidFill>
                  <a:latin typeface="Encode Sans"/>
                  <a:ea typeface="Encode Sans"/>
                  <a:cs typeface="Encode Sans"/>
                  <a:sym typeface="Encode Sans"/>
                </a:endParaRPr>
              </a:p>
              <a:p>
                <a:pPr indent="0" lvl="0" marL="0" marR="0" rtl="0" algn="just">
                  <a:lnSpc>
                    <a:spcPct val="115000"/>
                  </a:lnSpc>
                  <a:spcBef>
                    <a:spcPts val="1000"/>
                  </a:spcBef>
                  <a:spcAft>
                    <a:spcPts val="0"/>
                  </a:spcAft>
                  <a:buNone/>
                </a:pPr>
                <a:r>
                  <a:rPr lang="en-GB" sz="800">
                    <a:solidFill>
                      <a:schemeClr val="dk1"/>
                    </a:solidFill>
                    <a:latin typeface="Encode Sans SemiBold"/>
                    <a:ea typeface="Encode Sans SemiBold"/>
                    <a:cs typeface="Encode Sans SemiBold"/>
                    <a:sym typeface="Encode Sans SemiBold"/>
                  </a:rPr>
                  <a:t>Limit:</a:t>
                </a:r>
                <a:r>
                  <a:rPr lang="en-GB" sz="900">
                    <a:solidFill>
                      <a:schemeClr val="dk1"/>
                    </a:solidFill>
                    <a:latin typeface="Encode Sans"/>
                    <a:ea typeface="Encode Sans"/>
                    <a:cs typeface="Encode Sans"/>
                    <a:sym typeface="Encode Sans"/>
                  </a:rPr>
                  <a:t> Only works for one-off, simple tasks.</a:t>
                </a:r>
                <a:endParaRPr sz="900">
                  <a:solidFill>
                    <a:schemeClr val="dk1"/>
                  </a:solidFill>
                  <a:latin typeface="Encode Sans"/>
                  <a:ea typeface="Encode Sans"/>
                  <a:cs typeface="Encode Sans"/>
                  <a:sym typeface="Encode Sans"/>
                </a:endParaRPr>
              </a:p>
            </p:txBody>
          </p:sp>
          <p:sp>
            <p:nvSpPr>
              <p:cNvPr id="122" name="Google Shape;122;p20"/>
              <p:cNvSpPr/>
              <p:nvPr/>
            </p:nvSpPr>
            <p:spPr>
              <a:xfrm>
                <a:off x="1118141" y="2474260"/>
                <a:ext cx="120000" cy="56400"/>
              </a:xfrm>
              <a:prstGeom prst="rightArrow">
                <a:avLst>
                  <a:gd fmla="val 44060" name="adj1"/>
                  <a:gd fmla="val 99424" name="adj2"/>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23" name="Google Shape;123;p20"/>
              <p:cNvSpPr/>
              <p:nvPr/>
            </p:nvSpPr>
            <p:spPr>
              <a:xfrm>
                <a:off x="1546616" y="2474260"/>
                <a:ext cx="120000" cy="56400"/>
              </a:xfrm>
              <a:prstGeom prst="rightArrow">
                <a:avLst>
                  <a:gd fmla="val 44060" name="adj1"/>
                  <a:gd fmla="val 99424" name="adj2"/>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24" name="Google Shape;124;p20"/>
            <p:cNvSpPr/>
            <p:nvPr/>
          </p:nvSpPr>
          <p:spPr>
            <a:xfrm>
              <a:off x="255200" y="1865864"/>
              <a:ext cx="324900" cy="324900"/>
            </a:xfrm>
            <a:prstGeom prst="ellipse">
              <a:avLst/>
            </a:prstGeom>
            <a:solidFill>
              <a:srgbClr val="434343"/>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sz="1000">
                  <a:solidFill>
                    <a:schemeClr val="lt1"/>
                  </a:solidFill>
                  <a:latin typeface="Encode Sans"/>
                  <a:ea typeface="Encode Sans"/>
                  <a:cs typeface="Encode Sans"/>
                  <a:sym typeface="Encode Sans"/>
                </a:rPr>
                <a:t>1</a:t>
              </a:r>
              <a:endParaRPr b="1" sz="1000">
                <a:solidFill>
                  <a:schemeClr val="lt1"/>
                </a:solidFill>
                <a:latin typeface="Encode Sans"/>
                <a:ea typeface="Encode Sans"/>
                <a:cs typeface="Encode Sans"/>
                <a:sym typeface="Encode Sans"/>
              </a:endParaRPr>
            </a:p>
          </p:txBody>
        </p:sp>
      </p:grpSp>
      <p:grpSp>
        <p:nvGrpSpPr>
          <p:cNvPr id="125" name="Google Shape;125;p20"/>
          <p:cNvGrpSpPr/>
          <p:nvPr/>
        </p:nvGrpSpPr>
        <p:grpSpPr>
          <a:xfrm>
            <a:off x="2291058" y="1485185"/>
            <a:ext cx="2028361" cy="2971200"/>
            <a:chOff x="2184647" y="1627400"/>
            <a:chExt cx="2028361" cy="2971200"/>
          </a:xfrm>
        </p:grpSpPr>
        <p:grpSp>
          <p:nvGrpSpPr>
            <p:cNvPr id="126" name="Google Shape;126;p20"/>
            <p:cNvGrpSpPr/>
            <p:nvPr/>
          </p:nvGrpSpPr>
          <p:grpSpPr>
            <a:xfrm>
              <a:off x="2338009" y="1627400"/>
              <a:ext cx="1875000" cy="2971200"/>
              <a:chOff x="2353500" y="1475000"/>
              <a:chExt cx="1875000" cy="2971200"/>
            </a:xfrm>
          </p:grpSpPr>
          <p:sp>
            <p:nvSpPr>
              <p:cNvPr id="127" name="Google Shape;127;p20"/>
              <p:cNvSpPr/>
              <p:nvPr/>
            </p:nvSpPr>
            <p:spPr>
              <a:xfrm>
                <a:off x="2353500" y="1475000"/>
                <a:ext cx="1875000" cy="2971200"/>
              </a:xfrm>
              <a:prstGeom prst="roundRect">
                <a:avLst>
                  <a:gd fmla="val 4845" name="adj"/>
                </a:avLst>
              </a:prstGeom>
              <a:noFill/>
              <a:ln cap="flat" cmpd="sng" w="9525">
                <a:solidFill>
                  <a:srgbClr val="D97757"/>
                </a:solidFill>
                <a:prstDash val="solid"/>
                <a:round/>
                <a:headEnd len="sm" w="sm" type="none"/>
                <a:tailEnd len="sm" w="sm" type="none"/>
              </a:ln>
            </p:spPr>
            <p:txBody>
              <a:bodyPr anchorCtr="0" anchor="t" bIns="91425" lIns="91425" spcFirstLastPara="1" rIns="88350" wrap="square" tIns="91425">
                <a:noAutofit/>
              </a:bodyPr>
              <a:lstStyle/>
              <a:p>
                <a:pPr indent="0" lvl="0" marL="114300" marR="0" rtl="0" algn="l">
                  <a:lnSpc>
                    <a:spcPct val="115000"/>
                  </a:lnSpc>
                  <a:spcBef>
                    <a:spcPts val="1000"/>
                  </a:spcBef>
                  <a:spcAft>
                    <a:spcPts val="0"/>
                  </a:spcAft>
                  <a:buNone/>
                </a:pPr>
                <a:r>
                  <a:rPr b="1" lang="en-GB" sz="900">
                    <a:solidFill>
                      <a:schemeClr val="dk1"/>
                    </a:solidFill>
                    <a:latin typeface="Encode Sans"/>
                    <a:ea typeface="Encode Sans"/>
                    <a:cs typeface="Encode Sans"/>
                    <a:sym typeface="Encode Sans"/>
                  </a:rPr>
                  <a:t>Level 2</a:t>
                </a:r>
                <a:endParaRPr b="1" sz="900">
                  <a:solidFill>
                    <a:schemeClr val="dk1"/>
                  </a:solidFill>
                  <a:latin typeface="Encode Sans"/>
                  <a:ea typeface="Encode Sans"/>
                  <a:cs typeface="Encode Sans"/>
                  <a:sym typeface="Encode Sans"/>
                </a:endParaRPr>
              </a:p>
              <a:p>
                <a:pPr indent="0" lvl="0" marL="114300" marR="0" rtl="0" algn="l">
                  <a:lnSpc>
                    <a:spcPct val="115000"/>
                  </a:lnSpc>
                  <a:spcBef>
                    <a:spcPts val="0"/>
                  </a:spcBef>
                  <a:spcAft>
                    <a:spcPts val="0"/>
                  </a:spcAft>
                  <a:buNone/>
                </a:pPr>
                <a:r>
                  <a:rPr b="1" lang="en-GB" sz="900">
                    <a:solidFill>
                      <a:srgbClr val="CE6948"/>
                    </a:solidFill>
                    <a:latin typeface="Encode Sans"/>
                    <a:ea typeface="Encode Sans"/>
                    <a:cs typeface="Encode Sans"/>
                    <a:sym typeface="Encode Sans"/>
                  </a:rPr>
                  <a:t>Chaining (Workflows)</a:t>
                </a:r>
                <a:endParaRPr sz="800">
                  <a:solidFill>
                    <a:srgbClr val="CE6948"/>
                  </a:solidFill>
                  <a:latin typeface="Encode Sans SemiBold"/>
                  <a:ea typeface="Encode Sans SemiBold"/>
                  <a:cs typeface="Encode Sans SemiBold"/>
                  <a:sym typeface="Encode Sans SemiBold"/>
                </a:endParaRPr>
              </a:p>
              <a:p>
                <a:pPr indent="0" lvl="0" marL="0" marR="0" rtl="0" algn="just">
                  <a:lnSpc>
                    <a:spcPct val="115000"/>
                  </a:lnSpc>
                  <a:spcBef>
                    <a:spcPts val="2000"/>
                  </a:spcBef>
                  <a:spcAft>
                    <a:spcPts val="0"/>
                  </a:spcAft>
                  <a:buNone/>
                </a:pPr>
                <a:r>
                  <a:rPr lang="en-GB" sz="800">
                    <a:solidFill>
                      <a:schemeClr val="dk1"/>
                    </a:solidFill>
                    <a:latin typeface="Encode Sans SemiBold"/>
                    <a:ea typeface="Encode Sans SemiBold"/>
                    <a:cs typeface="Encode Sans SemiBold"/>
                    <a:sym typeface="Encode Sans SemiBold"/>
                  </a:rPr>
                  <a:t>Flow:</a:t>
                </a:r>
                <a:endParaRPr sz="900">
                  <a:solidFill>
                    <a:schemeClr val="dk1"/>
                  </a:solidFill>
                  <a:latin typeface="Encode Sans SemiBold"/>
                  <a:ea typeface="Encode Sans SemiBold"/>
                  <a:cs typeface="Encode Sans SemiBold"/>
                  <a:sym typeface="Encode Sans SemiBold"/>
                </a:endParaRPr>
              </a:p>
              <a:p>
                <a:pPr indent="0" lvl="0" marL="114300" marR="0" rtl="0" algn="just">
                  <a:lnSpc>
                    <a:spcPct val="115000"/>
                  </a:lnSpc>
                  <a:spcBef>
                    <a:spcPts val="0"/>
                  </a:spcBef>
                  <a:spcAft>
                    <a:spcPts val="0"/>
                  </a:spcAft>
                  <a:buNone/>
                </a:pPr>
                <a:r>
                  <a:rPr lang="en-GB" sz="900">
                    <a:solidFill>
                      <a:schemeClr val="dk1"/>
                    </a:solidFill>
                    <a:latin typeface="Encode Sans"/>
                    <a:ea typeface="Encode Sans"/>
                    <a:cs typeface="Encode Sans"/>
                    <a:sym typeface="Encode Sans"/>
                  </a:rPr>
                  <a:t>Step A        Step B       Step C</a:t>
                </a:r>
                <a:endParaRPr sz="900">
                  <a:solidFill>
                    <a:schemeClr val="dk1"/>
                  </a:solidFill>
                  <a:latin typeface="Encode Sans"/>
                  <a:ea typeface="Encode Sans"/>
                  <a:cs typeface="Encode Sans"/>
                  <a:sym typeface="Encode Sans"/>
                </a:endParaRPr>
              </a:p>
              <a:p>
                <a:pPr indent="0" lvl="0" marL="0" marR="0" rtl="0" algn="just">
                  <a:lnSpc>
                    <a:spcPct val="115000"/>
                  </a:lnSpc>
                  <a:spcBef>
                    <a:spcPts val="1000"/>
                  </a:spcBef>
                  <a:spcAft>
                    <a:spcPts val="0"/>
                  </a:spcAft>
                  <a:buNone/>
                </a:pPr>
                <a:r>
                  <a:rPr lang="en-GB" sz="800">
                    <a:solidFill>
                      <a:schemeClr val="dk1"/>
                    </a:solidFill>
                    <a:latin typeface="Encode Sans SemiBold"/>
                    <a:ea typeface="Encode Sans SemiBold"/>
                    <a:cs typeface="Encode Sans SemiBold"/>
                    <a:sym typeface="Encode Sans SemiBold"/>
                  </a:rPr>
                  <a:t>Example: </a:t>
                </a:r>
                <a:endParaRPr sz="900">
                  <a:solidFill>
                    <a:schemeClr val="dk1"/>
                  </a:solidFill>
                  <a:latin typeface="Encode Sans"/>
                  <a:ea typeface="Encode Sans"/>
                  <a:cs typeface="Encode Sans"/>
                  <a:sym typeface="Encode Sans"/>
                </a:endParaRPr>
              </a:p>
              <a:p>
                <a:pPr indent="0" lvl="0" marL="0" marR="0" rtl="0" algn="l">
                  <a:lnSpc>
                    <a:spcPct val="115000"/>
                  </a:lnSpc>
                  <a:spcBef>
                    <a:spcPts val="0"/>
                  </a:spcBef>
                  <a:spcAft>
                    <a:spcPts val="0"/>
                  </a:spcAft>
                  <a:buNone/>
                </a:pPr>
                <a:r>
                  <a:rPr lang="en-GB" sz="900">
                    <a:solidFill>
                      <a:schemeClr val="dk1"/>
                    </a:solidFill>
                    <a:latin typeface="Encode Sans"/>
                    <a:ea typeface="Encode Sans"/>
                    <a:cs typeface="Encode Sans"/>
                    <a:sym typeface="Encode Sans"/>
                  </a:rPr>
                  <a:t>Translate text, summarize, and polish grammar.</a:t>
                </a:r>
                <a:endParaRPr sz="900">
                  <a:solidFill>
                    <a:schemeClr val="dk1"/>
                  </a:solidFill>
                  <a:latin typeface="Encode Sans"/>
                  <a:ea typeface="Encode Sans"/>
                  <a:cs typeface="Encode Sans"/>
                  <a:sym typeface="Encode Sans"/>
                </a:endParaRPr>
              </a:p>
              <a:p>
                <a:pPr indent="0" lvl="0" marL="0" marR="0" rtl="0" algn="just">
                  <a:lnSpc>
                    <a:spcPct val="115000"/>
                  </a:lnSpc>
                  <a:spcBef>
                    <a:spcPts val="1000"/>
                  </a:spcBef>
                  <a:spcAft>
                    <a:spcPts val="0"/>
                  </a:spcAft>
                  <a:buNone/>
                </a:pPr>
                <a:r>
                  <a:rPr lang="en-GB" sz="800">
                    <a:solidFill>
                      <a:schemeClr val="dk1"/>
                    </a:solidFill>
                    <a:latin typeface="Encode Sans SemiBold"/>
                    <a:ea typeface="Encode Sans SemiBold"/>
                    <a:cs typeface="Encode Sans SemiBold"/>
                    <a:sym typeface="Encode Sans SemiBold"/>
                  </a:rPr>
                  <a:t>Limit:</a:t>
                </a:r>
                <a:r>
                  <a:rPr lang="en-GB" sz="900">
                    <a:solidFill>
                      <a:schemeClr val="dk1"/>
                    </a:solidFill>
                    <a:latin typeface="Encode Sans"/>
                    <a:ea typeface="Encode Sans"/>
                    <a:cs typeface="Encode Sans"/>
                    <a:sym typeface="Encode Sans"/>
                  </a:rPr>
                  <a:t> </a:t>
                </a:r>
                <a:r>
                  <a:rPr lang="en-GB" sz="900">
                    <a:solidFill>
                      <a:schemeClr val="dk1"/>
                    </a:solidFill>
                    <a:latin typeface="Encode Sans"/>
                    <a:ea typeface="Encode Sans"/>
                    <a:cs typeface="Encode Sans"/>
                    <a:sym typeface="Encode Sans"/>
                  </a:rPr>
                  <a:t>The path is fixed; It cannot change direction midway based on what it discovers.</a:t>
                </a:r>
                <a:endParaRPr sz="900">
                  <a:solidFill>
                    <a:schemeClr val="dk1"/>
                  </a:solidFill>
                  <a:latin typeface="Encode Sans"/>
                  <a:ea typeface="Encode Sans"/>
                  <a:cs typeface="Encode Sans"/>
                  <a:sym typeface="Encode Sans"/>
                </a:endParaRPr>
              </a:p>
            </p:txBody>
          </p:sp>
          <p:sp>
            <p:nvSpPr>
              <p:cNvPr id="128" name="Google Shape;128;p20"/>
              <p:cNvSpPr/>
              <p:nvPr/>
            </p:nvSpPr>
            <p:spPr>
              <a:xfrm>
                <a:off x="2969591" y="2474260"/>
                <a:ext cx="120000" cy="56400"/>
              </a:xfrm>
              <a:prstGeom prst="rightArrow">
                <a:avLst>
                  <a:gd fmla="val 44060" name="adj1"/>
                  <a:gd fmla="val 99424" name="adj2"/>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29" name="Google Shape;129;p20"/>
              <p:cNvSpPr/>
              <p:nvPr/>
            </p:nvSpPr>
            <p:spPr>
              <a:xfrm>
                <a:off x="3511336" y="2474260"/>
                <a:ext cx="120000" cy="56400"/>
              </a:xfrm>
              <a:prstGeom prst="rightArrow">
                <a:avLst>
                  <a:gd fmla="val 44060" name="adj1"/>
                  <a:gd fmla="val 99424" name="adj2"/>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30" name="Google Shape;130;p20"/>
            <p:cNvSpPr/>
            <p:nvPr/>
          </p:nvSpPr>
          <p:spPr>
            <a:xfrm>
              <a:off x="2184647" y="1865864"/>
              <a:ext cx="324900" cy="324900"/>
            </a:xfrm>
            <a:prstGeom prst="ellipse">
              <a:avLst/>
            </a:prstGeom>
            <a:solidFill>
              <a:srgbClr val="434343"/>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sz="1000">
                  <a:solidFill>
                    <a:schemeClr val="lt1"/>
                  </a:solidFill>
                  <a:latin typeface="Encode Sans"/>
                  <a:ea typeface="Encode Sans"/>
                  <a:cs typeface="Encode Sans"/>
                  <a:sym typeface="Encode Sans"/>
                </a:rPr>
                <a:t>2</a:t>
              </a:r>
              <a:endParaRPr b="1" sz="1000">
                <a:solidFill>
                  <a:schemeClr val="lt1"/>
                </a:solidFill>
                <a:latin typeface="Encode Sans"/>
                <a:ea typeface="Encode Sans"/>
                <a:cs typeface="Encode Sans"/>
                <a:sym typeface="Encode Sans"/>
              </a:endParaRPr>
            </a:p>
          </p:txBody>
        </p:sp>
      </p:grpSp>
      <p:grpSp>
        <p:nvGrpSpPr>
          <p:cNvPr id="131" name="Google Shape;131;p20"/>
          <p:cNvGrpSpPr/>
          <p:nvPr/>
        </p:nvGrpSpPr>
        <p:grpSpPr>
          <a:xfrm>
            <a:off x="4372211" y="1485185"/>
            <a:ext cx="2088841" cy="2971200"/>
            <a:chOff x="4158010" y="1627400"/>
            <a:chExt cx="2088841" cy="2971200"/>
          </a:xfrm>
        </p:grpSpPr>
        <p:sp>
          <p:nvSpPr>
            <p:cNvPr id="132" name="Google Shape;132;p20"/>
            <p:cNvSpPr/>
            <p:nvPr/>
          </p:nvSpPr>
          <p:spPr>
            <a:xfrm>
              <a:off x="4312750" y="1627400"/>
              <a:ext cx="1934100" cy="2971200"/>
            </a:xfrm>
            <a:prstGeom prst="roundRect">
              <a:avLst>
                <a:gd fmla="val 4845" name="adj"/>
              </a:avLst>
            </a:prstGeom>
            <a:noFill/>
            <a:ln cap="flat" cmpd="sng" w="9525">
              <a:solidFill>
                <a:srgbClr val="D97757"/>
              </a:solidFill>
              <a:prstDash val="solid"/>
              <a:round/>
              <a:headEnd len="sm" w="sm" type="none"/>
              <a:tailEnd len="sm" w="sm" type="none"/>
            </a:ln>
          </p:spPr>
          <p:txBody>
            <a:bodyPr anchorCtr="0" anchor="t" bIns="91425" lIns="91425" spcFirstLastPara="1" rIns="88350" wrap="square" tIns="91425">
              <a:noAutofit/>
            </a:bodyPr>
            <a:lstStyle/>
            <a:p>
              <a:pPr indent="0" lvl="0" marL="114300" marR="0" rtl="0" algn="l">
                <a:lnSpc>
                  <a:spcPct val="115000"/>
                </a:lnSpc>
                <a:spcBef>
                  <a:spcPts val="1000"/>
                </a:spcBef>
                <a:spcAft>
                  <a:spcPts val="0"/>
                </a:spcAft>
                <a:buNone/>
              </a:pPr>
              <a:r>
                <a:rPr b="1" lang="en-GB" sz="900">
                  <a:solidFill>
                    <a:schemeClr val="dk1"/>
                  </a:solidFill>
                  <a:latin typeface="Encode Sans"/>
                  <a:ea typeface="Encode Sans"/>
                  <a:cs typeface="Encode Sans"/>
                  <a:sym typeface="Encode Sans"/>
                </a:rPr>
                <a:t>Level</a:t>
              </a:r>
              <a:r>
                <a:rPr b="1" lang="en-GB" sz="900">
                  <a:solidFill>
                    <a:schemeClr val="dk1"/>
                  </a:solidFill>
                  <a:latin typeface="Encode Sans"/>
                  <a:ea typeface="Encode Sans"/>
                  <a:cs typeface="Encode Sans"/>
                  <a:sym typeface="Encode Sans"/>
                </a:rPr>
                <a:t> 3</a:t>
              </a:r>
              <a:endParaRPr b="1" sz="900">
                <a:solidFill>
                  <a:schemeClr val="dk1"/>
                </a:solidFill>
                <a:latin typeface="Encode Sans"/>
                <a:ea typeface="Encode Sans"/>
                <a:cs typeface="Encode Sans"/>
                <a:sym typeface="Encode Sans"/>
              </a:endParaRPr>
            </a:p>
            <a:p>
              <a:pPr indent="0" lvl="0" marL="114300" marR="0" rtl="0" algn="l">
                <a:lnSpc>
                  <a:spcPct val="115000"/>
                </a:lnSpc>
                <a:spcBef>
                  <a:spcPts val="0"/>
                </a:spcBef>
                <a:spcAft>
                  <a:spcPts val="0"/>
                </a:spcAft>
                <a:buNone/>
              </a:pPr>
              <a:r>
                <a:rPr b="1" lang="en-GB" sz="900">
                  <a:solidFill>
                    <a:srgbClr val="CE6948"/>
                  </a:solidFill>
                  <a:latin typeface="Encode Sans"/>
                  <a:ea typeface="Encode Sans"/>
                  <a:cs typeface="Encode Sans"/>
                  <a:sym typeface="Encode Sans"/>
                </a:rPr>
                <a:t>Agentic Workflows (Agents)</a:t>
              </a:r>
              <a:endParaRPr sz="900">
                <a:solidFill>
                  <a:srgbClr val="CE6948"/>
                </a:solidFill>
                <a:latin typeface="Encode Sans SemiBold"/>
                <a:ea typeface="Encode Sans SemiBold"/>
                <a:cs typeface="Encode Sans SemiBold"/>
                <a:sym typeface="Encode Sans SemiBold"/>
              </a:endParaRPr>
            </a:p>
            <a:p>
              <a:pPr indent="0" lvl="0" marL="0" marR="0" rtl="0" algn="just">
                <a:lnSpc>
                  <a:spcPct val="115000"/>
                </a:lnSpc>
                <a:spcBef>
                  <a:spcPts val="2000"/>
                </a:spcBef>
                <a:spcAft>
                  <a:spcPts val="0"/>
                </a:spcAft>
                <a:buNone/>
              </a:pPr>
              <a:r>
                <a:rPr lang="en-GB" sz="800">
                  <a:solidFill>
                    <a:schemeClr val="dk1"/>
                  </a:solidFill>
                  <a:latin typeface="Encode Sans SemiBold"/>
                  <a:ea typeface="Encode Sans SemiBold"/>
                  <a:cs typeface="Encode Sans SemiBold"/>
                  <a:sym typeface="Encode Sans SemiBold"/>
                </a:rPr>
                <a:t>Flow:</a:t>
              </a:r>
              <a:endParaRPr sz="900">
                <a:solidFill>
                  <a:schemeClr val="dk1"/>
                </a:solidFill>
                <a:latin typeface="Encode Sans SemiBold"/>
                <a:ea typeface="Encode Sans SemiBold"/>
                <a:cs typeface="Encode Sans SemiBold"/>
                <a:sym typeface="Encode Sans SemiBold"/>
              </a:endParaRPr>
            </a:p>
            <a:p>
              <a:pPr indent="0" lvl="0" marL="0" rtl="0" algn="l">
                <a:lnSpc>
                  <a:spcPct val="115000"/>
                </a:lnSpc>
                <a:spcBef>
                  <a:spcPts val="0"/>
                </a:spcBef>
                <a:spcAft>
                  <a:spcPts val="0"/>
                </a:spcAft>
                <a:buNone/>
              </a:pPr>
              <a:r>
                <a:rPr lang="en-GB" sz="900">
                  <a:solidFill>
                    <a:schemeClr val="dk1"/>
                  </a:solidFill>
                  <a:latin typeface="Encode Sans"/>
                  <a:ea typeface="Encode Sans"/>
                  <a:cs typeface="Encode Sans"/>
                  <a:sym typeface="Encode Sans"/>
                </a:rPr>
                <a:t>Dynamic loops where an AI looks at the data, decides which tool to use next, fixes its own mistakes, and stops when finished.</a:t>
              </a:r>
              <a:endParaRPr sz="900">
                <a:solidFill>
                  <a:schemeClr val="dk1"/>
                </a:solidFill>
                <a:latin typeface="Encode Sans"/>
                <a:ea typeface="Encode Sans"/>
                <a:cs typeface="Encode Sans"/>
                <a:sym typeface="Encode Sans"/>
              </a:endParaRPr>
            </a:p>
            <a:p>
              <a:pPr indent="0" lvl="0" marL="0" marR="0" rtl="0" algn="just">
                <a:lnSpc>
                  <a:spcPct val="115000"/>
                </a:lnSpc>
                <a:spcBef>
                  <a:spcPts val="1000"/>
                </a:spcBef>
                <a:spcAft>
                  <a:spcPts val="0"/>
                </a:spcAft>
                <a:buNone/>
              </a:pPr>
              <a:r>
                <a:rPr lang="en-GB" sz="800">
                  <a:solidFill>
                    <a:schemeClr val="dk1"/>
                  </a:solidFill>
                  <a:latin typeface="Encode Sans SemiBold"/>
                  <a:ea typeface="Encode Sans SemiBold"/>
                  <a:cs typeface="Encode Sans SemiBold"/>
                  <a:sym typeface="Encode Sans SemiBold"/>
                </a:rPr>
                <a:t>Example: </a:t>
              </a:r>
              <a:endParaRPr sz="900">
                <a:solidFill>
                  <a:schemeClr val="dk1"/>
                </a:solidFill>
                <a:latin typeface="Encode Sans"/>
                <a:ea typeface="Encode Sans"/>
                <a:cs typeface="Encode Sans"/>
                <a:sym typeface="Encode Sans"/>
              </a:endParaRPr>
            </a:p>
            <a:p>
              <a:pPr indent="0" lvl="0" marL="0" marR="0" rtl="0" algn="l">
                <a:lnSpc>
                  <a:spcPct val="115000"/>
                </a:lnSpc>
                <a:spcBef>
                  <a:spcPts val="0"/>
                </a:spcBef>
                <a:spcAft>
                  <a:spcPts val="0"/>
                </a:spcAft>
                <a:buNone/>
              </a:pPr>
              <a:r>
                <a:rPr lang="en-GB" sz="900">
                  <a:solidFill>
                    <a:schemeClr val="dk1"/>
                  </a:solidFill>
                  <a:latin typeface="Encode Sans"/>
                  <a:ea typeface="Encode Sans"/>
                  <a:cs typeface="Encode Sans"/>
                  <a:sym typeface="Encode Sans"/>
                </a:rPr>
                <a:t>Research a topic, search the web, write a report, check for errors, and rewrite if needed.</a:t>
              </a:r>
              <a:endParaRPr sz="900">
                <a:solidFill>
                  <a:schemeClr val="dk1"/>
                </a:solidFill>
                <a:latin typeface="Encode Sans"/>
                <a:ea typeface="Encode Sans"/>
                <a:cs typeface="Encode Sans"/>
                <a:sym typeface="Encode Sans"/>
              </a:endParaRPr>
            </a:p>
          </p:txBody>
        </p:sp>
        <p:sp>
          <p:nvSpPr>
            <p:cNvPr id="133" name="Google Shape;133;p20"/>
            <p:cNvSpPr/>
            <p:nvPr/>
          </p:nvSpPr>
          <p:spPr>
            <a:xfrm>
              <a:off x="4158010" y="1865864"/>
              <a:ext cx="324900" cy="324900"/>
            </a:xfrm>
            <a:prstGeom prst="ellipse">
              <a:avLst/>
            </a:prstGeom>
            <a:solidFill>
              <a:srgbClr val="434343"/>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sz="1000">
                  <a:solidFill>
                    <a:schemeClr val="lt1"/>
                  </a:solidFill>
                  <a:latin typeface="Encode Sans"/>
                  <a:ea typeface="Encode Sans"/>
                  <a:cs typeface="Encode Sans"/>
                  <a:sym typeface="Encode Sans"/>
                </a:rPr>
                <a:t>3</a:t>
              </a:r>
              <a:endParaRPr b="1" sz="1000">
                <a:solidFill>
                  <a:schemeClr val="lt1"/>
                </a:solidFill>
                <a:latin typeface="Encode Sans"/>
                <a:ea typeface="Encode Sans"/>
                <a:cs typeface="Encode Sans"/>
                <a:sym typeface="Encode Sans"/>
              </a:endParaRPr>
            </a:p>
          </p:txBody>
        </p:sp>
      </p:grpSp>
      <p:grpSp>
        <p:nvGrpSpPr>
          <p:cNvPr id="134" name="Google Shape;134;p20"/>
          <p:cNvGrpSpPr/>
          <p:nvPr/>
        </p:nvGrpSpPr>
        <p:grpSpPr>
          <a:xfrm>
            <a:off x="6513843" y="1485185"/>
            <a:ext cx="2318449" cy="2971200"/>
            <a:chOff x="6196243" y="1627400"/>
            <a:chExt cx="2318449" cy="2971200"/>
          </a:xfrm>
        </p:grpSpPr>
        <p:sp>
          <p:nvSpPr>
            <p:cNvPr id="135" name="Google Shape;135;p20"/>
            <p:cNvSpPr/>
            <p:nvPr/>
          </p:nvSpPr>
          <p:spPr>
            <a:xfrm>
              <a:off x="6346592" y="1627400"/>
              <a:ext cx="2168100" cy="2971200"/>
            </a:xfrm>
            <a:prstGeom prst="roundRect">
              <a:avLst>
                <a:gd fmla="val 4845" name="adj"/>
              </a:avLst>
            </a:prstGeom>
            <a:noFill/>
            <a:ln cap="flat" cmpd="sng" w="9525">
              <a:solidFill>
                <a:srgbClr val="D97757"/>
              </a:solidFill>
              <a:prstDash val="solid"/>
              <a:round/>
              <a:headEnd len="sm" w="sm" type="none"/>
              <a:tailEnd len="sm" w="sm" type="none"/>
            </a:ln>
          </p:spPr>
          <p:txBody>
            <a:bodyPr anchorCtr="0" anchor="t" bIns="91425" lIns="91425" spcFirstLastPara="1" rIns="88350" wrap="square" tIns="91425">
              <a:noAutofit/>
            </a:bodyPr>
            <a:lstStyle/>
            <a:p>
              <a:pPr indent="0" lvl="0" marL="114300" marR="0" rtl="0" algn="l">
                <a:lnSpc>
                  <a:spcPct val="115000"/>
                </a:lnSpc>
                <a:spcBef>
                  <a:spcPts val="1000"/>
                </a:spcBef>
                <a:spcAft>
                  <a:spcPts val="0"/>
                </a:spcAft>
                <a:buNone/>
              </a:pPr>
              <a:r>
                <a:rPr b="1" lang="en-GB" sz="900">
                  <a:solidFill>
                    <a:schemeClr val="dk1"/>
                  </a:solidFill>
                  <a:latin typeface="Encode Sans"/>
                  <a:ea typeface="Encode Sans"/>
                  <a:cs typeface="Encode Sans"/>
                  <a:sym typeface="Encode Sans"/>
                </a:rPr>
                <a:t>Level</a:t>
              </a:r>
              <a:r>
                <a:rPr b="1" lang="en-GB" sz="900">
                  <a:solidFill>
                    <a:schemeClr val="dk1"/>
                  </a:solidFill>
                  <a:latin typeface="Encode Sans"/>
                  <a:ea typeface="Encode Sans"/>
                  <a:cs typeface="Encode Sans"/>
                  <a:sym typeface="Encode Sans"/>
                </a:rPr>
                <a:t> 4</a:t>
              </a:r>
              <a:endParaRPr b="1" sz="900">
                <a:solidFill>
                  <a:schemeClr val="dk1"/>
                </a:solidFill>
                <a:latin typeface="Encode Sans"/>
                <a:ea typeface="Encode Sans"/>
                <a:cs typeface="Encode Sans"/>
                <a:sym typeface="Encode Sans"/>
              </a:endParaRPr>
            </a:p>
            <a:p>
              <a:pPr indent="0" lvl="0" marL="114300" marR="0" rtl="0" algn="l">
                <a:lnSpc>
                  <a:spcPct val="115000"/>
                </a:lnSpc>
                <a:spcBef>
                  <a:spcPts val="0"/>
                </a:spcBef>
                <a:spcAft>
                  <a:spcPts val="0"/>
                </a:spcAft>
                <a:buNone/>
              </a:pPr>
              <a:r>
                <a:rPr b="1" lang="en-GB" sz="900">
                  <a:solidFill>
                    <a:srgbClr val="CE6948"/>
                  </a:solidFill>
                  <a:latin typeface="Encode Sans"/>
                  <a:ea typeface="Encode Sans"/>
                  <a:cs typeface="Encode Sans"/>
                  <a:sym typeface="Encode Sans"/>
                </a:rPr>
                <a:t>AI System</a:t>
              </a:r>
              <a:endParaRPr sz="900">
                <a:solidFill>
                  <a:srgbClr val="CE6948"/>
                </a:solidFill>
                <a:latin typeface="Encode Sans SemiBold"/>
                <a:ea typeface="Encode Sans SemiBold"/>
                <a:cs typeface="Encode Sans SemiBold"/>
                <a:sym typeface="Encode Sans SemiBold"/>
              </a:endParaRPr>
            </a:p>
            <a:p>
              <a:pPr indent="0" lvl="0" marL="0" marR="0" rtl="0" algn="just">
                <a:lnSpc>
                  <a:spcPct val="115000"/>
                </a:lnSpc>
                <a:spcBef>
                  <a:spcPts val="2000"/>
                </a:spcBef>
                <a:spcAft>
                  <a:spcPts val="0"/>
                </a:spcAft>
                <a:buNone/>
              </a:pPr>
              <a:r>
                <a:rPr lang="en-GB" sz="800">
                  <a:solidFill>
                    <a:schemeClr val="dk1"/>
                  </a:solidFill>
                  <a:latin typeface="Encode Sans SemiBold"/>
                  <a:ea typeface="Encode Sans SemiBold"/>
                  <a:cs typeface="Encode Sans SemiBold"/>
                  <a:sym typeface="Encode Sans SemiBold"/>
                </a:rPr>
                <a:t>Flow:</a:t>
              </a:r>
              <a:endParaRPr sz="900">
                <a:solidFill>
                  <a:schemeClr val="dk1"/>
                </a:solidFill>
                <a:latin typeface="Encode Sans SemiBold"/>
                <a:ea typeface="Encode Sans SemiBold"/>
                <a:cs typeface="Encode Sans SemiBold"/>
                <a:sym typeface="Encode Sans SemiBold"/>
              </a:endParaRPr>
            </a:p>
            <a:p>
              <a:pPr indent="0" lvl="0" marL="0" rtl="0" algn="l">
                <a:lnSpc>
                  <a:spcPct val="115000"/>
                </a:lnSpc>
                <a:spcBef>
                  <a:spcPts val="0"/>
                </a:spcBef>
                <a:spcAft>
                  <a:spcPts val="0"/>
                </a:spcAft>
                <a:buNone/>
              </a:pPr>
              <a:r>
                <a:rPr lang="en-GB" sz="900">
                  <a:solidFill>
                    <a:schemeClr val="dk1"/>
                  </a:solidFill>
                  <a:latin typeface="Encode Sans"/>
                  <a:ea typeface="Encode Sans"/>
                  <a:cs typeface="Encode Sans"/>
                  <a:sym typeface="Encode Sans"/>
                </a:rPr>
                <a:t>Combines LLMs, agents, workflows, tools, memory, data sources, and external APIs into a larger operational platform.</a:t>
              </a:r>
              <a:endParaRPr sz="900">
                <a:solidFill>
                  <a:schemeClr val="dk1"/>
                </a:solidFill>
                <a:latin typeface="Encode Sans"/>
                <a:ea typeface="Encode Sans"/>
                <a:cs typeface="Encode Sans"/>
                <a:sym typeface="Encode Sans"/>
              </a:endParaRPr>
            </a:p>
            <a:p>
              <a:pPr indent="0" lvl="0" marL="0" marR="0" rtl="0" algn="just">
                <a:lnSpc>
                  <a:spcPct val="115000"/>
                </a:lnSpc>
                <a:spcBef>
                  <a:spcPts val="1000"/>
                </a:spcBef>
                <a:spcAft>
                  <a:spcPts val="0"/>
                </a:spcAft>
                <a:buNone/>
              </a:pPr>
              <a:r>
                <a:rPr lang="en-GB" sz="800">
                  <a:solidFill>
                    <a:schemeClr val="dk1"/>
                  </a:solidFill>
                  <a:latin typeface="Encode Sans SemiBold"/>
                  <a:ea typeface="Encode Sans SemiBold"/>
                  <a:cs typeface="Encode Sans SemiBold"/>
                  <a:sym typeface="Encode Sans SemiBold"/>
                </a:rPr>
                <a:t>Example: </a:t>
              </a:r>
              <a:endParaRPr sz="900">
                <a:solidFill>
                  <a:schemeClr val="dk1"/>
                </a:solidFill>
                <a:latin typeface="Encode Sans"/>
                <a:ea typeface="Encode Sans"/>
                <a:cs typeface="Encode Sans"/>
                <a:sym typeface="Encode Sans"/>
              </a:endParaRPr>
            </a:p>
            <a:p>
              <a:pPr indent="0" lvl="0" marL="0" marR="0" rtl="0" algn="l">
                <a:lnSpc>
                  <a:spcPct val="115000"/>
                </a:lnSpc>
                <a:spcBef>
                  <a:spcPts val="0"/>
                </a:spcBef>
                <a:spcAft>
                  <a:spcPts val="0"/>
                </a:spcAft>
                <a:buNone/>
              </a:pPr>
              <a:r>
                <a:rPr lang="en-GB" sz="900">
                  <a:solidFill>
                    <a:schemeClr val="dk1"/>
                  </a:solidFill>
                  <a:latin typeface="Encode Sans"/>
                  <a:ea typeface="Encode Sans"/>
                  <a:cs typeface="Encode Sans"/>
                  <a:sym typeface="Encode Sans"/>
                </a:rPr>
                <a:t>An AI customer-support system that receives requests, retrieves customer information, decides how to respond, calls external APIs, escalates difficult cases to humans, and continuously monitors unresolved issues.</a:t>
              </a:r>
              <a:endParaRPr sz="900">
                <a:solidFill>
                  <a:schemeClr val="dk1"/>
                </a:solidFill>
                <a:latin typeface="Encode Sans"/>
                <a:ea typeface="Encode Sans"/>
                <a:cs typeface="Encode Sans"/>
                <a:sym typeface="Encode Sans"/>
              </a:endParaRPr>
            </a:p>
          </p:txBody>
        </p:sp>
        <p:sp>
          <p:nvSpPr>
            <p:cNvPr id="136" name="Google Shape;136;p20"/>
            <p:cNvSpPr/>
            <p:nvPr/>
          </p:nvSpPr>
          <p:spPr>
            <a:xfrm>
              <a:off x="6196243" y="1865864"/>
              <a:ext cx="324900" cy="324900"/>
            </a:xfrm>
            <a:prstGeom prst="ellipse">
              <a:avLst/>
            </a:prstGeom>
            <a:solidFill>
              <a:srgbClr val="434343"/>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sz="1000">
                  <a:solidFill>
                    <a:schemeClr val="lt1"/>
                  </a:solidFill>
                  <a:latin typeface="Encode Sans"/>
                  <a:ea typeface="Encode Sans"/>
                  <a:cs typeface="Encode Sans"/>
                  <a:sym typeface="Encode Sans"/>
                </a:rPr>
                <a:t>4</a:t>
              </a:r>
              <a:endParaRPr b="1" sz="1000">
                <a:solidFill>
                  <a:schemeClr val="lt1"/>
                </a:solidFill>
                <a:latin typeface="Encode Sans"/>
                <a:ea typeface="Encode Sans"/>
                <a:cs typeface="Encode Sans"/>
                <a:sym typeface="Encode Sans"/>
              </a:endParaRPr>
            </a:p>
          </p:txBody>
        </p:sp>
      </p:grpSp>
      <p:sp>
        <p:nvSpPr>
          <p:cNvPr id="137" name="Google Shape;137;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AI Workflow: Core Components</a:t>
            </a:r>
            <a:endParaRPr>
              <a:solidFill>
                <a:srgbClr val="CE6948"/>
              </a:solidFill>
            </a:endParaRPr>
          </a:p>
        </p:txBody>
      </p:sp>
      <p:sp>
        <p:nvSpPr>
          <p:cNvPr id="143" name="Google Shape;143;p2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sp>
        <p:nvSpPr>
          <p:cNvPr id="144" name="Google Shape;144;p21"/>
          <p:cNvSpPr txBox="1"/>
          <p:nvPr>
            <p:ph idx="1" type="body"/>
          </p:nvPr>
        </p:nvSpPr>
        <p:spPr>
          <a:xfrm>
            <a:off x="311700" y="1069550"/>
            <a:ext cx="8520600" cy="3416400"/>
          </a:xfrm>
          <a:prstGeom prst="rect">
            <a:avLst/>
          </a:prstGeom>
        </p:spPr>
        <p:txBody>
          <a:bodyPr anchorCtr="0" anchor="t" bIns="91425" lIns="91425" spcFirstLastPara="1" rIns="91425" wrap="square" tIns="91425">
            <a:noAutofit/>
          </a:bodyPr>
          <a:lstStyle/>
          <a:p>
            <a:pPr indent="0" lvl="0" marL="0" marR="0" rtl="0" algn="just">
              <a:lnSpc>
                <a:spcPct val="130000"/>
              </a:lnSpc>
              <a:spcBef>
                <a:spcPts val="1000"/>
              </a:spcBef>
              <a:spcAft>
                <a:spcPts val="0"/>
              </a:spcAft>
              <a:buNone/>
            </a:pPr>
            <a:r>
              <a:rPr lang="en-GB">
                <a:solidFill>
                  <a:srgbClr val="434343"/>
                </a:solidFill>
                <a:latin typeface="Encode Sans"/>
                <a:ea typeface="Encode Sans"/>
                <a:cs typeface="Encode Sans"/>
                <a:sym typeface="Encode Sans"/>
              </a:rPr>
              <a:t>A complete AI Workflow relies on six foundational pillars:</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The LLM</a:t>
            </a:r>
            <a:r>
              <a:rPr lang="en-GB">
                <a:solidFill>
                  <a:srgbClr val="434343"/>
                </a:solidFill>
                <a:latin typeface="Encode Sans"/>
                <a:ea typeface="Encode Sans"/>
                <a:cs typeface="Encode Sans"/>
                <a:sym typeface="Encode Sans"/>
              </a:rPr>
              <a:t>	— the brain of the workflow; reasoning &amp; generation</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Tools</a:t>
            </a:r>
            <a:r>
              <a:rPr lang="en-GB">
                <a:solidFill>
                  <a:srgbClr val="434343"/>
                </a:solidFill>
                <a:latin typeface="Encode Sans"/>
                <a:ea typeface="Encode Sans"/>
                <a:cs typeface="Encode Sans"/>
                <a:sym typeface="Encode Sans"/>
              </a:rPr>
              <a:t>		</a:t>
            </a:r>
            <a:r>
              <a:rPr lang="en-GB">
                <a:solidFill>
                  <a:srgbClr val="434343"/>
                </a:solidFill>
                <a:latin typeface="Encode Sans"/>
                <a:ea typeface="Encode Sans"/>
                <a:cs typeface="Encode Sans"/>
                <a:sym typeface="Encode Sans"/>
              </a:rPr>
              <a:t>— external actions</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Memory</a:t>
            </a:r>
            <a:r>
              <a:rPr lang="en-GB">
                <a:solidFill>
                  <a:srgbClr val="434343"/>
                </a:solidFill>
                <a:latin typeface="Encode Sans"/>
                <a:ea typeface="Encode Sans"/>
                <a:cs typeface="Encode Sans"/>
                <a:sym typeface="Encode Sans"/>
              </a:rPr>
              <a:t>	— information retention</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State</a:t>
            </a:r>
            <a:r>
              <a:rPr lang="en-GB">
                <a:solidFill>
                  <a:srgbClr val="434343"/>
                </a:solidFill>
                <a:latin typeface="Encode Sans"/>
                <a:ea typeface="Encode Sans"/>
                <a:cs typeface="Encode Sans"/>
                <a:sym typeface="Encode Sans"/>
              </a:rPr>
              <a:t>		— execution context</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Router</a:t>
            </a:r>
            <a:r>
              <a:rPr lang="en-GB">
                <a:solidFill>
                  <a:srgbClr val="434343"/>
                </a:solidFill>
                <a:latin typeface="Encode Sans"/>
                <a:ea typeface="Encode Sans"/>
                <a:cs typeface="Encode Sans"/>
                <a:sym typeface="Encode Sans"/>
              </a:rPr>
              <a:t>	— control flow</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Human-in-the-loop (</a:t>
            </a:r>
            <a:r>
              <a:rPr b="1" lang="en-GB">
                <a:solidFill>
                  <a:srgbClr val="434343"/>
                </a:solidFill>
                <a:latin typeface="Encode Sans"/>
                <a:ea typeface="Encode Sans"/>
                <a:cs typeface="Encode Sans"/>
                <a:sym typeface="Encode Sans"/>
              </a:rPr>
              <a:t>HITL</a:t>
            </a:r>
            <a:r>
              <a:rPr b="1" lang="en-GB">
                <a:solidFill>
                  <a:srgbClr val="434343"/>
                </a:solidFill>
                <a:latin typeface="Encode Sans"/>
                <a:ea typeface="Encode Sans"/>
                <a:cs typeface="Encode Sans"/>
                <a:sym typeface="Encode Sans"/>
              </a:rPr>
              <a:t>)</a:t>
            </a:r>
            <a:r>
              <a:rPr lang="en-GB">
                <a:solidFill>
                  <a:srgbClr val="434343"/>
                </a:solidFill>
                <a:latin typeface="Encode Sans"/>
                <a:ea typeface="Encode Sans"/>
                <a:cs typeface="Encode Sans"/>
                <a:sym typeface="Encode Sans"/>
              </a:rPr>
              <a:t>	— human approval</a:t>
            </a:r>
            <a:endParaRPr>
              <a:solidFill>
                <a:srgbClr val="434343"/>
              </a:solidFill>
              <a:latin typeface="Encode Sans"/>
              <a:ea typeface="Encode Sans"/>
              <a:cs typeface="Encode Sans"/>
              <a:sym typeface="Encode Sans"/>
            </a:endParaRPr>
          </a:p>
        </p:txBody>
      </p:sp>
      <p:sp>
        <p:nvSpPr>
          <p:cNvPr id="145" name="Google Shape;14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AI</a:t>
            </a:r>
            <a:r>
              <a:rPr lang="en-GB">
                <a:solidFill>
                  <a:srgbClr val="CE6948"/>
                </a:solidFill>
              </a:rPr>
              <a:t> Workflow: Core Components (conts)</a:t>
            </a:r>
            <a:endParaRPr>
              <a:solidFill>
                <a:srgbClr val="CE6948"/>
              </a:solidFill>
            </a:endParaRPr>
          </a:p>
        </p:txBody>
      </p:sp>
      <p:sp>
        <p:nvSpPr>
          <p:cNvPr id="151" name="Google Shape;151;p2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graphicFrame>
        <p:nvGraphicFramePr>
          <p:cNvPr id="152" name="Google Shape;152;p22"/>
          <p:cNvGraphicFramePr/>
          <p:nvPr/>
        </p:nvGraphicFramePr>
        <p:xfrm>
          <a:off x="394400" y="986500"/>
          <a:ext cx="3000000" cy="3000000"/>
        </p:xfrm>
        <a:graphic>
          <a:graphicData uri="http://schemas.openxmlformats.org/drawingml/2006/table">
            <a:tbl>
              <a:tblPr>
                <a:noFill/>
                <a:tableStyleId>{DBFC44EA-366B-4BA2-B91E-D6936A406109}</a:tableStyleId>
              </a:tblPr>
              <a:tblGrid>
                <a:gridCol w="935500"/>
                <a:gridCol w="7213275"/>
              </a:tblGrid>
              <a:tr h="309575">
                <a:tc>
                  <a:txBody>
                    <a:bodyPr/>
                    <a:lstStyle/>
                    <a:p>
                      <a:pPr indent="0" lvl="0" marL="0" marR="0" rtl="0" algn="l">
                        <a:lnSpc>
                          <a:spcPct val="110000"/>
                        </a:lnSpc>
                        <a:spcBef>
                          <a:spcPts val="0"/>
                        </a:spcBef>
                        <a:spcAft>
                          <a:spcPts val="0"/>
                        </a:spcAft>
                        <a:buNone/>
                      </a:pPr>
                      <a:r>
                        <a:rPr b="1" lang="en-GB" sz="1000">
                          <a:solidFill>
                            <a:schemeClr val="lt1"/>
                          </a:solidFill>
                          <a:latin typeface="Encode Sans"/>
                          <a:ea typeface="Encode Sans"/>
                          <a:cs typeface="Encode Sans"/>
                          <a:sym typeface="Encode Sans"/>
                        </a:rPr>
                        <a:t>Component</a:t>
                      </a:r>
                      <a:endParaRPr b="1" sz="1000">
                        <a:solidFill>
                          <a:schemeClr val="lt1"/>
                        </a:solidFill>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999999"/>
                    </a:solidFill>
                  </a:tcPr>
                </a:tc>
                <a:tc>
                  <a:txBody>
                    <a:bodyPr/>
                    <a:lstStyle/>
                    <a:p>
                      <a:pPr indent="0" lvl="0" marL="0" marR="0" rtl="0" algn="l">
                        <a:lnSpc>
                          <a:spcPct val="110000"/>
                        </a:lnSpc>
                        <a:spcBef>
                          <a:spcPts val="0"/>
                        </a:spcBef>
                        <a:spcAft>
                          <a:spcPts val="0"/>
                        </a:spcAft>
                        <a:buNone/>
                      </a:pPr>
                      <a:r>
                        <a:rPr b="1" lang="en-GB" sz="1000">
                          <a:solidFill>
                            <a:schemeClr val="lt1"/>
                          </a:solidFill>
                          <a:latin typeface="Encode Sans"/>
                          <a:ea typeface="Encode Sans"/>
                          <a:cs typeface="Encode Sans"/>
                          <a:sym typeface="Encode Sans"/>
                        </a:rPr>
                        <a:t>Description</a:t>
                      </a:r>
                      <a:endParaRPr b="1" sz="1000">
                        <a:solidFill>
                          <a:schemeClr val="lt1"/>
                        </a:solidFill>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999999"/>
                    </a:solidFill>
                  </a:tcPr>
                </a:tc>
              </a:tr>
              <a:tr h="519900">
                <a:tc>
                  <a:txBody>
                    <a:bodyPr/>
                    <a:lstStyle/>
                    <a:p>
                      <a:pPr indent="0" lvl="0" marL="0" marR="0" rtl="0" algn="l">
                        <a:lnSpc>
                          <a:spcPct val="110000"/>
                        </a:lnSpc>
                        <a:spcBef>
                          <a:spcPts val="0"/>
                        </a:spcBef>
                        <a:spcAft>
                          <a:spcPts val="0"/>
                        </a:spcAft>
                        <a:buNone/>
                      </a:pPr>
                      <a:r>
                        <a:rPr b="1" lang="en-GB" sz="1000">
                          <a:solidFill>
                            <a:srgbClr val="CE6948"/>
                          </a:solidFill>
                          <a:latin typeface="Encode Sans"/>
                          <a:ea typeface="Encode Sans"/>
                          <a:cs typeface="Encode Sans"/>
                          <a:sym typeface="Encode Sans"/>
                        </a:rPr>
                        <a:t>LLM</a:t>
                      </a:r>
                      <a:endParaRPr b="1" sz="1000">
                        <a:solidFill>
                          <a:srgbClr val="CE6948"/>
                        </a:solidFill>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marR="0" rtl="0" algn="l">
                        <a:lnSpc>
                          <a:spcPct val="110000"/>
                        </a:lnSpc>
                        <a:spcBef>
                          <a:spcPts val="0"/>
                        </a:spcBef>
                        <a:spcAft>
                          <a:spcPts val="0"/>
                        </a:spcAft>
                        <a:buNone/>
                      </a:pPr>
                      <a:r>
                        <a:rPr b="1" lang="en-GB" sz="1000">
                          <a:latin typeface="Encode Sans"/>
                          <a:ea typeface="Encode Sans"/>
                          <a:cs typeface="Encode Sans"/>
                          <a:sym typeface="Encode Sans"/>
                        </a:rPr>
                        <a:t>The brain of the workflow</a:t>
                      </a:r>
                      <a:r>
                        <a:rPr lang="en-GB" sz="1000">
                          <a:latin typeface="Encode Sans"/>
                          <a:ea typeface="Encode Sans"/>
                          <a:cs typeface="Encode Sans"/>
                          <a:sym typeface="Encode Sans"/>
                        </a:rPr>
                        <a:t>, responsible for reasoning, text generation, planning, and decision-making.</a:t>
                      </a:r>
                      <a:endParaRPr sz="1000">
                        <a:latin typeface="Encode Sans"/>
                        <a:ea typeface="Encode Sans"/>
                        <a:cs typeface="Encode Sans"/>
                        <a:sym typeface="Encode Sans"/>
                      </a:endParaRPr>
                    </a:p>
                    <a:p>
                      <a:pPr indent="0" lvl="0" marL="0" marR="0" rtl="0" algn="l">
                        <a:lnSpc>
                          <a:spcPct val="110000"/>
                        </a:lnSpc>
                        <a:spcBef>
                          <a:spcPts val="0"/>
                        </a:spcBef>
                        <a:spcAft>
                          <a:spcPts val="0"/>
                        </a:spcAft>
                        <a:buNone/>
                      </a:pPr>
                      <a:r>
                        <a:rPr b="1" lang="en-GB" sz="1000">
                          <a:latin typeface="Encode Sans"/>
                          <a:ea typeface="Encode Sans"/>
                          <a:cs typeface="Encode Sans"/>
                          <a:sym typeface="Encode Sans"/>
                        </a:rPr>
                        <a:t>Examples:</a:t>
                      </a:r>
                      <a:r>
                        <a:rPr lang="en-GB" sz="1000">
                          <a:latin typeface="Encode Sans"/>
                          <a:ea typeface="Encode Sans"/>
                          <a:cs typeface="Encode Sans"/>
                          <a:sym typeface="Encode Sans"/>
                        </a:rPr>
                        <a:t> GPT-4o, Claude 3.5, Gemini 1.5, Llama 3. </a:t>
                      </a:r>
                      <a:endParaRPr sz="1000">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309575">
                <a:tc>
                  <a:txBody>
                    <a:bodyPr/>
                    <a:lstStyle/>
                    <a:p>
                      <a:pPr indent="0" lvl="0" marL="0" marR="0" rtl="0" algn="l">
                        <a:lnSpc>
                          <a:spcPct val="110000"/>
                        </a:lnSpc>
                        <a:spcBef>
                          <a:spcPts val="0"/>
                        </a:spcBef>
                        <a:spcAft>
                          <a:spcPts val="0"/>
                        </a:spcAft>
                        <a:buNone/>
                      </a:pPr>
                      <a:r>
                        <a:rPr b="1" lang="en-GB" sz="1000">
                          <a:solidFill>
                            <a:srgbClr val="CE6948"/>
                          </a:solidFill>
                          <a:latin typeface="Encode Sans"/>
                          <a:ea typeface="Encode Sans"/>
                          <a:cs typeface="Encode Sans"/>
                          <a:sym typeface="Encode Sans"/>
                        </a:rPr>
                        <a:t>Tools</a:t>
                      </a:r>
                      <a:endParaRPr b="1" sz="1000">
                        <a:solidFill>
                          <a:srgbClr val="CE6948"/>
                        </a:solidFill>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marR="0" rtl="0" algn="l">
                        <a:lnSpc>
                          <a:spcPct val="110000"/>
                        </a:lnSpc>
                        <a:spcBef>
                          <a:spcPts val="0"/>
                        </a:spcBef>
                        <a:spcAft>
                          <a:spcPts val="0"/>
                        </a:spcAft>
                        <a:buNone/>
                      </a:pPr>
                      <a:r>
                        <a:rPr lang="en-GB" sz="1000">
                          <a:latin typeface="Encode Sans"/>
                          <a:ea typeface="Encode Sans"/>
                          <a:cs typeface="Encode Sans"/>
                          <a:sym typeface="Encode Sans"/>
                        </a:rPr>
                        <a:t>Allow the LLM to interact with external systems such as web search, databases, calculators, APIs, or code execution.</a:t>
                      </a:r>
                      <a:endParaRPr sz="1000">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802750">
                <a:tc>
                  <a:txBody>
                    <a:bodyPr/>
                    <a:lstStyle/>
                    <a:p>
                      <a:pPr indent="0" lvl="0" marL="0" marR="0" rtl="0" algn="l">
                        <a:lnSpc>
                          <a:spcPct val="110000"/>
                        </a:lnSpc>
                        <a:spcBef>
                          <a:spcPts val="0"/>
                        </a:spcBef>
                        <a:spcAft>
                          <a:spcPts val="0"/>
                        </a:spcAft>
                        <a:buNone/>
                      </a:pPr>
                      <a:r>
                        <a:rPr b="1" lang="en-GB" sz="1000">
                          <a:solidFill>
                            <a:srgbClr val="CE6948"/>
                          </a:solidFill>
                          <a:latin typeface="Encode Sans"/>
                          <a:ea typeface="Encode Sans"/>
                          <a:cs typeface="Encode Sans"/>
                          <a:sym typeface="Encode Sans"/>
                        </a:rPr>
                        <a:t>Memory</a:t>
                      </a:r>
                      <a:endParaRPr b="1" sz="1000">
                        <a:solidFill>
                          <a:srgbClr val="CE6948"/>
                        </a:solidFill>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marR="0" rtl="0" algn="l">
                        <a:lnSpc>
                          <a:spcPct val="110000"/>
                        </a:lnSpc>
                        <a:spcBef>
                          <a:spcPts val="0"/>
                        </a:spcBef>
                        <a:spcAft>
                          <a:spcPts val="0"/>
                        </a:spcAft>
                        <a:buNone/>
                      </a:pPr>
                      <a:r>
                        <a:rPr lang="en-GB" sz="1000">
                          <a:latin typeface="Encode Sans"/>
                          <a:ea typeface="Encode Sans"/>
                          <a:cs typeface="Encode Sans"/>
                          <a:sym typeface="Encode Sans"/>
                        </a:rPr>
                        <a:t>Enables the workflow to </a:t>
                      </a:r>
                      <a:r>
                        <a:rPr b="1" lang="en-GB" sz="1000">
                          <a:latin typeface="Encode Sans"/>
                          <a:ea typeface="Encode Sans"/>
                          <a:cs typeface="Encode Sans"/>
                          <a:sym typeface="Encode Sans"/>
                        </a:rPr>
                        <a:t>retain and retrieve information</a:t>
                      </a:r>
                      <a:r>
                        <a:rPr lang="en-GB" sz="1000">
                          <a:latin typeface="Encode Sans"/>
                          <a:ea typeface="Encode Sans"/>
                          <a:cs typeface="Encode Sans"/>
                          <a:sym typeface="Encode Sans"/>
                        </a:rPr>
                        <a:t> when needed.</a:t>
                      </a:r>
                      <a:endParaRPr sz="1000">
                        <a:latin typeface="Encode Sans"/>
                        <a:ea typeface="Encode Sans"/>
                        <a:cs typeface="Encode Sans"/>
                        <a:sym typeface="Encode Sans"/>
                      </a:endParaRPr>
                    </a:p>
                    <a:p>
                      <a:pPr indent="0" lvl="0" marL="0" marR="0" rtl="0" algn="l">
                        <a:lnSpc>
                          <a:spcPct val="110000"/>
                        </a:lnSpc>
                        <a:spcBef>
                          <a:spcPts val="0"/>
                        </a:spcBef>
                        <a:spcAft>
                          <a:spcPts val="0"/>
                        </a:spcAft>
                        <a:buNone/>
                      </a:pPr>
                      <a:r>
                        <a:rPr lang="en-GB" sz="1000">
                          <a:latin typeface="Encode Sans"/>
                          <a:ea typeface="Encode Sans"/>
                          <a:cs typeface="Encode Sans"/>
                          <a:sym typeface="Encode Sans"/>
                        </a:rPr>
                        <a:t>• </a:t>
                      </a:r>
                      <a:r>
                        <a:rPr b="1" lang="en-GB" sz="1000">
                          <a:latin typeface="Encode Sans"/>
                          <a:ea typeface="Encode Sans"/>
                          <a:cs typeface="Encode Sans"/>
                          <a:sym typeface="Encode Sans"/>
                        </a:rPr>
                        <a:t>Short-term Memory:</a:t>
                      </a:r>
                      <a:r>
                        <a:rPr lang="en-GB" sz="1000">
                          <a:latin typeface="Encode Sans"/>
                          <a:ea typeface="Encode Sans"/>
                          <a:cs typeface="Encode Sans"/>
                          <a:sym typeface="Encode Sans"/>
                        </a:rPr>
                        <a:t> Stores the current conversation history, typically included in the prompt.</a:t>
                      </a:r>
                      <a:endParaRPr sz="1000">
                        <a:latin typeface="Encode Sans"/>
                        <a:ea typeface="Encode Sans"/>
                        <a:cs typeface="Encode Sans"/>
                        <a:sym typeface="Encode Sans"/>
                      </a:endParaRPr>
                    </a:p>
                    <a:p>
                      <a:pPr indent="0" lvl="0" marL="0" marR="0" rtl="0" algn="l">
                        <a:lnSpc>
                          <a:spcPct val="110000"/>
                        </a:lnSpc>
                        <a:spcBef>
                          <a:spcPts val="0"/>
                        </a:spcBef>
                        <a:spcAft>
                          <a:spcPts val="0"/>
                        </a:spcAft>
                        <a:buNone/>
                      </a:pPr>
                      <a:r>
                        <a:rPr lang="en-GB" sz="1000">
                          <a:latin typeface="Encode Sans"/>
                          <a:ea typeface="Encode Sans"/>
                          <a:cs typeface="Encode Sans"/>
                          <a:sym typeface="Encode Sans"/>
                        </a:rPr>
                        <a:t>• </a:t>
                      </a:r>
                      <a:r>
                        <a:rPr b="1" lang="en-GB" sz="1000">
                          <a:latin typeface="Encode Sans"/>
                          <a:ea typeface="Encode Sans"/>
                          <a:cs typeface="Encode Sans"/>
                          <a:sym typeface="Encode Sans"/>
                        </a:rPr>
                        <a:t>Long-term Memory:</a:t>
                      </a:r>
                      <a:r>
                        <a:rPr lang="en-GB" sz="1000">
                          <a:latin typeface="Encode Sans"/>
                          <a:ea typeface="Encode Sans"/>
                          <a:cs typeface="Encode Sans"/>
                          <a:sym typeface="Encode Sans"/>
                        </a:rPr>
                        <a:t> Persists information across sessions, often using databases and retrieval mechanisms such as RAG.</a:t>
                      </a:r>
                      <a:endParaRPr sz="1000">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519900">
                <a:tc>
                  <a:txBody>
                    <a:bodyPr/>
                    <a:lstStyle/>
                    <a:p>
                      <a:pPr indent="0" lvl="0" marL="0" marR="0" rtl="0" algn="l">
                        <a:lnSpc>
                          <a:spcPct val="110000"/>
                        </a:lnSpc>
                        <a:spcBef>
                          <a:spcPts val="0"/>
                        </a:spcBef>
                        <a:spcAft>
                          <a:spcPts val="0"/>
                        </a:spcAft>
                        <a:buNone/>
                      </a:pPr>
                      <a:r>
                        <a:rPr b="1" lang="en-GB" sz="1000">
                          <a:solidFill>
                            <a:srgbClr val="CE6948"/>
                          </a:solidFill>
                          <a:latin typeface="Encode Sans"/>
                          <a:ea typeface="Encode Sans"/>
                          <a:cs typeface="Encode Sans"/>
                          <a:sym typeface="Encode Sans"/>
                        </a:rPr>
                        <a:t>State</a:t>
                      </a:r>
                      <a:endParaRPr b="1" sz="1000">
                        <a:solidFill>
                          <a:srgbClr val="CE6948"/>
                        </a:solidFill>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marR="0" rtl="0" algn="l">
                        <a:lnSpc>
                          <a:spcPct val="110000"/>
                        </a:lnSpc>
                        <a:spcBef>
                          <a:spcPts val="0"/>
                        </a:spcBef>
                        <a:spcAft>
                          <a:spcPts val="0"/>
                        </a:spcAft>
                        <a:buNone/>
                      </a:pPr>
                      <a:r>
                        <a:rPr lang="en-GB" sz="1000">
                          <a:latin typeface="Encode Sans"/>
                          <a:ea typeface="Encode Sans"/>
                          <a:cs typeface="Encode Sans"/>
                          <a:sym typeface="Encode Sans"/>
                        </a:rPr>
                        <a:t>The </a:t>
                      </a:r>
                      <a:r>
                        <a:rPr b="1" lang="en-GB" sz="1000">
                          <a:latin typeface="Encode Sans"/>
                          <a:ea typeface="Encode Sans"/>
                          <a:cs typeface="Encode Sans"/>
                          <a:sym typeface="Encode Sans"/>
                        </a:rPr>
                        <a:t>information and context carried between workflow steps</a:t>
                      </a:r>
                      <a:r>
                        <a:rPr lang="en-GB" sz="1000">
                          <a:latin typeface="Encode Sans"/>
                          <a:ea typeface="Encode Sans"/>
                          <a:cs typeface="Encode Sans"/>
                          <a:sym typeface="Encode Sans"/>
                        </a:rPr>
                        <a:t>, like a relay baton. Each step can read previous results and write new results for subsequent steps. </a:t>
                      </a:r>
                      <a:endParaRPr sz="1000">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519900">
                <a:tc>
                  <a:txBody>
                    <a:bodyPr/>
                    <a:lstStyle/>
                    <a:p>
                      <a:pPr indent="0" lvl="0" marL="0" marR="0" rtl="0" algn="l">
                        <a:lnSpc>
                          <a:spcPct val="110000"/>
                        </a:lnSpc>
                        <a:spcBef>
                          <a:spcPts val="0"/>
                        </a:spcBef>
                        <a:spcAft>
                          <a:spcPts val="0"/>
                        </a:spcAft>
                        <a:buNone/>
                      </a:pPr>
                      <a:r>
                        <a:rPr b="1" lang="en-GB" sz="1000">
                          <a:solidFill>
                            <a:srgbClr val="CE6948"/>
                          </a:solidFill>
                          <a:latin typeface="Encode Sans"/>
                          <a:ea typeface="Encode Sans"/>
                          <a:cs typeface="Encode Sans"/>
                          <a:sym typeface="Encode Sans"/>
                        </a:rPr>
                        <a:t>Router / Condition </a:t>
                      </a:r>
                      <a:endParaRPr b="1" sz="1000">
                        <a:solidFill>
                          <a:srgbClr val="CE6948"/>
                        </a:solidFill>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marR="0" rtl="0" algn="l">
                        <a:lnSpc>
                          <a:spcPct val="110000"/>
                        </a:lnSpc>
                        <a:spcBef>
                          <a:spcPts val="0"/>
                        </a:spcBef>
                        <a:spcAft>
                          <a:spcPts val="0"/>
                        </a:spcAft>
                        <a:buNone/>
                      </a:pPr>
                      <a:r>
                        <a:rPr lang="en-GB" sz="1000">
                          <a:latin typeface="Encode Sans"/>
                          <a:ea typeface="Encode Sans"/>
                          <a:cs typeface="Encode Sans"/>
                          <a:sym typeface="Encode Sans"/>
                        </a:rPr>
                        <a:t>Determines </a:t>
                      </a:r>
                      <a:r>
                        <a:rPr b="1" lang="en-GB" sz="1000">
                          <a:latin typeface="Encode Sans"/>
                          <a:ea typeface="Encode Sans"/>
                          <a:cs typeface="Encode Sans"/>
                          <a:sym typeface="Encode Sans"/>
                        </a:rPr>
                        <a:t>what happens next</a:t>
                      </a:r>
                      <a:r>
                        <a:rPr lang="en-GB" sz="1000">
                          <a:latin typeface="Encode Sans"/>
                          <a:ea typeface="Encode Sans"/>
                          <a:cs typeface="Encode Sans"/>
                          <a:sym typeface="Encode Sans"/>
                        </a:rPr>
                        <a:t> based on the current state or previous output. It enables branching, looping, conditional execution, and workflow transitions. </a:t>
                      </a:r>
                      <a:endParaRPr sz="1000">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519900">
                <a:tc>
                  <a:txBody>
                    <a:bodyPr/>
                    <a:lstStyle/>
                    <a:p>
                      <a:pPr indent="0" lvl="0" marL="0" marR="0" rtl="0" algn="l">
                        <a:lnSpc>
                          <a:spcPct val="110000"/>
                        </a:lnSpc>
                        <a:spcBef>
                          <a:spcPts val="0"/>
                        </a:spcBef>
                        <a:spcAft>
                          <a:spcPts val="0"/>
                        </a:spcAft>
                        <a:buNone/>
                      </a:pPr>
                      <a:r>
                        <a:rPr b="1" lang="en-GB" sz="1000">
                          <a:solidFill>
                            <a:srgbClr val="CE6948"/>
                          </a:solidFill>
                          <a:latin typeface="Encode Sans"/>
                          <a:ea typeface="Encode Sans"/>
                          <a:cs typeface="Encode Sans"/>
                          <a:sym typeface="Encode Sans"/>
                        </a:rPr>
                        <a:t>Human in the Loop (HITL) </a:t>
                      </a:r>
                      <a:endParaRPr b="1" sz="1000">
                        <a:solidFill>
                          <a:srgbClr val="CE6948"/>
                        </a:solidFill>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marR="0" rtl="0" algn="l">
                        <a:lnSpc>
                          <a:spcPct val="110000"/>
                        </a:lnSpc>
                        <a:spcBef>
                          <a:spcPts val="0"/>
                        </a:spcBef>
                        <a:spcAft>
                          <a:spcPts val="0"/>
                        </a:spcAft>
                        <a:buNone/>
                      </a:pPr>
                      <a:r>
                        <a:rPr lang="en-GB" sz="1000">
                          <a:latin typeface="Encode Sans"/>
                          <a:ea typeface="Encode Sans"/>
                          <a:cs typeface="Encode Sans"/>
                          <a:sym typeface="Encode Sans"/>
                        </a:rPr>
                        <a:t>Pauses the workflow at critical points and waits for </a:t>
                      </a:r>
                      <a:r>
                        <a:rPr b="1" lang="en-GB" sz="1000">
                          <a:latin typeface="Encode Sans"/>
                          <a:ea typeface="Encode Sans"/>
                          <a:cs typeface="Encode Sans"/>
                          <a:sym typeface="Encode Sans"/>
                        </a:rPr>
                        <a:t>human confirmation or approval</a:t>
                      </a:r>
                      <a:r>
                        <a:rPr lang="en-GB" sz="1000">
                          <a:latin typeface="Encode Sans"/>
                          <a:ea typeface="Encode Sans"/>
                          <a:cs typeface="Encode Sans"/>
                          <a:sym typeface="Encode Sans"/>
                        </a:rPr>
                        <a:t>. Useful for high-risk actions such as deleting data, sending emails, approving transactions, or financial operations. </a:t>
                      </a:r>
                      <a:endParaRPr sz="1000">
                        <a:latin typeface="Encode Sans"/>
                        <a:ea typeface="Encode Sans"/>
                        <a:cs typeface="Encode Sans"/>
                        <a:sym typeface="Encode Sans"/>
                      </a:endParaRPr>
                    </a:p>
                  </a:txBody>
                  <a:tcPr marT="36000" marB="36000" marR="36000" marL="36000"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bl>
          </a:graphicData>
        </a:graphic>
      </p:graphicFrame>
      <p:sp>
        <p:nvSpPr>
          <p:cNvPr id="153" name="Google Shape;153;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What is an LLM Framework?</a:t>
            </a:r>
            <a:endParaRPr>
              <a:solidFill>
                <a:srgbClr val="CE6948"/>
              </a:solidFill>
            </a:endParaRPr>
          </a:p>
        </p:txBody>
      </p:sp>
      <p:sp>
        <p:nvSpPr>
          <p:cNvPr id="159" name="Google Shape;159;p23"/>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sp>
        <p:nvSpPr>
          <p:cNvPr id="160" name="Google Shape;160;p23"/>
          <p:cNvSpPr txBox="1"/>
          <p:nvPr>
            <p:ph idx="1" type="body"/>
          </p:nvPr>
        </p:nvSpPr>
        <p:spPr>
          <a:xfrm>
            <a:off x="311700" y="1069550"/>
            <a:ext cx="8520600" cy="3416400"/>
          </a:xfrm>
          <a:prstGeom prst="rect">
            <a:avLst/>
          </a:prstGeom>
        </p:spPr>
        <p:txBody>
          <a:bodyPr anchorCtr="0" anchor="t" bIns="91425" lIns="91425" spcFirstLastPara="1" rIns="91425" wrap="square" tIns="91425">
            <a:noAutofit/>
          </a:bodyPr>
          <a:lstStyle/>
          <a:p>
            <a:pPr indent="0" lvl="0" marL="0" marR="0" rtl="0" algn="just">
              <a:lnSpc>
                <a:spcPct val="130000"/>
              </a:lnSpc>
              <a:spcBef>
                <a:spcPts val="1000"/>
              </a:spcBef>
              <a:spcAft>
                <a:spcPts val="0"/>
              </a:spcAft>
              <a:buNone/>
            </a:pPr>
            <a:r>
              <a:rPr b="1" lang="en-GB">
                <a:solidFill>
                  <a:srgbClr val="434343"/>
                </a:solidFill>
                <a:latin typeface="Encode Sans"/>
                <a:ea typeface="Encode Sans"/>
                <a:cs typeface="Encode Sans"/>
                <a:sym typeface="Encode Sans"/>
              </a:rPr>
              <a:t>An LLM framework</a:t>
            </a:r>
            <a:r>
              <a:rPr lang="en-GB">
                <a:solidFill>
                  <a:srgbClr val="434343"/>
                </a:solidFill>
                <a:latin typeface="Encode Sans"/>
                <a:ea typeface="Encode Sans"/>
                <a:cs typeface="Encode Sans"/>
                <a:sym typeface="Encode Sans"/>
              </a:rPr>
              <a:t> is a library or SDK that helps developers build applications on top of large language models. Instead of writing raw API calls to OpenAI, Anthropic, or Mistral and managing all the surrounding logic yourself, an LLM framework provides structured abstractions for common tasks.</a:t>
            </a:r>
            <a:endParaRPr>
              <a:solidFill>
                <a:srgbClr val="434343"/>
              </a:solidFill>
              <a:latin typeface="Encode Sans"/>
              <a:ea typeface="Encode Sans"/>
              <a:cs typeface="Encode Sans"/>
              <a:sym typeface="Encode Sans"/>
            </a:endParaRPr>
          </a:p>
        </p:txBody>
      </p:sp>
      <p:pic>
        <p:nvPicPr>
          <p:cNvPr id="161" name="Google Shape;161;p23"/>
          <p:cNvPicPr preferRelativeResize="0"/>
          <p:nvPr/>
        </p:nvPicPr>
        <p:blipFill>
          <a:blip r:embed="rId3">
            <a:alphaModFix/>
          </a:blip>
          <a:stretch>
            <a:fillRect/>
          </a:stretch>
        </p:blipFill>
        <p:spPr>
          <a:xfrm>
            <a:off x="443200" y="3010842"/>
            <a:ext cx="2277725" cy="928200"/>
          </a:xfrm>
          <a:prstGeom prst="rect">
            <a:avLst/>
          </a:prstGeom>
          <a:noFill/>
          <a:ln>
            <a:noFill/>
          </a:ln>
        </p:spPr>
      </p:pic>
      <p:pic>
        <p:nvPicPr>
          <p:cNvPr id="162" name="Google Shape;162;p23"/>
          <p:cNvPicPr preferRelativeResize="0"/>
          <p:nvPr/>
        </p:nvPicPr>
        <p:blipFill rotWithShape="1">
          <a:blip r:embed="rId4">
            <a:alphaModFix/>
          </a:blip>
          <a:srcRect b="32339" l="0" r="0" t="32175"/>
          <a:stretch/>
        </p:blipFill>
        <p:spPr>
          <a:xfrm>
            <a:off x="1332550" y="2571987"/>
            <a:ext cx="2876293" cy="510326"/>
          </a:xfrm>
          <a:prstGeom prst="rect">
            <a:avLst/>
          </a:prstGeom>
          <a:noFill/>
          <a:ln>
            <a:noFill/>
          </a:ln>
        </p:spPr>
      </p:pic>
      <p:pic>
        <p:nvPicPr>
          <p:cNvPr id="163" name="Google Shape;163;p23"/>
          <p:cNvPicPr preferRelativeResize="0"/>
          <p:nvPr/>
        </p:nvPicPr>
        <p:blipFill rotWithShape="1">
          <a:blip r:embed="rId5">
            <a:alphaModFix/>
          </a:blip>
          <a:srcRect b="40762" l="0" r="0" t="40667"/>
          <a:stretch/>
        </p:blipFill>
        <p:spPr>
          <a:xfrm>
            <a:off x="3802775" y="3251438"/>
            <a:ext cx="2748150" cy="510325"/>
          </a:xfrm>
          <a:prstGeom prst="rect">
            <a:avLst/>
          </a:prstGeom>
          <a:noFill/>
          <a:ln>
            <a:noFill/>
          </a:ln>
        </p:spPr>
      </p:pic>
      <p:pic>
        <p:nvPicPr>
          <p:cNvPr id="164" name="Google Shape;164;p23"/>
          <p:cNvPicPr preferRelativeResize="0"/>
          <p:nvPr/>
        </p:nvPicPr>
        <p:blipFill>
          <a:blip r:embed="rId6">
            <a:alphaModFix/>
          </a:blip>
          <a:stretch>
            <a:fillRect/>
          </a:stretch>
        </p:blipFill>
        <p:spPr>
          <a:xfrm>
            <a:off x="6728525" y="2615875"/>
            <a:ext cx="1552525" cy="536450"/>
          </a:xfrm>
          <a:prstGeom prst="rect">
            <a:avLst/>
          </a:prstGeom>
          <a:noFill/>
          <a:ln>
            <a:noFill/>
          </a:ln>
        </p:spPr>
      </p:pic>
      <p:pic>
        <p:nvPicPr>
          <p:cNvPr id="165" name="Google Shape;165;p23"/>
          <p:cNvPicPr preferRelativeResize="0"/>
          <p:nvPr/>
        </p:nvPicPr>
        <p:blipFill>
          <a:blip r:embed="rId7">
            <a:alphaModFix/>
          </a:blip>
          <a:stretch>
            <a:fillRect/>
          </a:stretch>
        </p:blipFill>
        <p:spPr>
          <a:xfrm>
            <a:off x="2497575" y="3980294"/>
            <a:ext cx="1181639" cy="654825"/>
          </a:xfrm>
          <a:prstGeom prst="rect">
            <a:avLst/>
          </a:prstGeom>
          <a:noFill/>
          <a:ln>
            <a:noFill/>
          </a:ln>
        </p:spPr>
      </p:pic>
      <p:pic>
        <p:nvPicPr>
          <p:cNvPr id="166" name="Google Shape;166;p23"/>
          <p:cNvPicPr preferRelativeResize="0"/>
          <p:nvPr/>
        </p:nvPicPr>
        <p:blipFill>
          <a:blip r:embed="rId8">
            <a:alphaModFix/>
          </a:blip>
          <a:stretch>
            <a:fillRect/>
          </a:stretch>
        </p:blipFill>
        <p:spPr>
          <a:xfrm>
            <a:off x="4337571" y="3980300"/>
            <a:ext cx="1857053" cy="742825"/>
          </a:xfrm>
          <a:prstGeom prst="rect">
            <a:avLst/>
          </a:prstGeom>
          <a:noFill/>
          <a:ln>
            <a:noFill/>
          </a:ln>
        </p:spPr>
      </p:pic>
      <p:pic>
        <p:nvPicPr>
          <p:cNvPr id="167" name="Google Shape;167;p23"/>
          <p:cNvPicPr preferRelativeResize="0"/>
          <p:nvPr/>
        </p:nvPicPr>
        <p:blipFill>
          <a:blip r:embed="rId9">
            <a:alphaModFix/>
          </a:blip>
          <a:stretch>
            <a:fillRect/>
          </a:stretch>
        </p:blipFill>
        <p:spPr>
          <a:xfrm>
            <a:off x="7185494" y="4014202"/>
            <a:ext cx="1061699" cy="471751"/>
          </a:xfrm>
          <a:prstGeom prst="rect">
            <a:avLst/>
          </a:prstGeom>
          <a:noFill/>
          <a:ln>
            <a:noFill/>
          </a:ln>
        </p:spPr>
      </p:pic>
      <p:sp>
        <p:nvSpPr>
          <p:cNvPr id="168" name="Google Shape;16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LLM Frameworks &amp; AI Tools - Quick List (cont)</a:t>
            </a:r>
            <a:endParaRPr>
              <a:solidFill>
                <a:srgbClr val="CE6948"/>
              </a:solidFill>
            </a:endParaRPr>
          </a:p>
          <a:p>
            <a:pPr indent="0" lvl="0" marL="0" rtl="0" algn="l">
              <a:spcBef>
                <a:spcPts val="0"/>
              </a:spcBef>
              <a:spcAft>
                <a:spcPts val="0"/>
              </a:spcAft>
              <a:buNone/>
            </a:pPr>
            <a:r>
              <a:t/>
            </a:r>
            <a:endParaRPr>
              <a:solidFill>
                <a:srgbClr val="CE6948"/>
              </a:solidFill>
            </a:endParaRPr>
          </a:p>
          <a:p>
            <a:pPr indent="0" lvl="0" marL="0" rtl="0" algn="l">
              <a:spcBef>
                <a:spcPts val="0"/>
              </a:spcBef>
              <a:spcAft>
                <a:spcPts val="0"/>
              </a:spcAft>
              <a:buNone/>
            </a:pPr>
            <a:r>
              <a:t/>
            </a:r>
            <a:endParaRPr>
              <a:solidFill>
                <a:srgbClr val="CE6948"/>
              </a:solidFill>
            </a:endParaRPr>
          </a:p>
        </p:txBody>
      </p:sp>
      <p:sp>
        <p:nvSpPr>
          <p:cNvPr id="174" name="Google Shape;174;p2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graphicFrame>
        <p:nvGraphicFramePr>
          <p:cNvPr id="175" name="Google Shape;175;p24"/>
          <p:cNvGraphicFramePr/>
          <p:nvPr/>
        </p:nvGraphicFramePr>
        <p:xfrm>
          <a:off x="397600" y="1228650"/>
          <a:ext cx="3000000" cy="3000000"/>
        </p:xfrm>
        <a:graphic>
          <a:graphicData uri="http://schemas.openxmlformats.org/drawingml/2006/table">
            <a:tbl>
              <a:tblPr>
                <a:noFill/>
                <a:tableStyleId>{72E992ED-6B25-4E48-9C0A-EFB178C94E49}</a:tableStyleId>
              </a:tblPr>
              <a:tblGrid>
                <a:gridCol w="987300"/>
                <a:gridCol w="1961450"/>
                <a:gridCol w="2207200"/>
                <a:gridCol w="3150625"/>
              </a:tblGrid>
              <a:tr h="298900">
                <a:tc>
                  <a:txBody>
                    <a:bodyPr/>
                    <a:lstStyle/>
                    <a:p>
                      <a:pPr indent="0" lvl="0" marL="0" rtl="0" algn="l">
                        <a:spcBef>
                          <a:spcPts val="0"/>
                        </a:spcBef>
                        <a:spcAft>
                          <a:spcPts val="0"/>
                        </a:spcAft>
                        <a:buNone/>
                      </a:pPr>
                      <a:r>
                        <a:rPr b="1" lang="en-GB" sz="1000">
                          <a:solidFill>
                            <a:srgbClr val="FFFFFF"/>
                          </a:solidFill>
                          <a:latin typeface="Encode Sans"/>
                          <a:ea typeface="Encode Sans"/>
                          <a:cs typeface="Encode Sans"/>
                          <a:sym typeface="Encode Sans"/>
                        </a:rPr>
                        <a:t>Framework</a:t>
                      </a:r>
                      <a:endParaRPr sz="10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1000">
                          <a:solidFill>
                            <a:srgbClr val="FFFFFF"/>
                          </a:solidFill>
                          <a:latin typeface="Encode Sans"/>
                          <a:ea typeface="Encode Sans"/>
                          <a:cs typeface="Encode Sans"/>
                          <a:sym typeface="Encode Sans"/>
                        </a:rPr>
                        <a:t>Positioning</a:t>
                      </a:r>
                      <a:endParaRPr sz="10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1000">
                          <a:solidFill>
                            <a:srgbClr val="FFFFFF"/>
                          </a:solidFill>
                          <a:latin typeface="Encode Sans"/>
                          <a:ea typeface="Encode Sans"/>
                          <a:cs typeface="Encode Sans"/>
                          <a:sym typeface="Encode Sans"/>
                        </a:rPr>
                        <a:t>Best Used For</a:t>
                      </a:r>
                      <a:endParaRPr sz="10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1000">
                          <a:solidFill>
                            <a:srgbClr val="FFFFFF"/>
                          </a:solidFill>
                          <a:latin typeface="Encode Sans"/>
                          <a:ea typeface="Encode Sans"/>
                          <a:cs typeface="Encode Sans"/>
                          <a:sym typeface="Encode Sans"/>
                        </a:rPr>
                        <a:t>Real Task Example</a:t>
                      </a:r>
                      <a:endParaRPr sz="10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r>
              <a:tr h="731475">
                <a:tc>
                  <a:txBody>
                    <a:bodyPr/>
                    <a:lstStyle/>
                    <a:p>
                      <a:pPr indent="0" lvl="0" marL="0" rtl="0" algn="l">
                        <a:spcBef>
                          <a:spcPts val="0"/>
                        </a:spcBef>
                        <a:spcAft>
                          <a:spcPts val="0"/>
                        </a:spcAft>
                        <a:buNone/>
                      </a:pPr>
                      <a:r>
                        <a:rPr b="1" lang="en-GB" sz="1000">
                          <a:solidFill>
                            <a:srgbClr val="1F1F1F"/>
                          </a:solidFill>
                          <a:latin typeface="Encode Sans"/>
                          <a:ea typeface="Encode Sans"/>
                          <a:cs typeface="Encode Sans"/>
                          <a:sym typeface="Encode Sans"/>
                        </a:rPr>
                        <a:t>LlamaIndex</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Specialized RAG Framework</a:t>
                      </a:r>
                      <a:endParaRPr sz="1000">
                        <a:solidFill>
                          <a:srgbClr val="1F1F1F"/>
                        </a:solidFill>
                        <a:latin typeface="Encode Sans"/>
                        <a:ea typeface="Encode Sans"/>
                        <a:cs typeface="Encode Sans"/>
                        <a:sym typeface="Encode Sans"/>
                      </a:endParaRPr>
                    </a:p>
                    <a:p>
                      <a:pPr indent="0" lvl="0" marL="0" rtl="0" algn="l">
                        <a:spcBef>
                          <a:spcPts val="0"/>
                        </a:spcBef>
                        <a:spcAft>
                          <a:spcPts val="0"/>
                        </a:spcAft>
                        <a:buNone/>
                      </a:pPr>
                      <a:r>
                        <a:rPr i="1" lang="en-GB" sz="1000">
                          <a:solidFill>
                            <a:srgbClr val="1F1F1F"/>
                          </a:solidFill>
                          <a:latin typeface="Encode Sans"/>
                          <a:ea typeface="Encode Sans"/>
                          <a:cs typeface="Encode Sans"/>
                          <a:sym typeface="Encode Sans"/>
                        </a:rPr>
                        <a:t>(Strongest data processing)</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Searching and querying massive documents &amp; PDFs.</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Finding specific clauses inside a 500-page legal contract.</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731475">
                <a:tc>
                  <a:txBody>
                    <a:bodyPr/>
                    <a:lstStyle/>
                    <a:p>
                      <a:pPr indent="0" lvl="0" marL="0" rtl="0" algn="l">
                        <a:spcBef>
                          <a:spcPts val="0"/>
                        </a:spcBef>
                        <a:spcAft>
                          <a:spcPts val="0"/>
                        </a:spcAft>
                        <a:buNone/>
                      </a:pPr>
                      <a:r>
                        <a:rPr b="1" lang="en-GB" sz="1000">
                          <a:solidFill>
                            <a:srgbClr val="1F1F1F"/>
                          </a:solidFill>
                          <a:latin typeface="Encode Sans"/>
                          <a:ea typeface="Encode Sans"/>
                          <a:cs typeface="Encode Sans"/>
                          <a:sym typeface="Encode Sans"/>
                        </a:rPr>
                        <a:t>CrewAI</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Multi-Agent Collaboration</a:t>
                      </a:r>
                      <a:endParaRPr sz="1000">
                        <a:solidFill>
                          <a:srgbClr val="1F1F1F"/>
                        </a:solidFill>
                        <a:latin typeface="Encode Sans"/>
                        <a:ea typeface="Encode Sans"/>
                        <a:cs typeface="Encode Sans"/>
                        <a:sym typeface="Encode Sans"/>
                      </a:endParaRPr>
                    </a:p>
                    <a:p>
                      <a:pPr indent="0" lvl="0" marL="0" rtl="0" algn="l">
                        <a:spcBef>
                          <a:spcPts val="0"/>
                        </a:spcBef>
                        <a:spcAft>
                          <a:spcPts val="0"/>
                        </a:spcAft>
                        <a:buNone/>
                      </a:pPr>
                      <a:r>
                        <a:rPr i="1" lang="en-GB" sz="1000">
                          <a:solidFill>
                            <a:srgbClr val="1F1F1F"/>
                          </a:solidFill>
                          <a:latin typeface="Encode Sans"/>
                          <a:ea typeface="Encode Sans"/>
                          <a:cs typeface="Encode Sans"/>
                          <a:sym typeface="Encode Sans"/>
                        </a:rPr>
                        <a:t>(Role-playing framework)</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Teams of AI specialists working together.</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A researcher AI gathering data, an analyst finding gaps, and a writer drafting a report.</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731475">
                <a:tc>
                  <a:txBody>
                    <a:bodyPr/>
                    <a:lstStyle/>
                    <a:p>
                      <a:pPr indent="0" lvl="0" marL="0" rtl="0" algn="l">
                        <a:spcBef>
                          <a:spcPts val="0"/>
                        </a:spcBef>
                        <a:spcAft>
                          <a:spcPts val="0"/>
                        </a:spcAft>
                        <a:buNone/>
                      </a:pPr>
                      <a:r>
                        <a:rPr b="1" lang="en-GB" sz="1000">
                          <a:solidFill>
                            <a:srgbClr val="1F1F1F"/>
                          </a:solidFill>
                          <a:latin typeface="Encode Sans"/>
                          <a:ea typeface="Encode Sans"/>
                          <a:cs typeface="Encode Sans"/>
                          <a:sym typeface="Encode Sans"/>
                        </a:rPr>
                        <a:t>LangGraph</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Graph Agent Framework</a:t>
                      </a:r>
                      <a:endParaRPr sz="1000">
                        <a:solidFill>
                          <a:srgbClr val="1F1F1F"/>
                        </a:solidFill>
                        <a:latin typeface="Encode Sans"/>
                        <a:ea typeface="Encode Sans"/>
                        <a:cs typeface="Encode Sans"/>
                        <a:sym typeface="Encode Sans"/>
                      </a:endParaRPr>
                    </a:p>
                    <a:p>
                      <a:pPr indent="0" lvl="0" marL="0" rtl="0" algn="l">
                        <a:spcBef>
                          <a:spcPts val="0"/>
                        </a:spcBef>
                        <a:spcAft>
                          <a:spcPts val="0"/>
                        </a:spcAft>
                        <a:buNone/>
                      </a:pPr>
                      <a:r>
                        <a:rPr i="1" lang="en-GB" sz="1000">
                          <a:solidFill>
                            <a:srgbClr val="1F1F1F"/>
                          </a:solidFill>
                          <a:latin typeface="Encode Sans"/>
                          <a:ea typeface="Encode Sans"/>
                          <a:cs typeface="Encode Sans"/>
                          <a:sym typeface="Encode Sans"/>
                        </a:rPr>
                        <a:t>(stateful workflows)</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Complex workflows with loops and human approval.</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A refund system that calculates amounts and pauses for a manager's click to approve.</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731475">
                <a:tc>
                  <a:txBody>
                    <a:bodyPr/>
                    <a:lstStyle/>
                    <a:p>
                      <a:pPr indent="0" lvl="0" marL="0" rtl="0" algn="l">
                        <a:spcBef>
                          <a:spcPts val="0"/>
                        </a:spcBef>
                        <a:spcAft>
                          <a:spcPts val="0"/>
                        </a:spcAft>
                        <a:buNone/>
                      </a:pPr>
                      <a:r>
                        <a:rPr b="1" lang="en-GB" sz="1000">
                          <a:solidFill>
                            <a:srgbClr val="1F1F1F"/>
                          </a:solidFill>
                          <a:latin typeface="Encode Sans"/>
                          <a:ea typeface="Encode Sans"/>
                          <a:cs typeface="Encode Sans"/>
                          <a:sym typeface="Encode Sans"/>
                        </a:rPr>
                        <a:t>LangChain</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Code-First Framework</a:t>
                      </a:r>
                      <a:endParaRPr sz="1000">
                        <a:solidFill>
                          <a:srgbClr val="1F1F1F"/>
                        </a:solidFill>
                        <a:latin typeface="Encode Sans"/>
                        <a:ea typeface="Encode Sans"/>
                        <a:cs typeface="Encode Sans"/>
                        <a:sym typeface="Encode Sans"/>
                      </a:endParaRPr>
                    </a:p>
                    <a:p>
                      <a:pPr indent="0" lvl="0" marL="0" rtl="0" algn="l">
                        <a:spcBef>
                          <a:spcPts val="0"/>
                        </a:spcBef>
                        <a:spcAft>
                          <a:spcPts val="0"/>
                        </a:spcAft>
                        <a:buNone/>
                      </a:pPr>
                      <a:r>
                        <a:rPr i="1" lang="en-GB" sz="1000">
                          <a:solidFill>
                            <a:srgbClr val="1F1F1F"/>
                          </a:solidFill>
                          <a:latin typeface="Encode Sans"/>
                          <a:ea typeface="Encode Sans"/>
                          <a:cs typeface="Encode Sans"/>
                          <a:sym typeface="Encode Sans"/>
                        </a:rPr>
                        <a:t>(most complete ecosystem)</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General-purpose apps with massive tool integration.</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A custom chatbot querying an internal SQL database for live sales data.</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bl>
          </a:graphicData>
        </a:graphic>
      </p:graphicFrame>
      <p:sp>
        <p:nvSpPr>
          <p:cNvPr id="176" name="Google Shape;176;p24"/>
          <p:cNvSpPr txBox="1"/>
          <p:nvPr>
            <p:ph idx="1" type="body"/>
          </p:nvPr>
        </p:nvSpPr>
        <p:spPr>
          <a:xfrm>
            <a:off x="311700" y="847704"/>
            <a:ext cx="8520600" cy="340200"/>
          </a:xfrm>
          <a:prstGeom prst="rect">
            <a:avLst/>
          </a:prstGeom>
        </p:spPr>
        <p:txBody>
          <a:bodyPr anchorCtr="0" anchor="t" bIns="91425" lIns="91425" spcFirstLastPara="1" rIns="91425" wrap="square" tIns="91425">
            <a:noAutofit/>
          </a:bodyPr>
          <a:lstStyle/>
          <a:p>
            <a:pPr indent="0" lvl="0" marL="0" marR="0" rtl="0" algn="just">
              <a:lnSpc>
                <a:spcPct val="130000"/>
              </a:lnSpc>
              <a:spcBef>
                <a:spcPts val="1000"/>
              </a:spcBef>
              <a:spcAft>
                <a:spcPts val="0"/>
              </a:spcAft>
              <a:buNone/>
            </a:pPr>
            <a:r>
              <a:rPr lang="en-GB" sz="1100">
                <a:solidFill>
                  <a:srgbClr val="434343"/>
                </a:solidFill>
                <a:latin typeface="Encode Sans"/>
                <a:ea typeface="Encode Sans"/>
                <a:cs typeface="Encode Sans"/>
                <a:sym typeface="Encode Sans"/>
              </a:rPr>
              <a:t>To build these workflows in production, developers use orchestration frameworks. Here is a brief comparison of the industry standards:</a:t>
            </a:r>
            <a:endParaRPr sz="1100">
              <a:solidFill>
                <a:srgbClr val="434343"/>
              </a:solidFill>
              <a:latin typeface="Encode Sans"/>
              <a:ea typeface="Encode Sans"/>
              <a:cs typeface="Encode Sans"/>
              <a:sym typeface="Encode Sans"/>
            </a:endParaRPr>
          </a:p>
        </p:txBody>
      </p:sp>
      <p:sp>
        <p:nvSpPr>
          <p:cNvPr id="177" name="Google Shape;17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LLM Frameworks &amp; AI Tools - Quick List (cont)</a:t>
            </a:r>
            <a:endParaRPr>
              <a:solidFill>
                <a:srgbClr val="CE6948"/>
              </a:solidFill>
            </a:endParaRPr>
          </a:p>
          <a:p>
            <a:pPr indent="0" lvl="0" marL="0" rtl="0" algn="l">
              <a:spcBef>
                <a:spcPts val="0"/>
              </a:spcBef>
              <a:spcAft>
                <a:spcPts val="0"/>
              </a:spcAft>
              <a:buNone/>
            </a:pPr>
            <a:r>
              <a:t/>
            </a:r>
            <a:endParaRPr>
              <a:solidFill>
                <a:srgbClr val="CE6948"/>
              </a:solidFill>
            </a:endParaRPr>
          </a:p>
        </p:txBody>
      </p:sp>
      <p:sp>
        <p:nvSpPr>
          <p:cNvPr id="183" name="Google Shape;183;p25"/>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graphicFrame>
        <p:nvGraphicFramePr>
          <p:cNvPr id="184" name="Google Shape;184;p25"/>
          <p:cNvGraphicFramePr/>
          <p:nvPr/>
        </p:nvGraphicFramePr>
        <p:xfrm>
          <a:off x="397600" y="1228650"/>
          <a:ext cx="3000000" cy="3000000"/>
        </p:xfrm>
        <a:graphic>
          <a:graphicData uri="http://schemas.openxmlformats.org/drawingml/2006/table">
            <a:tbl>
              <a:tblPr>
                <a:noFill/>
                <a:tableStyleId>{72E992ED-6B25-4E48-9C0A-EFB178C94E49}</a:tableStyleId>
              </a:tblPr>
              <a:tblGrid>
                <a:gridCol w="987300"/>
                <a:gridCol w="1961450"/>
                <a:gridCol w="2207200"/>
                <a:gridCol w="3150625"/>
              </a:tblGrid>
              <a:tr h="298900">
                <a:tc>
                  <a:txBody>
                    <a:bodyPr/>
                    <a:lstStyle/>
                    <a:p>
                      <a:pPr indent="0" lvl="0" marL="0" rtl="0" algn="l">
                        <a:spcBef>
                          <a:spcPts val="0"/>
                        </a:spcBef>
                        <a:spcAft>
                          <a:spcPts val="0"/>
                        </a:spcAft>
                        <a:buNone/>
                      </a:pPr>
                      <a:r>
                        <a:rPr b="1" lang="en-GB" sz="1000">
                          <a:solidFill>
                            <a:srgbClr val="FFFFFF"/>
                          </a:solidFill>
                          <a:latin typeface="Encode Sans"/>
                          <a:ea typeface="Encode Sans"/>
                          <a:cs typeface="Encode Sans"/>
                          <a:sym typeface="Encode Sans"/>
                        </a:rPr>
                        <a:t>Framework</a:t>
                      </a:r>
                      <a:endParaRPr sz="10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1000">
                          <a:solidFill>
                            <a:srgbClr val="FFFFFF"/>
                          </a:solidFill>
                          <a:latin typeface="Encode Sans"/>
                          <a:ea typeface="Encode Sans"/>
                          <a:cs typeface="Encode Sans"/>
                          <a:sym typeface="Encode Sans"/>
                        </a:rPr>
                        <a:t>Positioning</a:t>
                      </a:r>
                      <a:endParaRPr sz="10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1000">
                          <a:solidFill>
                            <a:srgbClr val="FFFFFF"/>
                          </a:solidFill>
                          <a:latin typeface="Encode Sans"/>
                          <a:ea typeface="Encode Sans"/>
                          <a:cs typeface="Encode Sans"/>
                          <a:sym typeface="Encode Sans"/>
                        </a:rPr>
                        <a:t>Best Used For</a:t>
                      </a:r>
                      <a:endParaRPr sz="10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1000">
                          <a:solidFill>
                            <a:srgbClr val="FFFFFF"/>
                          </a:solidFill>
                          <a:latin typeface="Encode Sans"/>
                          <a:ea typeface="Encode Sans"/>
                          <a:cs typeface="Encode Sans"/>
                          <a:sym typeface="Encode Sans"/>
                        </a:rPr>
                        <a:t>Real Task Example</a:t>
                      </a:r>
                      <a:endParaRPr sz="10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r>
              <a:tr h="731475">
                <a:tc>
                  <a:txBody>
                    <a:bodyPr/>
                    <a:lstStyle/>
                    <a:p>
                      <a:pPr indent="0" lvl="0" marL="0" rtl="0" algn="l">
                        <a:spcBef>
                          <a:spcPts val="0"/>
                        </a:spcBef>
                        <a:spcAft>
                          <a:spcPts val="0"/>
                        </a:spcAft>
                        <a:buNone/>
                      </a:pPr>
                      <a:r>
                        <a:rPr b="1" lang="en-GB" sz="1000">
                          <a:solidFill>
                            <a:srgbClr val="1F1F1F"/>
                          </a:solidFill>
                          <a:latin typeface="Encode Sans"/>
                          <a:ea typeface="Encode Sans"/>
                          <a:cs typeface="Encode Sans"/>
                          <a:sym typeface="Encode Sans"/>
                        </a:rPr>
                        <a:t>AutoGen</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Multi-Agent Conversation Framework</a:t>
                      </a:r>
                      <a:endParaRPr sz="1000">
                        <a:solidFill>
                          <a:srgbClr val="1F1F1F"/>
                        </a:solidFill>
                        <a:latin typeface="Encode Sans"/>
                        <a:ea typeface="Encode Sans"/>
                        <a:cs typeface="Encode Sans"/>
                        <a:sym typeface="Encode Sans"/>
                      </a:endParaRPr>
                    </a:p>
                    <a:p>
                      <a:pPr indent="0" lvl="0" marL="0" rtl="0" algn="l">
                        <a:spcBef>
                          <a:spcPts val="0"/>
                        </a:spcBef>
                        <a:spcAft>
                          <a:spcPts val="0"/>
                        </a:spcAft>
                        <a:buNone/>
                      </a:pPr>
                      <a:r>
                        <a:rPr i="1" lang="en-GB" sz="1000">
                          <a:solidFill>
                            <a:srgbClr val="1F1F1F"/>
                          </a:solidFill>
                          <a:latin typeface="Encode Sans"/>
                          <a:ea typeface="Encode Sans"/>
                          <a:cs typeface="Encode Sans"/>
                          <a:sym typeface="Encode Sans"/>
                        </a:rPr>
                        <a:t>(Message-passing system)</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Chat-based, interactive multi-agent dialogue.</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A coder AI writing a script and a reviewer AI testing it, passing fixes back and forth.</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731475">
                <a:tc>
                  <a:txBody>
                    <a:bodyPr/>
                    <a:lstStyle/>
                    <a:p>
                      <a:pPr indent="0" lvl="0" marL="0" rtl="0" algn="l">
                        <a:spcBef>
                          <a:spcPts val="0"/>
                        </a:spcBef>
                        <a:spcAft>
                          <a:spcPts val="0"/>
                        </a:spcAft>
                        <a:buNone/>
                      </a:pPr>
                      <a:r>
                        <a:rPr b="1" lang="en-GB" sz="1000">
                          <a:solidFill>
                            <a:srgbClr val="1F1F1F"/>
                          </a:solidFill>
                          <a:latin typeface="Encode Sans"/>
                          <a:ea typeface="Encode Sans"/>
                          <a:cs typeface="Encode Sans"/>
                          <a:sym typeface="Encode Sans"/>
                        </a:rPr>
                        <a:t>n</a:t>
                      </a:r>
                      <a:r>
                        <a:rPr b="1" lang="en-GB" sz="1000">
                          <a:solidFill>
                            <a:srgbClr val="1F1F1F"/>
                          </a:solidFill>
                          <a:latin typeface="Encode Sans"/>
                          <a:ea typeface="Encode Sans"/>
                          <a:cs typeface="Encode Sans"/>
                          <a:sym typeface="Encode Sans"/>
                        </a:rPr>
                        <a:t>8</a:t>
                      </a:r>
                      <a:r>
                        <a:rPr b="1" lang="en-GB" sz="1000">
                          <a:solidFill>
                            <a:srgbClr val="1F1F1F"/>
                          </a:solidFill>
                          <a:latin typeface="Encode Sans"/>
                          <a:ea typeface="Encode Sans"/>
                          <a:cs typeface="Encode Sans"/>
                          <a:sym typeface="Encode Sans"/>
                        </a:rPr>
                        <a:t>n</a:t>
                      </a:r>
                      <a:br>
                        <a:rPr b="1" lang="en-GB" sz="1000">
                          <a:solidFill>
                            <a:srgbClr val="1F1F1F"/>
                          </a:solidFill>
                          <a:latin typeface="Encode Sans"/>
                          <a:ea typeface="Encode Sans"/>
                          <a:cs typeface="Encode Sans"/>
                          <a:sym typeface="Encode Sans"/>
                        </a:rPr>
                      </a:br>
                      <a:r>
                        <a:rPr i="1" lang="en-GB" sz="1000">
                          <a:solidFill>
                            <a:srgbClr val="1F1F1F"/>
                          </a:solidFill>
                          <a:latin typeface="Encode Sans"/>
                          <a:ea typeface="Encode Sans"/>
                          <a:cs typeface="Encode Sans"/>
                          <a:sym typeface="Encode Sans"/>
                        </a:rPr>
                        <a:t>(Platform)</a:t>
                      </a:r>
                      <a:endParaRPr i="1"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Universal Workflow Automation</a:t>
                      </a:r>
                      <a:endParaRPr sz="1000">
                        <a:solidFill>
                          <a:srgbClr val="1F1F1F"/>
                        </a:solidFill>
                        <a:latin typeface="Encode Sans"/>
                        <a:ea typeface="Encode Sans"/>
                        <a:cs typeface="Encode Sans"/>
                        <a:sym typeface="Encode Sans"/>
                      </a:endParaRPr>
                    </a:p>
                    <a:p>
                      <a:pPr indent="0" lvl="0" marL="0" rtl="0" algn="l">
                        <a:spcBef>
                          <a:spcPts val="0"/>
                        </a:spcBef>
                        <a:spcAft>
                          <a:spcPts val="0"/>
                        </a:spcAft>
                        <a:buNone/>
                      </a:pPr>
                      <a:r>
                        <a:rPr i="1" lang="en-GB" sz="1000">
                          <a:solidFill>
                            <a:srgbClr val="1F1F1F"/>
                          </a:solidFill>
                          <a:latin typeface="Encode Sans"/>
                          <a:ea typeface="Encode Sans"/>
                          <a:cs typeface="Encode Sans"/>
                          <a:sym typeface="Encode Sans"/>
                        </a:rPr>
                        <a:t>(Includes AI nodes)</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Connecting traditional apps (Slack, Gmail) with AI.</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Capturing a lead form, using AI to score it, and alerting Slack.</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731475">
                <a:tc>
                  <a:txBody>
                    <a:bodyPr/>
                    <a:lstStyle/>
                    <a:p>
                      <a:pPr indent="0" lvl="0" marL="0" rtl="0" algn="l">
                        <a:spcBef>
                          <a:spcPts val="0"/>
                        </a:spcBef>
                        <a:spcAft>
                          <a:spcPts val="0"/>
                        </a:spcAft>
                        <a:buNone/>
                      </a:pPr>
                      <a:r>
                        <a:rPr b="1" lang="en-GB" sz="1000">
                          <a:solidFill>
                            <a:srgbClr val="1F1F1F"/>
                          </a:solidFill>
                          <a:latin typeface="Encode Sans"/>
                          <a:ea typeface="Encode Sans"/>
                          <a:cs typeface="Encode Sans"/>
                          <a:sym typeface="Encode Sans"/>
                        </a:rPr>
                        <a:t>Dify</a:t>
                      </a:r>
                      <a:br>
                        <a:rPr b="1" lang="en-GB" sz="1000">
                          <a:solidFill>
                            <a:srgbClr val="1F1F1F"/>
                          </a:solidFill>
                          <a:latin typeface="Encode Sans"/>
                          <a:ea typeface="Encode Sans"/>
                          <a:cs typeface="Encode Sans"/>
                          <a:sym typeface="Encode Sans"/>
                        </a:rPr>
                      </a:br>
                      <a:r>
                        <a:rPr i="1" lang="en-GB" sz="1000">
                          <a:solidFill>
                            <a:srgbClr val="1F1F1F"/>
                          </a:solidFill>
                          <a:latin typeface="Encode Sans"/>
                          <a:ea typeface="Encode Sans"/>
                          <a:cs typeface="Encode Sans"/>
                          <a:sym typeface="Encode Sans"/>
                        </a:rPr>
                        <a:t>(Platform)</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Visual Low-Code</a:t>
                      </a:r>
                      <a:endParaRPr sz="1000">
                        <a:solidFill>
                          <a:srgbClr val="1F1F1F"/>
                        </a:solidFill>
                        <a:latin typeface="Encode Sans"/>
                        <a:ea typeface="Encode Sans"/>
                        <a:cs typeface="Encode Sans"/>
                        <a:sym typeface="Encode Sans"/>
                      </a:endParaRPr>
                    </a:p>
                    <a:p>
                      <a:pPr indent="0" lvl="0" marL="0" rtl="0" algn="l">
                        <a:spcBef>
                          <a:spcPts val="0"/>
                        </a:spcBef>
                        <a:spcAft>
                          <a:spcPts val="0"/>
                        </a:spcAft>
                        <a:buNone/>
                      </a:pPr>
                      <a:r>
                        <a:rPr i="1" lang="en-GB" sz="1000">
                          <a:solidFill>
                            <a:srgbClr val="1F1F1F"/>
                          </a:solidFill>
                          <a:latin typeface="Encode Sans"/>
                          <a:ea typeface="Encode Sans"/>
                          <a:cs typeface="Encode Sans"/>
                          <a:sym typeface="Encode Sans"/>
                        </a:rPr>
                        <a:t>(Full-stack AI platform)</a:t>
                      </a:r>
                      <a:endParaRPr i="1"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Zero-code visual app building and rapid deployment.</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rgbClr val="1F1F1F"/>
                          </a:solidFill>
                          <a:latin typeface="Encode Sans"/>
                          <a:ea typeface="Encode Sans"/>
                          <a:cs typeface="Encode Sans"/>
                          <a:sym typeface="Encode Sans"/>
                        </a:rPr>
                        <a:t>Building a customer helpdesk chatbot connected to a wiki in 10 minutes.</a:t>
                      </a:r>
                      <a:endParaRPr sz="100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bl>
          </a:graphicData>
        </a:graphic>
      </p:graphicFrame>
      <p:sp>
        <p:nvSpPr>
          <p:cNvPr id="185" name="Google Shape;185;p25"/>
          <p:cNvSpPr txBox="1"/>
          <p:nvPr>
            <p:ph idx="1" type="body"/>
          </p:nvPr>
        </p:nvSpPr>
        <p:spPr>
          <a:xfrm>
            <a:off x="311700" y="847704"/>
            <a:ext cx="8520600" cy="340200"/>
          </a:xfrm>
          <a:prstGeom prst="rect">
            <a:avLst/>
          </a:prstGeom>
        </p:spPr>
        <p:txBody>
          <a:bodyPr anchorCtr="0" anchor="t" bIns="91425" lIns="91425" spcFirstLastPara="1" rIns="91425" wrap="square" tIns="91425">
            <a:noAutofit/>
          </a:bodyPr>
          <a:lstStyle/>
          <a:p>
            <a:pPr indent="0" lvl="0" marL="0" marR="0" rtl="0" algn="just">
              <a:lnSpc>
                <a:spcPct val="130000"/>
              </a:lnSpc>
              <a:spcBef>
                <a:spcPts val="1000"/>
              </a:spcBef>
              <a:spcAft>
                <a:spcPts val="0"/>
              </a:spcAft>
              <a:buNone/>
            </a:pPr>
            <a:r>
              <a:rPr lang="en-GB" sz="1100">
                <a:solidFill>
                  <a:srgbClr val="434343"/>
                </a:solidFill>
                <a:latin typeface="Encode Sans"/>
                <a:ea typeface="Encode Sans"/>
                <a:cs typeface="Encode Sans"/>
                <a:sym typeface="Encode Sans"/>
              </a:rPr>
              <a:t>Here is a brief comparison of the industry standards:</a:t>
            </a:r>
            <a:endParaRPr sz="1100">
              <a:solidFill>
                <a:srgbClr val="434343"/>
              </a:solidFill>
              <a:latin typeface="Encode Sans"/>
              <a:ea typeface="Encode Sans"/>
              <a:cs typeface="Encode Sans"/>
              <a:sym typeface="Encode Sans"/>
            </a:endParaRPr>
          </a:p>
        </p:txBody>
      </p:sp>
      <p:sp>
        <p:nvSpPr>
          <p:cNvPr id="186" name="Google Shape;186;p25"/>
          <p:cNvSpPr txBox="1"/>
          <p:nvPr>
            <p:ph idx="1" type="body"/>
          </p:nvPr>
        </p:nvSpPr>
        <p:spPr>
          <a:xfrm>
            <a:off x="311700" y="3956329"/>
            <a:ext cx="8520600" cy="920700"/>
          </a:xfrm>
          <a:prstGeom prst="rect">
            <a:avLst/>
          </a:prstGeom>
        </p:spPr>
        <p:txBody>
          <a:bodyPr anchorCtr="0" anchor="t" bIns="91425" lIns="91425" spcFirstLastPara="1" rIns="91425" wrap="square" tIns="91425">
            <a:noAutofit/>
          </a:bodyPr>
          <a:lstStyle/>
          <a:p>
            <a:pPr indent="0" lvl="0" marL="0" marR="0" rtl="0" algn="just">
              <a:lnSpc>
                <a:spcPct val="130000"/>
              </a:lnSpc>
              <a:spcBef>
                <a:spcPts val="1000"/>
              </a:spcBef>
              <a:spcAft>
                <a:spcPts val="0"/>
              </a:spcAft>
              <a:buNone/>
            </a:pPr>
            <a:r>
              <a:rPr b="1" lang="en-GB" sz="1100">
                <a:solidFill>
                  <a:srgbClr val="434343"/>
                </a:solidFill>
                <a:latin typeface="Encode Sans"/>
                <a:ea typeface="Encode Sans"/>
                <a:cs typeface="Encode Sans"/>
                <a:sym typeface="Encode Sans"/>
              </a:rPr>
              <a:t>Note: </a:t>
            </a:r>
            <a:endParaRPr b="1" sz="1100">
              <a:solidFill>
                <a:srgbClr val="434343"/>
              </a:solidFill>
              <a:latin typeface="Encode Sans"/>
              <a:ea typeface="Encode Sans"/>
              <a:cs typeface="Encode Sans"/>
              <a:sym typeface="Encode Sans"/>
            </a:endParaRPr>
          </a:p>
          <a:p>
            <a:pPr indent="-298450" lvl="0" marL="457200" marR="0" rtl="0" algn="just">
              <a:lnSpc>
                <a:spcPct val="130000"/>
              </a:lnSpc>
              <a:spcBef>
                <a:spcPts val="0"/>
              </a:spcBef>
              <a:spcAft>
                <a:spcPts val="0"/>
              </a:spcAft>
              <a:buClr>
                <a:srgbClr val="CE6948"/>
              </a:buClr>
              <a:buSzPts val="1100"/>
              <a:buFont typeface="Encode Sans"/>
              <a:buChar char="●"/>
            </a:pPr>
            <a:r>
              <a:rPr b="1" lang="en-GB" sz="1100">
                <a:solidFill>
                  <a:srgbClr val="434343"/>
                </a:solidFill>
                <a:latin typeface="Encode Sans"/>
                <a:ea typeface="Encode Sans"/>
                <a:cs typeface="Encode Sans"/>
                <a:sym typeface="Encode Sans"/>
              </a:rPr>
              <a:t>With Coding Experience	</a:t>
            </a:r>
            <a:r>
              <a:rPr lang="en-GB" sz="1100">
                <a:solidFill>
                  <a:srgbClr val="434343"/>
                </a:solidFill>
                <a:latin typeface="Encode Sans"/>
                <a:ea typeface="Encode Sans"/>
                <a:cs typeface="Encode Sans"/>
                <a:sym typeface="Encode Sans"/>
              </a:rPr>
              <a:t>: LangChain, LangGraph, LlamaIndex, CrewAI, </a:t>
            </a:r>
            <a:r>
              <a:rPr lang="en-GB" sz="1100">
                <a:solidFill>
                  <a:srgbClr val="434343"/>
                </a:solidFill>
                <a:latin typeface="Encode Sans"/>
                <a:ea typeface="Encode Sans"/>
                <a:cs typeface="Encode Sans"/>
                <a:sym typeface="Encode Sans"/>
              </a:rPr>
              <a:t>AutoGen</a:t>
            </a:r>
            <a:endParaRPr sz="1100">
              <a:solidFill>
                <a:srgbClr val="434343"/>
              </a:solidFill>
              <a:latin typeface="Encode Sans"/>
              <a:ea typeface="Encode Sans"/>
              <a:cs typeface="Encode Sans"/>
              <a:sym typeface="Encode Sans"/>
            </a:endParaRPr>
          </a:p>
          <a:p>
            <a:pPr indent="-298450" lvl="0" marL="457200" marR="0" rtl="0" algn="just">
              <a:lnSpc>
                <a:spcPct val="130000"/>
              </a:lnSpc>
              <a:spcBef>
                <a:spcPts val="0"/>
              </a:spcBef>
              <a:spcAft>
                <a:spcPts val="0"/>
              </a:spcAft>
              <a:buClr>
                <a:srgbClr val="CE6948"/>
              </a:buClr>
              <a:buSzPts val="1100"/>
              <a:buFont typeface="Encode Sans"/>
              <a:buChar char="●"/>
            </a:pPr>
            <a:r>
              <a:rPr b="1" lang="en-GB" sz="1100">
                <a:solidFill>
                  <a:srgbClr val="434343"/>
                </a:solidFill>
                <a:latin typeface="Encode Sans"/>
                <a:ea typeface="Encode Sans"/>
                <a:cs typeface="Encode Sans"/>
                <a:sym typeface="Encode Sans"/>
              </a:rPr>
              <a:t>Non-Technical Background	</a:t>
            </a:r>
            <a:r>
              <a:rPr lang="en-GB" sz="1100">
                <a:solidFill>
                  <a:srgbClr val="434343"/>
                </a:solidFill>
                <a:latin typeface="Encode Sans"/>
                <a:ea typeface="Encode Sans"/>
                <a:cs typeface="Encode Sans"/>
                <a:sym typeface="Encode Sans"/>
              </a:rPr>
              <a:t>: Dify / n8n</a:t>
            </a:r>
            <a:endParaRPr sz="1100">
              <a:solidFill>
                <a:srgbClr val="434343"/>
              </a:solidFill>
              <a:latin typeface="Encode Sans"/>
              <a:ea typeface="Encode Sans"/>
              <a:cs typeface="Encode Sans"/>
              <a:sym typeface="Encode Sans"/>
            </a:endParaRPr>
          </a:p>
        </p:txBody>
      </p:sp>
      <p:sp>
        <p:nvSpPr>
          <p:cNvPr id="187" name="Google Shape;18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6"/>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AI Workflows In Short</a:t>
            </a:r>
            <a:endParaRPr>
              <a:solidFill>
                <a:srgbClr val="CE6948"/>
              </a:solidFill>
            </a:endParaRPr>
          </a:p>
        </p:txBody>
      </p:sp>
      <p:sp>
        <p:nvSpPr>
          <p:cNvPr id="193" name="Google Shape;193;p26"/>
          <p:cNvSpPr txBox="1"/>
          <p:nvPr>
            <p:ph idx="1" type="body"/>
          </p:nvPr>
        </p:nvSpPr>
        <p:spPr>
          <a:xfrm>
            <a:off x="311700" y="1069550"/>
            <a:ext cx="8520600" cy="34164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CE6948"/>
                </a:solidFill>
                <a:latin typeface="Encode Sans"/>
                <a:ea typeface="Encode Sans"/>
                <a:cs typeface="Encode Sans"/>
                <a:sym typeface="Encode Sans"/>
              </a:rPr>
              <a:t>AI </a:t>
            </a:r>
            <a:r>
              <a:rPr b="1" lang="en-GB">
                <a:solidFill>
                  <a:srgbClr val="CE6948"/>
                </a:solidFill>
                <a:latin typeface="Encode Sans"/>
                <a:ea typeface="Encode Sans"/>
                <a:cs typeface="Encode Sans"/>
                <a:sym typeface="Encode Sans"/>
              </a:rPr>
              <a:t>Workflows</a:t>
            </a:r>
            <a:r>
              <a:rPr b="1" lang="en-GB">
                <a:solidFill>
                  <a:srgbClr val="434343"/>
                </a:solidFill>
                <a:latin typeface="Encode Sans"/>
                <a:ea typeface="Encode Sans"/>
                <a:cs typeface="Encode Sans"/>
                <a:sym typeface="Encode Sans"/>
              </a:rPr>
              <a:t>: </a:t>
            </a:r>
            <a:r>
              <a:rPr lang="en-GB">
                <a:solidFill>
                  <a:srgbClr val="434343"/>
                </a:solidFill>
                <a:latin typeface="Encode Sans"/>
                <a:ea typeface="Encode Sans"/>
                <a:cs typeface="Encode Sans"/>
                <a:sym typeface="Encode Sans"/>
              </a:rPr>
              <a:t>Combining multiple LLM calls, tools, and data-processing into an automated pipeline rather than </a:t>
            </a:r>
            <a:r>
              <a:rPr lang="en-GB">
                <a:solidFill>
                  <a:srgbClr val="434343"/>
                </a:solidFill>
                <a:latin typeface="Encode Sans"/>
                <a:ea typeface="Encode Sans"/>
                <a:cs typeface="Encode Sans"/>
                <a:sym typeface="Encode Sans"/>
              </a:rPr>
              <a:t>single prompt</a:t>
            </a:r>
            <a:r>
              <a:rPr lang="en-GB">
                <a:solidFill>
                  <a:srgbClr val="434343"/>
                </a:solidFill>
                <a:latin typeface="Encode Sans"/>
                <a:ea typeface="Encode Sans"/>
                <a:cs typeface="Encode Sans"/>
                <a:sym typeface="Encode Sans"/>
              </a:rPr>
              <a:t>.</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CE6948"/>
                </a:solidFill>
                <a:latin typeface="Encode Sans"/>
                <a:ea typeface="Encode Sans"/>
                <a:cs typeface="Encode Sans"/>
                <a:sym typeface="Encode Sans"/>
              </a:rPr>
              <a:t>Problem</a:t>
            </a:r>
            <a:r>
              <a:rPr lang="en-GB">
                <a:solidFill>
                  <a:srgbClr val="434343"/>
                </a:solidFill>
                <a:latin typeface="Encode Sans"/>
                <a:ea typeface="Encode Sans"/>
                <a:cs typeface="Encode Sans"/>
                <a:sym typeface="Encode Sans"/>
              </a:rPr>
              <a:t>: Single prompts hit context limits, hallucinate, and lack memory/structure for complex tasks.</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CE6948"/>
                </a:solidFill>
                <a:latin typeface="Encode Sans"/>
                <a:ea typeface="Encode Sans"/>
                <a:cs typeface="Encode Sans"/>
                <a:sym typeface="Encode Sans"/>
              </a:rPr>
              <a:t>Solution</a:t>
            </a:r>
            <a:r>
              <a:rPr lang="en-GB">
                <a:solidFill>
                  <a:srgbClr val="434343"/>
                </a:solidFill>
                <a:latin typeface="Encode Sans"/>
                <a:ea typeface="Encode Sans"/>
                <a:cs typeface="Encode Sans"/>
                <a:sym typeface="Encode Sans"/>
              </a:rPr>
              <a:t>: Workflow engineering breaks big tasks down into structured, reliable steps.</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CE6948"/>
                </a:solidFill>
                <a:latin typeface="Encode Sans"/>
                <a:ea typeface="Encode Sans"/>
                <a:cs typeface="Encode Sans"/>
                <a:sym typeface="Encode Sans"/>
              </a:rPr>
              <a:t>The 4 Levels of AI</a:t>
            </a:r>
            <a:r>
              <a:rPr b="1" lang="en-GB">
                <a:solidFill>
                  <a:srgbClr val="434343"/>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Capability</a:t>
            </a:r>
            <a:endParaRPr>
              <a:solidFill>
                <a:srgbClr val="434343"/>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Level 1 (Q&amp;A)		</a:t>
            </a:r>
            <a:r>
              <a:rPr lang="en-GB">
                <a:solidFill>
                  <a:srgbClr val="434343"/>
                </a:solidFill>
                <a:latin typeface="Encode Sans"/>
                <a:ea typeface="Encode Sans"/>
                <a:cs typeface="Encode Sans"/>
                <a:sym typeface="Encode Sans"/>
              </a:rPr>
              <a:t>: Simple one-off prompt response.</a:t>
            </a:r>
            <a:endParaRPr>
              <a:solidFill>
                <a:srgbClr val="434343"/>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Level 2 (Chaining)	</a:t>
            </a:r>
            <a:r>
              <a:rPr lang="en-GB">
                <a:solidFill>
                  <a:srgbClr val="434343"/>
                </a:solidFill>
                <a:latin typeface="Encode Sans"/>
                <a:ea typeface="Encode Sans"/>
                <a:cs typeface="Encode Sans"/>
                <a:sym typeface="Encode Sans"/>
              </a:rPr>
              <a:t>: Fixed sequential pipeline (Step A → B → C).</a:t>
            </a:r>
            <a:endParaRPr>
              <a:solidFill>
                <a:srgbClr val="434343"/>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Level 3 (Agents)	</a:t>
            </a:r>
            <a:r>
              <a:rPr lang="en-GB">
                <a:solidFill>
                  <a:srgbClr val="434343"/>
                </a:solidFill>
                <a:latin typeface="Encode Sans"/>
                <a:ea typeface="Encode Sans"/>
                <a:cs typeface="Encode Sans"/>
                <a:sym typeface="Encode Sans"/>
              </a:rPr>
              <a:t>: Dynamic loops with error correction and tool use.</a:t>
            </a:r>
            <a:endParaRPr>
              <a:solidFill>
                <a:srgbClr val="434343"/>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Level 4 (AI System)	</a:t>
            </a:r>
            <a:r>
              <a:rPr lang="en-GB">
                <a:solidFill>
                  <a:srgbClr val="434343"/>
                </a:solidFill>
                <a:latin typeface="Encode Sans"/>
                <a:ea typeface="Encode Sans"/>
                <a:cs typeface="Encode Sans"/>
                <a:sym typeface="Encode Sans"/>
              </a:rPr>
              <a:t>: Integrated platforms with multi-agent orchestration.</a:t>
            </a:r>
            <a:endParaRPr>
              <a:solidFill>
                <a:srgbClr val="434343"/>
              </a:solidFill>
              <a:latin typeface="Encode Sans"/>
              <a:ea typeface="Encode Sans"/>
              <a:cs typeface="Encode Sans"/>
              <a:sym typeface="Encode Sans"/>
            </a:endParaRPr>
          </a:p>
        </p:txBody>
      </p:sp>
      <p:sp>
        <p:nvSpPr>
          <p:cNvPr id="194" name="Google Shape;194;p26"/>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sp>
        <p:nvSpPr>
          <p:cNvPr id="195" name="Google Shape;19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AI </a:t>
            </a:r>
            <a:r>
              <a:rPr lang="en-GB">
                <a:solidFill>
                  <a:srgbClr val="CE6948"/>
                </a:solidFill>
              </a:rPr>
              <a:t>Workflows In Short (conts)</a:t>
            </a:r>
            <a:endParaRPr>
              <a:solidFill>
                <a:srgbClr val="CE6948"/>
              </a:solidFill>
            </a:endParaRPr>
          </a:p>
        </p:txBody>
      </p:sp>
      <p:sp>
        <p:nvSpPr>
          <p:cNvPr id="201" name="Google Shape;201;p27"/>
          <p:cNvSpPr txBox="1"/>
          <p:nvPr>
            <p:ph idx="1" type="body"/>
          </p:nvPr>
        </p:nvSpPr>
        <p:spPr>
          <a:xfrm>
            <a:off x="311700" y="1069550"/>
            <a:ext cx="8520600" cy="34164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CE6948"/>
                </a:solidFill>
                <a:latin typeface="Encode Sans"/>
                <a:ea typeface="Encode Sans"/>
                <a:cs typeface="Encode Sans"/>
                <a:sym typeface="Encode Sans"/>
              </a:rPr>
              <a:t>Core</a:t>
            </a:r>
            <a:r>
              <a:rPr b="1" lang="en-GB">
                <a:solidFill>
                  <a:srgbClr val="434343"/>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Components</a:t>
            </a:r>
            <a:endParaRPr>
              <a:solidFill>
                <a:schemeClr val="dk1"/>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LLM	</a:t>
            </a:r>
            <a:r>
              <a:rPr lang="en-GB">
                <a:solidFill>
                  <a:srgbClr val="434343"/>
                </a:solidFill>
                <a:latin typeface="Encode Sans"/>
                <a:ea typeface="Encode Sans"/>
                <a:cs typeface="Encode Sans"/>
                <a:sym typeface="Encode Sans"/>
              </a:rPr>
              <a:t>		: Brain for reasoning, text generation, and planning.</a:t>
            </a:r>
            <a:endParaRPr>
              <a:solidFill>
                <a:srgbClr val="434343"/>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Tools</a:t>
            </a:r>
            <a:r>
              <a:rPr lang="en-GB">
                <a:solidFill>
                  <a:srgbClr val="434343"/>
                </a:solidFill>
                <a:latin typeface="Encode Sans"/>
                <a:ea typeface="Encode Sans"/>
                <a:cs typeface="Encode Sans"/>
                <a:sym typeface="Encode Sans"/>
              </a:rPr>
              <a:t>			: External integrations (search, databases, APIs).</a:t>
            </a:r>
            <a:endParaRPr>
              <a:solidFill>
                <a:srgbClr val="434343"/>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Memory &amp; State</a:t>
            </a:r>
            <a:r>
              <a:rPr lang="en-GB">
                <a:solidFill>
                  <a:srgbClr val="434343"/>
                </a:solidFill>
                <a:latin typeface="Encode Sans"/>
                <a:ea typeface="Encode Sans"/>
                <a:cs typeface="Encode Sans"/>
                <a:sym typeface="Encode Sans"/>
              </a:rPr>
              <a:t>	: Retention across sessions and passing context as a relay baton.</a:t>
            </a:r>
            <a:endParaRPr>
              <a:solidFill>
                <a:srgbClr val="434343"/>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Router &amp; HITL</a:t>
            </a:r>
            <a:r>
              <a:rPr lang="en-GB">
                <a:solidFill>
                  <a:srgbClr val="434343"/>
                </a:solidFill>
                <a:latin typeface="Encode Sans"/>
                <a:ea typeface="Encode Sans"/>
                <a:cs typeface="Encode Sans"/>
                <a:sym typeface="Encode Sans"/>
              </a:rPr>
              <a:t>		: Controls branching/loops and enforces human approval gates.</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600"/>
              </a:spcBef>
              <a:spcAft>
                <a:spcPts val="0"/>
              </a:spcAft>
              <a:buClr>
                <a:srgbClr val="CE6948"/>
              </a:buClr>
              <a:buSzPts val="1300"/>
              <a:buFont typeface="Encode Sans"/>
              <a:buChar char="●"/>
            </a:pPr>
            <a:r>
              <a:rPr b="1" lang="en-GB">
                <a:solidFill>
                  <a:srgbClr val="CE6948"/>
                </a:solidFill>
                <a:latin typeface="Encode Sans"/>
                <a:ea typeface="Encode Sans"/>
                <a:cs typeface="Encode Sans"/>
                <a:sym typeface="Encode Sans"/>
              </a:rPr>
              <a:t>Top</a:t>
            </a:r>
            <a:r>
              <a:rPr b="1" lang="en-GB">
                <a:solidFill>
                  <a:srgbClr val="434343"/>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Frameworks</a:t>
            </a:r>
            <a:r>
              <a:rPr b="1" lang="en-GB">
                <a:solidFill>
                  <a:srgbClr val="434343"/>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Quick</a:t>
            </a:r>
            <a:r>
              <a:rPr b="1" lang="en-GB">
                <a:solidFill>
                  <a:srgbClr val="434343"/>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List</a:t>
            </a:r>
            <a:endParaRPr>
              <a:solidFill>
                <a:schemeClr val="dk1"/>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LlamaIndex</a:t>
            </a:r>
            <a:r>
              <a:rPr lang="en-GB">
                <a:solidFill>
                  <a:srgbClr val="434343"/>
                </a:solidFill>
                <a:latin typeface="Encode Sans"/>
                <a:ea typeface="Encode Sans"/>
                <a:cs typeface="Encode Sans"/>
                <a:sym typeface="Encode Sans"/>
              </a:rPr>
              <a:t>	: Specialized data processing &amp; RAG pipelines.</a:t>
            </a:r>
            <a:endParaRPr>
              <a:solidFill>
                <a:srgbClr val="434343"/>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CrewAI</a:t>
            </a:r>
            <a:r>
              <a:rPr lang="en-GB">
                <a:solidFill>
                  <a:srgbClr val="434343"/>
                </a:solidFill>
                <a:latin typeface="Encode Sans"/>
                <a:ea typeface="Encode Sans"/>
                <a:cs typeface="Encode Sans"/>
                <a:sym typeface="Encode Sans"/>
              </a:rPr>
              <a:t>		: Multi-agent role-playing collaboration teams.</a:t>
            </a:r>
            <a:endParaRPr>
              <a:solidFill>
                <a:srgbClr val="434343"/>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LangGraph</a:t>
            </a:r>
            <a:r>
              <a:rPr lang="en-GB">
                <a:solidFill>
                  <a:srgbClr val="434343"/>
                </a:solidFill>
                <a:latin typeface="Encode Sans"/>
                <a:ea typeface="Encode Sans"/>
                <a:cs typeface="Encode Sans"/>
                <a:sym typeface="Encode Sans"/>
              </a:rPr>
              <a:t>	: Stateful graph agents with complex loops and controls.</a:t>
            </a:r>
            <a:endParaRPr>
              <a:solidFill>
                <a:srgbClr val="434343"/>
              </a:solidFill>
              <a:latin typeface="Encode Sans"/>
              <a:ea typeface="Encode Sans"/>
              <a:cs typeface="Encode Sans"/>
              <a:sym typeface="Encode Sans"/>
            </a:endParaRPr>
          </a:p>
          <a:p>
            <a:pPr indent="-225425" lvl="1" marL="5715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LangChain</a:t>
            </a:r>
            <a:r>
              <a:rPr lang="en-GB">
                <a:solidFill>
                  <a:srgbClr val="434343"/>
                </a:solidFill>
                <a:latin typeface="Encode Sans"/>
                <a:ea typeface="Encode Sans"/>
                <a:cs typeface="Encode Sans"/>
                <a:sym typeface="Encode Sans"/>
              </a:rPr>
              <a:t>	: Code-first general-purpose ecosystem.</a:t>
            </a:r>
            <a:endParaRPr b="1">
              <a:solidFill>
                <a:srgbClr val="434343"/>
              </a:solidFill>
              <a:latin typeface="Encode Sans"/>
              <a:ea typeface="Encode Sans"/>
              <a:cs typeface="Encode Sans"/>
              <a:sym typeface="Encode Sans"/>
            </a:endParaRPr>
          </a:p>
        </p:txBody>
      </p:sp>
      <p:sp>
        <p:nvSpPr>
          <p:cNvPr id="202" name="Google Shape;202;p2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AI WORKFLOW</a:t>
            </a:r>
            <a:endParaRPr/>
          </a:p>
          <a:p>
            <a:pPr indent="0" lvl="0" marL="0" rtl="0" algn="l">
              <a:spcBef>
                <a:spcPts val="0"/>
              </a:spcBef>
              <a:spcAft>
                <a:spcPts val="0"/>
              </a:spcAft>
              <a:buNone/>
            </a:pPr>
            <a:r>
              <a:t/>
            </a:r>
            <a:endParaRPr/>
          </a:p>
        </p:txBody>
      </p:sp>
      <p:sp>
        <p:nvSpPr>
          <p:cNvPr id="203" name="Google Shape;20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idx="1" type="body"/>
          </p:nvPr>
        </p:nvSpPr>
        <p:spPr>
          <a:xfrm>
            <a:off x="920500" y="3453036"/>
            <a:ext cx="7551900" cy="130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An overview of LLM Chaining, including how it differs from workflows, why chaining is needed, its benefits, and key patterns such as Sequential Chaining and Conditional Routing.</a:t>
            </a:r>
            <a:endParaRPr/>
          </a:p>
        </p:txBody>
      </p:sp>
      <p:sp>
        <p:nvSpPr>
          <p:cNvPr id="209" name="Google Shape;209;p28"/>
          <p:cNvSpPr txBox="1"/>
          <p:nvPr>
            <p:ph type="title"/>
          </p:nvPr>
        </p:nvSpPr>
        <p:spPr>
          <a:xfrm>
            <a:off x="920500" y="1267200"/>
            <a:ext cx="2516700" cy="1003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02</a:t>
            </a:r>
            <a:endParaRPr/>
          </a:p>
        </p:txBody>
      </p:sp>
      <p:sp>
        <p:nvSpPr>
          <p:cNvPr id="210" name="Google Shape;210;p28"/>
          <p:cNvSpPr/>
          <p:nvPr/>
        </p:nvSpPr>
        <p:spPr>
          <a:xfrm>
            <a:off x="0" y="-47700"/>
            <a:ext cx="137100" cy="5238900"/>
          </a:xfrm>
          <a:prstGeom prst="rect">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211" name="Google Shape;211;p28"/>
          <p:cNvSpPr txBox="1"/>
          <p:nvPr>
            <p:ph idx="2" type="title"/>
          </p:nvPr>
        </p:nvSpPr>
        <p:spPr>
          <a:xfrm>
            <a:off x="920500" y="2437713"/>
            <a:ext cx="7551900" cy="904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Chaining</a:t>
            </a:r>
            <a:endParaRPr/>
          </a:p>
          <a:p>
            <a:pPr indent="0" lvl="0" marL="0" rtl="0" algn="l">
              <a:spcBef>
                <a:spcPts val="0"/>
              </a:spcBef>
              <a:spcAft>
                <a:spcPts val="0"/>
              </a:spcAft>
              <a:buNone/>
            </a:pPr>
            <a:r>
              <a:rPr lang="en-GB"/>
              <a:t>&amp; Execution Patterns</a:t>
            </a:r>
            <a:endParaRPr>
              <a:solidFill>
                <a:srgbClr val="CE694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What is LLM Chaining?</a:t>
            </a:r>
            <a:endParaRPr>
              <a:solidFill>
                <a:srgbClr val="CE6948"/>
              </a:solidFill>
            </a:endParaRPr>
          </a:p>
        </p:txBody>
      </p:sp>
      <p:sp>
        <p:nvSpPr>
          <p:cNvPr id="217" name="Google Shape;217;p29"/>
          <p:cNvSpPr txBox="1"/>
          <p:nvPr>
            <p:ph idx="1" type="body"/>
          </p:nvPr>
        </p:nvSpPr>
        <p:spPr>
          <a:xfrm>
            <a:off x="311700" y="1069550"/>
            <a:ext cx="8520600" cy="3416400"/>
          </a:xfrm>
          <a:prstGeom prst="rect">
            <a:avLst/>
          </a:prstGeom>
        </p:spPr>
        <p:txBody>
          <a:bodyPr anchorCtr="0" anchor="t" bIns="91425" lIns="91425" spcFirstLastPara="1" rIns="91425" wrap="square" tIns="91425">
            <a:noAutofit/>
          </a:bodyPr>
          <a:lstStyle/>
          <a:p>
            <a:pPr indent="0" lvl="0" marL="0" marR="0" rtl="0" algn="just">
              <a:lnSpc>
                <a:spcPct val="130000"/>
              </a:lnSpc>
              <a:spcBef>
                <a:spcPts val="1000"/>
              </a:spcBef>
              <a:spcAft>
                <a:spcPts val="0"/>
              </a:spcAft>
              <a:buNone/>
            </a:pPr>
            <a:r>
              <a:rPr b="1" lang="en-GB">
                <a:solidFill>
                  <a:srgbClr val="CE6948"/>
                </a:solidFill>
                <a:latin typeface="Encode Sans"/>
                <a:ea typeface="Encode Sans"/>
                <a:cs typeface="Encode Sans"/>
                <a:sym typeface="Encode Sans"/>
              </a:rPr>
              <a:t>LLM Chains / Chaining</a:t>
            </a:r>
            <a:r>
              <a:rPr lang="en-GB">
                <a:solidFill>
                  <a:srgbClr val="434343"/>
                </a:solidFill>
                <a:latin typeface="Encode Sans"/>
                <a:ea typeface="Encode Sans"/>
                <a:cs typeface="Encode Sans"/>
                <a:sym typeface="Encode Sans"/>
              </a:rPr>
              <a:t> is a technique in AI for </a:t>
            </a:r>
            <a:r>
              <a:rPr b="1" lang="en-GB">
                <a:solidFill>
                  <a:srgbClr val="434343"/>
                </a:solidFill>
                <a:latin typeface="Encode Sans"/>
                <a:ea typeface="Encode Sans"/>
                <a:cs typeface="Encode Sans"/>
                <a:sym typeface="Encode Sans"/>
              </a:rPr>
              <a:t>connecting multiple LLMs</a:t>
            </a:r>
            <a:r>
              <a:rPr lang="en-GB">
                <a:solidFill>
                  <a:srgbClr val="434343"/>
                </a:solidFill>
                <a:latin typeface="Encode Sans"/>
                <a:ea typeface="Encode Sans"/>
                <a:cs typeface="Encode Sans"/>
                <a:sym typeface="Encode Sans"/>
              </a:rPr>
              <a:t> or their </a:t>
            </a:r>
            <a:r>
              <a:rPr b="1" lang="en-GB">
                <a:solidFill>
                  <a:srgbClr val="434343"/>
                </a:solidFill>
                <a:latin typeface="Encode Sans"/>
                <a:ea typeface="Encode Sans"/>
                <a:cs typeface="Encode Sans"/>
                <a:sym typeface="Encode Sans"/>
              </a:rPr>
              <a:t>outputs </a:t>
            </a:r>
            <a:r>
              <a:rPr lang="en-GB">
                <a:solidFill>
                  <a:srgbClr val="434343"/>
                </a:solidFill>
                <a:latin typeface="Encode Sans"/>
                <a:ea typeface="Encode Sans"/>
                <a:cs typeface="Encode Sans"/>
                <a:sym typeface="Encode Sans"/>
              </a:rPr>
              <a:t>to other applications, tools, and services to get the best responses or to do complex tasks.</a:t>
            </a:r>
            <a:endParaRPr>
              <a:solidFill>
                <a:schemeClr val="dk1"/>
              </a:solidFill>
              <a:latin typeface="Encode Sans"/>
              <a:ea typeface="Encode Sans"/>
              <a:cs typeface="Encode Sans"/>
              <a:sym typeface="Encode Sans"/>
            </a:endParaRPr>
          </a:p>
        </p:txBody>
      </p:sp>
      <p:sp>
        <p:nvSpPr>
          <p:cNvPr id="218" name="Google Shape;218;p29"/>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pic>
        <p:nvPicPr>
          <p:cNvPr id="219" name="Google Shape;219;p29"/>
          <p:cNvPicPr preferRelativeResize="0"/>
          <p:nvPr/>
        </p:nvPicPr>
        <p:blipFill rotWithShape="1">
          <a:blip r:embed="rId3">
            <a:alphaModFix/>
          </a:blip>
          <a:srcRect b="10395" l="0" r="0" t="49001"/>
          <a:stretch/>
        </p:blipFill>
        <p:spPr>
          <a:xfrm>
            <a:off x="1281600" y="2711000"/>
            <a:ext cx="6580801" cy="1774949"/>
          </a:xfrm>
          <a:prstGeom prst="rect">
            <a:avLst/>
          </a:prstGeom>
          <a:noFill/>
          <a:ln>
            <a:noFill/>
          </a:ln>
        </p:spPr>
      </p:pic>
      <p:pic>
        <p:nvPicPr>
          <p:cNvPr id="220" name="Google Shape;220;p29"/>
          <p:cNvPicPr preferRelativeResize="0"/>
          <p:nvPr/>
        </p:nvPicPr>
        <p:blipFill rotWithShape="1">
          <a:blip r:embed="rId3">
            <a:alphaModFix/>
          </a:blip>
          <a:srcRect b="60631" l="35659" r="36818" t="21568"/>
          <a:stretch/>
        </p:blipFill>
        <p:spPr>
          <a:xfrm>
            <a:off x="3806500" y="2053250"/>
            <a:ext cx="1530999" cy="657750"/>
          </a:xfrm>
          <a:prstGeom prst="rect">
            <a:avLst/>
          </a:prstGeom>
          <a:noFill/>
          <a:ln>
            <a:noFill/>
          </a:ln>
        </p:spPr>
      </p:pic>
      <p:sp>
        <p:nvSpPr>
          <p:cNvPr id="221" name="Google Shape;22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LLM Workflow vs. LLM Chains</a:t>
            </a:r>
            <a:endParaRPr>
              <a:solidFill>
                <a:srgbClr val="CE6948"/>
              </a:solidFill>
            </a:endParaRPr>
          </a:p>
        </p:txBody>
      </p:sp>
      <p:sp>
        <p:nvSpPr>
          <p:cNvPr id="227" name="Google Shape;227;p3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graphicFrame>
        <p:nvGraphicFramePr>
          <p:cNvPr id="228" name="Google Shape;228;p30"/>
          <p:cNvGraphicFramePr/>
          <p:nvPr/>
        </p:nvGraphicFramePr>
        <p:xfrm>
          <a:off x="397600" y="1051999"/>
          <a:ext cx="3000000" cy="3000000"/>
        </p:xfrm>
        <a:graphic>
          <a:graphicData uri="http://schemas.openxmlformats.org/drawingml/2006/table">
            <a:tbl>
              <a:tblPr>
                <a:noFill/>
                <a:tableStyleId>{72E992ED-6B25-4E48-9C0A-EFB178C94E49}</a:tableStyleId>
              </a:tblPr>
              <a:tblGrid>
                <a:gridCol w="2432625"/>
                <a:gridCol w="3244900"/>
                <a:gridCol w="2426375"/>
              </a:tblGrid>
              <a:tr h="357775">
                <a:tc>
                  <a:txBody>
                    <a:bodyPr/>
                    <a:lstStyle/>
                    <a:p>
                      <a:pPr indent="0" lvl="0" marL="0" rtl="0" algn="l">
                        <a:spcBef>
                          <a:spcPts val="0"/>
                        </a:spcBef>
                        <a:spcAft>
                          <a:spcPts val="0"/>
                        </a:spcAft>
                        <a:buNone/>
                      </a:pPr>
                      <a:r>
                        <a:rPr b="1" lang="en-GB" sz="1200">
                          <a:solidFill>
                            <a:srgbClr val="FFFFFF"/>
                          </a:solidFill>
                          <a:latin typeface="Encode Sans"/>
                          <a:ea typeface="Encode Sans"/>
                          <a:cs typeface="Encode Sans"/>
                          <a:sym typeface="Encode Sans"/>
                        </a:rPr>
                        <a:t>Term</a:t>
                      </a:r>
                      <a:endParaRPr sz="12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0575">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1200">
                          <a:solidFill>
                            <a:srgbClr val="FFFFFF"/>
                          </a:solidFill>
                          <a:latin typeface="Encode Sans"/>
                          <a:ea typeface="Encode Sans"/>
                          <a:cs typeface="Encode Sans"/>
                          <a:sym typeface="Encode Sans"/>
                        </a:rPr>
                        <a:t>What it means</a:t>
                      </a:r>
                      <a:endParaRPr sz="12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0575">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1200">
                          <a:solidFill>
                            <a:srgbClr val="FFFFFF"/>
                          </a:solidFill>
                          <a:latin typeface="Encode Sans"/>
                          <a:ea typeface="Encode Sans"/>
                          <a:cs typeface="Encode Sans"/>
                          <a:sym typeface="Encode Sans"/>
                        </a:rPr>
                        <a:t>Is it a full system?</a:t>
                      </a:r>
                      <a:endParaRPr sz="12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0575">
                      <a:solidFill>
                        <a:srgbClr val="C4C7C5"/>
                      </a:solidFill>
                      <a:prstDash val="solid"/>
                      <a:round/>
                      <a:headEnd len="sm" w="sm" type="none"/>
                      <a:tailEnd len="sm" w="sm" type="none"/>
                    </a:lnB>
                    <a:solidFill>
                      <a:srgbClr val="999999"/>
                    </a:solidFill>
                  </a:tcPr>
                </a:tc>
              </a:tr>
              <a:tr h="924975">
                <a:tc>
                  <a:txBody>
                    <a:bodyPr/>
                    <a:lstStyle/>
                    <a:p>
                      <a:pPr indent="0" lvl="0" marL="0" rtl="0" algn="l">
                        <a:spcBef>
                          <a:spcPts val="0"/>
                        </a:spcBef>
                        <a:spcAft>
                          <a:spcPts val="0"/>
                        </a:spcAft>
                        <a:buNone/>
                      </a:pPr>
                      <a:r>
                        <a:rPr b="1" lang="en-GB" sz="1200">
                          <a:solidFill>
                            <a:srgbClr val="434343"/>
                          </a:solidFill>
                          <a:latin typeface="Encode Sans"/>
                          <a:ea typeface="Encode Sans"/>
                          <a:cs typeface="Encode Sans"/>
                          <a:sym typeface="Encode Sans"/>
                        </a:rPr>
                        <a:t>LLM Workflow / </a:t>
                      </a:r>
                      <a:endParaRPr b="1" sz="1200">
                        <a:solidFill>
                          <a:srgbClr val="434343"/>
                        </a:solidFill>
                        <a:latin typeface="Encode Sans"/>
                        <a:ea typeface="Encode Sans"/>
                        <a:cs typeface="Encode Sans"/>
                        <a:sym typeface="Encode Sans"/>
                      </a:endParaRPr>
                    </a:p>
                    <a:p>
                      <a:pPr indent="0" lvl="0" marL="0" rtl="0" algn="l">
                        <a:spcBef>
                          <a:spcPts val="0"/>
                        </a:spcBef>
                        <a:spcAft>
                          <a:spcPts val="0"/>
                        </a:spcAft>
                        <a:buNone/>
                      </a:pPr>
                      <a:r>
                        <a:rPr b="1" lang="en-GB" sz="1200">
                          <a:solidFill>
                            <a:srgbClr val="434343"/>
                          </a:solidFill>
                          <a:latin typeface="Encode Sans"/>
                          <a:ea typeface="Encode Sans"/>
                          <a:cs typeface="Encode Sans"/>
                          <a:sym typeface="Encode Sans"/>
                        </a:rPr>
                        <a:t>Multi-Step LLM Workflow / Chaining Multi-Step Workflow</a:t>
                      </a:r>
                      <a:endParaRPr sz="1200">
                        <a:solidFill>
                          <a:srgbClr val="434343"/>
                        </a:solidFill>
                        <a:latin typeface="Encode Sans"/>
                        <a:ea typeface="Encode Sans"/>
                        <a:cs typeface="Encode Sans"/>
                        <a:sym typeface="Encode Sans"/>
                      </a:endParaRPr>
                    </a:p>
                  </a:txBody>
                  <a:tcPr marT="36000" marB="36000" marR="36000" marL="36000" anchor="ctr">
                    <a:lnL cap="flat" cmpd="sng" w="10575">
                      <a:solidFill>
                        <a:srgbClr val="C4C7C5"/>
                      </a:solidFill>
                      <a:prstDash val="solid"/>
                      <a:round/>
                      <a:headEnd len="sm" w="sm" type="none"/>
                      <a:tailEnd len="sm" w="sm" type="none"/>
                    </a:lnL>
                    <a:lnR cap="flat" cmpd="sng" w="10575">
                      <a:solidFill>
                        <a:srgbClr val="C4C7C5"/>
                      </a:solidFill>
                      <a:prstDash val="solid"/>
                      <a:round/>
                      <a:headEnd len="sm" w="sm" type="none"/>
                      <a:tailEnd len="sm" w="sm" type="none"/>
                    </a:lnR>
                    <a:lnT cap="flat" cmpd="sng" w="10575">
                      <a:solidFill>
                        <a:srgbClr val="C4C7C5"/>
                      </a:solidFill>
                      <a:prstDash val="solid"/>
                      <a:round/>
                      <a:headEnd len="sm" w="sm" type="none"/>
                      <a:tailEnd len="sm" w="sm" type="none"/>
                    </a:lnT>
                    <a:lnB cap="flat" cmpd="sng" w="10575">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434343"/>
                          </a:solidFill>
                          <a:latin typeface="Encode Sans"/>
                          <a:ea typeface="Encode Sans"/>
                          <a:cs typeface="Encode Sans"/>
                          <a:sym typeface="Encode Sans"/>
                        </a:rPr>
                        <a:t>A complete, engineered </a:t>
                      </a:r>
                      <a:r>
                        <a:rPr b="1" lang="en-GB" sz="1200">
                          <a:solidFill>
                            <a:srgbClr val="434343"/>
                          </a:solidFill>
                          <a:latin typeface="Encode Sans"/>
                          <a:ea typeface="Encode Sans"/>
                          <a:cs typeface="Encode Sans"/>
                          <a:sym typeface="Encode Sans"/>
                        </a:rPr>
                        <a:t>pipeline </a:t>
                      </a:r>
                      <a:r>
                        <a:rPr lang="en-GB" sz="1200">
                          <a:solidFill>
                            <a:srgbClr val="434343"/>
                          </a:solidFill>
                          <a:latin typeface="Encode Sans"/>
                          <a:ea typeface="Encode Sans"/>
                          <a:cs typeface="Encode Sans"/>
                          <a:sym typeface="Encode Sans"/>
                        </a:rPr>
                        <a:t>built using chains, state, routing, tools, and error handling.</a:t>
                      </a:r>
                      <a:endParaRPr sz="1200">
                        <a:solidFill>
                          <a:srgbClr val="434343"/>
                        </a:solidFill>
                        <a:latin typeface="Encode Sans"/>
                        <a:ea typeface="Encode Sans"/>
                        <a:cs typeface="Encode Sans"/>
                        <a:sym typeface="Encode Sans"/>
                      </a:endParaRPr>
                    </a:p>
                  </a:txBody>
                  <a:tcPr marT="36000" marB="36000" marR="36000" marL="36000" anchor="ctr">
                    <a:lnL cap="flat" cmpd="sng" w="10575">
                      <a:solidFill>
                        <a:srgbClr val="C4C7C5"/>
                      </a:solidFill>
                      <a:prstDash val="solid"/>
                      <a:round/>
                      <a:headEnd len="sm" w="sm" type="none"/>
                      <a:tailEnd len="sm" w="sm" type="none"/>
                    </a:lnL>
                    <a:lnR cap="flat" cmpd="sng" w="10575">
                      <a:solidFill>
                        <a:srgbClr val="C4C7C5"/>
                      </a:solidFill>
                      <a:prstDash val="solid"/>
                      <a:round/>
                      <a:headEnd len="sm" w="sm" type="none"/>
                      <a:tailEnd len="sm" w="sm" type="none"/>
                    </a:lnR>
                    <a:lnT cap="flat" cmpd="sng" w="10575">
                      <a:solidFill>
                        <a:srgbClr val="C4C7C5"/>
                      </a:solidFill>
                      <a:prstDash val="solid"/>
                      <a:round/>
                      <a:headEnd len="sm" w="sm" type="none"/>
                      <a:tailEnd len="sm" w="sm" type="none"/>
                    </a:lnT>
                    <a:lnB cap="flat" cmpd="sng" w="10575">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b="1" lang="en-GB" sz="1200">
                          <a:solidFill>
                            <a:srgbClr val="434343"/>
                          </a:solidFill>
                          <a:latin typeface="Encode Sans"/>
                          <a:ea typeface="Encode Sans"/>
                          <a:cs typeface="Encode Sans"/>
                          <a:sym typeface="Encode Sans"/>
                        </a:rPr>
                        <a:t>Yes</a:t>
                      </a:r>
                      <a:r>
                        <a:rPr lang="en-GB" sz="1200">
                          <a:solidFill>
                            <a:srgbClr val="434343"/>
                          </a:solidFill>
                          <a:latin typeface="Encode Sans"/>
                          <a:ea typeface="Encode Sans"/>
                          <a:cs typeface="Encode Sans"/>
                          <a:sym typeface="Encode Sans"/>
                        </a:rPr>
                        <a:t>, this is the complete production architecture.</a:t>
                      </a:r>
                      <a:endParaRPr sz="1200">
                        <a:solidFill>
                          <a:srgbClr val="434343"/>
                        </a:solidFill>
                        <a:latin typeface="Encode Sans"/>
                        <a:ea typeface="Encode Sans"/>
                        <a:cs typeface="Encode Sans"/>
                        <a:sym typeface="Encode Sans"/>
                      </a:endParaRPr>
                    </a:p>
                  </a:txBody>
                  <a:tcPr marT="36000" marB="36000" marR="36000" marL="36000" anchor="ctr">
                    <a:lnL cap="flat" cmpd="sng" w="10575">
                      <a:solidFill>
                        <a:srgbClr val="C4C7C5"/>
                      </a:solidFill>
                      <a:prstDash val="solid"/>
                      <a:round/>
                      <a:headEnd len="sm" w="sm" type="none"/>
                      <a:tailEnd len="sm" w="sm" type="none"/>
                    </a:lnL>
                    <a:lnR cap="flat" cmpd="sng" w="10575">
                      <a:solidFill>
                        <a:srgbClr val="C4C7C5"/>
                      </a:solidFill>
                      <a:prstDash val="solid"/>
                      <a:round/>
                      <a:headEnd len="sm" w="sm" type="none"/>
                      <a:tailEnd len="sm" w="sm" type="none"/>
                    </a:lnR>
                    <a:lnT cap="flat" cmpd="sng" w="10575">
                      <a:solidFill>
                        <a:srgbClr val="C4C7C5"/>
                      </a:solidFill>
                      <a:prstDash val="solid"/>
                      <a:round/>
                      <a:headEnd len="sm" w="sm" type="none"/>
                      <a:tailEnd len="sm" w="sm" type="none"/>
                    </a:lnT>
                    <a:lnB cap="flat" cmpd="sng" w="10575">
                      <a:solidFill>
                        <a:srgbClr val="C4C7C5"/>
                      </a:solidFill>
                      <a:prstDash val="solid"/>
                      <a:round/>
                      <a:headEnd len="sm" w="sm" type="none"/>
                      <a:tailEnd len="sm" w="sm" type="none"/>
                    </a:lnB>
                  </a:tcPr>
                </a:tc>
              </a:tr>
              <a:tr h="945800">
                <a:tc>
                  <a:txBody>
                    <a:bodyPr/>
                    <a:lstStyle/>
                    <a:p>
                      <a:pPr indent="0" lvl="0" marL="0" rtl="0" algn="l">
                        <a:spcBef>
                          <a:spcPts val="0"/>
                        </a:spcBef>
                        <a:spcAft>
                          <a:spcPts val="0"/>
                        </a:spcAft>
                        <a:buNone/>
                      </a:pPr>
                      <a:r>
                        <a:rPr b="1" lang="en-GB" sz="1200">
                          <a:solidFill>
                            <a:srgbClr val="434343"/>
                          </a:solidFill>
                          <a:latin typeface="Encode Sans"/>
                          <a:ea typeface="Encode Sans"/>
                          <a:cs typeface="Encode Sans"/>
                          <a:sym typeface="Encode Sans"/>
                        </a:rPr>
                        <a:t>Chaining / LLM Chains</a:t>
                      </a:r>
                      <a:endParaRPr sz="1200">
                        <a:solidFill>
                          <a:srgbClr val="434343"/>
                        </a:solidFill>
                        <a:latin typeface="Encode Sans"/>
                        <a:ea typeface="Encode Sans"/>
                        <a:cs typeface="Encode Sans"/>
                        <a:sym typeface="Encode Sans"/>
                      </a:endParaRPr>
                    </a:p>
                  </a:txBody>
                  <a:tcPr marT="36000" marB="36000" marR="36000" marL="36000" anchor="ctr">
                    <a:lnL cap="flat" cmpd="sng" w="10575">
                      <a:solidFill>
                        <a:srgbClr val="C4C7C5"/>
                      </a:solidFill>
                      <a:prstDash val="solid"/>
                      <a:round/>
                      <a:headEnd len="sm" w="sm" type="none"/>
                      <a:tailEnd len="sm" w="sm" type="none"/>
                    </a:lnL>
                    <a:lnR cap="flat" cmpd="sng" w="10575">
                      <a:solidFill>
                        <a:srgbClr val="C4C7C5"/>
                      </a:solidFill>
                      <a:prstDash val="solid"/>
                      <a:round/>
                      <a:headEnd len="sm" w="sm" type="none"/>
                      <a:tailEnd len="sm" w="sm" type="none"/>
                    </a:lnR>
                    <a:lnT cap="flat" cmpd="sng" w="10575">
                      <a:solidFill>
                        <a:srgbClr val="C4C7C5"/>
                      </a:solidFill>
                      <a:prstDash val="solid"/>
                      <a:round/>
                      <a:headEnd len="sm" w="sm" type="none"/>
                      <a:tailEnd len="sm" w="sm" type="none"/>
                    </a:lnT>
                    <a:lnB cap="flat" cmpd="sng" w="10575">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434343"/>
                          </a:solidFill>
                          <a:latin typeface="Encode Sans"/>
                          <a:ea typeface="Encode Sans"/>
                          <a:cs typeface="Encode Sans"/>
                          <a:sym typeface="Encode Sans"/>
                        </a:rPr>
                        <a:t>The basic </a:t>
                      </a:r>
                      <a:r>
                        <a:rPr b="1" lang="en-GB" sz="1200">
                          <a:solidFill>
                            <a:srgbClr val="434343"/>
                          </a:solidFill>
                          <a:latin typeface="Encode Sans"/>
                          <a:ea typeface="Encode Sans"/>
                          <a:cs typeface="Encode Sans"/>
                          <a:sym typeface="Encode Sans"/>
                        </a:rPr>
                        <a:t>concept </a:t>
                      </a:r>
                      <a:r>
                        <a:rPr lang="en-GB" sz="1200">
                          <a:solidFill>
                            <a:srgbClr val="434343"/>
                          </a:solidFill>
                          <a:latin typeface="Encode Sans"/>
                          <a:ea typeface="Encode Sans"/>
                          <a:cs typeface="Encode Sans"/>
                          <a:sym typeface="Encode Sans"/>
                        </a:rPr>
                        <a:t>of </a:t>
                      </a:r>
                      <a:r>
                        <a:rPr b="1" lang="en-GB" sz="1200">
                          <a:solidFill>
                            <a:srgbClr val="434343"/>
                          </a:solidFill>
                          <a:latin typeface="Encode Sans"/>
                          <a:ea typeface="Encode Sans"/>
                          <a:cs typeface="Encode Sans"/>
                          <a:sym typeface="Encode Sans"/>
                        </a:rPr>
                        <a:t>linking steps</a:t>
                      </a:r>
                      <a:r>
                        <a:rPr lang="en-GB" sz="1200">
                          <a:solidFill>
                            <a:srgbClr val="434343"/>
                          </a:solidFill>
                          <a:latin typeface="Encode Sans"/>
                          <a:ea typeface="Encode Sans"/>
                          <a:cs typeface="Encode Sans"/>
                          <a:sym typeface="Encode Sans"/>
                        </a:rPr>
                        <a:t> together (A -&gt; B -&gt; C).</a:t>
                      </a:r>
                      <a:endParaRPr sz="1200">
                        <a:solidFill>
                          <a:srgbClr val="434343"/>
                        </a:solidFill>
                        <a:latin typeface="Encode Sans"/>
                        <a:ea typeface="Encode Sans"/>
                        <a:cs typeface="Encode Sans"/>
                        <a:sym typeface="Encode Sans"/>
                      </a:endParaRPr>
                    </a:p>
                  </a:txBody>
                  <a:tcPr marT="36000" marB="36000" marR="36000" marL="36000" anchor="ctr">
                    <a:lnL cap="flat" cmpd="sng" w="10575">
                      <a:solidFill>
                        <a:srgbClr val="C4C7C5"/>
                      </a:solidFill>
                      <a:prstDash val="solid"/>
                      <a:round/>
                      <a:headEnd len="sm" w="sm" type="none"/>
                      <a:tailEnd len="sm" w="sm" type="none"/>
                    </a:lnL>
                    <a:lnR cap="flat" cmpd="sng" w="10575">
                      <a:solidFill>
                        <a:srgbClr val="C4C7C5"/>
                      </a:solidFill>
                      <a:prstDash val="solid"/>
                      <a:round/>
                      <a:headEnd len="sm" w="sm" type="none"/>
                      <a:tailEnd len="sm" w="sm" type="none"/>
                    </a:lnR>
                    <a:lnT cap="flat" cmpd="sng" w="10575">
                      <a:solidFill>
                        <a:srgbClr val="C4C7C5"/>
                      </a:solidFill>
                      <a:prstDash val="solid"/>
                      <a:round/>
                      <a:headEnd len="sm" w="sm" type="none"/>
                      <a:tailEnd len="sm" w="sm" type="none"/>
                    </a:lnT>
                    <a:lnB cap="flat" cmpd="sng" w="10575">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434343"/>
                          </a:solidFill>
                          <a:latin typeface="Encode Sans"/>
                          <a:ea typeface="Encode Sans"/>
                          <a:cs typeface="Encode Sans"/>
                          <a:sym typeface="Encode Sans"/>
                        </a:rPr>
                        <a:t>No, it's just the connection pattern.</a:t>
                      </a:r>
                      <a:endParaRPr sz="1200">
                        <a:solidFill>
                          <a:srgbClr val="434343"/>
                        </a:solidFill>
                        <a:latin typeface="Encode Sans"/>
                        <a:ea typeface="Encode Sans"/>
                        <a:cs typeface="Encode Sans"/>
                        <a:sym typeface="Encode Sans"/>
                      </a:endParaRPr>
                    </a:p>
                  </a:txBody>
                  <a:tcPr marT="36000" marB="36000" marR="36000" marL="36000" anchor="ctr">
                    <a:lnL cap="flat" cmpd="sng" w="10575">
                      <a:solidFill>
                        <a:srgbClr val="C4C7C5"/>
                      </a:solidFill>
                      <a:prstDash val="solid"/>
                      <a:round/>
                      <a:headEnd len="sm" w="sm" type="none"/>
                      <a:tailEnd len="sm" w="sm" type="none"/>
                    </a:lnL>
                    <a:lnR cap="flat" cmpd="sng" w="10575">
                      <a:solidFill>
                        <a:srgbClr val="C4C7C5"/>
                      </a:solidFill>
                      <a:prstDash val="solid"/>
                      <a:round/>
                      <a:headEnd len="sm" w="sm" type="none"/>
                      <a:tailEnd len="sm" w="sm" type="none"/>
                    </a:lnR>
                    <a:lnT cap="flat" cmpd="sng" w="10575">
                      <a:solidFill>
                        <a:srgbClr val="C4C7C5"/>
                      </a:solidFill>
                      <a:prstDash val="solid"/>
                      <a:round/>
                      <a:headEnd len="sm" w="sm" type="none"/>
                      <a:tailEnd len="sm" w="sm" type="none"/>
                    </a:lnT>
                    <a:lnB cap="flat" cmpd="sng" w="10575">
                      <a:solidFill>
                        <a:srgbClr val="C4C7C5"/>
                      </a:solidFill>
                      <a:prstDash val="solid"/>
                      <a:round/>
                      <a:headEnd len="sm" w="sm" type="none"/>
                      <a:tailEnd len="sm" w="sm" type="none"/>
                    </a:lnB>
                  </a:tcPr>
                </a:tc>
              </a:tr>
            </a:tbl>
          </a:graphicData>
        </a:graphic>
      </p:graphicFrame>
      <p:sp>
        <p:nvSpPr>
          <p:cNvPr id="229" name="Google Shape;229;p30"/>
          <p:cNvSpPr txBox="1"/>
          <p:nvPr>
            <p:ph idx="1" type="body"/>
          </p:nvPr>
        </p:nvSpPr>
        <p:spPr>
          <a:xfrm>
            <a:off x="311700" y="3490850"/>
            <a:ext cx="8520600" cy="1469700"/>
          </a:xfrm>
          <a:prstGeom prst="rect">
            <a:avLst/>
          </a:prstGeom>
        </p:spPr>
        <p:txBody>
          <a:bodyPr anchorCtr="0" anchor="t" bIns="91425" lIns="91425" spcFirstLastPara="1" rIns="91425" wrap="square" tIns="91425">
            <a:noAutofit/>
          </a:bodyPr>
          <a:lstStyle/>
          <a:p>
            <a:pPr indent="0" lvl="0" marL="0" marR="0" rtl="0" algn="just">
              <a:lnSpc>
                <a:spcPct val="130000"/>
              </a:lnSpc>
              <a:spcBef>
                <a:spcPts val="1000"/>
              </a:spcBef>
              <a:spcAft>
                <a:spcPts val="0"/>
              </a:spcAft>
              <a:buNone/>
            </a:pPr>
            <a:r>
              <a:rPr b="1" lang="en-GB">
                <a:solidFill>
                  <a:srgbClr val="CE6948"/>
                </a:solidFill>
                <a:latin typeface="Encode Sans"/>
                <a:ea typeface="Encode Sans"/>
                <a:cs typeface="Encode Sans"/>
                <a:sym typeface="Encode Sans"/>
              </a:rPr>
              <a:t>In short</a:t>
            </a:r>
            <a:endParaRPr>
              <a:solidFill>
                <a:srgbClr val="434343"/>
              </a:solidFill>
              <a:latin typeface="Encode Sans"/>
              <a:ea typeface="Encode Sans"/>
              <a:cs typeface="Encode Sans"/>
              <a:sym typeface="Encode Sans"/>
            </a:endParaRPr>
          </a:p>
          <a:p>
            <a:pPr indent="-206375" lvl="0" marL="228600" marR="0" rtl="0" algn="just">
              <a:lnSpc>
                <a:spcPct val="130000"/>
              </a:lnSpc>
              <a:spcBef>
                <a:spcPts val="0"/>
              </a:spcBef>
              <a:spcAft>
                <a:spcPts val="0"/>
              </a:spcAft>
              <a:buClr>
                <a:srgbClr val="CE6948"/>
              </a:buClr>
              <a:buSzPts val="1000"/>
              <a:buFont typeface="Encode Sans"/>
              <a:buChar char="●"/>
            </a:pPr>
            <a:r>
              <a:rPr lang="en-GB">
                <a:solidFill>
                  <a:srgbClr val="434343"/>
                </a:solidFill>
                <a:latin typeface="Encode Sans SemiBold"/>
                <a:ea typeface="Encode Sans SemiBold"/>
                <a:cs typeface="Encode Sans SemiBold"/>
                <a:sym typeface="Encode Sans SemiBold"/>
              </a:rPr>
              <a:t>All</a:t>
            </a:r>
            <a:r>
              <a:rPr lang="en-GB">
                <a:solidFill>
                  <a:srgbClr val="434343"/>
                </a:solidFill>
                <a:latin typeface="Encode Sans"/>
                <a:ea typeface="Encode Sans"/>
                <a:cs typeface="Encode Sans"/>
                <a:sym typeface="Encode Sans"/>
              </a:rPr>
              <a:t> </a:t>
            </a:r>
            <a:r>
              <a:rPr lang="en-GB">
                <a:solidFill>
                  <a:srgbClr val="434343"/>
                </a:solidFill>
                <a:latin typeface="Encode Sans SemiBold"/>
                <a:ea typeface="Encode Sans SemiBold"/>
                <a:cs typeface="Encode Sans SemiBold"/>
                <a:sym typeface="Encode Sans SemiBold"/>
              </a:rPr>
              <a:t>multi-step workflows are built using</a:t>
            </a:r>
            <a:r>
              <a:rPr lang="en-GB">
                <a:solidFill>
                  <a:srgbClr val="434343"/>
                </a:solidFill>
                <a:latin typeface="Encode Sans"/>
                <a:ea typeface="Encode Sans"/>
                <a:cs typeface="Encode Sans"/>
                <a:sym typeface="Encode Sans"/>
              </a:rPr>
              <a:t> </a:t>
            </a:r>
            <a:r>
              <a:rPr lang="en-GB">
                <a:solidFill>
                  <a:srgbClr val="434343"/>
                </a:solidFill>
                <a:latin typeface="Encode Sans SemiBold"/>
                <a:ea typeface="Encode Sans SemiBold"/>
                <a:cs typeface="Encode Sans SemiBold"/>
                <a:sym typeface="Encode Sans SemiBold"/>
              </a:rPr>
              <a:t>chaining.</a:t>
            </a:r>
            <a:endParaRPr>
              <a:solidFill>
                <a:srgbClr val="434343"/>
              </a:solidFill>
              <a:latin typeface="Encode Sans"/>
              <a:ea typeface="Encode Sans"/>
              <a:cs typeface="Encode Sans"/>
              <a:sym typeface="Encode Sans"/>
            </a:endParaRPr>
          </a:p>
          <a:p>
            <a:pPr indent="-206375" lvl="0" marL="228600" marR="0" rtl="0" algn="just">
              <a:lnSpc>
                <a:spcPct val="130000"/>
              </a:lnSpc>
              <a:spcBef>
                <a:spcPts val="0"/>
              </a:spcBef>
              <a:spcAft>
                <a:spcPts val="0"/>
              </a:spcAft>
              <a:buClr>
                <a:srgbClr val="CE6948"/>
              </a:buClr>
              <a:buSzPts val="1000"/>
              <a:buFont typeface="Encode Sans"/>
              <a:buChar char="●"/>
            </a:pPr>
            <a:r>
              <a:rPr lang="en-GB">
                <a:solidFill>
                  <a:srgbClr val="434343"/>
                </a:solidFill>
                <a:latin typeface="Encode Sans"/>
                <a:ea typeface="Encode Sans"/>
                <a:cs typeface="Encode Sans"/>
                <a:sym typeface="Encode Sans"/>
              </a:rPr>
              <a:t>But a </a:t>
            </a:r>
            <a:r>
              <a:rPr lang="en-GB">
                <a:solidFill>
                  <a:srgbClr val="434343"/>
                </a:solidFill>
                <a:latin typeface="Encode Sans SemiBold"/>
                <a:ea typeface="Encode Sans SemiBold"/>
                <a:cs typeface="Encode Sans SemiBold"/>
                <a:sym typeface="Encode Sans SemiBold"/>
              </a:rPr>
              <a:t>simple 3-step chain</a:t>
            </a:r>
            <a:r>
              <a:rPr lang="en-GB">
                <a:solidFill>
                  <a:srgbClr val="434343"/>
                </a:solidFill>
                <a:latin typeface="Encode Sans"/>
                <a:ea typeface="Encode Sans"/>
                <a:cs typeface="Encode Sans"/>
                <a:sym typeface="Encode Sans"/>
              </a:rPr>
              <a:t> is just a "</a:t>
            </a:r>
            <a:r>
              <a:rPr lang="en-GB">
                <a:solidFill>
                  <a:srgbClr val="434343"/>
                </a:solidFill>
                <a:latin typeface="Encode Sans SemiBold"/>
                <a:ea typeface="Encode Sans SemiBold"/>
                <a:cs typeface="Encode Sans SemiBold"/>
                <a:sym typeface="Encode Sans SemiBold"/>
              </a:rPr>
              <a:t>chain</a:t>
            </a:r>
            <a:r>
              <a:rPr lang="en-GB">
                <a:solidFill>
                  <a:srgbClr val="434343"/>
                </a:solidFill>
                <a:latin typeface="Encode Sans"/>
                <a:ea typeface="Encode Sans"/>
                <a:cs typeface="Encode Sans"/>
                <a:sym typeface="Encode Sans"/>
              </a:rPr>
              <a:t>," not yet a full production "workflow" until you add state, routing, and error handling.</a:t>
            </a:r>
            <a:endParaRPr>
              <a:solidFill>
                <a:srgbClr val="434343"/>
              </a:solidFill>
              <a:latin typeface="Encode Sans"/>
              <a:ea typeface="Encode Sans"/>
              <a:cs typeface="Encode Sans"/>
              <a:sym typeface="Encode Sans"/>
            </a:endParaRPr>
          </a:p>
        </p:txBody>
      </p:sp>
      <p:sp>
        <p:nvSpPr>
          <p:cNvPr id="230" name="Google Shape;23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LLM Workflow vs. LLM Chains</a:t>
            </a:r>
            <a:endParaRPr>
              <a:solidFill>
                <a:srgbClr val="CE6948"/>
              </a:solidFill>
            </a:endParaRPr>
          </a:p>
        </p:txBody>
      </p:sp>
      <p:sp>
        <p:nvSpPr>
          <p:cNvPr id="236" name="Google Shape;236;p31"/>
          <p:cNvSpPr txBox="1"/>
          <p:nvPr>
            <p:ph idx="1" type="body"/>
          </p:nvPr>
        </p:nvSpPr>
        <p:spPr>
          <a:xfrm>
            <a:off x="311700" y="1069550"/>
            <a:ext cx="8520600" cy="3416400"/>
          </a:xfrm>
          <a:prstGeom prst="rect">
            <a:avLst/>
          </a:prstGeom>
        </p:spPr>
        <p:txBody>
          <a:bodyPr anchorCtr="0" anchor="t" bIns="91425" lIns="91425" spcFirstLastPara="1" rIns="91425" wrap="square" tIns="91425">
            <a:noAutofit/>
          </a:bodyPr>
          <a:lstStyle/>
          <a:p>
            <a:pPr indent="0" lvl="0" marL="0" rtl="0" algn="just">
              <a:spcBef>
                <a:spcPts val="1000"/>
              </a:spcBef>
              <a:spcAft>
                <a:spcPts val="0"/>
              </a:spcAft>
              <a:buNone/>
            </a:pPr>
            <a:r>
              <a:rPr b="1" lang="en-GB" sz="1400">
                <a:solidFill>
                  <a:srgbClr val="CE6948"/>
                </a:solidFill>
                <a:latin typeface="Encode Sans"/>
                <a:ea typeface="Encode Sans"/>
                <a:cs typeface="Encode Sans"/>
                <a:sym typeface="Encode Sans"/>
              </a:rPr>
              <a:t>Can an LLM workflow exist without chaining?</a:t>
            </a:r>
            <a:endParaRPr b="1" sz="1400">
              <a:solidFill>
                <a:srgbClr val="CE6948"/>
              </a:solidFill>
              <a:latin typeface="Encode Sans"/>
              <a:ea typeface="Encode Sans"/>
              <a:cs typeface="Encode Sans"/>
              <a:sym typeface="Encode Sans"/>
            </a:endParaRPr>
          </a:p>
          <a:p>
            <a:pPr indent="0" lvl="0" marL="0" marR="0" rtl="0" algn="just">
              <a:lnSpc>
                <a:spcPct val="130000"/>
              </a:lnSpc>
              <a:spcBef>
                <a:spcPts val="1000"/>
              </a:spcBef>
              <a:spcAft>
                <a:spcPts val="0"/>
              </a:spcAft>
              <a:buNone/>
            </a:pPr>
            <a:r>
              <a:rPr b="1" lang="en-GB">
                <a:solidFill>
                  <a:srgbClr val="434343"/>
                </a:solidFill>
                <a:latin typeface="Encode Sans"/>
                <a:ea typeface="Encode Sans"/>
                <a:cs typeface="Encode Sans"/>
                <a:sym typeface="Encode Sans"/>
              </a:rPr>
              <a:t>Yes. </a:t>
            </a:r>
            <a:r>
              <a:rPr lang="en-GB">
                <a:solidFill>
                  <a:srgbClr val="434343"/>
                </a:solidFill>
                <a:latin typeface="Encode Sans"/>
                <a:ea typeface="Encode Sans"/>
                <a:cs typeface="Encode Sans"/>
                <a:sym typeface="Encode Sans"/>
              </a:rPr>
              <a:t>While most complex pipelines use chaining, an LLM workflow can also function without it under specific architectures:</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SemiBold"/>
                <a:ea typeface="Encode Sans SemiBold"/>
                <a:cs typeface="Encode Sans SemiBold"/>
                <a:sym typeface="Encode Sans SemiBold"/>
              </a:rPr>
              <a:t>Single-Inference Augmented Workflows:</a:t>
            </a:r>
            <a:r>
              <a:rPr lang="en-GB">
                <a:solidFill>
                  <a:srgbClr val="434343"/>
                </a:solidFill>
                <a:latin typeface="Encode Sans"/>
                <a:ea typeface="Encode Sans"/>
                <a:cs typeface="Encode Sans"/>
                <a:sym typeface="Encode Sans"/>
              </a:rPr>
              <a:t> Code retrieves external data (like a RAG search) and passes it into a single LLM call without multi-step handoffs.</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SemiBold"/>
                <a:ea typeface="Encode Sans SemiBold"/>
                <a:cs typeface="Encode Sans SemiBold"/>
                <a:sym typeface="Encode Sans SemiBold"/>
              </a:rPr>
              <a:t>Parallel Execution (Fan-Out)</a:t>
            </a:r>
            <a:r>
              <a:rPr lang="en-GB">
                <a:solidFill>
                  <a:srgbClr val="434343"/>
                </a:solidFill>
                <a:latin typeface="Encode Sans"/>
                <a:ea typeface="Encode Sans"/>
                <a:cs typeface="Encode Sans"/>
                <a:sym typeface="Encode Sans"/>
              </a:rPr>
              <a:t>: Multiple independent LLM calls run simultaneously on separate tasks, and code aggregates the results instead of passing output A into input B. </a:t>
            </a:r>
            <a:endParaRPr>
              <a:solidFill>
                <a:srgbClr val="434343"/>
              </a:solidFill>
              <a:latin typeface="Encode Sans"/>
              <a:ea typeface="Encode Sans"/>
              <a:cs typeface="Encode Sans"/>
              <a:sym typeface="Encode Sans"/>
            </a:endParaRPr>
          </a:p>
        </p:txBody>
      </p:sp>
      <p:sp>
        <p:nvSpPr>
          <p:cNvPr id="237" name="Google Shape;237;p3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238" name="Google Shape;23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Problem Statement - Chaining</a:t>
            </a:r>
            <a:endParaRPr>
              <a:solidFill>
                <a:srgbClr val="CE6948"/>
              </a:solidFill>
            </a:endParaRPr>
          </a:p>
        </p:txBody>
      </p:sp>
      <p:sp>
        <p:nvSpPr>
          <p:cNvPr id="244" name="Google Shape;244;p32"/>
          <p:cNvSpPr txBox="1"/>
          <p:nvPr>
            <p:ph idx="1" type="body"/>
          </p:nvPr>
        </p:nvSpPr>
        <p:spPr>
          <a:xfrm>
            <a:off x="311700" y="1069550"/>
            <a:ext cx="8520600" cy="3416400"/>
          </a:xfrm>
          <a:prstGeom prst="rect">
            <a:avLst/>
          </a:prstGeom>
        </p:spPr>
        <p:txBody>
          <a:bodyPr anchorCtr="0" anchor="t" bIns="91425" lIns="91425" spcFirstLastPara="1" rIns="91425" wrap="square" tIns="91425">
            <a:noAutofit/>
          </a:bodyPr>
          <a:lstStyle/>
          <a:p>
            <a:pPr indent="0" lvl="0" marL="0" marR="0" rtl="0" algn="just">
              <a:lnSpc>
                <a:spcPct val="130000"/>
              </a:lnSpc>
              <a:spcBef>
                <a:spcPts val="1000"/>
              </a:spcBef>
              <a:spcAft>
                <a:spcPts val="0"/>
              </a:spcAft>
              <a:buNone/>
            </a:pPr>
            <a:r>
              <a:rPr lang="en-GB">
                <a:solidFill>
                  <a:srgbClr val="434343"/>
                </a:solidFill>
                <a:latin typeface="Encode Sans"/>
                <a:ea typeface="Encode Sans"/>
                <a:cs typeface="Encode Sans"/>
                <a:sym typeface="Encode Sans"/>
              </a:rPr>
              <a:t>Imagine you give an</a:t>
            </a:r>
            <a:r>
              <a:rPr b="1" lang="en-GB">
                <a:solidFill>
                  <a:srgbClr val="434343"/>
                </a:solidFill>
                <a:latin typeface="Encode Sans"/>
                <a:ea typeface="Encode Sans"/>
                <a:cs typeface="Encode Sans"/>
                <a:sym typeface="Encode Sans"/>
              </a:rPr>
              <a:t> LLM a massive</a:t>
            </a:r>
            <a:r>
              <a:rPr lang="en-GB">
                <a:solidFill>
                  <a:srgbClr val="434343"/>
                </a:solidFill>
                <a:latin typeface="Encode Sans"/>
                <a:ea typeface="Encode Sans"/>
                <a:cs typeface="Encode Sans"/>
                <a:sym typeface="Encode Sans"/>
              </a:rPr>
              <a:t>, </a:t>
            </a:r>
            <a:r>
              <a:rPr b="1" lang="en-GB">
                <a:solidFill>
                  <a:srgbClr val="434343"/>
                </a:solidFill>
                <a:latin typeface="Encode Sans"/>
                <a:ea typeface="Encode Sans"/>
                <a:cs typeface="Encode Sans"/>
                <a:sym typeface="Encode Sans"/>
              </a:rPr>
              <a:t>multi-part task in a single prompt</a:t>
            </a:r>
            <a:r>
              <a:rPr lang="en-GB">
                <a:solidFill>
                  <a:srgbClr val="434343"/>
                </a:solidFill>
                <a:latin typeface="Encode Sans"/>
                <a:ea typeface="Encode Sans"/>
                <a:cs typeface="Encode Sans"/>
                <a:sym typeface="Encode Sans"/>
              </a:rPr>
              <a:t>:</a:t>
            </a:r>
            <a:endParaRPr>
              <a:solidFill>
                <a:schemeClr val="dk1"/>
              </a:solidFill>
              <a:latin typeface="Encode Sans"/>
              <a:ea typeface="Encode Sans"/>
              <a:cs typeface="Encode Sans"/>
              <a:sym typeface="Encode Sans"/>
            </a:endParaRPr>
          </a:p>
          <a:p>
            <a:pPr indent="0" lvl="0" marL="180000" rtl="0" algn="just">
              <a:spcBef>
                <a:spcPts val="1000"/>
              </a:spcBef>
              <a:spcAft>
                <a:spcPts val="0"/>
              </a:spcAft>
              <a:buNone/>
            </a:pPr>
            <a:r>
              <a:rPr lang="en-GB">
                <a:solidFill>
                  <a:srgbClr val="434343"/>
                </a:solidFill>
                <a:latin typeface="Google Sans Code"/>
                <a:ea typeface="Google Sans Code"/>
                <a:cs typeface="Google Sans Code"/>
                <a:sym typeface="Google Sans Code"/>
              </a:rPr>
              <a:t>"Read this 50-page financial report, extract the key risks, translate them into Spanish, check if they violate company policy, and format them into an executive email."</a:t>
            </a:r>
            <a:endParaRPr>
              <a:solidFill>
                <a:srgbClr val="434343"/>
              </a:solidFill>
              <a:latin typeface="Encode Sans"/>
              <a:ea typeface="Encode Sans"/>
              <a:cs typeface="Encode Sans"/>
              <a:sym typeface="Encode Sans"/>
            </a:endParaRPr>
          </a:p>
        </p:txBody>
      </p:sp>
      <p:sp>
        <p:nvSpPr>
          <p:cNvPr id="245" name="Google Shape;245;p3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246" name="Google Shape;246;p32"/>
          <p:cNvSpPr txBox="1"/>
          <p:nvPr>
            <p:ph idx="1" type="body"/>
          </p:nvPr>
        </p:nvSpPr>
        <p:spPr>
          <a:xfrm>
            <a:off x="311700" y="2635185"/>
            <a:ext cx="8520600" cy="2109900"/>
          </a:xfrm>
          <a:prstGeom prst="rect">
            <a:avLst/>
          </a:prstGeom>
        </p:spPr>
        <p:txBody>
          <a:bodyPr anchorCtr="0" anchor="t" bIns="91425" lIns="91425" spcFirstLastPara="1" rIns="91425" wrap="square" tIns="91425">
            <a:noAutofit/>
          </a:bodyPr>
          <a:lstStyle/>
          <a:p>
            <a:pPr indent="0" lvl="0" marL="0" marR="0" rtl="0" algn="just">
              <a:lnSpc>
                <a:spcPct val="130000"/>
              </a:lnSpc>
              <a:spcBef>
                <a:spcPts val="1000"/>
              </a:spcBef>
              <a:spcAft>
                <a:spcPts val="0"/>
              </a:spcAft>
              <a:buNone/>
            </a:pPr>
            <a:r>
              <a:rPr lang="en-GB">
                <a:solidFill>
                  <a:srgbClr val="434343"/>
                </a:solidFill>
                <a:latin typeface="Encode Sans"/>
                <a:ea typeface="Encode Sans"/>
                <a:cs typeface="Encode Sans"/>
                <a:sym typeface="Encode Sans"/>
              </a:rPr>
              <a:t>If you try to do this all in one single model call</a:t>
            </a:r>
            <a:r>
              <a:rPr lang="en-GB">
                <a:solidFill>
                  <a:schemeClr val="dk1"/>
                </a:solidFill>
                <a:latin typeface="Encode Sans"/>
                <a:ea typeface="Encode Sans"/>
                <a:cs typeface="Encode Sans"/>
                <a:sym typeface="Encode Sans"/>
              </a:rPr>
              <a:t>,</a:t>
            </a:r>
            <a:r>
              <a:rPr lang="en-GB">
                <a:solidFill>
                  <a:srgbClr val="434343"/>
                </a:solidFill>
                <a:latin typeface="Encode Sans"/>
                <a:ea typeface="Encode Sans"/>
                <a:cs typeface="Encode Sans"/>
                <a:sym typeface="Encode Sans"/>
              </a:rPr>
              <a:t> you will run into massive </a:t>
            </a:r>
            <a:r>
              <a:rPr b="1" lang="en-GB">
                <a:solidFill>
                  <a:srgbClr val="434343"/>
                </a:solidFill>
                <a:latin typeface="Encode Sans"/>
                <a:ea typeface="Encode Sans"/>
                <a:cs typeface="Encode Sans"/>
                <a:sym typeface="Encode Sans"/>
              </a:rPr>
              <a:t>problems</a:t>
            </a:r>
            <a:r>
              <a:rPr lang="en-GB">
                <a:solidFill>
                  <a:srgbClr val="434343"/>
                </a:solidFill>
                <a:latin typeface="Encode Sans"/>
                <a:ea typeface="Encode Sans"/>
                <a:cs typeface="Encode Sans"/>
                <a:sym typeface="Encode Sans"/>
              </a:rPr>
              <a:t>:</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The "Too Many Hats" Problem (Attention Drift):</a:t>
            </a:r>
            <a:r>
              <a:rPr lang="en-GB">
                <a:solidFill>
                  <a:srgbClr val="434343"/>
                </a:solidFill>
                <a:latin typeface="Encode Sans"/>
                <a:ea typeface="Encode Sans"/>
                <a:cs typeface="Encode Sans"/>
                <a:sym typeface="Encode Sans"/>
              </a:rPr>
              <a:t> One </a:t>
            </a:r>
            <a:r>
              <a:rPr lang="en-GB">
                <a:solidFill>
                  <a:srgbClr val="434343"/>
                </a:solidFill>
                <a:latin typeface="Encode Sans"/>
                <a:ea typeface="Encode Sans"/>
                <a:cs typeface="Encode Sans"/>
                <a:sym typeface="Encode Sans"/>
              </a:rPr>
              <a:t>LLM</a:t>
            </a:r>
            <a:r>
              <a:rPr lang="en-GB">
                <a:solidFill>
                  <a:srgbClr val="434343"/>
                </a:solidFill>
                <a:latin typeface="Encode Sans"/>
                <a:ea typeface="Encode Sans"/>
                <a:cs typeface="Encode Sans"/>
                <a:sym typeface="Encode Sans"/>
              </a:rPr>
              <a:t> handles accounting, translation, compliance, and copywriting, causing attention drift and lower quality.</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Compound Hallucinations:</a:t>
            </a:r>
            <a:r>
              <a:rPr lang="en-GB">
                <a:solidFill>
                  <a:srgbClr val="434343"/>
                </a:solidFill>
                <a:latin typeface="Encode Sans"/>
                <a:ea typeface="Encode Sans"/>
                <a:cs typeface="Encode Sans"/>
                <a:sym typeface="Encode Sans"/>
              </a:rPr>
              <a:t> Errors in one step cascade </a:t>
            </a:r>
            <a:r>
              <a:rPr lang="en-GB">
                <a:solidFill>
                  <a:srgbClr val="434343"/>
                </a:solidFill>
                <a:latin typeface="Encode Sans"/>
                <a:ea typeface="Encode Sans"/>
                <a:cs typeface="Encode Sans"/>
                <a:sym typeface="Encode Sans"/>
              </a:rPr>
              <a:t>through</a:t>
            </a:r>
            <a:r>
              <a:rPr lang="en-GB">
                <a:solidFill>
                  <a:srgbClr val="434343"/>
                </a:solidFill>
                <a:latin typeface="Encode Sans"/>
                <a:ea typeface="Encode Sans"/>
                <a:cs typeface="Encode Sans"/>
                <a:sym typeface="Encode Sans"/>
              </a:rPr>
              <a:t> every subsequent step.</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Zero Control and Auditability:</a:t>
            </a:r>
            <a:r>
              <a:rPr lang="en-GB">
                <a:solidFill>
                  <a:srgbClr val="434343"/>
                </a:solidFill>
                <a:latin typeface="Encode Sans"/>
                <a:ea typeface="Encode Sans"/>
                <a:cs typeface="Encode Sans"/>
                <a:sym typeface="Encode Sans"/>
              </a:rPr>
              <a:t> If the final email is </a:t>
            </a:r>
            <a:r>
              <a:rPr lang="en-GB">
                <a:solidFill>
                  <a:srgbClr val="434343"/>
                </a:solidFill>
                <a:latin typeface="Encode Sans"/>
                <a:ea typeface="Encode Sans"/>
                <a:cs typeface="Encode Sans"/>
                <a:sym typeface="Encode Sans"/>
              </a:rPr>
              <a:t>wrong</a:t>
            </a:r>
            <a:r>
              <a:rPr lang="en-GB">
                <a:solidFill>
                  <a:srgbClr val="434343"/>
                </a:solidFill>
                <a:latin typeface="Encode Sans"/>
                <a:ea typeface="Encode Sans"/>
                <a:cs typeface="Encode Sans"/>
                <a:sym typeface="Encode Sans"/>
              </a:rPr>
              <a:t>, you have no idea </a:t>
            </a:r>
            <a:r>
              <a:rPr i="1" lang="en-GB">
                <a:solidFill>
                  <a:srgbClr val="434343"/>
                </a:solidFill>
                <a:latin typeface="Encode Sans"/>
                <a:ea typeface="Encode Sans"/>
                <a:cs typeface="Encode Sans"/>
                <a:sym typeface="Encode Sans"/>
              </a:rPr>
              <a:t>where</a:t>
            </a:r>
            <a:r>
              <a:rPr lang="en-GB">
                <a:solidFill>
                  <a:srgbClr val="434343"/>
                </a:solidFill>
                <a:latin typeface="Encode Sans"/>
                <a:ea typeface="Encode Sans"/>
                <a:cs typeface="Encode Sans"/>
                <a:sym typeface="Encode Sans"/>
              </a:rPr>
              <a:t> it failed. Was it the extraction? The translation? The policy check? </a:t>
            </a:r>
            <a:endParaRPr>
              <a:solidFill>
                <a:srgbClr val="434343"/>
              </a:solidFill>
              <a:latin typeface="Encode Sans"/>
              <a:ea typeface="Encode Sans"/>
              <a:cs typeface="Encode Sans"/>
              <a:sym typeface="Encode Sans"/>
            </a:endParaRPr>
          </a:p>
        </p:txBody>
      </p:sp>
      <p:sp>
        <p:nvSpPr>
          <p:cNvPr id="247" name="Google Shape;24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Solution: Why Chaining?</a:t>
            </a:r>
            <a:endParaRPr>
              <a:solidFill>
                <a:srgbClr val="CE6948"/>
              </a:solidFill>
            </a:endParaRPr>
          </a:p>
        </p:txBody>
      </p:sp>
      <p:sp>
        <p:nvSpPr>
          <p:cNvPr id="253" name="Google Shape;253;p33"/>
          <p:cNvSpPr txBox="1"/>
          <p:nvPr>
            <p:ph idx="1" type="body"/>
          </p:nvPr>
        </p:nvSpPr>
        <p:spPr>
          <a:xfrm>
            <a:off x="311700" y="1069550"/>
            <a:ext cx="8520600" cy="3416400"/>
          </a:xfrm>
          <a:prstGeom prst="rect">
            <a:avLst/>
          </a:prstGeom>
        </p:spPr>
        <p:txBody>
          <a:bodyPr anchorCtr="0" anchor="t" bIns="91425" lIns="91425" spcFirstLastPara="1" rIns="91425" wrap="square" tIns="91425">
            <a:noAutofit/>
          </a:bodyPr>
          <a:lstStyle/>
          <a:p>
            <a:pPr indent="0" lvl="0" marL="0" rtl="0" algn="just">
              <a:spcBef>
                <a:spcPts val="1000"/>
              </a:spcBef>
              <a:spcAft>
                <a:spcPts val="0"/>
              </a:spcAft>
              <a:buClr>
                <a:schemeClr val="dk1"/>
              </a:buClr>
              <a:buSzPts val="1100"/>
              <a:buFont typeface="Arial"/>
              <a:buNone/>
            </a:pPr>
            <a:r>
              <a:rPr b="1" lang="en-GB">
                <a:solidFill>
                  <a:srgbClr val="CE6948"/>
                </a:solidFill>
                <a:latin typeface="Encode Sans"/>
                <a:ea typeface="Encode Sans"/>
                <a:cs typeface="Encode Sans"/>
                <a:sym typeface="Encode Sans"/>
              </a:rPr>
              <a:t>Chaining</a:t>
            </a:r>
            <a:r>
              <a:rPr lang="en-GB">
                <a:solidFill>
                  <a:srgbClr val="CE6948"/>
                </a:solidFill>
                <a:latin typeface="Encode Sans"/>
                <a:ea typeface="Encode Sans"/>
                <a:cs typeface="Encode Sans"/>
                <a:sym typeface="Encode Sans"/>
              </a:rPr>
              <a:t> </a:t>
            </a:r>
            <a:r>
              <a:rPr lang="en-GB">
                <a:solidFill>
                  <a:srgbClr val="434343"/>
                </a:solidFill>
                <a:latin typeface="Encode Sans"/>
                <a:ea typeface="Encode Sans"/>
                <a:cs typeface="Encode Sans"/>
                <a:sym typeface="Encode Sans"/>
              </a:rPr>
              <a:t>solves this by</a:t>
            </a:r>
            <a:r>
              <a:rPr lang="en-GB">
                <a:solidFill>
                  <a:srgbClr val="434343"/>
                </a:solidFill>
                <a:latin typeface="Encode Sans SemiBold"/>
                <a:ea typeface="Encode Sans SemiBold"/>
                <a:cs typeface="Encode Sans SemiBold"/>
                <a:sym typeface="Encode Sans SemiBold"/>
              </a:rPr>
              <a:t> breaking the giant task down</a:t>
            </a:r>
            <a:r>
              <a:rPr lang="en-GB">
                <a:solidFill>
                  <a:srgbClr val="434343"/>
                </a:solidFill>
                <a:latin typeface="Encode Sans"/>
                <a:ea typeface="Encode Sans"/>
                <a:cs typeface="Encode Sans"/>
                <a:sym typeface="Encode Sans"/>
              </a:rPr>
              <a:t> into a line of small, focused specialists (an assembly line). Instead of one giant prompt, you create a chain of steps: </a:t>
            </a:r>
            <a:endParaRPr>
              <a:solidFill>
                <a:srgbClr val="434343"/>
              </a:solidFill>
              <a:latin typeface="Encode Sans"/>
              <a:ea typeface="Encode Sans"/>
              <a:cs typeface="Encode Sans"/>
              <a:sym typeface="Encode Sans"/>
            </a:endParaRPr>
          </a:p>
          <a:p>
            <a:pPr indent="0" lvl="0" marL="180000" marR="0" rtl="0" algn="just">
              <a:lnSpc>
                <a:spcPct val="115000"/>
              </a:lnSpc>
              <a:spcBef>
                <a:spcPts val="2000"/>
              </a:spcBef>
              <a:spcAft>
                <a:spcPts val="0"/>
              </a:spcAft>
              <a:buNone/>
            </a:pPr>
            <a:r>
              <a:rPr lang="en-GB">
                <a:solidFill>
                  <a:srgbClr val="808080"/>
                </a:solidFill>
                <a:latin typeface="Google Sans Code"/>
                <a:ea typeface="Google Sans Code"/>
                <a:cs typeface="Google Sans Code"/>
                <a:sym typeface="Google Sans Code"/>
              </a:rPr>
              <a:t>"Read this 50-page financial report, </a:t>
            </a:r>
            <a:r>
              <a:rPr b="1" lang="en-GB">
                <a:solidFill>
                  <a:srgbClr val="067D17"/>
                </a:solidFill>
                <a:latin typeface="Google Sans Code"/>
                <a:ea typeface="Google Sans Code"/>
                <a:cs typeface="Google Sans Code"/>
                <a:sym typeface="Google Sans Code"/>
              </a:rPr>
              <a:t>extract</a:t>
            </a:r>
            <a:r>
              <a:rPr lang="en-GB">
                <a:solidFill>
                  <a:srgbClr val="808080"/>
                </a:solidFill>
                <a:latin typeface="Google Sans Code"/>
                <a:ea typeface="Google Sans Code"/>
                <a:cs typeface="Google Sans Code"/>
                <a:sym typeface="Google Sans Code"/>
              </a:rPr>
              <a:t> the key</a:t>
            </a:r>
            <a:r>
              <a:rPr lang="en-GB">
                <a:solidFill>
                  <a:srgbClr val="434343"/>
                </a:solidFill>
                <a:latin typeface="Google Sans Code"/>
                <a:ea typeface="Google Sans Code"/>
                <a:cs typeface="Google Sans Code"/>
                <a:sym typeface="Google Sans Code"/>
              </a:rPr>
              <a:t> </a:t>
            </a:r>
            <a:r>
              <a:rPr b="1" lang="en-GB">
                <a:solidFill>
                  <a:srgbClr val="067D17"/>
                </a:solidFill>
                <a:latin typeface="Google Sans Code"/>
                <a:ea typeface="Google Sans Code"/>
                <a:cs typeface="Google Sans Code"/>
                <a:sym typeface="Google Sans Code"/>
              </a:rPr>
              <a:t>risks</a:t>
            </a:r>
            <a:r>
              <a:rPr lang="en-GB">
                <a:solidFill>
                  <a:srgbClr val="434343"/>
                </a:solidFill>
                <a:latin typeface="Google Sans Code"/>
                <a:ea typeface="Google Sans Code"/>
                <a:cs typeface="Google Sans Code"/>
                <a:sym typeface="Google Sans Code"/>
              </a:rPr>
              <a:t>, </a:t>
            </a:r>
            <a:r>
              <a:rPr b="1" lang="en-GB">
                <a:solidFill>
                  <a:srgbClr val="067D17"/>
                </a:solidFill>
                <a:latin typeface="Google Sans Code"/>
                <a:ea typeface="Google Sans Code"/>
                <a:cs typeface="Google Sans Code"/>
                <a:sym typeface="Google Sans Code"/>
              </a:rPr>
              <a:t>translate</a:t>
            </a:r>
            <a:r>
              <a:rPr b="1" lang="en-GB">
                <a:solidFill>
                  <a:srgbClr val="434343"/>
                </a:solidFill>
                <a:latin typeface="Google Sans Code"/>
                <a:ea typeface="Google Sans Code"/>
                <a:cs typeface="Google Sans Code"/>
                <a:sym typeface="Google Sans Code"/>
              </a:rPr>
              <a:t> </a:t>
            </a:r>
            <a:r>
              <a:rPr lang="en-GB">
                <a:solidFill>
                  <a:srgbClr val="808080"/>
                </a:solidFill>
                <a:latin typeface="Google Sans Code"/>
                <a:ea typeface="Google Sans Code"/>
                <a:cs typeface="Google Sans Code"/>
                <a:sym typeface="Google Sans Code"/>
              </a:rPr>
              <a:t>them into </a:t>
            </a:r>
            <a:r>
              <a:rPr b="1" lang="en-GB">
                <a:solidFill>
                  <a:srgbClr val="067D17"/>
                </a:solidFill>
                <a:latin typeface="Google Sans Code"/>
                <a:ea typeface="Google Sans Code"/>
                <a:cs typeface="Google Sans Code"/>
                <a:sym typeface="Google Sans Code"/>
              </a:rPr>
              <a:t>Spanish</a:t>
            </a:r>
            <a:r>
              <a:rPr lang="en-GB">
                <a:solidFill>
                  <a:srgbClr val="808080"/>
                </a:solidFill>
                <a:latin typeface="Google Sans Code"/>
                <a:ea typeface="Google Sans Code"/>
                <a:cs typeface="Google Sans Code"/>
                <a:sym typeface="Google Sans Code"/>
              </a:rPr>
              <a:t>, </a:t>
            </a:r>
            <a:r>
              <a:rPr b="1" lang="en-GB">
                <a:solidFill>
                  <a:srgbClr val="067D17"/>
                </a:solidFill>
                <a:latin typeface="Google Sans Code"/>
                <a:ea typeface="Google Sans Code"/>
                <a:cs typeface="Google Sans Code"/>
                <a:sym typeface="Google Sans Code"/>
              </a:rPr>
              <a:t>check</a:t>
            </a:r>
            <a:r>
              <a:rPr lang="en-GB">
                <a:solidFill>
                  <a:srgbClr val="808080"/>
                </a:solidFill>
                <a:latin typeface="Google Sans Code"/>
                <a:ea typeface="Google Sans Code"/>
                <a:cs typeface="Google Sans Code"/>
                <a:sym typeface="Google Sans Code"/>
              </a:rPr>
              <a:t> if they violate company</a:t>
            </a:r>
            <a:r>
              <a:rPr lang="en-GB">
                <a:solidFill>
                  <a:srgbClr val="434343"/>
                </a:solidFill>
                <a:latin typeface="Google Sans Code"/>
                <a:ea typeface="Google Sans Code"/>
                <a:cs typeface="Google Sans Code"/>
                <a:sym typeface="Google Sans Code"/>
              </a:rPr>
              <a:t> </a:t>
            </a:r>
            <a:r>
              <a:rPr b="1" lang="en-GB">
                <a:solidFill>
                  <a:srgbClr val="067D17"/>
                </a:solidFill>
                <a:latin typeface="Google Sans Code"/>
                <a:ea typeface="Google Sans Code"/>
                <a:cs typeface="Google Sans Code"/>
                <a:sym typeface="Google Sans Code"/>
              </a:rPr>
              <a:t>policy</a:t>
            </a:r>
            <a:r>
              <a:rPr lang="en-GB">
                <a:solidFill>
                  <a:srgbClr val="434343"/>
                </a:solidFill>
                <a:latin typeface="Google Sans Code"/>
                <a:ea typeface="Google Sans Code"/>
                <a:cs typeface="Google Sans Code"/>
                <a:sym typeface="Google Sans Code"/>
              </a:rPr>
              <a:t>, </a:t>
            </a:r>
            <a:r>
              <a:rPr lang="en-GB">
                <a:solidFill>
                  <a:srgbClr val="808080"/>
                </a:solidFill>
                <a:latin typeface="Google Sans Code"/>
                <a:ea typeface="Google Sans Code"/>
                <a:cs typeface="Google Sans Code"/>
                <a:sym typeface="Google Sans Code"/>
              </a:rPr>
              <a:t>and </a:t>
            </a:r>
            <a:r>
              <a:rPr b="1" lang="en-GB">
                <a:solidFill>
                  <a:srgbClr val="067D17"/>
                </a:solidFill>
                <a:latin typeface="Google Sans Code"/>
                <a:ea typeface="Google Sans Code"/>
                <a:cs typeface="Google Sans Code"/>
                <a:sym typeface="Google Sans Code"/>
              </a:rPr>
              <a:t>format</a:t>
            </a:r>
            <a:r>
              <a:rPr b="1" lang="en-GB">
                <a:solidFill>
                  <a:srgbClr val="434343"/>
                </a:solidFill>
                <a:latin typeface="Google Sans Code"/>
                <a:ea typeface="Google Sans Code"/>
                <a:cs typeface="Google Sans Code"/>
                <a:sym typeface="Google Sans Code"/>
              </a:rPr>
              <a:t> </a:t>
            </a:r>
            <a:r>
              <a:rPr lang="en-GB">
                <a:solidFill>
                  <a:srgbClr val="808080"/>
                </a:solidFill>
                <a:latin typeface="Google Sans Code"/>
                <a:ea typeface="Google Sans Code"/>
                <a:cs typeface="Google Sans Code"/>
                <a:sym typeface="Google Sans Code"/>
              </a:rPr>
              <a:t>them into an executive </a:t>
            </a:r>
            <a:r>
              <a:rPr b="1" lang="en-GB">
                <a:solidFill>
                  <a:srgbClr val="067D17"/>
                </a:solidFill>
                <a:latin typeface="Google Sans Code"/>
                <a:ea typeface="Google Sans Code"/>
                <a:cs typeface="Google Sans Code"/>
                <a:sym typeface="Google Sans Code"/>
              </a:rPr>
              <a:t>email</a:t>
            </a:r>
            <a:r>
              <a:rPr lang="en-GB">
                <a:solidFill>
                  <a:srgbClr val="808080"/>
                </a:solidFill>
                <a:latin typeface="Google Sans Code"/>
                <a:ea typeface="Google Sans Code"/>
                <a:cs typeface="Google Sans Code"/>
                <a:sym typeface="Google Sans Code"/>
              </a:rPr>
              <a:t>."</a:t>
            </a:r>
            <a:endParaRPr>
              <a:solidFill>
                <a:srgbClr val="808080"/>
              </a:solidFill>
              <a:latin typeface="Encode Sans"/>
              <a:ea typeface="Encode Sans"/>
              <a:cs typeface="Encode Sans"/>
              <a:sym typeface="Encode Sans"/>
            </a:endParaRPr>
          </a:p>
          <a:p>
            <a:pPr indent="-225425" lvl="0" marL="457200" marR="0" rtl="0" algn="just">
              <a:lnSpc>
                <a:spcPct val="130000"/>
              </a:lnSpc>
              <a:spcBef>
                <a:spcPts val="2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1  :</a:t>
            </a:r>
            <a:r>
              <a:rPr lang="en-GB">
                <a:solidFill>
                  <a:srgbClr val="434343"/>
                </a:solidFill>
                <a:latin typeface="Encode Sans"/>
                <a:ea typeface="Encode Sans"/>
                <a:cs typeface="Encode Sans"/>
                <a:sym typeface="Encode Sans"/>
              </a:rPr>
              <a:t> </a:t>
            </a:r>
            <a:r>
              <a:rPr b="1" lang="en-GB">
                <a:solidFill>
                  <a:srgbClr val="067D17"/>
                </a:solidFill>
                <a:latin typeface="Encode Sans"/>
                <a:ea typeface="Encode Sans"/>
                <a:cs typeface="Encode Sans"/>
                <a:sym typeface="Encode Sans"/>
              </a:rPr>
              <a:t>Extract</a:t>
            </a:r>
            <a:r>
              <a:rPr lang="en-GB">
                <a:solidFill>
                  <a:srgbClr val="434343"/>
                </a:solidFill>
                <a:latin typeface="Encode Sans"/>
                <a:ea typeface="Encode Sans"/>
                <a:cs typeface="Encode Sans"/>
                <a:sym typeface="Encode Sans"/>
              </a:rPr>
              <a:t> financial </a:t>
            </a:r>
            <a:r>
              <a:rPr b="1" lang="en-GB">
                <a:solidFill>
                  <a:srgbClr val="067D17"/>
                </a:solidFill>
                <a:latin typeface="Encode Sans"/>
                <a:ea typeface="Encode Sans"/>
                <a:cs typeface="Encode Sans"/>
                <a:sym typeface="Encode Sans"/>
              </a:rPr>
              <a:t>risks </a:t>
            </a:r>
            <a:r>
              <a:rPr lang="en-GB">
                <a:solidFill>
                  <a:srgbClr val="434343"/>
                </a:solidFill>
                <a:latin typeface="Encode Sans"/>
                <a:ea typeface="Encode Sans"/>
                <a:cs typeface="Encode Sans"/>
                <a:sym typeface="Encode Sans"/>
              </a:rPr>
              <a:t>(LLM specialized </a:t>
            </a:r>
            <a:r>
              <a:rPr i="1" lang="en-GB">
                <a:solidFill>
                  <a:srgbClr val="434343"/>
                </a:solidFill>
                <a:latin typeface="Encode Sans"/>
                <a:ea typeface="Encode Sans"/>
                <a:cs typeface="Encode Sans"/>
                <a:sym typeface="Encode Sans"/>
              </a:rPr>
              <a:t>only</a:t>
            </a:r>
            <a:r>
              <a:rPr lang="en-GB">
                <a:solidFill>
                  <a:srgbClr val="434343"/>
                </a:solidFill>
                <a:latin typeface="Encode Sans"/>
                <a:ea typeface="Encode Sans"/>
                <a:cs typeface="Encode Sans"/>
                <a:sym typeface="Encode Sans"/>
              </a:rPr>
              <a:t> in reading data).</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2  :</a:t>
            </a:r>
            <a:r>
              <a:rPr lang="en-GB">
                <a:solidFill>
                  <a:srgbClr val="434343"/>
                </a:solidFill>
                <a:latin typeface="Encode Sans"/>
                <a:ea typeface="Encode Sans"/>
                <a:cs typeface="Encode Sans"/>
                <a:sym typeface="Encode Sans"/>
              </a:rPr>
              <a:t> </a:t>
            </a:r>
            <a:r>
              <a:rPr b="1" lang="en-GB">
                <a:solidFill>
                  <a:srgbClr val="067D17"/>
                </a:solidFill>
                <a:latin typeface="Encode Sans"/>
                <a:ea typeface="Encode Sans"/>
                <a:cs typeface="Encode Sans"/>
                <a:sym typeface="Encode Sans"/>
              </a:rPr>
              <a:t>Translate</a:t>
            </a:r>
            <a:r>
              <a:rPr b="1" lang="en-GB">
                <a:solidFill>
                  <a:srgbClr val="434343"/>
                </a:solidFill>
                <a:latin typeface="Encode Sans"/>
                <a:ea typeface="Encode Sans"/>
                <a:cs typeface="Encode Sans"/>
                <a:sym typeface="Encode Sans"/>
              </a:rPr>
              <a:t> </a:t>
            </a:r>
            <a:r>
              <a:rPr lang="en-GB">
                <a:solidFill>
                  <a:srgbClr val="434343"/>
                </a:solidFill>
                <a:latin typeface="Encode Sans"/>
                <a:ea typeface="Encode Sans"/>
                <a:cs typeface="Encode Sans"/>
                <a:sym typeface="Encode Sans"/>
              </a:rPr>
              <a:t>extracted risks to </a:t>
            </a:r>
            <a:r>
              <a:rPr b="1" lang="en-GB">
                <a:solidFill>
                  <a:srgbClr val="067D17"/>
                </a:solidFill>
                <a:latin typeface="Encode Sans"/>
                <a:ea typeface="Encode Sans"/>
                <a:cs typeface="Encode Sans"/>
                <a:sym typeface="Encode Sans"/>
              </a:rPr>
              <a:t>Spanish</a:t>
            </a:r>
            <a:r>
              <a:rPr lang="en-GB">
                <a:solidFill>
                  <a:srgbClr val="434343"/>
                </a:solidFill>
                <a:latin typeface="Encode Sans"/>
                <a:ea typeface="Encode Sans"/>
                <a:cs typeface="Encode Sans"/>
                <a:sym typeface="Encode Sans"/>
              </a:rPr>
              <a:t> (LLM/Tool specialized </a:t>
            </a:r>
            <a:r>
              <a:rPr i="1" lang="en-GB">
                <a:solidFill>
                  <a:srgbClr val="434343"/>
                </a:solidFill>
                <a:latin typeface="Encode Sans"/>
                <a:ea typeface="Encode Sans"/>
                <a:cs typeface="Encode Sans"/>
                <a:sym typeface="Encode Sans"/>
              </a:rPr>
              <a:t>only</a:t>
            </a:r>
            <a:r>
              <a:rPr lang="en-GB">
                <a:solidFill>
                  <a:srgbClr val="434343"/>
                </a:solidFill>
                <a:latin typeface="Encode Sans"/>
                <a:ea typeface="Encode Sans"/>
                <a:cs typeface="Encode Sans"/>
                <a:sym typeface="Encode Sans"/>
              </a:rPr>
              <a:t> in translation).</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3  :</a:t>
            </a:r>
            <a:r>
              <a:rPr lang="en-GB">
                <a:solidFill>
                  <a:srgbClr val="434343"/>
                </a:solidFill>
                <a:latin typeface="Encode Sans"/>
                <a:ea typeface="Encode Sans"/>
                <a:cs typeface="Encode Sans"/>
                <a:sym typeface="Encode Sans"/>
              </a:rPr>
              <a:t> Run a deterministic code </a:t>
            </a:r>
            <a:r>
              <a:rPr b="1" lang="en-GB">
                <a:solidFill>
                  <a:srgbClr val="067D17"/>
                </a:solidFill>
                <a:latin typeface="Encode Sans"/>
                <a:ea typeface="Encode Sans"/>
                <a:cs typeface="Encode Sans"/>
                <a:sym typeface="Encode Sans"/>
              </a:rPr>
              <a:t>check</a:t>
            </a:r>
            <a:r>
              <a:rPr lang="en-GB">
                <a:solidFill>
                  <a:srgbClr val="434343"/>
                </a:solidFill>
                <a:latin typeface="Encode Sans"/>
                <a:ea typeface="Encode Sans"/>
                <a:cs typeface="Encode Sans"/>
                <a:sym typeface="Encode Sans"/>
              </a:rPr>
              <a:t> against company </a:t>
            </a:r>
            <a:r>
              <a:rPr b="1" lang="en-GB">
                <a:solidFill>
                  <a:srgbClr val="067D17"/>
                </a:solidFill>
                <a:latin typeface="Encode Sans"/>
                <a:ea typeface="Encode Sans"/>
                <a:cs typeface="Encode Sans"/>
                <a:sym typeface="Encode Sans"/>
              </a:rPr>
              <a:t>policy</a:t>
            </a:r>
            <a:r>
              <a:rPr b="1" lang="en-GB">
                <a:solidFill>
                  <a:srgbClr val="434343"/>
                </a:solidFill>
                <a:latin typeface="Encode Sans"/>
                <a:ea typeface="Encode Sans"/>
                <a:cs typeface="Encode Sans"/>
                <a:sym typeface="Encode Sans"/>
              </a:rPr>
              <a:t> </a:t>
            </a:r>
            <a:r>
              <a:rPr lang="en-GB">
                <a:solidFill>
                  <a:srgbClr val="434343"/>
                </a:solidFill>
                <a:latin typeface="Encode Sans"/>
                <a:ea typeface="Encode Sans"/>
                <a:cs typeface="Encode Sans"/>
                <a:sym typeface="Encode Sans"/>
              </a:rPr>
              <a:t>rules (Python code, not even an LLM).</a:t>
            </a:r>
            <a:endParaRPr>
              <a:solidFill>
                <a:srgbClr val="434343"/>
              </a:solidFill>
              <a:latin typeface="Encode Sans"/>
              <a:ea typeface="Encode Sans"/>
              <a:cs typeface="Encode Sans"/>
              <a:sym typeface="Encode Sans"/>
            </a:endParaRPr>
          </a:p>
          <a:p>
            <a:pPr indent="-225425" lvl="0" marL="457200" marR="0" rtl="0" algn="just">
              <a:lnSpc>
                <a:spcPct val="130000"/>
              </a:lnSpc>
              <a:spcBef>
                <a:spcPts val="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4  :</a:t>
            </a:r>
            <a:r>
              <a:rPr lang="en-GB">
                <a:solidFill>
                  <a:srgbClr val="434343"/>
                </a:solidFill>
                <a:latin typeface="Encode Sans"/>
                <a:ea typeface="Encode Sans"/>
                <a:cs typeface="Encode Sans"/>
                <a:sym typeface="Encode Sans"/>
              </a:rPr>
              <a:t> </a:t>
            </a:r>
            <a:r>
              <a:rPr b="1" lang="en-GB">
                <a:solidFill>
                  <a:srgbClr val="067D17"/>
                </a:solidFill>
                <a:latin typeface="Encode Sans"/>
                <a:ea typeface="Encode Sans"/>
                <a:cs typeface="Encode Sans"/>
                <a:sym typeface="Encode Sans"/>
              </a:rPr>
              <a:t>Format</a:t>
            </a:r>
            <a:r>
              <a:rPr b="1" lang="en-GB">
                <a:solidFill>
                  <a:srgbClr val="434343"/>
                </a:solidFill>
                <a:latin typeface="Encode Sans"/>
                <a:ea typeface="Encode Sans"/>
                <a:cs typeface="Encode Sans"/>
                <a:sym typeface="Encode Sans"/>
              </a:rPr>
              <a:t> </a:t>
            </a:r>
            <a:r>
              <a:rPr lang="en-GB">
                <a:solidFill>
                  <a:srgbClr val="434343"/>
                </a:solidFill>
                <a:latin typeface="Encode Sans"/>
                <a:ea typeface="Encode Sans"/>
                <a:cs typeface="Encode Sans"/>
                <a:sym typeface="Encode Sans"/>
              </a:rPr>
              <a:t>the final output into an </a:t>
            </a:r>
            <a:r>
              <a:rPr b="1" lang="en-GB">
                <a:solidFill>
                  <a:srgbClr val="067D17"/>
                </a:solidFill>
                <a:latin typeface="Encode Sans"/>
                <a:ea typeface="Encode Sans"/>
                <a:cs typeface="Encode Sans"/>
                <a:sym typeface="Encode Sans"/>
              </a:rPr>
              <a:t>email</a:t>
            </a:r>
            <a:r>
              <a:rPr lang="en-GB">
                <a:solidFill>
                  <a:srgbClr val="434343"/>
                </a:solidFill>
                <a:latin typeface="Encode Sans"/>
                <a:ea typeface="Encode Sans"/>
                <a:cs typeface="Encode Sans"/>
                <a:sym typeface="Encode Sans"/>
              </a:rPr>
              <a:t> template.</a:t>
            </a:r>
            <a:endParaRPr>
              <a:solidFill>
                <a:srgbClr val="434343"/>
              </a:solidFill>
              <a:latin typeface="Encode Sans"/>
              <a:ea typeface="Encode Sans"/>
              <a:cs typeface="Encode Sans"/>
              <a:sym typeface="Encode Sans"/>
            </a:endParaRPr>
          </a:p>
        </p:txBody>
      </p:sp>
      <p:sp>
        <p:nvSpPr>
          <p:cNvPr id="254" name="Google Shape;254;p33"/>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255" name="Google Shape;255;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Why LLM chains are useful</a:t>
            </a:r>
            <a:endParaRPr>
              <a:solidFill>
                <a:srgbClr val="CE6948"/>
              </a:solidFill>
            </a:endParaRPr>
          </a:p>
        </p:txBody>
      </p:sp>
      <p:sp>
        <p:nvSpPr>
          <p:cNvPr id="261" name="Google Shape;261;p34"/>
          <p:cNvSpPr txBox="1"/>
          <p:nvPr>
            <p:ph idx="1" type="body"/>
          </p:nvPr>
        </p:nvSpPr>
        <p:spPr>
          <a:xfrm>
            <a:off x="311700" y="1069550"/>
            <a:ext cx="8445900" cy="3768000"/>
          </a:xfrm>
          <a:prstGeom prst="rect">
            <a:avLst/>
          </a:prstGeom>
        </p:spPr>
        <p:txBody>
          <a:bodyPr anchorCtr="0" anchor="t" bIns="91425" lIns="91425" spcFirstLastPara="1" rIns="91425" wrap="square" tIns="91425">
            <a:noAutofit/>
          </a:bodyPr>
          <a:lstStyle/>
          <a:p>
            <a:pPr indent="0" lvl="0" marL="0" rtl="0" algn="just">
              <a:lnSpc>
                <a:spcPct val="130000"/>
              </a:lnSpc>
              <a:spcBef>
                <a:spcPts val="1000"/>
              </a:spcBef>
              <a:spcAft>
                <a:spcPts val="0"/>
              </a:spcAft>
              <a:buNone/>
            </a:pPr>
            <a:r>
              <a:rPr b="1" lang="en-GB">
                <a:solidFill>
                  <a:srgbClr val="CE6948"/>
                </a:solidFill>
                <a:latin typeface="Encode Sans"/>
                <a:ea typeface="Encode Sans"/>
                <a:cs typeface="Encode Sans"/>
                <a:sym typeface="Encode Sans"/>
              </a:rPr>
              <a:t>Chaining </a:t>
            </a:r>
            <a:r>
              <a:rPr lang="en-GB">
                <a:solidFill>
                  <a:srgbClr val="434343"/>
                </a:solidFill>
                <a:latin typeface="Encode Sans"/>
                <a:ea typeface="Encode Sans"/>
                <a:cs typeface="Encode Sans"/>
                <a:sym typeface="Encode Sans"/>
              </a:rPr>
              <a:t>lets applications do things like </a:t>
            </a:r>
            <a:r>
              <a:rPr b="1" lang="en-GB">
                <a:solidFill>
                  <a:srgbClr val="434343"/>
                </a:solidFill>
                <a:latin typeface="Encode Sans"/>
                <a:ea typeface="Encode Sans"/>
                <a:cs typeface="Encode Sans"/>
                <a:sym typeface="Encode Sans"/>
              </a:rPr>
              <a:t>work with multiple files</a:t>
            </a:r>
            <a:r>
              <a:rPr lang="en-GB">
                <a:solidFill>
                  <a:srgbClr val="434343"/>
                </a:solidFill>
                <a:latin typeface="Encode Sans"/>
                <a:ea typeface="Encode Sans"/>
                <a:cs typeface="Encode Sans"/>
                <a:sym typeface="Encode Sans"/>
              </a:rPr>
              <a:t>, </a:t>
            </a:r>
            <a:r>
              <a:rPr b="1" lang="en-GB">
                <a:solidFill>
                  <a:srgbClr val="434343"/>
                </a:solidFill>
                <a:latin typeface="Encode Sans"/>
                <a:ea typeface="Encode Sans"/>
                <a:cs typeface="Encode Sans"/>
                <a:sym typeface="Encode Sans"/>
              </a:rPr>
              <a:t>refine content iteratively</a:t>
            </a:r>
            <a:r>
              <a:rPr lang="en-GB">
                <a:solidFill>
                  <a:srgbClr val="434343"/>
                </a:solidFill>
                <a:latin typeface="Encode Sans"/>
                <a:ea typeface="Encode Sans"/>
                <a:cs typeface="Encode Sans"/>
                <a:sym typeface="Encode Sans"/>
              </a:rPr>
              <a:t>, and </a:t>
            </a:r>
            <a:r>
              <a:rPr b="1" lang="en-GB">
                <a:solidFill>
                  <a:srgbClr val="434343"/>
                </a:solidFill>
                <a:latin typeface="Encode Sans"/>
                <a:ea typeface="Encode Sans"/>
                <a:cs typeface="Encode Sans"/>
                <a:sym typeface="Encode Sans"/>
              </a:rPr>
              <a:t>improve responses</a:t>
            </a:r>
            <a:r>
              <a:rPr lang="en-GB">
                <a:solidFill>
                  <a:srgbClr val="434343"/>
                </a:solidFill>
                <a:latin typeface="Encode Sans"/>
                <a:ea typeface="Encode Sans"/>
                <a:cs typeface="Encode Sans"/>
                <a:sym typeface="Encode Sans"/>
              </a:rPr>
              <a:t>.</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It also </a:t>
            </a:r>
            <a:r>
              <a:rPr b="1" lang="en-GB">
                <a:solidFill>
                  <a:srgbClr val="434343"/>
                </a:solidFill>
                <a:latin typeface="Encode Sans"/>
                <a:ea typeface="Encode Sans"/>
                <a:cs typeface="Encode Sans"/>
                <a:sym typeface="Encode Sans"/>
              </a:rPr>
              <a:t>overcomes </a:t>
            </a:r>
            <a:r>
              <a:rPr lang="en-GB">
                <a:solidFill>
                  <a:srgbClr val="434343"/>
                </a:solidFill>
                <a:latin typeface="Encode Sans"/>
                <a:ea typeface="Encode Sans"/>
                <a:cs typeface="Encode Sans"/>
                <a:sym typeface="Encode Sans"/>
              </a:rPr>
              <a:t>some inherent </a:t>
            </a:r>
            <a:r>
              <a:rPr b="1" lang="en-GB">
                <a:solidFill>
                  <a:srgbClr val="434343"/>
                </a:solidFill>
                <a:latin typeface="Encode Sans"/>
                <a:ea typeface="Encode Sans"/>
                <a:cs typeface="Encode Sans"/>
                <a:sym typeface="Encode Sans"/>
              </a:rPr>
              <a:t>limitations </a:t>
            </a:r>
            <a:r>
              <a:rPr lang="en-GB">
                <a:solidFill>
                  <a:srgbClr val="434343"/>
                </a:solidFill>
                <a:latin typeface="Encode Sans"/>
                <a:ea typeface="Encode Sans"/>
                <a:cs typeface="Encode Sans"/>
                <a:sym typeface="Encode Sans"/>
              </a:rPr>
              <a:t>of LLMs themselves:</a:t>
            </a:r>
            <a:endParaRPr>
              <a:solidFill>
                <a:schemeClr val="dk1"/>
              </a:solidFill>
              <a:latin typeface="Encode Sans"/>
              <a:ea typeface="Encode Sans"/>
              <a:cs typeface="Encode Sans"/>
              <a:sym typeface="Encode Sans"/>
            </a:endParaRPr>
          </a:p>
          <a:p>
            <a:pPr indent="-225425" lvl="1" marL="571500" marR="0" rtl="0" algn="just">
              <a:lnSpc>
                <a:spcPct val="130000"/>
              </a:lnSpc>
              <a:spcBef>
                <a:spcPts val="600"/>
              </a:spcBef>
              <a:spcAft>
                <a:spcPts val="0"/>
              </a:spcAft>
              <a:buClr>
                <a:srgbClr val="CE6948"/>
              </a:buClr>
              <a:buSzPts val="1300"/>
              <a:buFont typeface="Encode Sans"/>
              <a:buChar char="○"/>
            </a:pPr>
            <a:r>
              <a:rPr lang="en-GB">
                <a:solidFill>
                  <a:srgbClr val="434343"/>
                </a:solidFill>
                <a:latin typeface="Encode Sans SemiBold"/>
                <a:ea typeface="Encode Sans SemiBold"/>
                <a:cs typeface="Encode Sans SemiBold"/>
                <a:sym typeface="Encode Sans SemiBold"/>
              </a:rPr>
              <a:t>Overcomes context window limits</a:t>
            </a:r>
            <a:r>
              <a:rPr lang="en-GB">
                <a:solidFill>
                  <a:srgbClr val="434343"/>
                </a:solidFill>
                <a:latin typeface="Encode Sans"/>
                <a:ea typeface="Encode Sans"/>
                <a:cs typeface="Encode Sans"/>
                <a:sym typeface="Encode Sans"/>
              </a:rPr>
              <a:t> by breaking down large documents into manageable parts.</a:t>
            </a:r>
            <a:endParaRPr>
              <a:solidFill>
                <a:srgbClr val="434343"/>
              </a:solidFill>
              <a:latin typeface="Encode Sans"/>
              <a:ea typeface="Encode Sans"/>
              <a:cs typeface="Encode Sans"/>
              <a:sym typeface="Encode Sans"/>
            </a:endParaRPr>
          </a:p>
          <a:p>
            <a:pPr indent="-225425" lvl="1" marL="571500" marR="0" rtl="0" algn="just">
              <a:lnSpc>
                <a:spcPct val="130000"/>
              </a:lnSpc>
              <a:spcBef>
                <a:spcPts val="600"/>
              </a:spcBef>
              <a:spcAft>
                <a:spcPts val="0"/>
              </a:spcAft>
              <a:buClr>
                <a:srgbClr val="CE6948"/>
              </a:buClr>
              <a:buSzPts val="1300"/>
              <a:buFont typeface="Encode Sans"/>
              <a:buChar char="○"/>
            </a:pPr>
            <a:r>
              <a:rPr lang="en-GB">
                <a:solidFill>
                  <a:srgbClr val="434343"/>
                </a:solidFill>
                <a:latin typeface="Encode Sans SemiBold"/>
                <a:ea typeface="Encode Sans SemiBold"/>
                <a:cs typeface="Encode Sans SemiBold"/>
                <a:sym typeface="Encode Sans SemiBold"/>
              </a:rPr>
              <a:t>Extends conversation memory</a:t>
            </a:r>
            <a:r>
              <a:rPr lang="en-GB">
                <a:solidFill>
                  <a:srgbClr val="434343"/>
                </a:solidFill>
                <a:latin typeface="Encode Sans"/>
                <a:ea typeface="Encode Sans"/>
                <a:cs typeface="Encode Sans"/>
                <a:sym typeface="Encode Sans"/>
              </a:rPr>
              <a:t> beyond standard chat sessions via external state/memory storage.</a:t>
            </a:r>
            <a:endParaRPr>
              <a:solidFill>
                <a:srgbClr val="434343"/>
              </a:solidFill>
              <a:latin typeface="Encode Sans"/>
              <a:ea typeface="Encode Sans"/>
              <a:cs typeface="Encode Sans"/>
              <a:sym typeface="Encode Sans"/>
            </a:endParaRPr>
          </a:p>
          <a:p>
            <a:pPr indent="-225425" lvl="1" marL="571500" marR="0" rtl="0" algn="just">
              <a:lnSpc>
                <a:spcPct val="130000"/>
              </a:lnSpc>
              <a:spcBef>
                <a:spcPts val="600"/>
              </a:spcBef>
              <a:spcAft>
                <a:spcPts val="0"/>
              </a:spcAft>
              <a:buClr>
                <a:srgbClr val="CE6948"/>
              </a:buClr>
              <a:buSzPts val="1300"/>
              <a:buFont typeface="Encode Sans"/>
              <a:buChar char="○"/>
            </a:pPr>
            <a:r>
              <a:rPr lang="en-GB">
                <a:solidFill>
                  <a:srgbClr val="434343"/>
                </a:solidFill>
                <a:latin typeface="Encode Sans SemiBold"/>
                <a:ea typeface="Encode Sans SemiBold"/>
                <a:cs typeface="Encode Sans SemiBold"/>
                <a:sym typeface="Encode Sans SemiBold"/>
              </a:rPr>
              <a:t>Translates standard text outputs</a:t>
            </a:r>
            <a:r>
              <a:rPr lang="en-GB">
                <a:solidFill>
                  <a:srgbClr val="434343"/>
                </a:solidFill>
                <a:latin typeface="Encode Sans"/>
                <a:ea typeface="Encode Sans"/>
                <a:cs typeface="Encode Sans"/>
                <a:sym typeface="Encode Sans"/>
              </a:rPr>
              <a:t> into structured formats like CSV files, flow charts, or knowledge graphs.</a:t>
            </a:r>
            <a:endParaRPr>
              <a:solidFill>
                <a:srgbClr val="434343"/>
              </a:solidFill>
              <a:latin typeface="Encode Sans"/>
              <a:ea typeface="Encode Sans"/>
              <a:cs typeface="Encode Sans"/>
              <a:sym typeface="Encode Sans"/>
            </a:endParaRPr>
          </a:p>
        </p:txBody>
      </p:sp>
      <p:sp>
        <p:nvSpPr>
          <p:cNvPr id="262" name="Google Shape;262;p3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263" name="Google Shape;26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5"/>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Why LLM chains are useful </a:t>
            </a:r>
            <a:r>
              <a:rPr lang="en-GB">
                <a:solidFill>
                  <a:srgbClr val="CE6948"/>
                </a:solidFill>
              </a:rPr>
              <a:t>(cont)</a:t>
            </a:r>
            <a:endParaRPr>
              <a:solidFill>
                <a:srgbClr val="CE6948"/>
              </a:solidFill>
            </a:endParaRPr>
          </a:p>
          <a:p>
            <a:pPr indent="0" lvl="0" marL="0" rtl="0" algn="l">
              <a:spcBef>
                <a:spcPts val="0"/>
              </a:spcBef>
              <a:spcAft>
                <a:spcPts val="0"/>
              </a:spcAft>
              <a:buNone/>
            </a:pPr>
            <a:r>
              <a:t/>
            </a:r>
            <a:endParaRPr>
              <a:solidFill>
                <a:srgbClr val="CE6948"/>
              </a:solidFill>
            </a:endParaRPr>
          </a:p>
        </p:txBody>
      </p:sp>
      <p:sp>
        <p:nvSpPr>
          <p:cNvPr id="269" name="Google Shape;269;p35"/>
          <p:cNvSpPr txBox="1"/>
          <p:nvPr>
            <p:ph idx="1" type="body"/>
          </p:nvPr>
        </p:nvSpPr>
        <p:spPr>
          <a:xfrm>
            <a:off x="311700" y="1069550"/>
            <a:ext cx="8445900" cy="34164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They let you </a:t>
            </a:r>
            <a:r>
              <a:rPr b="1" lang="en-GB">
                <a:solidFill>
                  <a:srgbClr val="434343"/>
                </a:solidFill>
                <a:latin typeface="Encode Sans"/>
                <a:ea typeface="Encode Sans"/>
                <a:cs typeface="Encode Sans"/>
                <a:sym typeface="Encode Sans"/>
              </a:rPr>
              <a:t>build applications</a:t>
            </a:r>
            <a:r>
              <a:rPr lang="en-GB">
                <a:solidFill>
                  <a:srgbClr val="434343"/>
                </a:solidFill>
                <a:latin typeface="Encode Sans"/>
                <a:ea typeface="Encode Sans"/>
                <a:cs typeface="Encode Sans"/>
                <a:sym typeface="Encode Sans"/>
              </a:rPr>
              <a:t> like </a:t>
            </a:r>
            <a:r>
              <a:rPr b="1" lang="en-GB">
                <a:solidFill>
                  <a:srgbClr val="434343"/>
                </a:solidFill>
                <a:latin typeface="Encode Sans"/>
                <a:ea typeface="Encode Sans"/>
                <a:cs typeface="Encode Sans"/>
                <a:sym typeface="Encode Sans"/>
              </a:rPr>
              <a:t>LLM agents</a:t>
            </a:r>
            <a:r>
              <a:rPr lang="en-GB">
                <a:solidFill>
                  <a:srgbClr val="434343"/>
                </a:solidFill>
                <a:latin typeface="Encode Sans"/>
                <a:ea typeface="Encode Sans"/>
                <a:cs typeface="Encode Sans"/>
                <a:sym typeface="Encode Sans"/>
              </a:rPr>
              <a:t> and retrieval augmented generation (</a:t>
            </a:r>
            <a:r>
              <a:rPr b="1" lang="en-GB">
                <a:solidFill>
                  <a:srgbClr val="434343"/>
                </a:solidFill>
                <a:latin typeface="Encode Sans"/>
                <a:ea typeface="Encode Sans"/>
                <a:cs typeface="Encode Sans"/>
                <a:sym typeface="Encode Sans"/>
              </a:rPr>
              <a:t>RAG</a:t>
            </a:r>
            <a:r>
              <a:rPr lang="en-GB">
                <a:solidFill>
                  <a:srgbClr val="434343"/>
                </a:solidFill>
                <a:latin typeface="Encode Sans"/>
                <a:ea typeface="Encode Sans"/>
                <a:cs typeface="Encode Sans"/>
                <a:sym typeface="Encode Sans"/>
              </a:rPr>
              <a:t>) </a:t>
            </a:r>
            <a:r>
              <a:rPr b="1" lang="en-GB">
                <a:solidFill>
                  <a:srgbClr val="434343"/>
                </a:solidFill>
                <a:latin typeface="Encode Sans"/>
                <a:ea typeface="Encode Sans"/>
                <a:cs typeface="Encode Sans"/>
                <a:sym typeface="Encode Sans"/>
              </a:rPr>
              <a:t>systems </a:t>
            </a:r>
            <a:r>
              <a:rPr lang="en-GB">
                <a:solidFill>
                  <a:srgbClr val="434343"/>
                </a:solidFill>
                <a:latin typeface="Encode Sans"/>
                <a:ea typeface="Encode Sans"/>
                <a:cs typeface="Encode Sans"/>
                <a:sym typeface="Encode Sans"/>
              </a:rPr>
              <a:t>that typically include:</a:t>
            </a:r>
            <a:endParaRPr>
              <a:solidFill>
                <a:srgbClr val="434343"/>
              </a:solidFill>
              <a:latin typeface="Encode Sans"/>
              <a:ea typeface="Encode Sans"/>
              <a:cs typeface="Encode Sans"/>
              <a:sym typeface="Encode Sans"/>
            </a:endParaRPr>
          </a:p>
          <a:p>
            <a:pPr indent="-225425" lvl="1" marL="571500" marR="0" rtl="0" algn="just">
              <a:lnSpc>
                <a:spcPct val="130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Input processin</a:t>
            </a:r>
            <a:r>
              <a:rPr lang="en-GB">
                <a:solidFill>
                  <a:srgbClr val="434343"/>
                </a:solidFill>
                <a:latin typeface="Encode Sans"/>
                <a:ea typeface="Encode Sans"/>
                <a:cs typeface="Encode Sans"/>
                <a:sym typeface="Encode Sans"/>
              </a:rPr>
              <a:t>g and prompt formatting for the LLM.</a:t>
            </a:r>
            <a:endParaRPr>
              <a:solidFill>
                <a:srgbClr val="434343"/>
              </a:solidFill>
              <a:latin typeface="Encode Sans"/>
              <a:ea typeface="Encode Sans"/>
              <a:cs typeface="Encode Sans"/>
              <a:sym typeface="Encode Sans"/>
            </a:endParaRPr>
          </a:p>
          <a:p>
            <a:pPr indent="-225425" lvl="1" marL="571500" marR="0" rtl="0" algn="just">
              <a:lnSpc>
                <a:spcPct val="130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APIs for connecting LLMs with external services.</a:t>
            </a:r>
            <a:endParaRPr>
              <a:solidFill>
                <a:srgbClr val="434343"/>
              </a:solidFill>
              <a:latin typeface="Encode Sans"/>
              <a:ea typeface="Encode Sans"/>
              <a:cs typeface="Encode Sans"/>
              <a:sym typeface="Encode Sans"/>
            </a:endParaRPr>
          </a:p>
          <a:p>
            <a:pPr indent="-225425" lvl="1" marL="571500" marR="0" rtl="0" algn="just">
              <a:lnSpc>
                <a:spcPct val="130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Processing, parsing, and validating LLM outputs.</a:t>
            </a:r>
            <a:endParaRPr>
              <a:solidFill>
                <a:srgbClr val="434343"/>
              </a:solidFill>
              <a:latin typeface="Encode Sans"/>
              <a:ea typeface="Encode Sans"/>
              <a:cs typeface="Encode Sans"/>
              <a:sym typeface="Encode Sans"/>
            </a:endParaRPr>
          </a:p>
          <a:p>
            <a:pPr indent="-225425" lvl="1" marL="571500" marR="0" rtl="0" algn="just">
              <a:lnSpc>
                <a:spcPct val="130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Retrieving exter</a:t>
            </a:r>
            <a:r>
              <a:rPr lang="en-GB">
                <a:solidFill>
                  <a:srgbClr val="434343"/>
                </a:solidFill>
                <a:latin typeface="Encode Sans"/>
                <a:ea typeface="Encode Sans"/>
                <a:cs typeface="Encode Sans"/>
                <a:sym typeface="Encode Sans"/>
              </a:rPr>
              <a:t>nal data, such as vector embeddings, to enhance RAG applications.</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24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But putting together an LLM chain isn’t always straightforward</a:t>
            </a:r>
            <a:r>
              <a:rPr lang="en-GB">
                <a:solidFill>
                  <a:srgbClr val="434343"/>
                </a:solidFill>
                <a:latin typeface="Encode Sans"/>
                <a:ea typeface="Encode Sans"/>
                <a:cs typeface="Encode Sans"/>
                <a:sym typeface="Encode Sans"/>
              </a:rPr>
              <a:t>, which is why orchestration frameworks like LangChain and LlamaIndex exist, though these have their own inefficiencies that we’ll discuss later on.</a:t>
            </a:r>
            <a:endParaRPr>
              <a:solidFill>
                <a:srgbClr val="434343"/>
              </a:solidFill>
              <a:latin typeface="Encode Sans"/>
              <a:ea typeface="Encode Sans"/>
              <a:cs typeface="Encode Sans"/>
              <a:sym typeface="Encode Sans"/>
            </a:endParaRPr>
          </a:p>
        </p:txBody>
      </p:sp>
      <p:sp>
        <p:nvSpPr>
          <p:cNvPr id="270" name="Google Shape;270;p35"/>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271" name="Google Shape;27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6"/>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Core Chaining Patterns</a:t>
            </a:r>
            <a:endParaRPr>
              <a:solidFill>
                <a:srgbClr val="CE6948"/>
              </a:solidFill>
            </a:endParaRPr>
          </a:p>
        </p:txBody>
      </p:sp>
      <p:sp>
        <p:nvSpPr>
          <p:cNvPr id="277" name="Google Shape;277;p36"/>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CE6948"/>
                </a:solidFill>
                <a:latin typeface="Encode Sans"/>
                <a:ea typeface="Encode Sans"/>
                <a:cs typeface="Encode Sans"/>
                <a:sym typeface="Encode Sans"/>
              </a:rPr>
              <a:t>Chaining Patterns</a:t>
            </a:r>
            <a:r>
              <a:rPr lang="en-GB">
                <a:solidFill>
                  <a:srgbClr val="434343"/>
                </a:solidFill>
                <a:latin typeface="Encode Sans"/>
                <a:ea typeface="Encode Sans"/>
                <a:cs typeface="Encode Sans"/>
                <a:sym typeface="Encode Sans"/>
              </a:rPr>
              <a:t> are foundational structural </a:t>
            </a:r>
            <a:r>
              <a:rPr b="1" lang="en-GB">
                <a:solidFill>
                  <a:srgbClr val="434343"/>
                </a:solidFill>
                <a:latin typeface="Encode Sans"/>
                <a:ea typeface="Encode Sans"/>
                <a:cs typeface="Encode Sans"/>
                <a:sym typeface="Encode Sans"/>
              </a:rPr>
              <a:t>blueprints </a:t>
            </a:r>
            <a:r>
              <a:rPr lang="en-GB">
                <a:solidFill>
                  <a:srgbClr val="434343"/>
                </a:solidFill>
                <a:latin typeface="Encode Sans"/>
                <a:ea typeface="Encode Sans"/>
                <a:cs typeface="Encode Sans"/>
                <a:sym typeface="Encode Sans"/>
              </a:rPr>
              <a:t>for connecting multiple </a:t>
            </a:r>
            <a:r>
              <a:rPr b="1" lang="en-GB">
                <a:solidFill>
                  <a:srgbClr val="434343"/>
                </a:solidFill>
                <a:latin typeface="Encode Sans"/>
                <a:ea typeface="Encode Sans"/>
                <a:cs typeface="Encode Sans"/>
                <a:sym typeface="Encode Sans"/>
              </a:rPr>
              <a:t>LLM calls, deterministic code, and external tools</a:t>
            </a:r>
            <a:r>
              <a:rPr lang="en-GB">
                <a:solidFill>
                  <a:srgbClr val="434343"/>
                </a:solidFill>
                <a:latin typeface="Encode Sans"/>
                <a:ea typeface="Encode Sans"/>
                <a:cs typeface="Encode Sans"/>
                <a:sym typeface="Encode Sans"/>
              </a:rPr>
              <a:t> into a multi-step workflow.</a:t>
            </a:r>
            <a:endParaRPr b="1" sz="1400">
              <a:solidFill>
                <a:srgbClr val="067D17"/>
              </a:solidFill>
              <a:latin typeface="Consolas"/>
              <a:ea typeface="Consolas"/>
              <a:cs typeface="Consolas"/>
              <a:sym typeface="Consola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As workflows become more complex, different chaining patterns define </a:t>
            </a:r>
            <a:r>
              <a:rPr b="1" lang="en-GB">
                <a:solidFill>
                  <a:srgbClr val="434343"/>
                </a:solidFill>
                <a:latin typeface="Encode Sans"/>
                <a:ea typeface="Encode Sans"/>
                <a:cs typeface="Encode Sans"/>
                <a:sym typeface="Encode Sans"/>
              </a:rPr>
              <a:t>how data and control flow between steps. </a:t>
            </a:r>
            <a:endParaRPr>
              <a:solidFill>
                <a:srgbClr val="434343"/>
              </a:solidFill>
              <a:latin typeface="Encode Sans"/>
              <a:ea typeface="Encode Sans"/>
              <a:cs typeface="Encode Sans"/>
              <a:sym typeface="Encode Sans"/>
            </a:endParaRPr>
          </a:p>
        </p:txBody>
      </p:sp>
      <p:sp>
        <p:nvSpPr>
          <p:cNvPr id="278" name="Google Shape;278;p36"/>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279" name="Google Shape;27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Core Chaining Patterns (cont)</a:t>
            </a:r>
            <a:endParaRPr>
              <a:solidFill>
                <a:srgbClr val="CE6948"/>
              </a:solidFill>
            </a:endParaRPr>
          </a:p>
        </p:txBody>
      </p:sp>
      <p:sp>
        <p:nvSpPr>
          <p:cNvPr id="285" name="Google Shape;285;p37"/>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Common chaining patterns include: </a:t>
            </a:r>
            <a:endParaRPr>
              <a:solidFill>
                <a:srgbClr val="434343"/>
              </a:solidFill>
              <a:latin typeface="Encode Sans"/>
              <a:ea typeface="Encode Sans"/>
              <a:cs typeface="Encode Sans"/>
              <a:sym typeface="Encode Sans"/>
            </a:endParaRPr>
          </a:p>
          <a:p>
            <a:pPr indent="-225425" lvl="1" marL="571500" marR="0" rtl="0" algn="just">
              <a:lnSpc>
                <a:spcPct val="130000"/>
              </a:lnSpc>
              <a:spcBef>
                <a:spcPts val="4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Sequential Chain</a:t>
            </a:r>
            <a:r>
              <a:rPr lang="en-GB">
                <a:solidFill>
                  <a:srgbClr val="434343"/>
                </a:solidFill>
                <a:latin typeface="Encode Sans"/>
                <a:ea typeface="Encode Sans"/>
                <a:cs typeface="Encode Sans"/>
                <a:sym typeface="Encode Sans"/>
              </a:rPr>
              <a:t> — execute steps one after another.</a:t>
            </a:r>
            <a:endParaRPr>
              <a:solidFill>
                <a:srgbClr val="434343"/>
              </a:solidFill>
              <a:latin typeface="Encode Sans"/>
              <a:ea typeface="Encode Sans"/>
              <a:cs typeface="Encode Sans"/>
              <a:sym typeface="Encode Sans"/>
            </a:endParaRPr>
          </a:p>
          <a:p>
            <a:pPr indent="-225425" lvl="1" marL="571500" marR="0" rtl="0" algn="just">
              <a:lnSpc>
                <a:spcPct val="130000"/>
              </a:lnSpc>
              <a:spcBef>
                <a:spcPts val="4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Conditional Routing</a:t>
            </a:r>
            <a:r>
              <a:rPr lang="en-GB">
                <a:solidFill>
                  <a:srgbClr val="434343"/>
                </a:solidFill>
                <a:latin typeface="Encode Sans"/>
                <a:ea typeface="Encode Sans"/>
                <a:cs typeface="Encode Sans"/>
                <a:sym typeface="Encode Sans"/>
              </a:rPr>
              <a:t> — choose the next step based on a condition.</a:t>
            </a:r>
            <a:endParaRPr>
              <a:solidFill>
                <a:srgbClr val="434343"/>
              </a:solidFill>
              <a:latin typeface="Encode Sans"/>
              <a:ea typeface="Encode Sans"/>
              <a:cs typeface="Encode Sans"/>
              <a:sym typeface="Encode Sans"/>
            </a:endParaRPr>
          </a:p>
          <a:p>
            <a:pPr indent="-225425" lvl="1" marL="571500" marR="0" rtl="0" algn="just">
              <a:lnSpc>
                <a:spcPct val="130000"/>
              </a:lnSpc>
              <a:spcBef>
                <a:spcPts val="4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Parallel Execution</a:t>
            </a:r>
            <a:r>
              <a:rPr lang="en-GB">
                <a:solidFill>
                  <a:srgbClr val="434343"/>
                </a:solidFill>
                <a:latin typeface="Encode Sans"/>
                <a:ea typeface="Encode Sans"/>
                <a:cs typeface="Encode Sans"/>
                <a:sym typeface="Encode Sans"/>
              </a:rPr>
              <a:t> — execute multiple independent steps simultaneously.</a:t>
            </a:r>
            <a:endParaRPr>
              <a:solidFill>
                <a:srgbClr val="434343"/>
              </a:solidFill>
              <a:latin typeface="Encode Sans"/>
              <a:ea typeface="Encode Sans"/>
              <a:cs typeface="Encode Sans"/>
              <a:sym typeface="Encode Sans"/>
            </a:endParaRPr>
          </a:p>
          <a:p>
            <a:pPr indent="-225425" lvl="1" marL="571500" marR="0" rtl="0" algn="just">
              <a:lnSpc>
                <a:spcPct val="130000"/>
              </a:lnSpc>
              <a:spcBef>
                <a:spcPts val="4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Evaluator–Optimizer</a:t>
            </a:r>
            <a:r>
              <a:rPr lang="en-GB">
                <a:solidFill>
                  <a:srgbClr val="434343"/>
                </a:solidFill>
                <a:latin typeface="Encode Sans"/>
                <a:ea typeface="Encode Sans"/>
                <a:cs typeface="Encode Sans"/>
                <a:sym typeface="Encode Sans"/>
              </a:rPr>
              <a:t> — generate, evaluate, and iteratively improve an output.</a:t>
            </a:r>
            <a:endParaRPr>
              <a:solidFill>
                <a:srgbClr val="434343"/>
              </a:solidFill>
              <a:latin typeface="Encode Sans"/>
              <a:ea typeface="Encode Sans"/>
              <a:cs typeface="Encode Sans"/>
              <a:sym typeface="Encode Sans"/>
            </a:endParaRPr>
          </a:p>
          <a:p>
            <a:pPr indent="-225425" lvl="1" marL="571500" marR="0" rtl="0" algn="just">
              <a:lnSpc>
                <a:spcPct val="130000"/>
              </a:lnSpc>
              <a:spcBef>
                <a:spcPts val="4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Orchestrator–Worker</a:t>
            </a:r>
            <a:r>
              <a:rPr lang="en-GB">
                <a:solidFill>
                  <a:srgbClr val="434343"/>
                </a:solidFill>
                <a:latin typeface="Encode Sans"/>
                <a:ea typeface="Encode Sans"/>
                <a:cs typeface="Encode Sans"/>
                <a:sym typeface="Encode Sans"/>
              </a:rPr>
              <a:t> — a central orchestrator delegates tasks to specialized workers.</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2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In this course, </a:t>
            </a:r>
            <a:r>
              <a:rPr lang="en-GB">
                <a:solidFill>
                  <a:srgbClr val="434343"/>
                </a:solidFill>
                <a:latin typeface="Encode Sans SemiBold"/>
                <a:ea typeface="Encode Sans SemiBold"/>
                <a:cs typeface="Encode Sans SemiBold"/>
                <a:sym typeface="Encode Sans SemiBold"/>
              </a:rPr>
              <a:t>we focus on two fundamental patterns:</a:t>
            </a:r>
            <a:r>
              <a:rPr b="1" lang="en-GB">
                <a:solidFill>
                  <a:srgbClr val="434343"/>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Sequential Chain</a:t>
            </a:r>
            <a:r>
              <a:rPr lang="en-GB">
                <a:solidFill>
                  <a:srgbClr val="434343"/>
                </a:solidFill>
                <a:latin typeface="Encode Sans"/>
                <a:ea typeface="Encode Sans"/>
                <a:cs typeface="Encode Sans"/>
                <a:sym typeface="Encode Sans"/>
              </a:rPr>
              <a:t> and </a:t>
            </a:r>
            <a:r>
              <a:rPr b="1" lang="en-GB">
                <a:solidFill>
                  <a:srgbClr val="CE6948"/>
                </a:solidFill>
                <a:latin typeface="Encode Sans"/>
                <a:ea typeface="Encode Sans"/>
                <a:cs typeface="Encode Sans"/>
                <a:sym typeface="Encode Sans"/>
              </a:rPr>
              <a:t>Conditional Routing</a:t>
            </a:r>
            <a:r>
              <a:rPr b="1" lang="en-GB">
                <a:solidFill>
                  <a:srgbClr val="434343"/>
                </a:solidFill>
                <a:latin typeface="Encode Sans"/>
                <a:ea typeface="Encode Sans"/>
                <a:cs typeface="Encode Sans"/>
                <a:sym typeface="Encode Sans"/>
              </a:rPr>
              <a:t>.</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p:txBody>
      </p:sp>
      <p:sp>
        <p:nvSpPr>
          <p:cNvPr id="286" name="Google Shape;286;p3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287" name="Google Shape;28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8"/>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Sequential Chain</a:t>
            </a:r>
            <a:endParaRPr>
              <a:solidFill>
                <a:srgbClr val="CE6948"/>
              </a:solidFill>
            </a:endParaRPr>
          </a:p>
        </p:txBody>
      </p:sp>
      <p:sp>
        <p:nvSpPr>
          <p:cNvPr id="293" name="Google Shape;293;p38"/>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A </a:t>
            </a:r>
            <a:r>
              <a:rPr b="1" lang="en-GB">
                <a:solidFill>
                  <a:srgbClr val="434343"/>
                </a:solidFill>
                <a:latin typeface="Encode Sans"/>
                <a:ea typeface="Encode Sans"/>
                <a:cs typeface="Encode Sans"/>
                <a:sym typeface="Encode Sans"/>
              </a:rPr>
              <a:t>Sequential Chain</a:t>
            </a:r>
            <a:r>
              <a:rPr lang="en-GB">
                <a:solidFill>
                  <a:srgbClr val="434343"/>
                </a:solidFill>
                <a:latin typeface="Encode Sans"/>
                <a:ea typeface="Encode Sans"/>
                <a:cs typeface="Encode Sans"/>
                <a:sym typeface="Encode Sans"/>
              </a:rPr>
              <a:t> represents a </a:t>
            </a:r>
            <a:r>
              <a:rPr b="1" lang="en-GB">
                <a:solidFill>
                  <a:srgbClr val="434343"/>
                </a:solidFill>
                <a:latin typeface="Encode Sans"/>
                <a:ea typeface="Encode Sans"/>
                <a:cs typeface="Encode Sans"/>
                <a:sym typeface="Encode Sans"/>
              </a:rPr>
              <a:t>linear, deterministic pipeline</a:t>
            </a:r>
            <a:r>
              <a:rPr lang="en-GB">
                <a:solidFill>
                  <a:srgbClr val="434343"/>
                </a:solidFill>
                <a:latin typeface="Encode Sans"/>
                <a:ea typeface="Encode Sans"/>
                <a:cs typeface="Encode Sans"/>
                <a:sym typeface="Encode Sans"/>
              </a:rPr>
              <a:t> in which processing steps, represented as nodes, are executed in a fixed order.</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output of one step becomes the input to the next. </a:t>
            </a:r>
            <a:endParaRPr>
              <a:solidFill>
                <a:srgbClr val="434343"/>
              </a:solidFill>
              <a:latin typeface="Encode Sans"/>
              <a:ea typeface="Encode Sans"/>
              <a:cs typeface="Encode Sans"/>
              <a:sym typeface="Encode Sans"/>
            </a:endParaRPr>
          </a:p>
        </p:txBody>
      </p:sp>
      <p:sp>
        <p:nvSpPr>
          <p:cNvPr id="294" name="Google Shape;294;p38"/>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295" name="Google Shape;29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96" name="Google Shape;296;p38" title="ai_workflow_diagram_v2 3.png"/>
          <p:cNvPicPr preferRelativeResize="0"/>
          <p:nvPr/>
        </p:nvPicPr>
        <p:blipFill>
          <a:blip r:embed="rId3">
            <a:alphaModFix/>
          </a:blip>
          <a:stretch>
            <a:fillRect/>
          </a:stretch>
        </p:blipFill>
        <p:spPr>
          <a:xfrm>
            <a:off x="1482825" y="2180217"/>
            <a:ext cx="6178350" cy="16109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9"/>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Sequential Chain</a:t>
            </a:r>
            <a:endParaRPr>
              <a:solidFill>
                <a:srgbClr val="CE6948"/>
              </a:solidFill>
            </a:endParaRPr>
          </a:p>
        </p:txBody>
      </p:sp>
      <p:sp>
        <p:nvSpPr>
          <p:cNvPr id="302" name="Google Shape;302;p39"/>
          <p:cNvSpPr txBox="1"/>
          <p:nvPr>
            <p:ph idx="1" type="body"/>
          </p:nvPr>
        </p:nvSpPr>
        <p:spPr>
          <a:xfrm>
            <a:off x="311700" y="1069550"/>
            <a:ext cx="8445900" cy="527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structured output of </a:t>
            </a:r>
            <a:r>
              <a:rPr b="1" lang="en-GB">
                <a:solidFill>
                  <a:srgbClr val="434343"/>
                </a:solidFill>
                <a:latin typeface="Encode Sans"/>
                <a:ea typeface="Encode Sans"/>
                <a:cs typeface="Encode Sans"/>
                <a:sym typeface="Encode Sans"/>
              </a:rPr>
              <a:t>Step N</a:t>
            </a:r>
            <a:r>
              <a:rPr lang="en-GB">
                <a:solidFill>
                  <a:srgbClr val="434343"/>
                </a:solidFill>
                <a:latin typeface="Encode Sans"/>
                <a:ea typeface="Encode Sans"/>
                <a:cs typeface="Encode Sans"/>
                <a:sym typeface="Encode Sans"/>
              </a:rPr>
              <a:t> becomes the direct input or context for </a:t>
            </a:r>
            <a:r>
              <a:rPr b="1" lang="en-GB">
                <a:solidFill>
                  <a:srgbClr val="434343"/>
                </a:solidFill>
                <a:latin typeface="Encode Sans"/>
                <a:ea typeface="Encode Sans"/>
                <a:cs typeface="Encode Sans"/>
                <a:sym typeface="Encode Sans"/>
              </a:rPr>
              <a:t>Step N+1</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p:txBody>
      </p:sp>
      <p:sp>
        <p:nvSpPr>
          <p:cNvPr id="303" name="Google Shape;303;p39"/>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pic>
        <p:nvPicPr>
          <p:cNvPr id="304" name="Google Shape;304;p39"/>
          <p:cNvPicPr preferRelativeResize="0"/>
          <p:nvPr/>
        </p:nvPicPr>
        <p:blipFill rotWithShape="1">
          <a:blip r:embed="rId3">
            <a:alphaModFix/>
          </a:blip>
          <a:srcRect b="11107" l="0" r="0" t="11115"/>
          <a:stretch/>
        </p:blipFill>
        <p:spPr>
          <a:xfrm>
            <a:off x="545538" y="1596744"/>
            <a:ext cx="8052925" cy="2106375"/>
          </a:xfrm>
          <a:prstGeom prst="rect">
            <a:avLst/>
          </a:prstGeom>
          <a:noFill/>
          <a:ln>
            <a:noFill/>
          </a:ln>
        </p:spPr>
      </p:pic>
      <p:sp>
        <p:nvSpPr>
          <p:cNvPr id="305" name="Google Shape;305;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06" name="Google Shape;306;p39"/>
          <p:cNvSpPr txBox="1"/>
          <p:nvPr>
            <p:ph idx="1" type="body"/>
          </p:nvPr>
        </p:nvSpPr>
        <p:spPr>
          <a:xfrm>
            <a:off x="311700" y="3919625"/>
            <a:ext cx="8445900" cy="527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What is Gate? - Gate </a:t>
            </a:r>
            <a:r>
              <a:rPr lang="en-GB">
                <a:solidFill>
                  <a:srgbClr val="434343"/>
                </a:solidFill>
                <a:latin typeface="Encode Sans"/>
                <a:ea typeface="Encode Sans"/>
                <a:cs typeface="Encode Sans"/>
                <a:sym typeface="Encode Sans"/>
              </a:rPr>
              <a:t>acts as a </a:t>
            </a:r>
            <a:r>
              <a:rPr b="1" lang="en-GB">
                <a:solidFill>
                  <a:srgbClr val="434343"/>
                </a:solidFill>
                <a:latin typeface="Encode Sans"/>
                <a:ea typeface="Encode Sans"/>
                <a:cs typeface="Encode Sans"/>
                <a:sym typeface="Encode Sans"/>
              </a:rPr>
              <a:t>conditional decision point (or router)</a:t>
            </a:r>
            <a:r>
              <a:rPr lang="en-GB">
                <a:solidFill>
                  <a:srgbClr val="434343"/>
                </a:solidFill>
                <a:latin typeface="Encode Sans"/>
                <a:ea typeface="Encode Sans"/>
                <a:cs typeface="Encode Sans"/>
                <a:sym typeface="Encode Sans"/>
              </a:rPr>
              <a:t> that evaluates "Output 1" from LLM 1:</a:t>
            </a:r>
            <a:endParaRPr>
              <a:solidFill>
                <a:srgbClr val="434343"/>
              </a:solidFill>
              <a:latin typeface="Encode Sans"/>
              <a:ea typeface="Encode Sans"/>
              <a:cs typeface="Encode Sans"/>
              <a:sym typeface="Encode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Sequential Chain (cont)</a:t>
            </a:r>
            <a:endParaRPr>
              <a:solidFill>
                <a:srgbClr val="CE6948"/>
              </a:solidFill>
            </a:endParaRPr>
          </a:p>
        </p:txBody>
      </p:sp>
      <p:sp>
        <p:nvSpPr>
          <p:cNvPr id="312" name="Google Shape;312;p40"/>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Best Use Cases:</a:t>
            </a:r>
            <a:r>
              <a:rPr lang="en-GB">
                <a:solidFill>
                  <a:srgbClr val="434343"/>
                </a:solidFill>
                <a:latin typeface="Encode Sans"/>
                <a:ea typeface="Encode Sans"/>
                <a:cs typeface="Encode Sans"/>
                <a:sym typeface="Encode Sans"/>
              </a:rPr>
              <a:t> Sequential execution works best for</a:t>
            </a:r>
            <a:r>
              <a:rPr b="1" lang="en-GB">
                <a:solidFill>
                  <a:srgbClr val="434343"/>
                </a:solidFill>
                <a:latin typeface="Encode Sans"/>
                <a:ea typeface="Encode Sans"/>
                <a:cs typeface="Encode Sans"/>
                <a:sym typeface="Encode Sans"/>
              </a:rPr>
              <a:t> highly structured and predictable processes </a:t>
            </a:r>
            <a:r>
              <a:rPr lang="en-GB">
                <a:solidFill>
                  <a:srgbClr val="434343"/>
                </a:solidFill>
                <a:latin typeface="Encode Sans"/>
                <a:ea typeface="Encode Sans"/>
                <a:cs typeface="Encode Sans"/>
                <a:sym typeface="Encode Sans"/>
              </a:rPr>
              <a:t>where each step depends on the result of the previous step.</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Example:  </a:t>
            </a:r>
            <a:r>
              <a:rPr lang="en-GB">
                <a:solidFill>
                  <a:srgbClr val="434343"/>
                </a:solidFill>
                <a:latin typeface="Encode Sans"/>
                <a:ea typeface="Encode Sans"/>
                <a:cs typeface="Encode Sans"/>
                <a:sym typeface="Encode Sans"/>
              </a:rPr>
              <a:t>User asks: </a:t>
            </a:r>
            <a:r>
              <a:rPr b="1" i="1" lang="en-GB">
                <a:solidFill>
                  <a:srgbClr val="434343"/>
                </a:solidFill>
                <a:latin typeface="Encode Sans"/>
                <a:ea typeface="Encode Sans"/>
                <a:cs typeface="Encode Sans"/>
                <a:sym typeface="Encode Sans"/>
              </a:rPr>
              <a:t>"Summarize this article and translate it into Khmer."</a:t>
            </a:r>
            <a:endParaRPr b="1">
              <a:solidFill>
                <a:srgbClr val="434343"/>
              </a:solidFill>
              <a:latin typeface="Encode Sans"/>
              <a:ea typeface="Encode Sans"/>
              <a:cs typeface="Encode Sans"/>
              <a:sym typeface="Encode Sans"/>
            </a:endParaRPr>
          </a:p>
          <a:p>
            <a:pPr indent="0" lvl="0" marL="457200" rtl="0" algn="just">
              <a:spcBef>
                <a:spcPts val="0"/>
              </a:spcBef>
              <a:spcAft>
                <a:spcPts val="0"/>
              </a:spcAft>
              <a:buClr>
                <a:schemeClr val="dk1"/>
              </a:buClr>
              <a:buSzPts val="1100"/>
              <a:buFont typeface="Arial"/>
              <a:buNone/>
            </a:pPr>
            <a:r>
              <a:t/>
            </a:r>
            <a:endParaRPr>
              <a:solidFill>
                <a:srgbClr val="434343"/>
              </a:solidFill>
              <a:latin typeface="Encode Sans"/>
              <a:ea typeface="Encode Sans"/>
              <a:cs typeface="Encode Sans"/>
              <a:sym typeface="Encode Sans"/>
            </a:endParaRPr>
          </a:p>
          <a:p>
            <a:pPr indent="0" lvl="0" marL="457200" rtl="0" algn="just">
              <a:spcBef>
                <a:spcPts val="0"/>
              </a:spcBef>
              <a:spcAft>
                <a:spcPts val="0"/>
              </a:spcAft>
              <a:buClr>
                <a:schemeClr val="dk1"/>
              </a:buClr>
              <a:buSzPts val="1100"/>
              <a:buFont typeface="Arial"/>
              <a:buNone/>
            </a:pPr>
            <a:br>
              <a:rPr lang="en-GB">
                <a:solidFill>
                  <a:srgbClr val="434343"/>
                </a:solidFill>
                <a:latin typeface="Encode Sans"/>
                <a:ea typeface="Encode Sans"/>
                <a:cs typeface="Encode Sans"/>
                <a:sym typeface="Encode Sans"/>
              </a:rPr>
            </a:br>
            <a:endParaRPr>
              <a:solidFill>
                <a:srgbClr val="434343"/>
              </a:solidFill>
              <a:latin typeface="Encode Sans"/>
              <a:ea typeface="Encode Sans"/>
              <a:cs typeface="Encode Sans"/>
              <a:sym typeface="Encode Sans"/>
            </a:endParaRPr>
          </a:p>
          <a:p>
            <a:pPr indent="0" lvl="0" marL="457200" rtl="0" algn="just">
              <a:spcBef>
                <a:spcPts val="0"/>
              </a:spcBef>
              <a:spcAft>
                <a:spcPts val="0"/>
              </a:spcAft>
              <a:buClr>
                <a:schemeClr val="dk1"/>
              </a:buClr>
              <a:buSzPts val="1100"/>
              <a:buFont typeface="Arial"/>
              <a:buNone/>
            </a:pPr>
            <a:r>
              <a:t/>
            </a:r>
            <a:endParaRPr>
              <a:solidFill>
                <a:srgbClr val="434343"/>
              </a:solidFill>
              <a:latin typeface="Encode Sans"/>
              <a:ea typeface="Encode Sans"/>
              <a:cs typeface="Encode Sans"/>
              <a:sym typeface="Encode Sans"/>
            </a:endParaRPr>
          </a:p>
          <a:p>
            <a:pPr indent="0" lvl="0" marL="457200" rtl="0" algn="just">
              <a:spcBef>
                <a:spcPts val="0"/>
              </a:spcBef>
              <a:spcAft>
                <a:spcPts val="0"/>
              </a:spcAft>
              <a:buClr>
                <a:schemeClr val="dk1"/>
              </a:buClr>
              <a:buSzPts val="1100"/>
              <a:buFont typeface="Arial"/>
              <a:buNone/>
            </a:pPr>
            <a:r>
              <a:t/>
            </a:r>
            <a:endParaRPr>
              <a:solidFill>
                <a:srgbClr val="434343"/>
              </a:solidFill>
              <a:latin typeface="Encode Sans"/>
              <a:ea typeface="Encode Sans"/>
              <a:cs typeface="Encode Sans"/>
              <a:sym typeface="Encode Sans"/>
            </a:endParaRPr>
          </a:p>
          <a:p>
            <a:pPr indent="0" lvl="0" marL="0" rtl="0" algn="just">
              <a:spcBef>
                <a:spcPts val="0"/>
              </a:spcBef>
              <a:spcAft>
                <a:spcPts val="0"/>
              </a:spcAft>
              <a:buClr>
                <a:schemeClr val="dk1"/>
              </a:buClr>
              <a:buSzPts val="1100"/>
              <a:buFont typeface="Arial"/>
              <a:buNone/>
            </a:pPr>
            <a:r>
              <a:t/>
            </a:r>
            <a:endParaRPr>
              <a:solidFill>
                <a:srgbClr val="434343"/>
              </a:solidFill>
              <a:latin typeface="Encode Sans"/>
              <a:ea typeface="Encode Sans"/>
              <a:cs typeface="Encode Sans"/>
              <a:sym typeface="Encode Sans"/>
            </a:endParaRPr>
          </a:p>
          <a:p>
            <a:pPr indent="0" lvl="0" marL="585000" rtl="0" algn="just">
              <a:spcBef>
                <a:spcPts val="1000"/>
              </a:spcBef>
              <a:spcAft>
                <a:spcPts val="0"/>
              </a:spcAft>
              <a:buClr>
                <a:schemeClr val="dk1"/>
              </a:buClr>
              <a:buSzPts val="1100"/>
              <a:buFont typeface="Arial"/>
              <a:buNone/>
            </a:pPr>
            <a:r>
              <a:rPr lang="en-GB">
                <a:solidFill>
                  <a:srgbClr val="434343"/>
                </a:solidFill>
                <a:latin typeface="Encode Sans"/>
                <a:ea typeface="Encode Sans"/>
                <a:cs typeface="Encode Sans"/>
                <a:sym typeface="Encode Sans"/>
              </a:rPr>
              <a:t>The workflow can be broken into: </a:t>
            </a:r>
            <a:endParaRPr>
              <a:solidFill>
                <a:srgbClr val="434343"/>
              </a:solidFill>
              <a:latin typeface="Encode Sans"/>
              <a:ea typeface="Encode Sans"/>
              <a:cs typeface="Encode Sans"/>
              <a:sym typeface="Encode Sans"/>
            </a:endParaRPr>
          </a:p>
          <a:p>
            <a:pPr indent="-225425" lvl="1" marL="9144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1:</a:t>
            </a:r>
            <a:r>
              <a:rPr lang="en-GB">
                <a:solidFill>
                  <a:srgbClr val="434343"/>
                </a:solidFill>
                <a:latin typeface="Encode Sans"/>
                <a:ea typeface="Encode Sans"/>
                <a:cs typeface="Encode Sans"/>
                <a:sym typeface="Encode Sans"/>
              </a:rPr>
              <a:t> Receive the user's article</a:t>
            </a:r>
            <a:endParaRPr>
              <a:solidFill>
                <a:srgbClr val="434343"/>
              </a:solidFill>
              <a:latin typeface="Encode Sans"/>
              <a:ea typeface="Encode Sans"/>
              <a:cs typeface="Encode Sans"/>
              <a:sym typeface="Encode Sans"/>
            </a:endParaRPr>
          </a:p>
          <a:p>
            <a:pPr indent="-225425" lvl="1" marL="9144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2:</a:t>
            </a:r>
            <a:r>
              <a:rPr lang="en-GB">
                <a:solidFill>
                  <a:srgbClr val="434343"/>
                </a:solidFill>
                <a:latin typeface="Encode Sans"/>
                <a:ea typeface="Encode Sans"/>
                <a:cs typeface="Encode Sans"/>
                <a:sym typeface="Encode Sans"/>
              </a:rPr>
              <a:t> LLM summarizes the article</a:t>
            </a:r>
            <a:endParaRPr>
              <a:solidFill>
                <a:srgbClr val="434343"/>
              </a:solidFill>
              <a:latin typeface="Encode Sans"/>
              <a:ea typeface="Encode Sans"/>
              <a:cs typeface="Encode Sans"/>
              <a:sym typeface="Encode Sans"/>
            </a:endParaRPr>
          </a:p>
          <a:p>
            <a:pPr indent="-225425" lvl="1" marL="9144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3:</a:t>
            </a:r>
            <a:r>
              <a:rPr lang="en-GB">
                <a:solidFill>
                  <a:srgbClr val="434343"/>
                </a:solidFill>
                <a:latin typeface="Encode Sans"/>
                <a:ea typeface="Encode Sans"/>
                <a:cs typeface="Encode Sans"/>
                <a:sym typeface="Encode Sans"/>
              </a:rPr>
              <a:t> LLM translates the summary into Khmer</a:t>
            </a:r>
            <a:endParaRPr>
              <a:solidFill>
                <a:srgbClr val="434343"/>
              </a:solidFill>
              <a:latin typeface="Encode Sans"/>
              <a:ea typeface="Encode Sans"/>
              <a:cs typeface="Encode Sans"/>
              <a:sym typeface="Encode Sans"/>
            </a:endParaRPr>
          </a:p>
          <a:p>
            <a:pPr indent="-225425" lvl="1" marL="914400" rtl="0" algn="just">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Final Output:</a:t>
            </a:r>
            <a:r>
              <a:rPr lang="en-GB">
                <a:solidFill>
                  <a:srgbClr val="434343"/>
                </a:solidFill>
                <a:latin typeface="Encode Sans"/>
                <a:ea typeface="Encode Sans"/>
                <a:cs typeface="Encode Sans"/>
                <a:sym typeface="Encode Sans"/>
              </a:rPr>
              <a:t> Khmer summary </a:t>
            </a:r>
            <a:endParaRPr>
              <a:solidFill>
                <a:srgbClr val="434343"/>
              </a:solidFill>
              <a:latin typeface="Encode Sans"/>
              <a:ea typeface="Encode Sans"/>
              <a:cs typeface="Encode Sans"/>
              <a:sym typeface="Encode Sans"/>
            </a:endParaRPr>
          </a:p>
        </p:txBody>
      </p:sp>
      <p:sp>
        <p:nvSpPr>
          <p:cNvPr id="313" name="Google Shape;313;p4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314" name="Google Shape;31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15" name="Google Shape;315;p40" title="ai_workflow_diagram_v2 4.png"/>
          <p:cNvPicPr preferRelativeResize="0"/>
          <p:nvPr/>
        </p:nvPicPr>
        <p:blipFill>
          <a:blip r:embed="rId3">
            <a:alphaModFix/>
          </a:blip>
          <a:stretch>
            <a:fillRect/>
          </a:stretch>
        </p:blipFill>
        <p:spPr>
          <a:xfrm>
            <a:off x="1029681" y="2121746"/>
            <a:ext cx="7657124" cy="1263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Sequential Chain </a:t>
            </a:r>
            <a:r>
              <a:rPr lang="en-GB">
                <a:solidFill>
                  <a:srgbClr val="CE6948"/>
                </a:solidFill>
              </a:rPr>
              <a:t>(cont)</a:t>
            </a:r>
            <a:endParaRPr>
              <a:solidFill>
                <a:srgbClr val="CE6948"/>
              </a:solidFill>
            </a:endParaRPr>
          </a:p>
          <a:p>
            <a:pPr indent="0" lvl="0" marL="0" rtl="0" algn="l">
              <a:spcBef>
                <a:spcPts val="0"/>
              </a:spcBef>
              <a:spcAft>
                <a:spcPts val="0"/>
              </a:spcAft>
              <a:buNone/>
            </a:pPr>
            <a:r>
              <a:t/>
            </a:r>
            <a:endParaRPr>
              <a:solidFill>
                <a:srgbClr val="CE6948"/>
              </a:solidFill>
            </a:endParaRPr>
          </a:p>
        </p:txBody>
      </p:sp>
      <p:sp>
        <p:nvSpPr>
          <p:cNvPr id="321" name="Google Shape;321;p41"/>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Why Use Sequential Chains?</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0" lvl="0" marL="228600" marR="0" rtl="0" algn="just">
              <a:lnSpc>
                <a:spcPct val="130000"/>
              </a:lnSpc>
              <a:spcBef>
                <a:spcPts val="1000"/>
              </a:spcBef>
              <a:spcAft>
                <a:spcPts val="0"/>
              </a:spcAft>
              <a:buNone/>
            </a:pPr>
            <a:r>
              <a:rPr lang="en-GB">
                <a:solidFill>
                  <a:srgbClr val="434343"/>
                </a:solidFill>
                <a:latin typeface="Encode Sans"/>
                <a:ea typeface="Encode Sans"/>
                <a:cs typeface="Encode Sans"/>
                <a:sym typeface="Encode Sans"/>
              </a:rPr>
              <a:t>By decomposing a complex task into a sequence of </a:t>
            </a:r>
            <a:r>
              <a:rPr b="1" lang="en-GB">
                <a:solidFill>
                  <a:srgbClr val="434343"/>
                </a:solidFill>
                <a:latin typeface="Encode Sans"/>
                <a:ea typeface="Encode Sans"/>
                <a:cs typeface="Encode Sans"/>
                <a:sym typeface="Encode Sans"/>
              </a:rPr>
              <a:t>small, focused steps</a:t>
            </a:r>
            <a:r>
              <a:rPr lang="en-GB">
                <a:solidFill>
                  <a:srgbClr val="434343"/>
                </a:solidFill>
                <a:latin typeface="Encode Sans"/>
                <a:ea typeface="Encode Sans"/>
                <a:cs typeface="Encode Sans"/>
                <a:sym typeface="Encode Sans"/>
              </a:rPr>
              <a:t>, we can:</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Reduce task complexity:</a:t>
            </a:r>
            <a:r>
              <a:rPr lang="en-GB">
                <a:solidFill>
                  <a:srgbClr val="434343"/>
                </a:solidFill>
                <a:latin typeface="Encode Sans"/>
                <a:ea typeface="Encode Sans"/>
                <a:cs typeface="Encode Sans"/>
                <a:sym typeface="Encode Sans"/>
              </a:rPr>
              <a:t> Each LLM call focuses on one specific task.</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Improve reliability:</a:t>
            </a:r>
            <a:r>
              <a:rPr lang="en-GB">
                <a:solidFill>
                  <a:srgbClr val="434343"/>
                </a:solidFill>
                <a:latin typeface="Encode Sans"/>
                <a:ea typeface="Encode Sans"/>
                <a:cs typeface="Encode Sans"/>
                <a:sym typeface="Encode Sans"/>
              </a:rPr>
              <a:t> Individual steps can be constrained and validated.</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Improve debugging:</a:t>
            </a:r>
            <a:r>
              <a:rPr lang="en-GB">
                <a:solidFill>
                  <a:srgbClr val="434343"/>
                </a:solidFill>
                <a:latin typeface="Encode Sans"/>
                <a:ea typeface="Encode Sans"/>
                <a:cs typeface="Encode Sans"/>
                <a:sym typeface="Encode Sans"/>
              </a:rPr>
              <a:t> Each node can be tested independently.</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Enable targeted evaluation:</a:t>
            </a:r>
            <a:r>
              <a:rPr lang="en-GB">
                <a:solidFill>
                  <a:srgbClr val="434343"/>
                </a:solidFill>
                <a:latin typeface="Encode Sans"/>
                <a:ea typeface="Encode Sans"/>
                <a:cs typeface="Encode Sans"/>
                <a:sym typeface="Encode Sans"/>
              </a:rPr>
              <a:t> We can identify which step causes an incorrect result.</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Improve maintainability:</a:t>
            </a:r>
            <a:r>
              <a:rPr lang="en-GB">
                <a:solidFill>
                  <a:srgbClr val="434343"/>
                </a:solidFill>
                <a:latin typeface="Encode Sans"/>
                <a:ea typeface="Encode Sans"/>
                <a:cs typeface="Encode Sans"/>
                <a:sym typeface="Encode Sans"/>
              </a:rPr>
              <a:t> Individual nodes can be modified or replaced without redesigning the entire workflow.</a:t>
            </a:r>
            <a:endParaRPr>
              <a:solidFill>
                <a:srgbClr val="434343"/>
              </a:solidFill>
              <a:latin typeface="Encode Sans"/>
              <a:ea typeface="Encode Sans"/>
              <a:cs typeface="Encode Sans"/>
              <a:sym typeface="Encode Sans"/>
            </a:endParaRPr>
          </a:p>
        </p:txBody>
      </p:sp>
      <p:sp>
        <p:nvSpPr>
          <p:cNvPr id="322" name="Google Shape;322;p4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323" name="Google Shape;323;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Conditional Routing</a:t>
            </a:r>
            <a:endParaRPr>
              <a:solidFill>
                <a:srgbClr val="CE6948"/>
              </a:solidFill>
            </a:endParaRPr>
          </a:p>
        </p:txBody>
      </p:sp>
      <p:sp>
        <p:nvSpPr>
          <p:cNvPr id="329" name="Google Shape;329;p42"/>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Conditional Routing</a:t>
            </a:r>
            <a:r>
              <a:rPr lang="en-GB">
                <a:solidFill>
                  <a:srgbClr val="434343"/>
                </a:solidFill>
                <a:latin typeface="Encode Sans"/>
                <a:ea typeface="Encode Sans"/>
                <a:cs typeface="Encode Sans"/>
                <a:sym typeface="Encode Sans"/>
              </a:rPr>
              <a:t> incorporates </a:t>
            </a:r>
            <a:r>
              <a:rPr b="1" lang="en-GB">
                <a:solidFill>
                  <a:srgbClr val="434343"/>
                </a:solidFill>
                <a:latin typeface="Encode Sans"/>
                <a:ea typeface="Encode Sans"/>
                <a:cs typeface="Encode Sans"/>
                <a:sym typeface="Encode Sans"/>
              </a:rPr>
              <a:t>“if-then” branching logic</a:t>
            </a:r>
            <a:r>
              <a:rPr lang="en-GB">
                <a:solidFill>
                  <a:srgbClr val="434343"/>
                </a:solidFill>
                <a:latin typeface="Encode Sans"/>
                <a:ea typeface="Encode Sans"/>
                <a:cs typeface="Encode Sans"/>
                <a:sym typeface="Encode Sans"/>
              </a:rPr>
              <a:t> into a workflow to determine the next step based on previous responses, conditions, decisions, or the current state.</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It is a </a:t>
            </a:r>
            <a:r>
              <a:rPr b="1" lang="en-GB">
                <a:solidFill>
                  <a:srgbClr val="434343"/>
                </a:solidFill>
                <a:latin typeface="Encode Sans"/>
                <a:ea typeface="Encode Sans"/>
                <a:cs typeface="Encode Sans"/>
                <a:sym typeface="Encode Sans"/>
              </a:rPr>
              <a:t>branching workflow pattern</a:t>
            </a:r>
            <a:r>
              <a:rPr lang="en-GB">
                <a:solidFill>
                  <a:srgbClr val="434343"/>
                </a:solidFill>
                <a:latin typeface="Encode Sans"/>
                <a:ea typeface="Encode Sans"/>
                <a:cs typeface="Encode Sans"/>
                <a:sym typeface="Encode Sans"/>
              </a:rPr>
              <a:t> in which the execution path is determined dynamically at runtime. </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Instead of sending every input through the same sequence of nodes, a </a:t>
            </a:r>
            <a:r>
              <a:rPr b="1" lang="en-GB">
                <a:solidFill>
                  <a:srgbClr val="434343"/>
                </a:solidFill>
                <a:latin typeface="Encode Sans"/>
                <a:ea typeface="Encode Sans"/>
                <a:cs typeface="Encode Sans"/>
                <a:sym typeface="Encode Sans"/>
              </a:rPr>
              <a:t>router, classifier, or conditional function</a:t>
            </a:r>
            <a:r>
              <a:rPr lang="en-GB">
                <a:solidFill>
                  <a:srgbClr val="434343"/>
                </a:solidFill>
                <a:latin typeface="Encode Sans"/>
                <a:ea typeface="Encode Sans"/>
                <a:cs typeface="Encode Sans"/>
                <a:sym typeface="Encode Sans"/>
              </a:rPr>
              <a:t> evaluates the current state and directs execution to the appropriate specialized path. </a:t>
            </a:r>
            <a:endParaRPr>
              <a:solidFill>
                <a:srgbClr val="434343"/>
              </a:solidFill>
              <a:latin typeface="Encode Sans"/>
              <a:ea typeface="Encode Sans"/>
              <a:cs typeface="Encode Sans"/>
              <a:sym typeface="Encode Sans"/>
            </a:endParaRPr>
          </a:p>
        </p:txBody>
      </p:sp>
      <p:sp>
        <p:nvSpPr>
          <p:cNvPr id="330" name="Google Shape;330;p4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331" name="Google Shape;331;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32" name="Google Shape;332;p42"/>
          <p:cNvPicPr preferRelativeResize="0"/>
          <p:nvPr/>
        </p:nvPicPr>
        <p:blipFill rotWithShape="1">
          <a:blip r:embed="rId3">
            <a:alphaModFix/>
          </a:blip>
          <a:srcRect b="5552" l="0" r="0" t="4754"/>
          <a:stretch/>
        </p:blipFill>
        <p:spPr>
          <a:xfrm>
            <a:off x="1004587" y="2816850"/>
            <a:ext cx="7060124" cy="2053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3"/>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Conditional Routing (cont)</a:t>
            </a:r>
            <a:endParaRPr>
              <a:solidFill>
                <a:srgbClr val="CE6948"/>
              </a:solidFill>
            </a:endParaRPr>
          </a:p>
        </p:txBody>
      </p:sp>
      <p:sp>
        <p:nvSpPr>
          <p:cNvPr id="338" name="Google Shape;338;p43"/>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router acts as a </a:t>
            </a:r>
            <a:r>
              <a:rPr b="1" lang="en-GB">
                <a:solidFill>
                  <a:srgbClr val="434343"/>
                </a:solidFill>
                <a:latin typeface="Encode Sans"/>
                <a:ea typeface="Encode Sans"/>
                <a:cs typeface="Encode Sans"/>
                <a:sym typeface="Encode Sans"/>
              </a:rPr>
              <a:t>decision point</a:t>
            </a:r>
            <a:r>
              <a:rPr lang="en-GB">
                <a:solidFill>
                  <a:srgbClr val="434343"/>
                </a:solidFill>
                <a:latin typeface="Encode Sans"/>
                <a:ea typeface="Encode Sans"/>
                <a:cs typeface="Encode Sans"/>
                <a:sym typeface="Encode Sans"/>
              </a:rPr>
              <a:t> rather than performing the main computation itself. In a state-based workflow, the router evaluates the </a:t>
            </a:r>
            <a:r>
              <a:rPr b="1" lang="en-GB">
                <a:solidFill>
                  <a:srgbClr val="434343"/>
                </a:solidFill>
                <a:latin typeface="Encode Sans"/>
                <a:ea typeface="Encode Sans"/>
                <a:cs typeface="Encode Sans"/>
                <a:sym typeface="Encode Sans"/>
              </a:rPr>
              <a:t>updated state produced by the preceding node</a:t>
            </a:r>
            <a:r>
              <a:rPr lang="en-GB">
                <a:solidFill>
                  <a:srgbClr val="434343"/>
                </a:solidFill>
                <a:latin typeface="Encode Sans"/>
                <a:ea typeface="Encode Sans"/>
                <a:cs typeface="Encode Sans"/>
                <a:sym typeface="Encode Sans"/>
              </a:rPr>
              <a:t> and determines which node or branch should execute next. </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When to use it:</a:t>
            </a:r>
            <a:r>
              <a:rPr lang="en-GB">
                <a:solidFill>
                  <a:srgbClr val="434343"/>
                </a:solidFill>
                <a:latin typeface="Encode Sans"/>
                <a:ea typeface="Encode Sans"/>
                <a:cs typeface="Encode Sans"/>
                <a:sym typeface="Encode Sans"/>
              </a:rPr>
              <a:t> Conditional Routing is useful when an application handles </a:t>
            </a:r>
            <a:r>
              <a:rPr b="1" lang="en-GB">
                <a:solidFill>
                  <a:srgbClr val="434343"/>
                </a:solidFill>
                <a:latin typeface="Encode Sans"/>
                <a:ea typeface="Encode Sans"/>
                <a:cs typeface="Encode Sans"/>
                <a:sym typeface="Encode Sans"/>
              </a:rPr>
              <a:t>multiple distinct types of requests</a:t>
            </a:r>
            <a:r>
              <a:rPr lang="en-GB">
                <a:solidFill>
                  <a:srgbClr val="434343"/>
                </a:solidFill>
                <a:latin typeface="Encode Sans"/>
                <a:ea typeface="Encode Sans"/>
                <a:cs typeface="Encode Sans"/>
                <a:sym typeface="Encode Sans"/>
              </a:rPr>
              <a:t> that require different prompts, tools, processing strategies, or domain expertise. </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It works particularly well for: </a:t>
            </a:r>
            <a:endParaRPr>
              <a:solidFill>
                <a:srgbClr val="434343"/>
              </a:solidFill>
              <a:latin typeface="Encode Sans"/>
              <a:ea typeface="Encode Sans"/>
              <a:cs typeface="Encode Sans"/>
              <a:sym typeface="Encode Sans"/>
            </a:endParaRPr>
          </a:p>
          <a:p>
            <a:pPr indent="-225425" lvl="1" marL="8001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Decision-based tasks</a:t>
            </a:r>
            <a:r>
              <a:rPr lang="en-GB">
                <a:solidFill>
                  <a:srgbClr val="434343"/>
                </a:solidFill>
                <a:latin typeface="Encode Sans"/>
                <a:ea typeface="Encode Sans"/>
                <a:cs typeface="Encode Sans"/>
                <a:sym typeface="Encode Sans"/>
              </a:rPr>
              <a:t> where different conditions require different actions, such as customer service automation.</a:t>
            </a:r>
            <a:endParaRPr>
              <a:solidFill>
                <a:srgbClr val="434343"/>
              </a:solidFill>
              <a:latin typeface="Encode Sans"/>
              <a:ea typeface="Encode Sans"/>
              <a:cs typeface="Encode Sans"/>
              <a:sym typeface="Encode Sans"/>
            </a:endParaRPr>
          </a:p>
          <a:p>
            <a:pPr indent="-225425" lvl="1" marL="8001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Scenario-based problem solving</a:t>
            </a:r>
            <a:r>
              <a:rPr lang="en-GB">
                <a:solidFill>
                  <a:srgbClr val="434343"/>
                </a:solidFill>
                <a:latin typeface="Encode Sans"/>
                <a:ea typeface="Encode Sans"/>
                <a:cs typeface="Encode Sans"/>
                <a:sym typeface="Encode Sans"/>
              </a:rPr>
              <a:t> where different approaches may be needed depending on the user's request.</a:t>
            </a:r>
            <a:endParaRPr>
              <a:solidFill>
                <a:srgbClr val="434343"/>
              </a:solidFill>
              <a:latin typeface="Encode Sans"/>
              <a:ea typeface="Encode Sans"/>
              <a:cs typeface="Encode Sans"/>
              <a:sym typeface="Encode Sans"/>
            </a:endParaRPr>
          </a:p>
          <a:p>
            <a:pPr indent="-225425" lvl="1" marL="8001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Multi-domain applications</a:t>
            </a:r>
            <a:r>
              <a:rPr lang="en-GB">
                <a:solidFill>
                  <a:srgbClr val="434343"/>
                </a:solidFill>
                <a:latin typeface="Encode Sans"/>
                <a:ea typeface="Encode Sans"/>
                <a:cs typeface="Encode Sans"/>
                <a:sym typeface="Encode Sans"/>
              </a:rPr>
              <a:t> where different types of questions require specialized knowledge or tools.</a:t>
            </a:r>
            <a:endParaRPr>
              <a:solidFill>
                <a:srgbClr val="434343"/>
              </a:solidFill>
              <a:latin typeface="Encode Sans"/>
              <a:ea typeface="Encode Sans"/>
              <a:cs typeface="Encode Sans"/>
              <a:sym typeface="Encode Sans"/>
            </a:endParaRPr>
          </a:p>
          <a:p>
            <a:pPr indent="-225425" lvl="1" marL="8001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Flexible AI applications</a:t>
            </a:r>
            <a:r>
              <a:rPr lang="en-GB">
                <a:solidFill>
                  <a:srgbClr val="434343"/>
                </a:solidFill>
                <a:latin typeface="Encode Sans"/>
                <a:ea typeface="Encode Sans"/>
                <a:cs typeface="Encode Sans"/>
                <a:sym typeface="Encode Sans"/>
              </a:rPr>
              <a:t> that need to handle a wide range of inputs and scenarios dynamically.</a:t>
            </a:r>
            <a:endParaRPr>
              <a:solidFill>
                <a:srgbClr val="434343"/>
              </a:solidFill>
              <a:latin typeface="Encode Sans"/>
              <a:ea typeface="Encode Sans"/>
              <a:cs typeface="Encode Sans"/>
              <a:sym typeface="Encode Sans"/>
            </a:endParaRPr>
          </a:p>
        </p:txBody>
      </p:sp>
      <p:sp>
        <p:nvSpPr>
          <p:cNvPr id="339" name="Google Shape;339;p43"/>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340" name="Google Shape;34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Conditional Routing (cont)</a:t>
            </a:r>
            <a:endParaRPr>
              <a:solidFill>
                <a:srgbClr val="CE6948"/>
              </a:solidFill>
            </a:endParaRPr>
          </a:p>
        </p:txBody>
      </p:sp>
      <p:sp>
        <p:nvSpPr>
          <p:cNvPr id="346" name="Google Shape;346;p44"/>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For example:</a:t>
            </a:r>
            <a:r>
              <a:rPr lang="en-GB">
                <a:solidFill>
                  <a:srgbClr val="434343"/>
                </a:solidFill>
                <a:latin typeface="Encode Sans"/>
                <a:ea typeface="Encode Sans"/>
                <a:cs typeface="Encode Sans"/>
                <a:sym typeface="Encode Sans"/>
              </a:rPr>
              <a:t> User asks: </a:t>
            </a:r>
            <a:r>
              <a:rPr i="1" lang="en-GB">
                <a:solidFill>
                  <a:srgbClr val="434343"/>
                </a:solidFill>
                <a:latin typeface="Encode Sans"/>
                <a:ea typeface="Encode Sans"/>
                <a:cs typeface="Encode Sans"/>
                <a:sym typeface="Encode Sans"/>
              </a:rPr>
              <a:t>“</a:t>
            </a:r>
            <a:r>
              <a:rPr i="1" lang="en-GB">
                <a:solidFill>
                  <a:srgbClr val="434343"/>
                </a:solidFill>
                <a:latin typeface="Encode Sans SemiBold"/>
                <a:ea typeface="Encode Sans SemiBold"/>
                <a:cs typeface="Encode Sans SemiBold"/>
                <a:sym typeface="Encode Sans SemiBold"/>
              </a:rPr>
              <a:t>Explain how to implement authentication in Spring Boot.</a:t>
            </a:r>
            <a:r>
              <a:rPr i="1" lang="en-GB">
                <a:solidFill>
                  <a:srgbClr val="434343"/>
                </a:solidFill>
                <a:latin typeface="Encode Sans"/>
                <a:ea typeface="Encode Sans"/>
                <a:cs typeface="Encode Sans"/>
                <a:sym typeface="Encode Sans"/>
              </a:rPr>
              <a:t>”</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25425" lvl="1" marL="800100" marR="0" rtl="0" algn="just">
              <a:lnSpc>
                <a:spcPct val="115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router analyzes the request: </a:t>
            </a:r>
            <a:endParaRPr>
              <a:solidFill>
                <a:srgbClr val="434343"/>
              </a:solidFill>
              <a:latin typeface="Encode Sans"/>
              <a:ea typeface="Encode Sans"/>
              <a:cs typeface="Encode Sans"/>
              <a:sym typeface="Encode Sans"/>
            </a:endParaRPr>
          </a:p>
          <a:p>
            <a:pPr indent="0" lvl="0" marL="1781175" rtl="0" algn="just">
              <a:spcBef>
                <a:spcPts val="0"/>
              </a:spcBef>
              <a:spcAft>
                <a:spcPts val="0"/>
              </a:spcAft>
              <a:buNone/>
            </a:pPr>
            <a:r>
              <a:t/>
            </a:r>
            <a:endParaRPr>
              <a:solidFill>
                <a:srgbClr val="434343"/>
              </a:solidFill>
              <a:latin typeface="Encode Sans"/>
              <a:ea typeface="Encode Sans"/>
              <a:cs typeface="Encode Sans"/>
              <a:sym typeface="Encode Sans"/>
            </a:endParaRPr>
          </a:p>
          <a:p>
            <a:pPr indent="0" lvl="0" marL="1781175" rtl="0" algn="just">
              <a:spcBef>
                <a:spcPts val="0"/>
              </a:spcBef>
              <a:spcAft>
                <a:spcPts val="0"/>
              </a:spcAft>
              <a:buNone/>
            </a:pPr>
            <a:r>
              <a:t/>
            </a:r>
            <a:endParaRPr>
              <a:solidFill>
                <a:srgbClr val="434343"/>
              </a:solidFill>
              <a:latin typeface="Encode Sans"/>
              <a:ea typeface="Encode Sans"/>
              <a:cs typeface="Encode Sans"/>
              <a:sym typeface="Encode Sans"/>
            </a:endParaRPr>
          </a:p>
          <a:p>
            <a:pPr indent="0" lvl="0" marL="1781175" rtl="0" algn="just">
              <a:spcBef>
                <a:spcPts val="0"/>
              </a:spcBef>
              <a:spcAft>
                <a:spcPts val="0"/>
              </a:spcAft>
              <a:buNone/>
            </a:pPr>
            <a:r>
              <a:t/>
            </a:r>
            <a:endParaRPr>
              <a:solidFill>
                <a:srgbClr val="434343"/>
              </a:solidFill>
              <a:latin typeface="Encode Sans"/>
              <a:ea typeface="Encode Sans"/>
              <a:cs typeface="Encode Sans"/>
              <a:sym typeface="Encode Sans"/>
            </a:endParaRPr>
          </a:p>
          <a:p>
            <a:pPr indent="0" lvl="0" marL="800100" marR="0" rtl="0" algn="just">
              <a:lnSpc>
                <a:spcPct val="115000"/>
              </a:lnSpc>
              <a:spcBef>
                <a:spcPts val="0"/>
              </a:spcBef>
              <a:spcAft>
                <a:spcPts val="0"/>
              </a:spcAft>
              <a:buNone/>
            </a:pPr>
            <a:r>
              <a:t/>
            </a:r>
            <a:endParaRPr>
              <a:solidFill>
                <a:srgbClr val="434343"/>
              </a:solidFill>
              <a:latin typeface="Encode Sans"/>
              <a:ea typeface="Encode Sans"/>
              <a:cs typeface="Encode Sans"/>
              <a:sym typeface="Encode Sans"/>
            </a:endParaRPr>
          </a:p>
          <a:p>
            <a:pPr indent="0" lvl="0" marL="800100" marR="0" rtl="0" algn="just">
              <a:lnSpc>
                <a:spcPct val="115000"/>
              </a:lnSpc>
              <a:spcBef>
                <a:spcPts val="0"/>
              </a:spcBef>
              <a:spcAft>
                <a:spcPts val="0"/>
              </a:spcAft>
              <a:buNone/>
            </a:pPr>
            <a:r>
              <a:t/>
            </a:r>
            <a:endParaRPr>
              <a:solidFill>
                <a:srgbClr val="434343"/>
              </a:solidFill>
              <a:latin typeface="Encode Sans"/>
              <a:ea typeface="Encode Sans"/>
              <a:cs typeface="Encode Sans"/>
              <a:sym typeface="Encode Sans"/>
            </a:endParaRPr>
          </a:p>
          <a:p>
            <a:pPr indent="0" lvl="0" marL="800100" marR="0" rtl="0" algn="just">
              <a:lnSpc>
                <a:spcPct val="115000"/>
              </a:lnSpc>
              <a:spcBef>
                <a:spcPts val="0"/>
              </a:spcBef>
              <a:spcAft>
                <a:spcPts val="0"/>
              </a:spcAft>
              <a:buNone/>
            </a:pPr>
            <a:r>
              <a:t/>
            </a:r>
            <a:endParaRPr>
              <a:solidFill>
                <a:srgbClr val="434343"/>
              </a:solidFill>
              <a:latin typeface="Encode Sans"/>
              <a:ea typeface="Encode Sans"/>
              <a:cs typeface="Encode Sans"/>
              <a:sym typeface="Encode Sans"/>
            </a:endParaRPr>
          </a:p>
          <a:p>
            <a:pPr indent="0" lvl="0" marL="800100" marR="0" rtl="0" algn="just">
              <a:lnSpc>
                <a:spcPct val="115000"/>
              </a:lnSpc>
              <a:spcBef>
                <a:spcPts val="0"/>
              </a:spcBef>
              <a:spcAft>
                <a:spcPts val="0"/>
              </a:spcAft>
              <a:buNone/>
            </a:pPr>
            <a:r>
              <a:t/>
            </a:r>
            <a:endParaRPr>
              <a:solidFill>
                <a:srgbClr val="434343"/>
              </a:solidFill>
              <a:latin typeface="Encode Sans"/>
              <a:ea typeface="Encode Sans"/>
              <a:cs typeface="Encode Sans"/>
              <a:sym typeface="Encode Sans"/>
            </a:endParaRPr>
          </a:p>
          <a:p>
            <a:pPr indent="0" lvl="0" marL="800100" marR="0" rtl="0" algn="just">
              <a:lnSpc>
                <a:spcPct val="115000"/>
              </a:lnSpc>
              <a:spcBef>
                <a:spcPts val="0"/>
              </a:spcBef>
              <a:spcAft>
                <a:spcPts val="0"/>
              </a:spcAft>
              <a:buNone/>
            </a:pPr>
            <a:r>
              <a:t/>
            </a:r>
            <a:endParaRPr>
              <a:solidFill>
                <a:srgbClr val="434343"/>
              </a:solidFill>
              <a:latin typeface="Encode Sans"/>
              <a:ea typeface="Encode Sans"/>
              <a:cs typeface="Encode Sans"/>
              <a:sym typeface="Encode Sans"/>
            </a:endParaRPr>
          </a:p>
          <a:p>
            <a:pPr indent="0" lvl="0" marL="800100" marR="0" rtl="0" algn="just">
              <a:lnSpc>
                <a:spcPct val="115000"/>
              </a:lnSpc>
              <a:spcBef>
                <a:spcPts val="0"/>
              </a:spcBef>
              <a:spcAft>
                <a:spcPts val="0"/>
              </a:spcAft>
              <a:buNone/>
            </a:pPr>
            <a:r>
              <a:t/>
            </a:r>
            <a:endParaRPr>
              <a:solidFill>
                <a:srgbClr val="434343"/>
              </a:solidFill>
              <a:latin typeface="Encode Sans"/>
              <a:ea typeface="Encode Sans"/>
              <a:cs typeface="Encode Sans"/>
              <a:sym typeface="Encode Sans"/>
            </a:endParaRPr>
          </a:p>
          <a:p>
            <a:pPr indent="0" lvl="0" marL="800100" marR="0" rtl="0" algn="just">
              <a:lnSpc>
                <a:spcPct val="115000"/>
              </a:lnSpc>
              <a:spcBef>
                <a:spcPts val="0"/>
              </a:spcBef>
              <a:spcAft>
                <a:spcPts val="0"/>
              </a:spcAft>
              <a:buNone/>
            </a:pPr>
            <a:r>
              <a:t/>
            </a:r>
            <a:endParaRPr>
              <a:solidFill>
                <a:srgbClr val="434343"/>
              </a:solidFill>
              <a:latin typeface="Encode Sans"/>
              <a:ea typeface="Encode Sans"/>
              <a:cs typeface="Encode Sans"/>
              <a:sym typeface="Encode Sans"/>
            </a:endParaRPr>
          </a:p>
          <a:p>
            <a:pPr indent="-225425" lvl="1" marL="8001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If the request is identified as a </a:t>
            </a:r>
            <a:r>
              <a:rPr b="1" lang="en-GB">
                <a:solidFill>
                  <a:srgbClr val="434343"/>
                </a:solidFill>
                <a:latin typeface="Encode Sans"/>
                <a:ea typeface="Encode Sans"/>
                <a:cs typeface="Encode Sans"/>
                <a:sym typeface="Encode Sans"/>
              </a:rPr>
              <a:t>technical question</a:t>
            </a:r>
            <a:r>
              <a:rPr lang="en-GB">
                <a:solidFill>
                  <a:srgbClr val="434343"/>
                </a:solidFill>
                <a:latin typeface="Encode Sans"/>
                <a:ea typeface="Encode Sans"/>
                <a:cs typeface="Encode Sans"/>
                <a:sym typeface="Encode Sans"/>
              </a:rPr>
              <a:t>, it is routed to the </a:t>
            </a:r>
            <a:r>
              <a:rPr b="1" lang="en-GB">
                <a:solidFill>
                  <a:srgbClr val="434343"/>
                </a:solidFill>
                <a:latin typeface="Encode Sans"/>
                <a:ea typeface="Encode Sans"/>
                <a:cs typeface="Encode Sans"/>
                <a:sym typeface="Encode Sans"/>
              </a:rPr>
              <a:t>Technical Node</a:t>
            </a:r>
            <a:r>
              <a:rPr lang="en-GB">
                <a:solidFill>
                  <a:srgbClr val="434343"/>
                </a:solidFill>
                <a:latin typeface="Encode Sans"/>
                <a:ea typeface="Encode Sans"/>
                <a:cs typeface="Encode Sans"/>
                <a:sym typeface="Encode Sans"/>
              </a:rPr>
              <a:t>. Otherwise, it is routed to the </a:t>
            </a:r>
            <a:r>
              <a:rPr b="1" lang="en-GB">
                <a:solidFill>
                  <a:srgbClr val="434343"/>
                </a:solidFill>
                <a:latin typeface="Encode Sans"/>
                <a:ea typeface="Encode Sans"/>
                <a:cs typeface="Encode Sans"/>
                <a:sym typeface="Encode Sans"/>
              </a:rPr>
              <a:t>General Node</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0" lvl="0" marL="0" marR="0" rtl="0" algn="just">
              <a:lnSpc>
                <a:spcPct val="130000"/>
              </a:lnSpc>
              <a:spcBef>
                <a:spcPts val="1000"/>
              </a:spcBef>
              <a:spcAft>
                <a:spcPts val="0"/>
              </a:spcAft>
              <a:buNone/>
            </a:pPr>
            <a:r>
              <a:t/>
            </a:r>
            <a:endParaRPr b="1">
              <a:solidFill>
                <a:srgbClr val="434343"/>
              </a:solidFill>
              <a:latin typeface="Encode Sans"/>
              <a:ea typeface="Encode Sans"/>
              <a:cs typeface="Encode Sans"/>
              <a:sym typeface="Encode Sans"/>
            </a:endParaRPr>
          </a:p>
        </p:txBody>
      </p:sp>
      <p:sp>
        <p:nvSpPr>
          <p:cNvPr id="347" name="Google Shape;347;p4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348" name="Google Shape;348;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49" name="Google Shape;349;p44" title="ai_workflow_diagram_v2 5.png"/>
          <p:cNvPicPr preferRelativeResize="0"/>
          <p:nvPr/>
        </p:nvPicPr>
        <p:blipFill>
          <a:blip r:embed="rId3">
            <a:alphaModFix/>
          </a:blip>
          <a:stretch>
            <a:fillRect/>
          </a:stretch>
        </p:blipFill>
        <p:spPr>
          <a:xfrm>
            <a:off x="1207275" y="1807082"/>
            <a:ext cx="7265172" cy="20929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5"/>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Conditional Routing (cont)</a:t>
            </a:r>
            <a:endParaRPr>
              <a:solidFill>
                <a:srgbClr val="CE6948"/>
              </a:solidFill>
            </a:endParaRPr>
          </a:p>
        </p:txBody>
      </p:sp>
      <p:sp>
        <p:nvSpPr>
          <p:cNvPr id="355" name="Google Shape;355;p45"/>
          <p:cNvSpPr txBox="1"/>
          <p:nvPr>
            <p:ph idx="1" type="body"/>
          </p:nvPr>
        </p:nvSpPr>
        <p:spPr>
          <a:xfrm>
            <a:off x="311700" y="1069550"/>
            <a:ext cx="84702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Real-World Use Case: Customer Service</a:t>
            </a:r>
            <a:endParaRPr>
              <a:solidFill>
                <a:srgbClr val="434343"/>
              </a:solidFill>
              <a:latin typeface="Encode Sans"/>
              <a:ea typeface="Encode Sans"/>
              <a:cs typeface="Encode Sans"/>
              <a:sym typeface="Encode Sans"/>
            </a:endParaRPr>
          </a:p>
          <a:p>
            <a:pPr indent="-225425" lvl="1" marL="800100" marR="0" rtl="0" algn="just">
              <a:lnSpc>
                <a:spcPct val="115000"/>
              </a:lnSpc>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Consider an </a:t>
            </a:r>
            <a:r>
              <a:rPr lang="en-GB">
                <a:solidFill>
                  <a:srgbClr val="434343"/>
                </a:solidFill>
                <a:latin typeface="Encode Sans SemiBold"/>
                <a:ea typeface="Encode Sans SemiBold"/>
                <a:cs typeface="Encode Sans SemiBold"/>
                <a:sym typeface="Encode Sans SemiBold"/>
              </a:rPr>
              <a:t>AI customer service application</a:t>
            </a:r>
            <a:r>
              <a:rPr lang="en-GB">
                <a:solidFill>
                  <a:srgbClr val="434343"/>
                </a:solidFill>
                <a:latin typeface="Encode Sans"/>
                <a:ea typeface="Encode Sans"/>
                <a:cs typeface="Encode Sans"/>
                <a:sym typeface="Encode Sans"/>
              </a:rPr>
              <a:t> that handles different types of product-related questions. </a:t>
            </a:r>
            <a:endParaRPr>
              <a:solidFill>
                <a:srgbClr val="434343"/>
              </a:solidFill>
              <a:latin typeface="Encode Sans"/>
              <a:ea typeface="Encode Sans"/>
              <a:cs typeface="Encode Sans"/>
              <a:sym typeface="Encode Sans"/>
            </a:endParaRPr>
          </a:p>
          <a:p>
            <a:pPr indent="0" lvl="0" marL="2238375" rtl="0" algn="just">
              <a:spcBef>
                <a:spcPts val="0"/>
              </a:spcBef>
              <a:spcAft>
                <a:spcPts val="0"/>
              </a:spcAft>
              <a:buNone/>
            </a:pPr>
            <a:r>
              <a:rPr lang="en-GB">
                <a:solidFill>
                  <a:srgbClr val="067D17"/>
                </a:solidFill>
                <a:latin typeface="Consolas"/>
                <a:ea typeface="Consolas"/>
                <a:cs typeface="Consolas"/>
                <a:sym typeface="Consolas"/>
              </a:rPr>
              <a:t>               ┌→ Pricing Flow</a:t>
            </a:r>
            <a:endParaRPr>
              <a:solidFill>
                <a:srgbClr val="067D17"/>
              </a:solidFill>
              <a:latin typeface="Consolas"/>
              <a:ea typeface="Consolas"/>
              <a:cs typeface="Consolas"/>
              <a:sym typeface="Consolas"/>
            </a:endParaRPr>
          </a:p>
          <a:p>
            <a:pPr indent="0" lvl="0" marL="2238375" rtl="0" algn="just">
              <a:spcBef>
                <a:spcPts val="0"/>
              </a:spcBef>
              <a:spcAft>
                <a:spcPts val="0"/>
              </a:spcAft>
              <a:buNone/>
            </a:pPr>
            <a:r>
              <a:rPr lang="en-GB">
                <a:solidFill>
                  <a:srgbClr val="067D17"/>
                </a:solidFill>
                <a:latin typeface="Consolas"/>
                <a:ea typeface="Consolas"/>
                <a:cs typeface="Consolas"/>
                <a:sym typeface="Consolas"/>
              </a:rPr>
              <a:t>               ├→ Refund Flow</a:t>
            </a:r>
            <a:endParaRPr>
              <a:solidFill>
                <a:srgbClr val="067D17"/>
              </a:solidFill>
              <a:latin typeface="Consolas"/>
              <a:ea typeface="Consolas"/>
              <a:cs typeface="Consolas"/>
              <a:sym typeface="Consolas"/>
            </a:endParaRPr>
          </a:p>
          <a:p>
            <a:pPr indent="0" lvl="0" marL="1323975" rtl="0" algn="just">
              <a:spcBef>
                <a:spcPts val="0"/>
              </a:spcBef>
              <a:spcAft>
                <a:spcPts val="0"/>
              </a:spcAft>
              <a:buNone/>
            </a:pPr>
            <a:r>
              <a:rPr lang="en-GB">
                <a:solidFill>
                  <a:srgbClr val="067D17"/>
                </a:solidFill>
                <a:latin typeface="Consolas"/>
                <a:ea typeface="Consolas"/>
                <a:cs typeface="Consolas"/>
                <a:sym typeface="Consolas"/>
              </a:rPr>
              <a:t>User Request → Router ───┼→ Return Flow</a:t>
            </a:r>
            <a:endParaRPr>
              <a:solidFill>
                <a:srgbClr val="067D17"/>
              </a:solidFill>
              <a:latin typeface="Consolas"/>
              <a:ea typeface="Consolas"/>
              <a:cs typeface="Consolas"/>
              <a:sym typeface="Consolas"/>
            </a:endParaRPr>
          </a:p>
          <a:p>
            <a:pPr indent="0" lvl="0" marL="2238375" rtl="0" algn="just">
              <a:spcBef>
                <a:spcPts val="0"/>
              </a:spcBef>
              <a:spcAft>
                <a:spcPts val="0"/>
              </a:spcAft>
              <a:buNone/>
            </a:pPr>
            <a:r>
              <a:rPr lang="en-GB">
                <a:solidFill>
                  <a:srgbClr val="067D17"/>
                </a:solidFill>
                <a:latin typeface="Consolas"/>
                <a:ea typeface="Consolas"/>
                <a:cs typeface="Consolas"/>
                <a:sym typeface="Consolas"/>
              </a:rPr>
              <a:t>               └→ Product Info Flow</a:t>
            </a:r>
            <a:endParaRPr>
              <a:solidFill>
                <a:srgbClr val="067D17"/>
              </a:solidFill>
              <a:latin typeface="Consolas"/>
              <a:ea typeface="Consolas"/>
              <a:cs typeface="Consolas"/>
              <a:sym typeface="Consolas"/>
            </a:endParaRPr>
          </a:p>
          <a:p>
            <a:pPr indent="0" lvl="0" marL="409575" rtl="0" algn="just">
              <a:spcBef>
                <a:spcPts val="1000"/>
              </a:spcBef>
              <a:spcAft>
                <a:spcPts val="0"/>
              </a:spcAft>
              <a:buNone/>
            </a:pPr>
            <a:r>
              <a:t/>
            </a:r>
            <a:endParaRPr>
              <a:solidFill>
                <a:schemeClr val="dk1"/>
              </a:solidFill>
              <a:latin typeface="Encode Sans"/>
              <a:ea typeface="Encode Sans"/>
              <a:cs typeface="Encode Sans"/>
              <a:sym typeface="Encode Sans"/>
            </a:endParaRPr>
          </a:p>
          <a:p>
            <a:pPr indent="-225425" lvl="1" marL="800100" marR="0" rtl="0" algn="just">
              <a:lnSpc>
                <a:spcPct val="115000"/>
              </a:lnSpc>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The workflow first </a:t>
            </a:r>
            <a:r>
              <a:rPr b="1" lang="en-GB">
                <a:solidFill>
                  <a:srgbClr val="434343"/>
                </a:solidFill>
                <a:latin typeface="Encode Sans"/>
                <a:ea typeface="Encode Sans"/>
                <a:cs typeface="Encode Sans"/>
                <a:sym typeface="Encode Sans"/>
              </a:rPr>
              <a:t>classifies the user's request</a:t>
            </a:r>
            <a:r>
              <a:rPr lang="en-GB">
                <a:solidFill>
                  <a:srgbClr val="434343"/>
                </a:solidFill>
                <a:latin typeface="Encode Sans"/>
                <a:ea typeface="Encode Sans"/>
                <a:cs typeface="Encode Sans"/>
                <a:sym typeface="Encode Sans"/>
              </a:rPr>
              <a:t> and then routes it to the specialized process:</a:t>
            </a:r>
            <a:endParaRPr>
              <a:solidFill>
                <a:srgbClr val="434343"/>
              </a:solidFill>
              <a:latin typeface="Encode Sans"/>
              <a:ea typeface="Encode Sans"/>
              <a:cs typeface="Encode Sans"/>
              <a:sym typeface="Encode Sans"/>
            </a:endParaRPr>
          </a:p>
          <a:p>
            <a:pPr indent="-250825" lvl="2" marL="1257300" rtl="0" algn="just">
              <a:spcBef>
                <a:spcPts val="0"/>
              </a:spcBef>
              <a:spcAft>
                <a:spcPts val="0"/>
              </a:spcAft>
              <a:buClr>
                <a:srgbClr val="434343"/>
              </a:buClr>
              <a:buSzPts val="1100"/>
              <a:buFont typeface="Encode Sans"/>
              <a:buChar char="■"/>
            </a:pPr>
            <a:r>
              <a:rPr b="1" lang="en-GB">
                <a:solidFill>
                  <a:srgbClr val="434343"/>
                </a:solidFill>
                <a:latin typeface="Encode Sans"/>
                <a:ea typeface="Encode Sans"/>
                <a:cs typeface="Encode Sans"/>
                <a:sym typeface="Encode Sans"/>
              </a:rPr>
              <a:t>“How much does this product cost?”</a:t>
            </a:r>
            <a:r>
              <a:rPr lang="en-GB">
                <a:solidFill>
                  <a:srgbClr val="434343"/>
                </a:solidFill>
                <a:latin typeface="Encode Sans"/>
                <a:ea typeface="Encode Sans"/>
                <a:cs typeface="Encode Sans"/>
                <a:sym typeface="Encode Sans"/>
              </a:rPr>
              <a:t> 	→ Pricing Flow</a:t>
            </a:r>
            <a:endParaRPr>
              <a:solidFill>
                <a:srgbClr val="434343"/>
              </a:solidFill>
              <a:latin typeface="Encode Sans"/>
              <a:ea typeface="Encode Sans"/>
              <a:cs typeface="Encode Sans"/>
              <a:sym typeface="Encode Sans"/>
            </a:endParaRPr>
          </a:p>
          <a:p>
            <a:pPr indent="-250825" lvl="2" marL="1257300" rtl="0" algn="just">
              <a:spcBef>
                <a:spcPts val="0"/>
              </a:spcBef>
              <a:spcAft>
                <a:spcPts val="0"/>
              </a:spcAft>
              <a:buClr>
                <a:srgbClr val="434343"/>
              </a:buClr>
              <a:buSzPts val="1100"/>
              <a:buFont typeface="Encode Sans"/>
              <a:buChar char="■"/>
            </a:pPr>
            <a:r>
              <a:rPr b="1" lang="en-GB">
                <a:solidFill>
                  <a:srgbClr val="434343"/>
                </a:solidFill>
                <a:latin typeface="Encode Sans"/>
                <a:ea typeface="Encode Sans"/>
                <a:cs typeface="Encode Sans"/>
                <a:sym typeface="Encode Sans"/>
              </a:rPr>
              <a:t>“I want my money back.”</a:t>
            </a:r>
            <a:r>
              <a:rPr lang="en-GB">
                <a:solidFill>
                  <a:srgbClr val="434343"/>
                </a:solidFill>
                <a:latin typeface="Encode Sans"/>
                <a:ea typeface="Encode Sans"/>
                <a:cs typeface="Encode Sans"/>
                <a:sym typeface="Encode Sans"/>
              </a:rPr>
              <a:t> 			→ Refund Flow</a:t>
            </a:r>
            <a:endParaRPr>
              <a:solidFill>
                <a:srgbClr val="434343"/>
              </a:solidFill>
              <a:latin typeface="Encode Sans"/>
              <a:ea typeface="Encode Sans"/>
              <a:cs typeface="Encode Sans"/>
              <a:sym typeface="Encode Sans"/>
            </a:endParaRPr>
          </a:p>
          <a:p>
            <a:pPr indent="-250825" lvl="2" marL="1257300" rtl="0" algn="just">
              <a:spcBef>
                <a:spcPts val="0"/>
              </a:spcBef>
              <a:spcAft>
                <a:spcPts val="0"/>
              </a:spcAft>
              <a:buClr>
                <a:srgbClr val="434343"/>
              </a:buClr>
              <a:buSzPts val="1100"/>
              <a:buFont typeface="Encode Sans"/>
              <a:buChar char="■"/>
            </a:pPr>
            <a:r>
              <a:rPr b="1" lang="en-GB">
                <a:solidFill>
                  <a:srgbClr val="434343"/>
                </a:solidFill>
                <a:latin typeface="Encode Sans"/>
                <a:ea typeface="Encode Sans"/>
                <a:cs typeface="Encode Sans"/>
                <a:sym typeface="Encode Sans"/>
              </a:rPr>
              <a:t>“How can I return this product?”</a:t>
            </a:r>
            <a:r>
              <a:rPr lang="en-GB">
                <a:solidFill>
                  <a:srgbClr val="434343"/>
                </a:solidFill>
                <a:latin typeface="Encode Sans"/>
                <a:ea typeface="Encode Sans"/>
                <a:cs typeface="Encode Sans"/>
                <a:sym typeface="Encode Sans"/>
              </a:rPr>
              <a:t> 		→ Return Flow</a:t>
            </a:r>
            <a:endParaRPr>
              <a:solidFill>
                <a:srgbClr val="434343"/>
              </a:solidFill>
              <a:latin typeface="Encode Sans"/>
              <a:ea typeface="Encode Sans"/>
              <a:cs typeface="Encode Sans"/>
              <a:sym typeface="Encode Sans"/>
            </a:endParaRPr>
          </a:p>
          <a:p>
            <a:pPr indent="-250825" lvl="2" marL="1257300" rtl="0" algn="just">
              <a:spcBef>
                <a:spcPts val="0"/>
              </a:spcBef>
              <a:spcAft>
                <a:spcPts val="0"/>
              </a:spcAft>
              <a:buClr>
                <a:srgbClr val="434343"/>
              </a:buClr>
              <a:buSzPts val="1100"/>
              <a:buFont typeface="Encode Sans"/>
              <a:buChar char="■"/>
            </a:pPr>
            <a:r>
              <a:rPr b="1" lang="en-GB">
                <a:solidFill>
                  <a:srgbClr val="434343"/>
                </a:solidFill>
                <a:latin typeface="Encode Sans"/>
                <a:ea typeface="Encode Sans"/>
                <a:cs typeface="Encode Sans"/>
                <a:sym typeface="Encode Sans"/>
              </a:rPr>
              <a:t>“What are the features of this product?”</a:t>
            </a:r>
            <a:r>
              <a:rPr lang="en-GB">
                <a:solidFill>
                  <a:srgbClr val="434343"/>
                </a:solidFill>
                <a:latin typeface="Encode Sans"/>
                <a:ea typeface="Encode Sans"/>
                <a:cs typeface="Encode Sans"/>
                <a:sym typeface="Encode Sans"/>
              </a:rPr>
              <a:t> 	→ Product Information Flow</a:t>
            </a:r>
            <a:endParaRPr>
              <a:solidFill>
                <a:srgbClr val="434343"/>
              </a:solidFill>
              <a:latin typeface="Encode Sans"/>
              <a:ea typeface="Encode Sans"/>
              <a:cs typeface="Encode Sans"/>
              <a:sym typeface="Encode Sans"/>
            </a:endParaRPr>
          </a:p>
          <a:p>
            <a:pPr indent="-225425" lvl="1" marL="800100" marR="0" rtl="0" algn="just">
              <a:lnSpc>
                <a:spcPct val="115000"/>
              </a:lnSpc>
              <a:spcBef>
                <a:spcPts val="100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This allows the application to define </a:t>
            </a:r>
            <a:r>
              <a:rPr b="1" lang="en-GB">
                <a:solidFill>
                  <a:srgbClr val="434343"/>
                </a:solidFill>
                <a:latin typeface="Encode Sans"/>
                <a:ea typeface="Encode Sans"/>
                <a:cs typeface="Encode Sans"/>
                <a:sym typeface="Encode Sans"/>
              </a:rPr>
              <a:t>specialized workflows for different scenarios</a:t>
            </a:r>
            <a:r>
              <a:rPr lang="en-GB">
                <a:solidFill>
                  <a:srgbClr val="434343"/>
                </a:solidFill>
                <a:latin typeface="Encode Sans"/>
                <a:ea typeface="Encode Sans"/>
                <a:cs typeface="Encode Sans"/>
                <a:sym typeface="Encode Sans"/>
              </a:rPr>
              <a:t>, rather than forcing every request through the same processing pipeline. </a:t>
            </a:r>
            <a:endParaRPr>
              <a:solidFill>
                <a:srgbClr val="434343"/>
              </a:solidFill>
              <a:latin typeface="Encode Sans"/>
              <a:ea typeface="Encode Sans"/>
              <a:cs typeface="Encode Sans"/>
              <a:sym typeface="Encode Sans"/>
            </a:endParaRPr>
          </a:p>
        </p:txBody>
      </p:sp>
      <p:sp>
        <p:nvSpPr>
          <p:cNvPr id="356" name="Google Shape;356;p45"/>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CHAINING &amp; EXECUTION PATTERNS</a:t>
            </a:r>
            <a:endParaRPr/>
          </a:p>
          <a:p>
            <a:pPr indent="0" lvl="0" marL="0" rtl="0" algn="l">
              <a:spcBef>
                <a:spcPts val="0"/>
              </a:spcBef>
              <a:spcAft>
                <a:spcPts val="0"/>
              </a:spcAft>
              <a:buNone/>
            </a:pPr>
            <a:r>
              <a:t/>
            </a:r>
            <a:endParaRPr/>
          </a:p>
        </p:txBody>
      </p:sp>
      <p:sp>
        <p:nvSpPr>
          <p:cNvPr id="357" name="Google Shape;35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6"/>
          <p:cNvSpPr txBox="1"/>
          <p:nvPr>
            <p:ph idx="1" type="body"/>
          </p:nvPr>
        </p:nvSpPr>
        <p:spPr>
          <a:xfrm>
            <a:off x="920500" y="3453036"/>
            <a:ext cx="7551900" cy="130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An overview of state and memory management, covering their differences, state management, why they are essential, and key techniques for maintaining context and persistence in LLM workflows. </a:t>
            </a:r>
            <a:endParaRPr/>
          </a:p>
        </p:txBody>
      </p:sp>
      <p:sp>
        <p:nvSpPr>
          <p:cNvPr id="363" name="Google Shape;363;p46"/>
          <p:cNvSpPr txBox="1"/>
          <p:nvPr>
            <p:ph type="title"/>
          </p:nvPr>
        </p:nvSpPr>
        <p:spPr>
          <a:xfrm>
            <a:off x="920500" y="1267200"/>
            <a:ext cx="2516700" cy="1003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03</a:t>
            </a:r>
            <a:endParaRPr/>
          </a:p>
        </p:txBody>
      </p:sp>
      <p:sp>
        <p:nvSpPr>
          <p:cNvPr id="364" name="Google Shape;364;p46"/>
          <p:cNvSpPr/>
          <p:nvPr/>
        </p:nvSpPr>
        <p:spPr>
          <a:xfrm>
            <a:off x="0" y="-47700"/>
            <a:ext cx="137100" cy="5238900"/>
          </a:xfrm>
          <a:prstGeom prst="rect">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365" name="Google Shape;365;p46"/>
          <p:cNvSpPr txBox="1"/>
          <p:nvPr>
            <p:ph idx="2" type="title"/>
          </p:nvPr>
        </p:nvSpPr>
        <p:spPr>
          <a:xfrm>
            <a:off x="920500" y="2437713"/>
            <a:ext cx="7551900" cy="904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Managing State,</a:t>
            </a:r>
            <a:endParaRPr/>
          </a:p>
          <a:p>
            <a:pPr indent="0" lvl="0" marL="0" rtl="0" algn="l">
              <a:spcBef>
                <a:spcPts val="0"/>
              </a:spcBef>
              <a:spcAft>
                <a:spcPts val="0"/>
              </a:spcAft>
              <a:buNone/>
            </a:pPr>
            <a:r>
              <a:rPr lang="en-GB"/>
              <a:t>a</a:t>
            </a:r>
            <a:r>
              <a:rPr lang="en-GB"/>
              <a:t>nd Memory</a:t>
            </a:r>
            <a:endParaRPr>
              <a:solidFill>
                <a:srgbClr val="CE6948"/>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What is State?</a:t>
            </a:r>
            <a:endParaRPr>
              <a:solidFill>
                <a:srgbClr val="CE6948"/>
              </a:solidFill>
            </a:endParaRPr>
          </a:p>
        </p:txBody>
      </p:sp>
      <p:sp>
        <p:nvSpPr>
          <p:cNvPr id="371" name="Google Shape;371;p47"/>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State </a:t>
            </a:r>
            <a:r>
              <a:rPr lang="en-GB">
                <a:solidFill>
                  <a:srgbClr val="434343"/>
                </a:solidFill>
                <a:latin typeface="Encode Sans"/>
                <a:ea typeface="Encode Sans"/>
                <a:cs typeface="Encode Sans"/>
                <a:sym typeface="Encode Sans"/>
              </a:rPr>
              <a:t>is used to store </a:t>
            </a:r>
            <a:r>
              <a:rPr b="1" lang="en-GB">
                <a:solidFill>
                  <a:srgbClr val="434343"/>
                </a:solidFill>
                <a:latin typeface="Encode Sans"/>
                <a:ea typeface="Encode Sans"/>
                <a:cs typeface="Encode Sans"/>
                <a:sym typeface="Encode Sans"/>
              </a:rPr>
              <a:t>short-term context</a:t>
            </a:r>
            <a:r>
              <a:rPr lang="en-GB">
                <a:solidFill>
                  <a:srgbClr val="434343"/>
                </a:solidFill>
                <a:latin typeface="Encode Sans"/>
                <a:ea typeface="Encode Sans"/>
                <a:cs typeface="Encode Sans"/>
                <a:sym typeface="Encode Sans"/>
              </a:rPr>
              <a:t> information </a:t>
            </a:r>
            <a:r>
              <a:rPr b="1" lang="en-GB">
                <a:solidFill>
                  <a:srgbClr val="434343"/>
                </a:solidFill>
                <a:latin typeface="Encode Sans"/>
                <a:ea typeface="Encode Sans"/>
                <a:cs typeface="Encode Sans"/>
                <a:sym typeface="Encode Sans"/>
              </a:rPr>
              <a:t>during a conversation</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It contains the information required to understand </a:t>
            </a:r>
            <a:r>
              <a:rPr b="1" lang="en-GB">
                <a:solidFill>
                  <a:srgbClr val="434343"/>
                </a:solidFill>
                <a:latin typeface="Encode Sans"/>
                <a:ea typeface="Encode Sans"/>
                <a:cs typeface="Encode Sans"/>
                <a:sym typeface="Encode Sans"/>
              </a:rPr>
              <a:t>what is happening now</a:t>
            </a:r>
            <a:r>
              <a:rPr lang="en-GB">
                <a:solidFill>
                  <a:srgbClr val="434343"/>
                </a:solidFill>
                <a:latin typeface="Encode Sans"/>
                <a:ea typeface="Encode Sans"/>
                <a:cs typeface="Encode Sans"/>
                <a:sym typeface="Encode Sans"/>
              </a:rPr>
              <a:t> and to continue execution from the current point.</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Typical state includes:</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Current user inputs</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Intermediate results</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Tool outputs</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Variables and parameters</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Current workflow step</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Previous messages needed for the current task</a:t>
            </a:r>
            <a:endParaRPr>
              <a:solidFill>
                <a:srgbClr val="434343"/>
              </a:solidFill>
              <a:latin typeface="Encode Sans"/>
              <a:ea typeface="Encode Sans"/>
              <a:cs typeface="Encode Sans"/>
              <a:sym typeface="Encode Sans"/>
            </a:endParaRPr>
          </a:p>
        </p:txBody>
      </p:sp>
      <p:sp>
        <p:nvSpPr>
          <p:cNvPr id="372" name="Google Shape;372;p4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MANAGING STATE, MEMORY, AND PERSISTENCE</a:t>
            </a:r>
            <a:endParaRPr/>
          </a:p>
        </p:txBody>
      </p:sp>
      <p:sp>
        <p:nvSpPr>
          <p:cNvPr id="373" name="Google Shape;373;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8"/>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What is State?</a:t>
            </a:r>
            <a:endParaRPr>
              <a:solidFill>
                <a:srgbClr val="CE6948"/>
              </a:solidFill>
            </a:endParaRPr>
          </a:p>
        </p:txBody>
      </p:sp>
      <p:sp>
        <p:nvSpPr>
          <p:cNvPr id="379" name="Google Shape;379;p48"/>
          <p:cNvSpPr txBox="1"/>
          <p:nvPr>
            <p:ph idx="1" type="body"/>
          </p:nvPr>
        </p:nvSpPr>
        <p:spPr>
          <a:xfrm>
            <a:off x="311700" y="8663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Example — Ordering food through a chatbot.</a:t>
            </a:r>
            <a:endParaRPr>
              <a:solidFill>
                <a:srgbClr val="434343"/>
              </a:solidFill>
              <a:latin typeface="Encode Sans"/>
              <a:ea typeface="Encode Sans"/>
              <a:cs typeface="Encode Sans"/>
              <a:sym typeface="Encode Sans"/>
            </a:endParaRPr>
          </a:p>
        </p:txBody>
      </p:sp>
      <p:sp>
        <p:nvSpPr>
          <p:cNvPr id="380" name="Google Shape;380;p48"/>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MANAGING STATE, MEMORY, AND PERSISTENCE</a:t>
            </a:r>
            <a:endParaRPr/>
          </a:p>
        </p:txBody>
      </p:sp>
      <p:sp>
        <p:nvSpPr>
          <p:cNvPr id="381" name="Google Shape;381;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82" name="Google Shape;382;p48" title="ai_workflow_diagram_v2 7.png"/>
          <p:cNvPicPr preferRelativeResize="0"/>
          <p:nvPr/>
        </p:nvPicPr>
        <p:blipFill>
          <a:blip r:embed="rId3">
            <a:alphaModFix/>
          </a:blip>
          <a:stretch>
            <a:fillRect/>
          </a:stretch>
        </p:blipFill>
        <p:spPr>
          <a:xfrm>
            <a:off x="1609175" y="1244125"/>
            <a:ext cx="6046356" cy="35841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9"/>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What is State?</a:t>
            </a:r>
            <a:endParaRPr>
              <a:solidFill>
                <a:srgbClr val="CE6948"/>
              </a:solidFill>
            </a:endParaRPr>
          </a:p>
        </p:txBody>
      </p:sp>
      <p:sp>
        <p:nvSpPr>
          <p:cNvPr id="388" name="Google Shape;388;p49"/>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Example — Ordering food through a chatbot.</a:t>
            </a:r>
            <a:endParaRPr>
              <a:solidFill>
                <a:srgbClr val="434343"/>
              </a:solidFill>
              <a:latin typeface="Encode Sans"/>
              <a:ea typeface="Encode Sans"/>
              <a:cs typeface="Encode Sans"/>
              <a:sym typeface="Encode Sans"/>
            </a:endParaRPr>
          </a:p>
          <a:p>
            <a:pPr indent="-225425" lvl="1" marL="800100" rtl="0" algn="just">
              <a:spcBef>
                <a:spcPts val="12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User: </a:t>
            </a:r>
            <a:r>
              <a:rPr i="1" lang="en-GB">
                <a:solidFill>
                  <a:srgbClr val="434343"/>
                </a:solidFill>
                <a:latin typeface="Encode Sans"/>
                <a:ea typeface="Encode Sans"/>
                <a:cs typeface="Encode Sans"/>
                <a:sym typeface="Encode Sans"/>
              </a:rPr>
              <a:t>"I’d like a large pepperoni pizza."</a:t>
            </a:r>
            <a:endParaRPr i="1">
              <a:solidFill>
                <a:srgbClr val="434343"/>
              </a:solidFill>
              <a:latin typeface="Encode Sans"/>
              <a:ea typeface="Encode Sans"/>
              <a:cs typeface="Encode Sans"/>
              <a:sym typeface="Encode Sans"/>
            </a:endParaRPr>
          </a:p>
          <a:p>
            <a:pPr indent="-225425" lvl="1" marL="800100" rtl="0" algn="just">
              <a:spcBef>
                <a:spcPts val="12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chatbot </a:t>
            </a:r>
            <a:r>
              <a:rPr b="1" lang="en-GB">
                <a:solidFill>
                  <a:srgbClr val="CE6948"/>
                </a:solidFill>
                <a:latin typeface="Encode Sans"/>
                <a:ea typeface="Encode Sans"/>
                <a:cs typeface="Encode Sans"/>
                <a:sym typeface="Encode Sans"/>
              </a:rPr>
              <a:t>stores in its </a:t>
            </a:r>
            <a:r>
              <a:rPr b="1" lang="en-GB">
                <a:solidFill>
                  <a:srgbClr val="CE6948"/>
                </a:solidFill>
                <a:latin typeface="Encode Sans"/>
                <a:ea typeface="Encode Sans"/>
                <a:cs typeface="Encode Sans"/>
                <a:sym typeface="Encode Sans"/>
              </a:rPr>
              <a:t>state</a:t>
            </a:r>
            <a:r>
              <a:rPr lang="en-GB">
                <a:solidFill>
                  <a:srgbClr val="434343"/>
                </a:solidFill>
                <a:latin typeface="Encode Sans"/>
                <a:ea typeface="Encode Sans"/>
                <a:cs typeface="Encode Sans"/>
                <a:sym typeface="Encode Sans"/>
              </a:rPr>
              <a:t>: </a:t>
            </a:r>
            <a:r>
              <a:rPr b="1" lang="en-GB">
                <a:solidFill>
                  <a:srgbClr val="067D17"/>
                </a:solidFill>
                <a:latin typeface="Consolas"/>
                <a:ea typeface="Consolas"/>
                <a:cs typeface="Consolas"/>
                <a:sym typeface="Consolas"/>
              </a:rPr>
              <a:t>Item: Pizza, Size: Large, Topping: Pepperoni</a:t>
            </a:r>
            <a:endParaRPr>
              <a:solidFill>
                <a:srgbClr val="434343"/>
              </a:solidFill>
              <a:latin typeface="Consolas"/>
              <a:ea typeface="Consolas"/>
              <a:cs typeface="Consolas"/>
              <a:sym typeface="Consolas"/>
            </a:endParaRPr>
          </a:p>
          <a:p>
            <a:pPr indent="-225425" lvl="1" marL="800100" rtl="0" algn="just">
              <a:spcBef>
                <a:spcPts val="12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chatbot then asks: </a:t>
            </a:r>
            <a:r>
              <a:rPr i="1" lang="en-GB">
                <a:solidFill>
                  <a:srgbClr val="434343"/>
                </a:solidFill>
                <a:latin typeface="Encode Sans"/>
                <a:ea typeface="Encode Sans"/>
                <a:cs typeface="Encode Sans"/>
                <a:sym typeface="Encode Sans"/>
              </a:rPr>
              <a:t>"</a:t>
            </a:r>
            <a:r>
              <a:rPr b="1" i="1" lang="en-GB">
                <a:solidFill>
                  <a:srgbClr val="434343"/>
                </a:solidFill>
                <a:latin typeface="Encode Sans"/>
                <a:ea typeface="Encode Sans"/>
                <a:cs typeface="Encode Sans"/>
                <a:sym typeface="Encode Sans"/>
              </a:rPr>
              <a:t>Would you like that for delivery or pickup?</a:t>
            </a:r>
            <a:r>
              <a:rPr i="1" lang="en-GB">
                <a:solidFill>
                  <a:srgbClr val="434343"/>
                </a:solidFill>
                <a:latin typeface="Encode Sans"/>
                <a:ea typeface="Encode Sans"/>
                <a:cs typeface="Encode Sans"/>
                <a:sym typeface="Encode Sans"/>
              </a:rPr>
              <a:t>"</a:t>
            </a:r>
            <a:endParaRPr i="1">
              <a:solidFill>
                <a:srgbClr val="434343"/>
              </a:solidFill>
              <a:latin typeface="Encode Sans"/>
              <a:ea typeface="Encode Sans"/>
              <a:cs typeface="Encode Sans"/>
              <a:sym typeface="Encode Sans"/>
            </a:endParaRPr>
          </a:p>
          <a:p>
            <a:pPr indent="-225425" lvl="1" marL="800100" rtl="0" algn="just">
              <a:spcBef>
                <a:spcPts val="12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a:t>
            </a:r>
            <a:r>
              <a:rPr b="1" lang="en-GB">
                <a:solidFill>
                  <a:srgbClr val="CE6948"/>
                </a:solidFill>
                <a:latin typeface="Encode Sans"/>
                <a:ea typeface="Encode Sans"/>
                <a:cs typeface="Encode Sans"/>
                <a:sym typeface="Encode Sans"/>
              </a:rPr>
              <a:t>state is updated</a:t>
            </a:r>
            <a:r>
              <a:rPr lang="en-GB">
                <a:solidFill>
                  <a:srgbClr val="434343"/>
                </a:solidFill>
                <a:latin typeface="Encode Sans"/>
                <a:ea typeface="Encode Sans"/>
                <a:cs typeface="Encode Sans"/>
                <a:sym typeface="Encode Sans"/>
              </a:rPr>
              <a:t>: </a:t>
            </a:r>
            <a:r>
              <a:rPr b="1" lang="en-GB">
                <a:solidFill>
                  <a:srgbClr val="067D17"/>
                </a:solidFill>
                <a:latin typeface="Consolas"/>
                <a:ea typeface="Consolas"/>
                <a:cs typeface="Consolas"/>
                <a:sym typeface="Consolas"/>
              </a:rPr>
              <a:t>Item: Pizza, Size: Large, Topping: Pepperoni, Fulfillment: Delivery</a:t>
            </a:r>
            <a:endParaRPr b="1">
              <a:solidFill>
                <a:srgbClr val="067D17"/>
              </a:solidFill>
              <a:latin typeface="Consolas"/>
              <a:ea typeface="Consolas"/>
              <a:cs typeface="Consolas"/>
              <a:sym typeface="Consolas"/>
            </a:endParaRPr>
          </a:p>
          <a:p>
            <a:pPr indent="-225425" lvl="1" marL="800100" rtl="0" algn="just">
              <a:spcBef>
                <a:spcPts val="12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Once the workflow is completed, this </a:t>
            </a:r>
            <a:r>
              <a:rPr b="1" lang="en-GB">
                <a:solidFill>
                  <a:srgbClr val="434343"/>
                </a:solidFill>
                <a:latin typeface="Encode Sans"/>
                <a:ea typeface="Encode Sans"/>
                <a:cs typeface="Encode Sans"/>
                <a:sym typeface="Encode Sans"/>
              </a:rPr>
              <a:t>task-specific state may be cleared, archived, or persisted depending on the application design.</a:t>
            </a:r>
            <a:r>
              <a:rPr b="1"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p:txBody>
      </p:sp>
      <p:sp>
        <p:nvSpPr>
          <p:cNvPr id="389" name="Google Shape;389;p49"/>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MANAGING STATE, MEMORY, AND PERSISTENCE</a:t>
            </a:r>
            <a:endParaRPr/>
          </a:p>
        </p:txBody>
      </p:sp>
      <p:sp>
        <p:nvSpPr>
          <p:cNvPr id="390" name="Google Shape;390;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Memory</a:t>
            </a:r>
            <a:endParaRPr>
              <a:solidFill>
                <a:srgbClr val="CE6948"/>
              </a:solidFill>
            </a:endParaRPr>
          </a:p>
        </p:txBody>
      </p:sp>
      <p:sp>
        <p:nvSpPr>
          <p:cNvPr id="396" name="Google Shape;396;p50"/>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Memory </a:t>
            </a:r>
            <a:r>
              <a:rPr lang="en-GB">
                <a:solidFill>
                  <a:srgbClr val="434343"/>
                </a:solidFill>
                <a:latin typeface="Encode Sans"/>
                <a:ea typeface="Encode Sans"/>
                <a:cs typeface="Encode Sans"/>
                <a:sym typeface="Encode Sans"/>
              </a:rPr>
              <a:t>is the</a:t>
            </a:r>
            <a:r>
              <a:rPr b="1" lang="en-GB">
                <a:solidFill>
                  <a:srgbClr val="434343"/>
                </a:solidFill>
                <a:latin typeface="Encode Sans"/>
                <a:ea typeface="Encode Sans"/>
                <a:cs typeface="Encode Sans"/>
                <a:sym typeface="Encode Sans"/>
              </a:rPr>
              <a:t> long-term context </a:t>
            </a:r>
            <a:r>
              <a:rPr lang="en-GB">
                <a:solidFill>
                  <a:srgbClr val="434343"/>
                </a:solidFill>
                <a:latin typeface="Encode Sans"/>
                <a:ea typeface="Encode Sans"/>
                <a:cs typeface="Encode Sans"/>
                <a:sym typeface="Encode Sans"/>
              </a:rPr>
              <a:t>memory </a:t>
            </a:r>
            <a:r>
              <a:rPr b="1" lang="en-GB">
                <a:solidFill>
                  <a:srgbClr val="434343"/>
                </a:solidFill>
                <a:latin typeface="Encode Sans"/>
                <a:ea typeface="Encode Sans"/>
                <a:cs typeface="Encode Sans"/>
                <a:sym typeface="Encode Sans"/>
              </a:rPr>
              <a:t>in a conversational system</a:t>
            </a:r>
            <a:r>
              <a:rPr lang="en-GB">
                <a:solidFill>
                  <a:srgbClr val="434343"/>
                </a:solidFill>
                <a:latin typeface="Encode Sans"/>
                <a:ea typeface="Encode Sans"/>
                <a:cs typeface="Encode Sans"/>
                <a:sym typeface="Encode Sans"/>
              </a:rPr>
              <a:t>.</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It records a user's long-term preferences, habits, or historical data.</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data may be persisted and utilized across multiple sessions. </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Example: The same food delivery chatbot remembering your habits.</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Over multiple sessions, the chatbot may remember:</a:t>
            </a:r>
            <a:endParaRPr>
              <a:solidFill>
                <a:srgbClr val="434343"/>
              </a:solidFill>
              <a:latin typeface="Encode Sans"/>
              <a:ea typeface="Encode Sans"/>
              <a:cs typeface="Encode Sans"/>
              <a:sym typeface="Encode Sans"/>
            </a:endParaRPr>
          </a:p>
          <a:p>
            <a:pPr indent="0" lvl="0" marL="1080000" rtl="0" algn="just">
              <a:spcBef>
                <a:spcPts val="0"/>
              </a:spcBef>
              <a:spcAft>
                <a:spcPts val="0"/>
              </a:spcAft>
              <a:buClr>
                <a:schemeClr val="dk1"/>
              </a:buClr>
              <a:buSzPts val="1100"/>
              <a:buFont typeface="Arial"/>
              <a:buNone/>
            </a:pPr>
            <a:r>
              <a:rPr lang="en-GB">
                <a:solidFill>
                  <a:srgbClr val="434343"/>
                </a:solidFill>
                <a:latin typeface="Consolas"/>
                <a:ea typeface="Consolas"/>
                <a:cs typeface="Consolas"/>
                <a:sym typeface="Consolas"/>
              </a:rPr>
              <a:t>Favorite Pizza: Pepperoni</a:t>
            </a:r>
            <a:endParaRPr>
              <a:solidFill>
                <a:srgbClr val="434343"/>
              </a:solidFill>
              <a:latin typeface="Consolas"/>
              <a:ea typeface="Consolas"/>
              <a:cs typeface="Consolas"/>
              <a:sym typeface="Consolas"/>
            </a:endParaRPr>
          </a:p>
          <a:p>
            <a:pPr indent="0" lvl="0" marL="1080000" rtl="0" algn="just">
              <a:spcBef>
                <a:spcPts val="0"/>
              </a:spcBef>
              <a:spcAft>
                <a:spcPts val="0"/>
              </a:spcAft>
              <a:buClr>
                <a:schemeClr val="dk1"/>
              </a:buClr>
              <a:buSzPts val="1100"/>
              <a:buFont typeface="Arial"/>
              <a:buNone/>
            </a:pPr>
            <a:r>
              <a:rPr lang="en-GB">
                <a:solidFill>
                  <a:srgbClr val="434343"/>
                </a:solidFill>
                <a:latin typeface="Consolas"/>
                <a:ea typeface="Consolas"/>
                <a:cs typeface="Consolas"/>
                <a:sym typeface="Consolas"/>
              </a:rPr>
              <a:t>Preferred Size: Large</a:t>
            </a:r>
            <a:endParaRPr>
              <a:solidFill>
                <a:srgbClr val="434343"/>
              </a:solidFill>
              <a:latin typeface="Consolas"/>
              <a:ea typeface="Consolas"/>
              <a:cs typeface="Consolas"/>
              <a:sym typeface="Consolas"/>
            </a:endParaRPr>
          </a:p>
          <a:p>
            <a:pPr indent="0" lvl="0" marL="1080000" rtl="0" algn="just">
              <a:spcBef>
                <a:spcPts val="0"/>
              </a:spcBef>
              <a:spcAft>
                <a:spcPts val="0"/>
              </a:spcAft>
              <a:buClr>
                <a:schemeClr val="dk1"/>
              </a:buClr>
              <a:buSzPts val="1100"/>
              <a:buFont typeface="Arial"/>
              <a:buNone/>
            </a:pPr>
            <a:r>
              <a:rPr lang="en-GB">
                <a:solidFill>
                  <a:srgbClr val="434343"/>
                </a:solidFill>
                <a:latin typeface="Consolas"/>
                <a:ea typeface="Consolas"/>
                <a:cs typeface="Consolas"/>
                <a:sym typeface="Consolas"/>
              </a:rPr>
              <a:t>Preferred Fulfillment: Delivery</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When the user returns later, the chatbot can use this information without asking again. the chatbot already knows: "User's favorite pizza is pepperoni," and "User always chooses delivery to 123 Main Street."</a:t>
            </a:r>
            <a:endParaRPr>
              <a:solidFill>
                <a:srgbClr val="434343"/>
              </a:solidFill>
              <a:latin typeface="Encode Sans"/>
              <a:ea typeface="Encode Sans"/>
              <a:cs typeface="Encode Sans"/>
              <a:sym typeface="Encode Sans"/>
            </a:endParaRPr>
          </a:p>
          <a:p>
            <a:pPr indent="-225425" lvl="1" marL="8001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It doesn't clear this data when the chat ends; it saves it so you don't have to re-type your preferences next time.</a:t>
            </a:r>
            <a:endParaRPr>
              <a:solidFill>
                <a:srgbClr val="434343"/>
              </a:solidFill>
              <a:latin typeface="Encode Sans"/>
              <a:ea typeface="Encode Sans"/>
              <a:cs typeface="Encode Sans"/>
              <a:sym typeface="Encode Sans"/>
            </a:endParaRPr>
          </a:p>
        </p:txBody>
      </p:sp>
      <p:sp>
        <p:nvSpPr>
          <p:cNvPr id="397" name="Google Shape;397;p5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MANAGING STATE, MEMORY, AND PERSISTENCE</a:t>
            </a:r>
            <a:endParaRPr/>
          </a:p>
        </p:txBody>
      </p:sp>
      <p:sp>
        <p:nvSpPr>
          <p:cNvPr id="398" name="Google Shape;398;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State vs. Memory - Comparison Table</a:t>
            </a:r>
            <a:endParaRPr>
              <a:solidFill>
                <a:srgbClr val="CE6948"/>
              </a:solidFill>
            </a:endParaRPr>
          </a:p>
        </p:txBody>
      </p:sp>
      <p:sp>
        <p:nvSpPr>
          <p:cNvPr id="404" name="Google Shape;404;p5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MANAGING STATE, MEMORY, AND PERSISTENCE</a:t>
            </a:r>
            <a:endParaRPr/>
          </a:p>
        </p:txBody>
      </p:sp>
      <p:graphicFrame>
        <p:nvGraphicFramePr>
          <p:cNvPr id="405" name="Google Shape;405;p51"/>
          <p:cNvGraphicFramePr/>
          <p:nvPr/>
        </p:nvGraphicFramePr>
        <p:xfrm>
          <a:off x="397600" y="1228650"/>
          <a:ext cx="3000000" cy="3000000"/>
        </p:xfrm>
        <a:graphic>
          <a:graphicData uri="http://schemas.openxmlformats.org/drawingml/2006/table">
            <a:tbl>
              <a:tblPr>
                <a:noFill/>
                <a:tableStyleId>{72E992ED-6B25-4E48-9C0A-EFB178C94E49}</a:tableStyleId>
              </a:tblPr>
              <a:tblGrid>
                <a:gridCol w="1195625"/>
                <a:gridCol w="3377825"/>
                <a:gridCol w="3592000"/>
              </a:tblGrid>
              <a:tr h="402725">
                <a:tc>
                  <a:txBody>
                    <a:bodyPr/>
                    <a:lstStyle/>
                    <a:p>
                      <a:pPr indent="0" lvl="0" marL="0" rtl="0" algn="l">
                        <a:spcBef>
                          <a:spcPts val="0"/>
                        </a:spcBef>
                        <a:spcAft>
                          <a:spcPts val="0"/>
                        </a:spcAft>
                        <a:buNone/>
                      </a:pPr>
                      <a:r>
                        <a:rPr b="1" lang="en-GB" sz="1100">
                          <a:solidFill>
                            <a:srgbClr val="FFFFFF"/>
                          </a:solidFill>
                          <a:latin typeface="Encode Sans"/>
                          <a:ea typeface="Encode Sans"/>
                          <a:cs typeface="Encode Sans"/>
                          <a:sym typeface="Encode Sans"/>
                        </a:rPr>
                        <a:t>Attribute</a:t>
                      </a:r>
                      <a:endParaRPr sz="11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6350">
                      <a:solidFill>
                        <a:srgbClr val="D9D9D9"/>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1100">
                          <a:solidFill>
                            <a:srgbClr val="FFFFFF"/>
                          </a:solidFill>
                          <a:latin typeface="Encode Sans"/>
                          <a:ea typeface="Encode Sans"/>
                          <a:cs typeface="Encode Sans"/>
                          <a:sym typeface="Encode Sans"/>
                        </a:rPr>
                        <a:t>State</a:t>
                      </a:r>
                      <a:endParaRPr sz="11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6350">
                      <a:solidFill>
                        <a:srgbClr val="D9D9D9"/>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1100">
                          <a:solidFill>
                            <a:srgbClr val="FFFFFF"/>
                          </a:solidFill>
                          <a:latin typeface="Encode Sans"/>
                          <a:ea typeface="Encode Sans"/>
                          <a:cs typeface="Encode Sans"/>
                          <a:sym typeface="Encode Sans"/>
                        </a:rPr>
                        <a:t>Memory</a:t>
                      </a:r>
                      <a:endParaRPr sz="110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6350">
                      <a:solidFill>
                        <a:srgbClr val="D9D9D9"/>
                      </a:solidFill>
                      <a:prstDash val="solid"/>
                      <a:round/>
                      <a:headEnd len="sm" w="sm" type="none"/>
                      <a:tailEnd len="sm" w="sm" type="none"/>
                    </a:lnB>
                    <a:solidFill>
                      <a:srgbClr val="999999"/>
                    </a:solidFill>
                  </a:tcPr>
                </a:tc>
              </a:tr>
              <a:tr h="460175">
                <a:tc>
                  <a:txBody>
                    <a:bodyPr/>
                    <a:lstStyle/>
                    <a:p>
                      <a:pPr indent="0" lvl="0" marL="18675" marR="0" rtl="0" algn="l">
                        <a:spcBef>
                          <a:spcPts val="0"/>
                        </a:spcBef>
                        <a:spcAft>
                          <a:spcPts val="0"/>
                        </a:spcAft>
                        <a:buNone/>
                      </a:pPr>
                      <a:r>
                        <a:rPr b="1" lang="en-GB" sz="1100">
                          <a:solidFill>
                            <a:srgbClr val="434343"/>
                          </a:solidFill>
                          <a:latin typeface="Encode Sans"/>
                          <a:ea typeface="Encode Sans"/>
                          <a:cs typeface="Encode Sans"/>
                          <a:sym typeface="Encode Sans"/>
                        </a:rPr>
                        <a:t>Time Horizon</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Short-term / current execution</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Long-term / across executions</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r>
              <a:tr h="460175">
                <a:tc>
                  <a:txBody>
                    <a:bodyPr/>
                    <a:lstStyle/>
                    <a:p>
                      <a:pPr indent="0" lvl="0" marL="18675" marR="0" rtl="0" algn="l">
                        <a:spcBef>
                          <a:spcPts val="0"/>
                        </a:spcBef>
                        <a:spcAft>
                          <a:spcPts val="0"/>
                        </a:spcAft>
                        <a:buNone/>
                      </a:pPr>
                      <a:r>
                        <a:rPr b="1" lang="en-GB" sz="1100">
                          <a:solidFill>
                            <a:srgbClr val="434343"/>
                          </a:solidFill>
                          <a:latin typeface="Encode Sans"/>
                          <a:ea typeface="Encode Sans"/>
                          <a:cs typeface="Encode Sans"/>
                          <a:sym typeface="Encode Sans"/>
                        </a:rPr>
                        <a:t>Purpose</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Manage the current task and workflow</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Retain useful information for future use</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r>
              <a:tr h="460175">
                <a:tc>
                  <a:txBody>
                    <a:bodyPr/>
                    <a:lstStyle/>
                    <a:p>
                      <a:pPr indent="0" lvl="0" marL="18675" marR="0" rtl="0" algn="l">
                        <a:spcBef>
                          <a:spcPts val="0"/>
                        </a:spcBef>
                        <a:spcAft>
                          <a:spcPts val="0"/>
                        </a:spcAft>
                        <a:buNone/>
                      </a:pPr>
                      <a:r>
                        <a:rPr b="1" lang="en-GB" sz="1100">
                          <a:solidFill>
                            <a:srgbClr val="434343"/>
                          </a:solidFill>
                          <a:latin typeface="Encode Sans"/>
                          <a:ea typeface="Encode Sans"/>
                          <a:cs typeface="Encode Sans"/>
                          <a:sym typeface="Encode Sans"/>
                        </a:rPr>
                        <a:t>Scope</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Current task, session, or workflow</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Multiple sessions or tasks</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r>
              <a:tr h="460175">
                <a:tc>
                  <a:txBody>
                    <a:bodyPr/>
                    <a:lstStyle/>
                    <a:p>
                      <a:pPr indent="0" lvl="0" marL="18675" marR="0" rtl="0" algn="l">
                        <a:spcBef>
                          <a:spcPts val="0"/>
                        </a:spcBef>
                        <a:spcAft>
                          <a:spcPts val="0"/>
                        </a:spcAft>
                        <a:buNone/>
                      </a:pPr>
                      <a:r>
                        <a:rPr b="1" lang="en-GB" sz="1100">
                          <a:solidFill>
                            <a:srgbClr val="434343"/>
                          </a:solidFill>
                          <a:latin typeface="Encode Sans"/>
                          <a:ea typeface="Encode Sans"/>
                          <a:cs typeface="Encode Sans"/>
                          <a:sym typeface="Encode Sans"/>
                        </a:rPr>
                        <a:t>Content</a:t>
                      </a:r>
                      <a:endParaRPr b="1"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Inputs, variables, intermediate results, tool outputs, workflow status</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Preferences, history, persistent facts, past interactions</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r>
              <a:tr h="460175">
                <a:tc>
                  <a:txBody>
                    <a:bodyPr/>
                    <a:lstStyle/>
                    <a:p>
                      <a:pPr indent="0" lvl="0" marL="18675" marR="0" rtl="0" algn="l">
                        <a:spcBef>
                          <a:spcPts val="0"/>
                        </a:spcBef>
                        <a:spcAft>
                          <a:spcPts val="0"/>
                        </a:spcAft>
                        <a:buNone/>
                      </a:pPr>
                      <a:r>
                        <a:rPr b="1" lang="en-GB" sz="1100">
                          <a:solidFill>
                            <a:srgbClr val="434343"/>
                          </a:solidFill>
                          <a:latin typeface="Encode Sans"/>
                          <a:ea typeface="Encode Sans"/>
                          <a:cs typeface="Encode Sans"/>
                          <a:sym typeface="Encode Sans"/>
                        </a:rPr>
                        <a:t>Lifecycle</a:t>
                      </a:r>
                      <a:endParaRPr b="1"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Often temporary, but may be persisted</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Intentionally retained</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r>
              <a:tr h="460175">
                <a:tc>
                  <a:txBody>
                    <a:bodyPr/>
                    <a:lstStyle/>
                    <a:p>
                      <a:pPr indent="0" lvl="0" marL="18675" marR="0" rtl="0" algn="l">
                        <a:spcBef>
                          <a:spcPts val="0"/>
                        </a:spcBef>
                        <a:spcAft>
                          <a:spcPts val="0"/>
                        </a:spcAft>
                        <a:buNone/>
                      </a:pPr>
                      <a:r>
                        <a:rPr b="1" lang="en-GB" sz="1100">
                          <a:solidFill>
                            <a:srgbClr val="434343"/>
                          </a:solidFill>
                          <a:latin typeface="Encode Sans"/>
                          <a:ea typeface="Encode Sans"/>
                          <a:cs typeface="Encode Sans"/>
                          <a:sym typeface="Encode Sans"/>
                        </a:rPr>
                        <a:t>Example</a:t>
                      </a:r>
                      <a:endParaRPr b="1"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Current pizza order: size, topping, delivery option</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c>
                  <a:txBody>
                    <a:bodyPr/>
                    <a:lstStyle/>
                    <a:p>
                      <a:pPr indent="0" lvl="0" marL="18675" marR="0" rtl="0" algn="l">
                        <a:spcBef>
                          <a:spcPts val="0"/>
                        </a:spcBef>
                        <a:spcAft>
                          <a:spcPts val="0"/>
                        </a:spcAft>
                        <a:buNone/>
                      </a:pPr>
                      <a:r>
                        <a:rPr lang="en-GB" sz="1100">
                          <a:solidFill>
                            <a:srgbClr val="434343"/>
                          </a:solidFill>
                          <a:latin typeface="Encode Sans"/>
                          <a:ea typeface="Encode Sans"/>
                          <a:cs typeface="Encode Sans"/>
                          <a:sym typeface="Encode Sans"/>
                        </a:rPr>
                        <a:t>User's favorite pizza and usual delivery preference</a:t>
                      </a:r>
                      <a:endParaRPr sz="1100">
                        <a:solidFill>
                          <a:srgbClr val="434343"/>
                        </a:solidFill>
                        <a:latin typeface="Encode Sans"/>
                        <a:ea typeface="Encode Sans"/>
                        <a:cs typeface="Encode Sans"/>
                        <a:sym typeface="Encode Sans"/>
                      </a:endParaRPr>
                    </a:p>
                  </a:txBody>
                  <a:tcPr marT="36000" marB="36000" marR="36000" marL="36000" anchor="ctr">
                    <a:lnL cap="flat" cmpd="sng" w="6350">
                      <a:solidFill>
                        <a:srgbClr val="D9D9D9"/>
                      </a:solidFill>
                      <a:prstDash val="solid"/>
                      <a:round/>
                      <a:headEnd len="sm" w="sm" type="none"/>
                      <a:tailEnd len="sm" w="sm" type="none"/>
                    </a:lnL>
                    <a:lnR cap="flat" cmpd="sng" w="6350">
                      <a:solidFill>
                        <a:srgbClr val="D9D9D9"/>
                      </a:solidFill>
                      <a:prstDash val="solid"/>
                      <a:round/>
                      <a:headEnd len="sm" w="sm" type="none"/>
                      <a:tailEnd len="sm" w="sm" type="none"/>
                    </a:lnR>
                    <a:lnT cap="flat" cmpd="sng" w="6350">
                      <a:solidFill>
                        <a:srgbClr val="D9D9D9"/>
                      </a:solidFill>
                      <a:prstDash val="solid"/>
                      <a:round/>
                      <a:headEnd len="sm" w="sm" type="none"/>
                      <a:tailEnd len="sm" w="sm" type="none"/>
                    </a:lnT>
                    <a:lnB cap="flat" cmpd="sng" w="6350">
                      <a:solidFill>
                        <a:srgbClr val="D9D9D9"/>
                      </a:solidFill>
                      <a:prstDash val="solid"/>
                      <a:round/>
                      <a:headEnd len="sm" w="sm" type="none"/>
                      <a:tailEnd len="sm" w="sm" type="none"/>
                    </a:lnB>
                  </a:tcPr>
                </a:tc>
              </a:tr>
            </a:tbl>
          </a:graphicData>
        </a:graphic>
      </p:graphicFrame>
      <p:sp>
        <p:nvSpPr>
          <p:cNvPr id="406" name="Google Shape;406;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State Management</a:t>
            </a:r>
            <a:endParaRPr>
              <a:solidFill>
                <a:srgbClr val="CE6948"/>
              </a:solidFill>
            </a:endParaRPr>
          </a:p>
        </p:txBody>
      </p:sp>
      <p:sp>
        <p:nvSpPr>
          <p:cNvPr id="412" name="Google Shape;412;p52"/>
          <p:cNvSpPr txBox="1"/>
          <p:nvPr>
            <p:ph idx="1" type="body"/>
          </p:nvPr>
        </p:nvSpPr>
        <p:spPr>
          <a:xfrm>
            <a:off x="311700" y="1069550"/>
            <a:ext cx="84459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State management</a:t>
            </a:r>
            <a:r>
              <a:rPr lang="en-GB">
                <a:solidFill>
                  <a:srgbClr val="434343"/>
                </a:solidFill>
                <a:latin typeface="Encode Sans"/>
                <a:ea typeface="Encode Sans"/>
                <a:cs typeface="Encode Sans"/>
                <a:sym typeface="Encode Sans"/>
              </a:rPr>
              <a:t> is the practice of organizing, updating, tracking, and controlling the information required to maintain an application's current execution context.</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In an LLM application, state allows the system to:</a:t>
            </a:r>
            <a:endParaRPr>
              <a:solidFill>
                <a:srgbClr val="434343"/>
              </a:solidFill>
              <a:latin typeface="Encode Sans"/>
              <a:ea typeface="Encode Sans"/>
              <a:cs typeface="Encode Sans"/>
              <a:sym typeface="Encode Sans"/>
            </a:endParaRPr>
          </a:p>
          <a:p>
            <a:pPr indent="0" lvl="0" marL="180000" rtl="0" algn="ctr">
              <a:spcBef>
                <a:spcPts val="0"/>
              </a:spcBef>
              <a:spcAft>
                <a:spcPts val="0"/>
              </a:spcAft>
              <a:buNone/>
            </a:pPr>
            <a:r>
              <a:t/>
            </a:r>
            <a:endParaRPr>
              <a:solidFill>
                <a:srgbClr val="434343"/>
              </a:solidFill>
              <a:latin typeface="Encode Sans SemiBold"/>
              <a:ea typeface="Encode Sans SemiBold"/>
              <a:cs typeface="Encode Sans SemiBold"/>
              <a:sym typeface="Encode Sans SemiBold"/>
            </a:endParaRPr>
          </a:p>
          <a:p>
            <a:pPr indent="0" lvl="0" marL="0" marR="0" rtl="0" algn="just">
              <a:lnSpc>
                <a:spcPct val="130000"/>
              </a:lnSpc>
              <a:spcBef>
                <a:spcPts val="1000"/>
              </a:spcBef>
              <a:spcAft>
                <a:spcPts val="0"/>
              </a:spcAft>
              <a:buNone/>
            </a:pPr>
            <a:r>
              <a:t/>
            </a:r>
            <a:endParaRPr>
              <a:solidFill>
                <a:srgbClr val="434343"/>
              </a:solidFill>
              <a:latin typeface="Encode Sans"/>
              <a:ea typeface="Encode Sans"/>
              <a:cs typeface="Encode Sans"/>
              <a:sym typeface="Encode Sans"/>
            </a:endParaRPr>
          </a:p>
          <a:p>
            <a:pPr indent="0" lvl="0" marL="0" marR="0" rtl="0" algn="just">
              <a:lnSpc>
                <a:spcPct val="130000"/>
              </a:lnSpc>
              <a:spcBef>
                <a:spcPts val="1000"/>
              </a:spcBef>
              <a:spcAft>
                <a:spcPts val="0"/>
              </a:spcAft>
              <a:buNone/>
            </a:pPr>
            <a:r>
              <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2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This is especially important for</a:t>
            </a:r>
            <a:r>
              <a:rPr b="1" lang="en-GB">
                <a:solidFill>
                  <a:srgbClr val="434343"/>
                </a:solidFill>
                <a:latin typeface="Encode Sans"/>
                <a:ea typeface="Encode Sans"/>
                <a:cs typeface="Encode Sans"/>
                <a:sym typeface="Encode Sans"/>
              </a:rPr>
              <a:t> multi-step LLM workflows and agentic systems</a:t>
            </a:r>
            <a:r>
              <a:rPr lang="en-GB">
                <a:solidFill>
                  <a:srgbClr val="434343"/>
                </a:solidFill>
                <a:latin typeface="Encode Sans"/>
                <a:ea typeface="Encode Sans"/>
                <a:cs typeface="Encode Sans"/>
                <a:sym typeface="Encode Sans"/>
              </a:rPr>
              <a:t>, where the application needs to know what has already happened and what should happen next.</a:t>
            </a:r>
            <a:endParaRPr>
              <a:solidFill>
                <a:srgbClr val="434343"/>
              </a:solidFill>
              <a:latin typeface="Encode Sans"/>
              <a:ea typeface="Encode Sans"/>
              <a:cs typeface="Encode Sans"/>
              <a:sym typeface="Encode Sans"/>
            </a:endParaRPr>
          </a:p>
        </p:txBody>
      </p:sp>
      <p:sp>
        <p:nvSpPr>
          <p:cNvPr id="413" name="Google Shape;413;p5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MANAGING STATE, MEMORY, AND PERSISTENCE</a:t>
            </a:r>
            <a:endParaRPr/>
          </a:p>
        </p:txBody>
      </p:sp>
      <p:sp>
        <p:nvSpPr>
          <p:cNvPr id="414" name="Google Shape;414;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415" name="Google Shape;415;p52" title="ai_workflow_diagram_v2 6.png"/>
          <p:cNvPicPr preferRelativeResize="0"/>
          <p:nvPr/>
        </p:nvPicPr>
        <p:blipFill>
          <a:blip r:embed="rId3">
            <a:alphaModFix/>
          </a:blip>
          <a:stretch>
            <a:fillRect/>
          </a:stretch>
        </p:blipFill>
        <p:spPr>
          <a:xfrm>
            <a:off x="629911" y="2087721"/>
            <a:ext cx="8122199" cy="103115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3"/>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Why Managing Memory &amp; State is Essential</a:t>
            </a:r>
            <a:endParaRPr>
              <a:solidFill>
                <a:srgbClr val="CE6948"/>
              </a:solidFill>
            </a:endParaRPr>
          </a:p>
        </p:txBody>
      </p:sp>
      <p:sp>
        <p:nvSpPr>
          <p:cNvPr id="421" name="Google Shape;421;p53"/>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Effective state and memory management helps LLM applications maintain </a:t>
            </a:r>
            <a:r>
              <a:rPr b="1" lang="en-GB">
                <a:solidFill>
                  <a:srgbClr val="434343"/>
                </a:solidFill>
                <a:latin typeface="Encode Sans"/>
                <a:ea typeface="Encode Sans"/>
                <a:cs typeface="Encode Sans"/>
                <a:sym typeface="Encode Sans"/>
              </a:rPr>
              <a:t>consistency, continuity, efficiency, and recoverability.</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Without proper management:</a:t>
            </a:r>
            <a:endParaRPr>
              <a:solidFill>
                <a:srgbClr val="434343"/>
              </a:solidFill>
              <a:latin typeface="Encode Sans"/>
              <a:ea typeface="Encode Sans"/>
              <a:cs typeface="Encode Sans"/>
              <a:sym typeface="Encode Sans"/>
            </a:endParaRPr>
          </a:p>
          <a:p>
            <a:pPr indent="-217550" lvl="1" marL="720000" rtl="0" algn="just">
              <a:spcBef>
                <a:spcPts val="6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Users may need to </a:t>
            </a:r>
            <a:r>
              <a:rPr b="1" lang="en-GB">
                <a:solidFill>
                  <a:srgbClr val="434343"/>
                </a:solidFill>
                <a:latin typeface="Encode Sans"/>
                <a:ea typeface="Encode Sans"/>
                <a:cs typeface="Encode Sans"/>
                <a:sym typeface="Encode Sans"/>
              </a:rPr>
              <a:t>repeat information</a:t>
            </a:r>
            <a:endParaRPr b="1">
              <a:solidFill>
                <a:srgbClr val="434343"/>
              </a:solidFill>
              <a:latin typeface="Encode Sans"/>
              <a:ea typeface="Encode Sans"/>
              <a:cs typeface="Encode Sans"/>
              <a:sym typeface="Encode Sans"/>
            </a:endParaRPr>
          </a:p>
          <a:p>
            <a:pPr indent="-217550" lvl="1" marL="720000" rtl="0" algn="just">
              <a:spcBef>
                <a:spcPts val="6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application may </a:t>
            </a:r>
            <a:r>
              <a:rPr b="1" lang="en-GB">
                <a:solidFill>
                  <a:srgbClr val="434343"/>
                </a:solidFill>
                <a:latin typeface="Encode Sans"/>
                <a:ea typeface="Encode Sans"/>
                <a:cs typeface="Encode Sans"/>
                <a:sym typeface="Encode Sans"/>
              </a:rPr>
              <a:t>lose important context</a:t>
            </a:r>
            <a:endParaRPr b="1">
              <a:solidFill>
                <a:srgbClr val="434343"/>
              </a:solidFill>
              <a:latin typeface="Encode Sans"/>
              <a:ea typeface="Encode Sans"/>
              <a:cs typeface="Encode Sans"/>
              <a:sym typeface="Encode Sans"/>
            </a:endParaRPr>
          </a:p>
          <a:p>
            <a:pPr indent="-217550" lvl="1" marL="720000" rtl="0" algn="just">
              <a:spcBef>
                <a:spcPts val="6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LLM may make </a:t>
            </a:r>
            <a:r>
              <a:rPr b="1" lang="en-GB">
                <a:solidFill>
                  <a:srgbClr val="434343"/>
                </a:solidFill>
                <a:latin typeface="Encode Sans"/>
                <a:ea typeface="Encode Sans"/>
                <a:cs typeface="Encode Sans"/>
                <a:sym typeface="Encode Sans"/>
              </a:rPr>
              <a:t>inconsistent decisions</a:t>
            </a:r>
            <a:endParaRPr b="1">
              <a:solidFill>
                <a:srgbClr val="434343"/>
              </a:solidFill>
              <a:latin typeface="Encode Sans"/>
              <a:ea typeface="Encode Sans"/>
              <a:cs typeface="Encode Sans"/>
              <a:sym typeface="Encode Sans"/>
            </a:endParaRPr>
          </a:p>
          <a:p>
            <a:pPr indent="-217550" lvl="1" marL="720000" rtl="0" algn="just">
              <a:spcBef>
                <a:spcPts val="6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system may repeatedly process the </a:t>
            </a:r>
            <a:r>
              <a:rPr b="1" lang="en-GB">
                <a:solidFill>
                  <a:srgbClr val="434343"/>
                </a:solidFill>
                <a:latin typeface="Encode Sans"/>
                <a:ea typeface="Encode Sans"/>
                <a:cs typeface="Encode Sans"/>
                <a:sym typeface="Encode Sans"/>
              </a:rPr>
              <a:t>same information</a:t>
            </a:r>
            <a:endParaRPr b="1">
              <a:solidFill>
                <a:srgbClr val="434343"/>
              </a:solidFill>
              <a:latin typeface="Encode Sans"/>
              <a:ea typeface="Encode Sans"/>
              <a:cs typeface="Encode Sans"/>
              <a:sym typeface="Encode Sans"/>
            </a:endParaRPr>
          </a:p>
          <a:p>
            <a:pPr indent="-217550" lvl="1" marL="720000" rtl="0" algn="just">
              <a:spcBef>
                <a:spcPts val="6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Token usage and computational costs may increase</a:t>
            </a:r>
            <a:endParaRPr>
              <a:solidFill>
                <a:srgbClr val="434343"/>
              </a:solidFill>
              <a:latin typeface="Encode Sans"/>
              <a:ea typeface="Encode Sans"/>
              <a:cs typeface="Encode Sans"/>
              <a:sym typeface="Encode Sans"/>
            </a:endParaRPr>
          </a:p>
          <a:p>
            <a:pPr indent="-217550" lvl="1" marL="720000" rtl="0" algn="just">
              <a:spcBef>
                <a:spcPts val="6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Multi-step workflows may become difficult to </a:t>
            </a:r>
            <a:r>
              <a:rPr b="1" lang="en-GB">
                <a:solidFill>
                  <a:srgbClr val="434343"/>
                </a:solidFill>
                <a:latin typeface="Encode Sans"/>
                <a:ea typeface="Encode Sans"/>
                <a:cs typeface="Encode Sans"/>
                <a:sym typeface="Encode Sans"/>
              </a:rPr>
              <a:t>resume or recover </a:t>
            </a:r>
            <a:r>
              <a:rPr lang="en-GB">
                <a:solidFill>
                  <a:srgbClr val="434343"/>
                </a:solidFill>
                <a:latin typeface="Encode Sans"/>
                <a:ea typeface="Encode Sans"/>
                <a:cs typeface="Encode Sans"/>
                <a:sym typeface="Encode Sans"/>
              </a:rPr>
              <a:t>(if step 3 fails, you restart from step 1)</a:t>
            </a:r>
            <a:endParaRPr b="1">
              <a:solidFill>
                <a:srgbClr val="434343"/>
              </a:solidFill>
              <a:latin typeface="Encode Sans"/>
              <a:ea typeface="Encode Sans"/>
              <a:cs typeface="Encode Sans"/>
              <a:sym typeface="Encode Sans"/>
            </a:endParaRPr>
          </a:p>
          <a:p>
            <a:pPr indent="-217550" lvl="1" marL="720000" rtl="0" algn="just">
              <a:spcBef>
                <a:spcPts val="6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Long-running tasks become harder to manage</a:t>
            </a:r>
            <a:endParaRPr>
              <a:solidFill>
                <a:srgbClr val="434343"/>
              </a:solidFill>
              <a:latin typeface="Encode Sans"/>
              <a:ea typeface="Encode Sans"/>
              <a:cs typeface="Encode Sans"/>
              <a:sym typeface="Encode Sans"/>
            </a:endParaRPr>
          </a:p>
        </p:txBody>
      </p:sp>
      <p:sp>
        <p:nvSpPr>
          <p:cNvPr id="422" name="Google Shape;422;p53"/>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MANAGING STATE, MEMORY, AND PERSISTENCE</a:t>
            </a:r>
            <a:endParaRPr/>
          </a:p>
        </p:txBody>
      </p:sp>
      <p:sp>
        <p:nvSpPr>
          <p:cNvPr id="423" name="Google Shape;423;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Why Managing Memory &amp; State is Essential</a:t>
            </a:r>
            <a:endParaRPr>
              <a:solidFill>
                <a:srgbClr val="CE6948"/>
              </a:solidFill>
            </a:endParaRPr>
          </a:p>
        </p:txBody>
      </p:sp>
      <p:sp>
        <p:nvSpPr>
          <p:cNvPr id="429" name="Google Shape;429;p54"/>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With proper management:</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State</a:t>
            </a:r>
            <a:r>
              <a:rPr lang="en-GB">
                <a:solidFill>
                  <a:srgbClr val="434343"/>
                </a:solidFill>
                <a:latin typeface="Encode Sans"/>
                <a:ea typeface="Encode Sans"/>
                <a:cs typeface="Encode Sans"/>
                <a:sym typeface="Encode Sans"/>
              </a:rPr>
              <a:t> → keeps the current workflow coherent</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Memory</a:t>
            </a:r>
            <a:r>
              <a:rPr lang="en-GB">
                <a:solidFill>
                  <a:srgbClr val="434343"/>
                </a:solidFill>
                <a:latin typeface="Encode Sans"/>
                <a:ea typeface="Encode Sans"/>
                <a:cs typeface="Encode Sans"/>
                <a:sym typeface="Encode Sans"/>
              </a:rPr>
              <a:t> → provides useful historical context</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Persistence</a:t>
            </a:r>
            <a:r>
              <a:rPr lang="en-GB">
                <a:solidFill>
                  <a:srgbClr val="434343"/>
                </a:solidFill>
                <a:latin typeface="Encode Sans"/>
                <a:ea typeface="Encode Sans"/>
                <a:cs typeface="Encode Sans"/>
                <a:sym typeface="Encode Sans"/>
              </a:rPr>
              <a:t> → allows information to survive beyond the current execution</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6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Checkpoint </a:t>
            </a:r>
            <a:r>
              <a:rPr lang="en-GB">
                <a:solidFill>
                  <a:srgbClr val="434343"/>
                </a:solidFill>
                <a:latin typeface="Encode Sans"/>
                <a:ea typeface="Encode Sans"/>
                <a:cs typeface="Encode Sans"/>
                <a:sym typeface="Encode Sans"/>
              </a:rPr>
              <a:t>→ allows workflows to resume after interruption or failure</a:t>
            </a:r>
            <a:endParaRPr>
              <a:solidFill>
                <a:srgbClr val="434343"/>
              </a:solidFill>
              <a:latin typeface="Encode Sans"/>
              <a:ea typeface="Encode Sans"/>
              <a:cs typeface="Encode Sans"/>
              <a:sym typeface="Encode Sans"/>
            </a:endParaRPr>
          </a:p>
        </p:txBody>
      </p:sp>
      <p:sp>
        <p:nvSpPr>
          <p:cNvPr id="430" name="Google Shape;430;p5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MANAGING STATE, MEMORY, AND PERSISTENCE</a:t>
            </a:r>
            <a:endParaRPr/>
          </a:p>
        </p:txBody>
      </p:sp>
      <p:sp>
        <p:nvSpPr>
          <p:cNvPr id="431" name="Google Shape;431;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5"/>
          <p:cNvSpPr txBox="1"/>
          <p:nvPr>
            <p:ph idx="1" type="body"/>
          </p:nvPr>
        </p:nvSpPr>
        <p:spPr>
          <a:xfrm>
            <a:off x="920500" y="3453036"/>
            <a:ext cx="7551900" cy="130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An overview of document ingestion, its role in bringing external data into LLM workflows, and the key stages of the document ingestion lifecycle.</a:t>
            </a:r>
            <a:endParaRPr/>
          </a:p>
        </p:txBody>
      </p:sp>
      <p:sp>
        <p:nvSpPr>
          <p:cNvPr id="437" name="Google Shape;437;p55"/>
          <p:cNvSpPr txBox="1"/>
          <p:nvPr>
            <p:ph type="title"/>
          </p:nvPr>
        </p:nvSpPr>
        <p:spPr>
          <a:xfrm>
            <a:off x="920500" y="1267200"/>
            <a:ext cx="2516700" cy="1003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04</a:t>
            </a:r>
            <a:endParaRPr/>
          </a:p>
        </p:txBody>
      </p:sp>
      <p:sp>
        <p:nvSpPr>
          <p:cNvPr id="438" name="Google Shape;438;p55"/>
          <p:cNvSpPr/>
          <p:nvPr/>
        </p:nvSpPr>
        <p:spPr>
          <a:xfrm>
            <a:off x="0" y="-47700"/>
            <a:ext cx="137100" cy="5238900"/>
          </a:xfrm>
          <a:prstGeom prst="rect">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439" name="Google Shape;439;p55"/>
          <p:cNvSpPr txBox="1"/>
          <p:nvPr>
            <p:ph idx="2" type="title"/>
          </p:nvPr>
        </p:nvSpPr>
        <p:spPr>
          <a:xfrm>
            <a:off x="920500" y="2437713"/>
            <a:ext cx="7551900" cy="904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Document</a:t>
            </a:r>
            <a:endParaRPr/>
          </a:p>
          <a:p>
            <a:pPr indent="0" lvl="0" marL="0" rtl="0" algn="l">
              <a:spcBef>
                <a:spcPts val="0"/>
              </a:spcBef>
              <a:spcAft>
                <a:spcPts val="0"/>
              </a:spcAft>
              <a:buNone/>
            </a:pPr>
            <a:r>
              <a:rPr lang="en-GB"/>
              <a:t>Ingestion Pipelines</a:t>
            </a:r>
            <a:endParaRPr>
              <a:solidFill>
                <a:srgbClr val="CE6948"/>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6"/>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What is Document Ingestion?</a:t>
            </a:r>
            <a:endParaRPr>
              <a:solidFill>
                <a:srgbClr val="CE6948"/>
              </a:solidFill>
            </a:endParaRPr>
          </a:p>
        </p:txBody>
      </p:sp>
      <p:sp>
        <p:nvSpPr>
          <p:cNvPr id="445" name="Google Shape;445;p56"/>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Document Ingestion</a:t>
            </a:r>
            <a:r>
              <a:rPr lang="en-GB">
                <a:solidFill>
                  <a:srgbClr val="434343"/>
                </a:solidFill>
                <a:latin typeface="Encode Sans"/>
                <a:ea typeface="Encode Sans"/>
                <a:cs typeface="Encode Sans"/>
                <a:sym typeface="Encode Sans"/>
              </a:rPr>
              <a:t> is the process of collecting documents from </a:t>
            </a:r>
            <a:r>
              <a:rPr b="1" lang="en-GB">
                <a:solidFill>
                  <a:srgbClr val="434343"/>
                </a:solidFill>
                <a:latin typeface="Encode Sans"/>
                <a:ea typeface="Encode Sans"/>
                <a:cs typeface="Encode Sans"/>
                <a:sym typeface="Encode Sans"/>
              </a:rPr>
              <a:t>external sources </a:t>
            </a:r>
            <a:r>
              <a:rPr lang="en-GB">
                <a:solidFill>
                  <a:srgbClr val="434343"/>
                </a:solidFill>
                <a:latin typeface="Encode Sans"/>
                <a:ea typeface="Encode Sans"/>
                <a:cs typeface="Encode Sans"/>
                <a:sym typeface="Encode Sans"/>
              </a:rPr>
              <a:t>and </a:t>
            </a:r>
            <a:r>
              <a:rPr b="1" lang="en-GB">
                <a:solidFill>
                  <a:srgbClr val="434343"/>
                </a:solidFill>
                <a:latin typeface="Encode Sans"/>
                <a:ea typeface="Encode Sans"/>
                <a:cs typeface="Encode Sans"/>
                <a:sym typeface="Encode Sans"/>
              </a:rPr>
              <a:t>transforming them</a:t>
            </a:r>
            <a:r>
              <a:rPr lang="en-GB">
                <a:solidFill>
                  <a:srgbClr val="434343"/>
                </a:solidFill>
                <a:latin typeface="Encode Sans"/>
                <a:ea typeface="Encode Sans"/>
                <a:cs typeface="Encode Sans"/>
                <a:sym typeface="Encode Sans"/>
              </a:rPr>
              <a:t> into </a:t>
            </a:r>
            <a:r>
              <a:rPr b="1" lang="en-GB">
                <a:solidFill>
                  <a:srgbClr val="434343"/>
                </a:solidFill>
                <a:latin typeface="Encode Sans"/>
                <a:ea typeface="Encode Sans"/>
                <a:cs typeface="Encode Sans"/>
                <a:sym typeface="Encode Sans"/>
              </a:rPr>
              <a:t>clean, structured, chunked, embedded, and searchable fomat</a:t>
            </a:r>
            <a:r>
              <a:rPr lang="en-GB">
                <a:solidFill>
                  <a:srgbClr val="434343"/>
                </a:solidFill>
                <a:latin typeface="Encode Sans"/>
                <a:ea typeface="Encode Sans"/>
                <a:cs typeface="Encode Sans"/>
                <a:sym typeface="Encode Sans"/>
              </a:rPr>
              <a:t> that an LLM can retrieve and use as </a:t>
            </a:r>
            <a:r>
              <a:rPr b="1" lang="en-GB">
                <a:solidFill>
                  <a:srgbClr val="434343"/>
                </a:solidFill>
                <a:latin typeface="Encode Sans"/>
                <a:ea typeface="Encode Sans"/>
                <a:cs typeface="Encode Sans"/>
                <a:sym typeface="Encode Sans"/>
              </a:rPr>
              <a:t>external knowledge</a:t>
            </a:r>
            <a:r>
              <a:rPr lang="en-GB">
                <a:solidFill>
                  <a:srgbClr val="434343"/>
                </a:solidFill>
                <a:latin typeface="Encode Sans"/>
                <a:ea typeface="Encode Sans"/>
                <a:cs typeface="Encode Sans"/>
                <a:sym typeface="Encode Sans"/>
              </a:rPr>
              <a:t>.</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Examples of input documents:</a:t>
            </a:r>
            <a:endParaRPr>
              <a:solidFill>
                <a:srgbClr val="434343"/>
              </a:solidFill>
              <a:latin typeface="Encode Sans"/>
              <a:ea typeface="Encode Sans"/>
              <a:cs typeface="Encode Sans"/>
              <a:sym typeface="Encode Sans"/>
            </a:endParaRPr>
          </a:p>
          <a:p>
            <a:pPr indent="-217550" lvl="1" marL="72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PDF, Word / DOCX, </a:t>
            </a:r>
            <a:r>
              <a:rPr lang="en-GB">
                <a:solidFill>
                  <a:srgbClr val="434343"/>
                </a:solidFill>
                <a:latin typeface="Encode Sans"/>
                <a:ea typeface="Encode Sans"/>
                <a:cs typeface="Encode Sans"/>
                <a:sym typeface="Encode Sans"/>
              </a:rPr>
              <a:t>CSV / Excel</a:t>
            </a:r>
            <a:endParaRPr>
              <a:solidFill>
                <a:srgbClr val="434343"/>
              </a:solidFill>
              <a:latin typeface="Encode Sans"/>
              <a:ea typeface="Encode Sans"/>
              <a:cs typeface="Encode Sans"/>
              <a:sym typeface="Encode Sans"/>
            </a:endParaRPr>
          </a:p>
          <a:p>
            <a:pPr indent="-217550" lvl="1" marL="72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Web pages</a:t>
            </a:r>
            <a:endParaRPr>
              <a:solidFill>
                <a:srgbClr val="434343"/>
              </a:solidFill>
              <a:latin typeface="Encode Sans"/>
              <a:ea typeface="Encode Sans"/>
              <a:cs typeface="Encode Sans"/>
              <a:sym typeface="Encode Sans"/>
            </a:endParaRPr>
          </a:p>
          <a:p>
            <a:pPr indent="-217550" lvl="1" marL="72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Markdown</a:t>
            </a:r>
            <a:endParaRPr>
              <a:solidFill>
                <a:srgbClr val="434343"/>
              </a:solidFill>
              <a:latin typeface="Encode Sans"/>
              <a:ea typeface="Encode Sans"/>
              <a:cs typeface="Encode Sans"/>
              <a:sym typeface="Encode Sans"/>
            </a:endParaRPr>
          </a:p>
          <a:p>
            <a:pPr indent="-217550" lvl="1" marL="72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Images and scanned documents</a:t>
            </a:r>
            <a:endParaRPr>
              <a:solidFill>
                <a:srgbClr val="434343"/>
              </a:solidFill>
              <a:latin typeface="Encode Sans"/>
              <a:ea typeface="Encode Sans"/>
              <a:cs typeface="Encode Sans"/>
              <a:sym typeface="Encode Sans"/>
            </a:endParaRPr>
          </a:p>
          <a:p>
            <a:pPr indent="-217550" lvl="1" marL="72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Research papers</a:t>
            </a:r>
            <a:endParaRPr>
              <a:solidFill>
                <a:srgbClr val="434343"/>
              </a:solidFill>
              <a:latin typeface="Encode Sans"/>
              <a:ea typeface="Encode Sans"/>
              <a:cs typeface="Encode Sans"/>
              <a:sym typeface="Encode Sans"/>
            </a:endParaRPr>
          </a:p>
          <a:p>
            <a:pPr indent="-217550" lvl="1" marL="72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Company knowledge bases</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Instead of sending an entire document directly to an LLM, the ingestion process prepares the document so that </a:t>
            </a:r>
            <a:r>
              <a:rPr b="1" lang="en-GB">
                <a:solidFill>
                  <a:srgbClr val="434343"/>
                </a:solidFill>
                <a:latin typeface="Encode Sans"/>
                <a:ea typeface="Encode Sans"/>
                <a:cs typeface="Encode Sans"/>
                <a:sym typeface="Encode Sans"/>
              </a:rPr>
              <a:t>only the most relevant information can be retrieved when needed</a:t>
            </a:r>
            <a:r>
              <a:rPr lang="en-GB">
                <a:solidFill>
                  <a:srgbClr val="434343"/>
                </a:solidFill>
                <a:latin typeface="Encode Sans"/>
                <a:ea typeface="Encode Sans"/>
                <a:cs typeface="Encode Sans"/>
                <a:sym typeface="Encode Sans"/>
              </a:rPr>
              <a:t>.</a:t>
            </a:r>
            <a:endParaRPr>
              <a:solidFill>
                <a:srgbClr val="434343"/>
              </a:solidFill>
              <a:latin typeface="Encode Sans"/>
              <a:ea typeface="Encode Sans"/>
              <a:cs typeface="Encode Sans"/>
              <a:sym typeface="Encode Sans"/>
            </a:endParaRPr>
          </a:p>
        </p:txBody>
      </p:sp>
      <p:sp>
        <p:nvSpPr>
          <p:cNvPr id="446" name="Google Shape;446;p56"/>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sp>
        <p:nvSpPr>
          <p:cNvPr id="447" name="Google Shape;447;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Why Workflows Need External Data</a:t>
            </a:r>
            <a:endParaRPr>
              <a:solidFill>
                <a:srgbClr val="CE6948"/>
              </a:solidFill>
            </a:endParaRPr>
          </a:p>
        </p:txBody>
      </p:sp>
      <p:sp>
        <p:nvSpPr>
          <p:cNvPr id="453" name="Google Shape;453;p57"/>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An LLM is powerful, but its internal knowledge is limited by its training. An LLM can reason over the information provided to it, but it does not automatically have access to an organization's private or newly created documents.</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It cannot automatically know:</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Your company's internal documents</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Research papers uploaded yesterday</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Private databases</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Product manuals</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University regulations</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Real-time business information</a:t>
            </a:r>
            <a:endParaRPr>
              <a:solidFill>
                <a:srgbClr val="434343"/>
              </a:solidFill>
              <a:latin typeface="Encode Sans"/>
              <a:ea typeface="Encode Sans"/>
              <a:cs typeface="Encode Sans"/>
              <a:sym typeface="Encode Sans"/>
            </a:endParaRPr>
          </a:p>
        </p:txBody>
      </p:sp>
      <p:sp>
        <p:nvSpPr>
          <p:cNvPr id="454" name="Google Shape;454;p5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sp>
        <p:nvSpPr>
          <p:cNvPr id="455" name="Google Shape;455;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8"/>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Why Workflows Need External Data</a:t>
            </a:r>
            <a:endParaRPr>
              <a:solidFill>
                <a:srgbClr val="CE6948"/>
              </a:solidFill>
            </a:endParaRPr>
          </a:p>
        </p:txBody>
      </p:sp>
      <p:sp>
        <p:nvSpPr>
          <p:cNvPr id="461" name="Google Shape;461;p58"/>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Therefore, workflows </a:t>
            </a:r>
            <a:r>
              <a:rPr b="1" lang="en-GB">
                <a:solidFill>
                  <a:srgbClr val="434343"/>
                </a:solidFill>
                <a:latin typeface="Encode Sans"/>
                <a:ea typeface="Encode Sans"/>
                <a:cs typeface="Encode Sans"/>
                <a:sym typeface="Encode Sans"/>
              </a:rPr>
              <a:t>need external data</a:t>
            </a:r>
            <a:r>
              <a:rPr lang="en-GB">
                <a:solidFill>
                  <a:srgbClr val="434343"/>
                </a:solidFill>
                <a:latin typeface="Encode Sans"/>
                <a:ea typeface="Encode Sans"/>
                <a:cs typeface="Encode Sans"/>
                <a:sym typeface="Encode Sans"/>
              </a:rPr>
              <a:t>, and the Document Ingestion Pipeline plays an important role by </a:t>
            </a:r>
            <a:r>
              <a:rPr b="1" lang="en-GB">
                <a:solidFill>
                  <a:srgbClr val="434343"/>
                </a:solidFill>
                <a:latin typeface="Encode Sans"/>
                <a:ea typeface="Encode Sans"/>
                <a:cs typeface="Encode Sans"/>
                <a:sym typeface="Encode Sans"/>
              </a:rPr>
              <a:t>transforming raw files</a:t>
            </a:r>
            <a:r>
              <a:rPr lang="en-GB">
                <a:solidFill>
                  <a:srgbClr val="434343"/>
                </a:solidFill>
                <a:latin typeface="Encode Sans"/>
                <a:ea typeface="Encode Sans"/>
                <a:cs typeface="Encode Sans"/>
                <a:sym typeface="Encode Sans"/>
              </a:rPr>
              <a:t> </a:t>
            </a:r>
            <a:r>
              <a:rPr b="1" lang="en-GB">
                <a:solidFill>
                  <a:srgbClr val="434343"/>
                </a:solidFill>
                <a:latin typeface="Encode Sans"/>
                <a:ea typeface="Encode Sans"/>
                <a:cs typeface="Encode Sans"/>
                <a:sym typeface="Encode Sans"/>
              </a:rPr>
              <a:t>into a searchable database.</a:t>
            </a:r>
            <a:endParaRPr b="1">
              <a:solidFill>
                <a:srgbClr val="434343"/>
              </a:solidFill>
              <a:latin typeface="Encode Sans"/>
              <a:ea typeface="Encode Sans"/>
              <a:cs typeface="Encode Sans"/>
              <a:sym typeface="Encode Sans"/>
            </a:endParaRPr>
          </a:p>
          <a:p>
            <a:pPr indent="0" lvl="0" marL="0" marR="0" rtl="0" algn="just">
              <a:lnSpc>
                <a:spcPct val="130000"/>
              </a:lnSpc>
              <a:spcBef>
                <a:spcPts val="1000"/>
              </a:spcBef>
              <a:spcAft>
                <a:spcPts val="0"/>
              </a:spcAft>
              <a:buNone/>
            </a:pPr>
            <a:r>
              <a:t/>
            </a:r>
            <a:endParaRPr b="1">
              <a:solidFill>
                <a:srgbClr val="434343"/>
              </a:solidFill>
              <a:latin typeface="Encode Sans"/>
              <a:ea typeface="Encode Sans"/>
              <a:cs typeface="Encode Sans"/>
              <a:sym typeface="Encode Sans"/>
            </a:endParaRPr>
          </a:p>
        </p:txBody>
      </p:sp>
      <p:sp>
        <p:nvSpPr>
          <p:cNvPr id="462" name="Google Shape;462;p58"/>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pic>
        <p:nvPicPr>
          <p:cNvPr id="463" name="Google Shape;463;p58"/>
          <p:cNvPicPr preferRelativeResize="0"/>
          <p:nvPr/>
        </p:nvPicPr>
        <p:blipFill rotWithShape="1">
          <a:blip r:embed="rId3">
            <a:alphaModFix/>
          </a:blip>
          <a:srcRect b="3294" l="979" r="1165" t="3925"/>
          <a:stretch/>
        </p:blipFill>
        <p:spPr>
          <a:xfrm>
            <a:off x="635850" y="1856925"/>
            <a:ext cx="8060100" cy="2406300"/>
          </a:xfrm>
          <a:prstGeom prst="roundRect">
            <a:avLst>
              <a:gd fmla="val 8513" name="adj"/>
            </a:avLst>
          </a:prstGeom>
          <a:noFill/>
          <a:ln cap="flat" cmpd="sng" w="9525">
            <a:solidFill>
              <a:schemeClr val="lt2"/>
            </a:solidFill>
            <a:prstDash val="solid"/>
            <a:round/>
            <a:headEnd len="sm" w="sm" type="none"/>
            <a:tailEnd len="sm" w="sm" type="none"/>
          </a:ln>
        </p:spPr>
      </p:pic>
      <p:sp>
        <p:nvSpPr>
          <p:cNvPr id="464" name="Google Shape;464;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9"/>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Why Do LLM Workflows Need Document Ingestion?</a:t>
            </a:r>
            <a:endParaRPr>
              <a:solidFill>
                <a:srgbClr val="CE6948"/>
              </a:solidFill>
            </a:endParaRPr>
          </a:p>
        </p:txBody>
      </p:sp>
      <p:sp>
        <p:nvSpPr>
          <p:cNvPr id="470" name="Google Shape;470;p59"/>
          <p:cNvSpPr txBox="1"/>
          <p:nvPr>
            <p:ph idx="1" type="body"/>
          </p:nvPr>
        </p:nvSpPr>
        <p:spPr>
          <a:xfrm>
            <a:off x="311700" y="1069550"/>
            <a:ext cx="8520600" cy="43569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Real-world documents may contain: </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Too much irrelevant information</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Complex formatting and layouts</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Tables, images, and scanned content</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Repeated or duplicated information</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Very long sections</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Poorly structured text</a:t>
            </a:r>
            <a:endParaRPr>
              <a:solidFill>
                <a:srgbClr val="434343"/>
              </a:solidFill>
              <a:latin typeface="Encode Sans"/>
              <a:ea typeface="Encode Sans"/>
              <a:cs typeface="Encode Sans"/>
              <a:sym typeface="Encode Sans"/>
            </a:endParaRPr>
          </a:p>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Simply providing the entire document to an LLM creates several problems: </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High cost</a:t>
            </a:r>
            <a:r>
              <a:rPr lang="en-GB">
                <a:solidFill>
                  <a:srgbClr val="434343"/>
                </a:solidFill>
                <a:latin typeface="Encode Sans"/>
                <a:ea typeface="Encode Sans"/>
                <a:cs typeface="Encode Sans"/>
                <a:sym typeface="Encode Sans"/>
              </a:rPr>
              <a:t> — unnecessary tokens increase inference costs.</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Slow processing</a:t>
            </a:r>
            <a:r>
              <a:rPr lang="en-GB">
                <a:solidFill>
                  <a:srgbClr val="434343"/>
                </a:solidFill>
                <a:latin typeface="Encode Sans"/>
                <a:ea typeface="Encode Sans"/>
                <a:cs typeface="Encode Sans"/>
                <a:sym typeface="Encode Sans"/>
              </a:rPr>
              <a:t> — large contexts take longer to process.</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Limited scalability</a:t>
            </a:r>
            <a:r>
              <a:rPr lang="en-GB">
                <a:solidFill>
                  <a:srgbClr val="434343"/>
                </a:solidFill>
                <a:latin typeface="Encode Sans"/>
                <a:ea typeface="Encode Sans"/>
                <a:cs typeface="Encode Sans"/>
                <a:sym typeface="Encode Sans"/>
              </a:rPr>
              <a:t> — sending entire documents does not scale well as the knowledge base grows.</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Poor retrieval</a:t>
            </a:r>
            <a:r>
              <a:rPr lang="en-GB">
                <a:solidFill>
                  <a:srgbClr val="434343"/>
                </a:solidFill>
                <a:latin typeface="Encode Sans"/>
                <a:ea typeface="Encode Sans"/>
                <a:cs typeface="Encode Sans"/>
                <a:sym typeface="Encode Sans"/>
              </a:rPr>
              <a:t> — the LLM may receive too much information instead of the specific information needed.</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Context overload</a:t>
            </a:r>
            <a:r>
              <a:rPr lang="en-GB">
                <a:solidFill>
                  <a:srgbClr val="434343"/>
                </a:solidFill>
                <a:latin typeface="Encode Sans"/>
                <a:ea typeface="Encode Sans"/>
                <a:cs typeface="Encode Sans"/>
                <a:sym typeface="Encode Sans"/>
              </a:rPr>
              <a:t> — irrelevant content can distract the model from the important information.</a:t>
            </a:r>
            <a:endParaRPr>
              <a:solidFill>
                <a:srgbClr val="434343"/>
              </a:solidFill>
              <a:latin typeface="Encode Sans"/>
              <a:ea typeface="Encode Sans"/>
              <a:cs typeface="Encode Sans"/>
              <a:sym typeface="Encode Sans"/>
            </a:endParaRPr>
          </a:p>
        </p:txBody>
      </p:sp>
      <p:sp>
        <p:nvSpPr>
          <p:cNvPr id="471" name="Google Shape;471;p59"/>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sp>
        <p:nvSpPr>
          <p:cNvPr id="472" name="Google Shape;472;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Why Do LLM Workflows Need Document Ingestion?</a:t>
            </a:r>
            <a:endParaRPr>
              <a:solidFill>
                <a:srgbClr val="CE6948"/>
              </a:solidFill>
            </a:endParaRPr>
          </a:p>
        </p:txBody>
      </p:sp>
      <p:sp>
        <p:nvSpPr>
          <p:cNvPr id="478" name="Google Shape;478;p60"/>
          <p:cNvSpPr txBox="1"/>
          <p:nvPr>
            <p:ph idx="1" type="body"/>
          </p:nvPr>
        </p:nvSpPr>
        <p:spPr>
          <a:xfrm>
            <a:off x="311700" y="9552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Therefore, </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Problem:</a:t>
            </a:r>
            <a:r>
              <a:rPr lang="en-GB">
                <a:solidFill>
                  <a:srgbClr val="434343"/>
                </a:solidFill>
                <a:latin typeface="Encode Sans"/>
                <a:ea typeface="Encode Sans"/>
                <a:cs typeface="Encode Sans"/>
                <a:sym typeface="Encode Sans"/>
              </a:rPr>
              <a:t> Raw documents are large, unstructured, and not directly optimized for LLM retrieval.</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Solution:</a:t>
            </a:r>
            <a:r>
              <a:rPr lang="en-GB">
                <a:solidFill>
                  <a:srgbClr val="434343"/>
                </a:solidFill>
                <a:latin typeface="Encode Sans"/>
                <a:ea typeface="Encode Sans"/>
                <a:cs typeface="Encode Sans"/>
                <a:sym typeface="Encode Sans"/>
              </a:rPr>
              <a:t> Document Ingestion </a:t>
            </a:r>
            <a:r>
              <a:rPr b="1" lang="en-GB">
                <a:solidFill>
                  <a:srgbClr val="434343"/>
                </a:solidFill>
                <a:latin typeface="Encode Sans"/>
                <a:ea typeface="Encode Sans"/>
                <a:cs typeface="Encode Sans"/>
                <a:sym typeface="Encode Sans"/>
              </a:rPr>
              <a:t>transforms raw documents into structured</a:t>
            </a:r>
            <a:r>
              <a:rPr lang="en-GB">
                <a:solidFill>
                  <a:srgbClr val="434343"/>
                </a:solidFill>
                <a:latin typeface="Encode Sans"/>
                <a:ea typeface="Encode Sans"/>
                <a:cs typeface="Encode Sans"/>
                <a:sym typeface="Encode Sans"/>
              </a:rPr>
              <a:t>, searchable knowledge that can be efficiently retrieved and provided to the LLM as context. </a:t>
            </a:r>
            <a:endParaRPr b="1">
              <a:solidFill>
                <a:srgbClr val="434343"/>
              </a:solidFill>
              <a:latin typeface="Encode Sans"/>
              <a:ea typeface="Encode Sans"/>
              <a:cs typeface="Encode Sans"/>
              <a:sym typeface="Encode Sans"/>
            </a:endParaRPr>
          </a:p>
        </p:txBody>
      </p:sp>
      <p:sp>
        <p:nvSpPr>
          <p:cNvPr id="479" name="Google Shape;479;p6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sp>
        <p:nvSpPr>
          <p:cNvPr id="480" name="Google Shape;480;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481" name="Google Shape;481;p60"/>
          <p:cNvPicPr preferRelativeResize="0"/>
          <p:nvPr/>
        </p:nvPicPr>
        <p:blipFill rotWithShape="1">
          <a:blip r:embed="rId3">
            <a:alphaModFix/>
          </a:blip>
          <a:srcRect b="6792" l="0" r="0" t="26555"/>
          <a:stretch/>
        </p:blipFill>
        <p:spPr>
          <a:xfrm>
            <a:off x="1128900" y="2073424"/>
            <a:ext cx="7365900" cy="2761800"/>
          </a:xfrm>
          <a:prstGeom prst="roundRect">
            <a:avLst>
              <a:gd fmla="val 3919" name="adj"/>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Ingestion Lifecycle</a:t>
            </a:r>
            <a:endParaRPr>
              <a:solidFill>
                <a:srgbClr val="CE6948"/>
              </a:solidFill>
            </a:endParaRPr>
          </a:p>
        </p:txBody>
      </p:sp>
      <p:sp>
        <p:nvSpPr>
          <p:cNvPr id="487" name="Google Shape;487;p6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pic>
        <p:nvPicPr>
          <p:cNvPr id="488" name="Google Shape;488;p61"/>
          <p:cNvPicPr preferRelativeResize="0"/>
          <p:nvPr/>
        </p:nvPicPr>
        <p:blipFill>
          <a:blip r:embed="rId3">
            <a:alphaModFix/>
          </a:blip>
          <a:stretch>
            <a:fillRect/>
          </a:stretch>
        </p:blipFill>
        <p:spPr>
          <a:xfrm>
            <a:off x="936844" y="746550"/>
            <a:ext cx="7183150" cy="4205350"/>
          </a:xfrm>
          <a:prstGeom prst="rect">
            <a:avLst/>
          </a:prstGeom>
          <a:noFill/>
          <a:ln>
            <a:noFill/>
          </a:ln>
        </p:spPr>
      </p:pic>
      <p:sp>
        <p:nvSpPr>
          <p:cNvPr id="489" name="Google Shape;489;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90" name="Google Shape;490;p61"/>
          <p:cNvSpPr txBox="1"/>
          <p:nvPr/>
        </p:nvSpPr>
        <p:spPr>
          <a:xfrm>
            <a:off x="181700" y="5315225"/>
            <a:ext cx="3148500" cy="801000"/>
          </a:xfrm>
          <a:prstGeom prst="rect">
            <a:avLst/>
          </a:prstGeom>
          <a:solidFill>
            <a:schemeClr val="lt1"/>
          </a:solidFill>
          <a:ln cap="flat" cmpd="sng" w="9525">
            <a:solidFill>
              <a:srgbClr val="CE6948"/>
            </a:solidFill>
            <a:prstDash val="solid"/>
            <a:round/>
            <a:headEnd len="sm" w="sm" type="none"/>
            <a:tailEnd len="sm" w="sm" type="none"/>
          </a:ln>
        </p:spPr>
        <p:txBody>
          <a:bodyPr anchorCtr="0" anchor="t" bIns="91425" lIns="91425" spcFirstLastPara="1" rIns="91425" wrap="square" tIns="91425">
            <a:spAutoFit/>
          </a:bodyPr>
          <a:lstStyle/>
          <a:p>
            <a:pPr indent="-200025" lvl="1" marL="200025" rtl="0" algn="l">
              <a:lnSpc>
                <a:spcPct val="115000"/>
              </a:lnSpc>
              <a:spcBef>
                <a:spcPts val="1000"/>
              </a:spcBef>
              <a:spcAft>
                <a:spcPts val="0"/>
              </a:spcAft>
              <a:buClr>
                <a:schemeClr val="dk1"/>
              </a:buClr>
              <a:buSzPts val="900"/>
              <a:buFont typeface="Encode Sans"/>
              <a:buChar char="○"/>
            </a:pPr>
            <a:r>
              <a:rPr b="1" lang="en-GB" sz="900">
                <a:solidFill>
                  <a:schemeClr val="dk1"/>
                </a:solidFill>
                <a:latin typeface="Encode Sans"/>
                <a:ea typeface="Encode Sans"/>
                <a:cs typeface="Encode Sans"/>
                <a:sym typeface="Encode Sans"/>
              </a:rPr>
              <a:t>Loading</a:t>
            </a:r>
            <a:r>
              <a:rPr lang="en-GB" sz="900">
                <a:solidFill>
                  <a:schemeClr val="dk1"/>
                </a:solidFill>
                <a:latin typeface="Encode Sans"/>
                <a:ea typeface="Encode Sans"/>
                <a:cs typeface="Encode Sans"/>
                <a:sym typeface="Encode Sans"/>
              </a:rPr>
              <a:t>: </a:t>
            </a:r>
            <a:r>
              <a:rPr i="1" lang="en-GB" sz="900">
                <a:solidFill>
                  <a:schemeClr val="dk1"/>
                </a:solidFill>
                <a:latin typeface="Encode Sans"/>
                <a:ea typeface="Encode Sans"/>
                <a:cs typeface="Encode Sans"/>
                <a:sym typeface="Encode Sans"/>
              </a:rPr>
              <a:t>Where does the data come from?</a:t>
            </a:r>
            <a:endParaRPr i="1" sz="900">
              <a:solidFill>
                <a:schemeClr val="dk1"/>
              </a:solidFill>
              <a:latin typeface="Encode Sans"/>
              <a:ea typeface="Encode Sans"/>
              <a:cs typeface="Encode Sans"/>
              <a:sym typeface="Encode Sans"/>
            </a:endParaRPr>
          </a:p>
          <a:p>
            <a:pPr indent="-200025" lvl="1" marL="200025" rtl="0" algn="l">
              <a:lnSpc>
                <a:spcPct val="115000"/>
              </a:lnSpc>
              <a:spcBef>
                <a:spcPts val="0"/>
              </a:spcBef>
              <a:spcAft>
                <a:spcPts val="0"/>
              </a:spcAft>
              <a:buClr>
                <a:schemeClr val="dk1"/>
              </a:buClr>
              <a:buSzPts val="900"/>
              <a:buFont typeface="Encode Sans"/>
              <a:buChar char="○"/>
            </a:pPr>
            <a:r>
              <a:rPr b="1" lang="en-GB" sz="900">
                <a:solidFill>
                  <a:schemeClr val="dk1"/>
                </a:solidFill>
                <a:latin typeface="Encode Sans"/>
                <a:ea typeface="Encode Sans"/>
                <a:cs typeface="Encode Sans"/>
                <a:sym typeface="Encode Sans"/>
              </a:rPr>
              <a:t>Check Cache</a:t>
            </a:r>
            <a:r>
              <a:rPr lang="en-GB" sz="900">
                <a:solidFill>
                  <a:schemeClr val="dk1"/>
                </a:solidFill>
                <a:latin typeface="Encode Sans"/>
                <a:ea typeface="Encode Sans"/>
                <a:cs typeface="Encode Sans"/>
                <a:sym typeface="Encode Sans"/>
              </a:rPr>
              <a:t>: </a:t>
            </a:r>
            <a:r>
              <a:rPr i="1" lang="en-GB" sz="900">
                <a:solidFill>
                  <a:schemeClr val="dk1"/>
                </a:solidFill>
                <a:latin typeface="Encode Sans"/>
                <a:ea typeface="Encode Sans"/>
                <a:cs typeface="Encode Sans"/>
                <a:sym typeface="Encode Sans"/>
              </a:rPr>
              <a:t>Does it need to be processed again?</a:t>
            </a:r>
            <a:endParaRPr i="1" sz="900">
              <a:solidFill>
                <a:schemeClr val="dk1"/>
              </a:solidFill>
              <a:latin typeface="Encode Sans"/>
              <a:ea typeface="Encode Sans"/>
              <a:cs typeface="Encode Sans"/>
              <a:sym typeface="Encode Sans"/>
            </a:endParaRPr>
          </a:p>
          <a:p>
            <a:pPr indent="-200025" lvl="1" marL="200025" rtl="0" algn="l">
              <a:lnSpc>
                <a:spcPct val="115000"/>
              </a:lnSpc>
              <a:spcBef>
                <a:spcPts val="0"/>
              </a:spcBef>
              <a:spcAft>
                <a:spcPts val="0"/>
              </a:spcAft>
              <a:buClr>
                <a:schemeClr val="dk1"/>
              </a:buClr>
              <a:buSzPts val="900"/>
              <a:buFont typeface="Encode Sans"/>
              <a:buChar char="○"/>
            </a:pPr>
            <a:r>
              <a:rPr b="1" lang="en-GB" sz="900">
                <a:solidFill>
                  <a:schemeClr val="dk1"/>
                </a:solidFill>
                <a:latin typeface="Encode Sans"/>
                <a:ea typeface="Encode Sans"/>
                <a:cs typeface="Encode Sans"/>
                <a:sym typeface="Encode Sans"/>
              </a:rPr>
              <a:t>Transformations</a:t>
            </a:r>
            <a:r>
              <a:rPr lang="en-GB" sz="900">
                <a:solidFill>
                  <a:schemeClr val="dk1"/>
                </a:solidFill>
                <a:latin typeface="Encode Sans"/>
                <a:ea typeface="Encode Sans"/>
                <a:cs typeface="Encode Sans"/>
                <a:sym typeface="Encode Sans"/>
              </a:rPr>
              <a:t>: </a:t>
            </a:r>
            <a:r>
              <a:rPr i="1" lang="en-GB" sz="900">
                <a:solidFill>
                  <a:schemeClr val="dk1"/>
                </a:solidFill>
                <a:latin typeface="Encode Sans"/>
                <a:ea typeface="Encode Sans"/>
                <a:cs typeface="Encode Sans"/>
                <a:sym typeface="Encode Sans"/>
              </a:rPr>
              <a:t>How do we make it retrieval-ready?</a:t>
            </a:r>
            <a:endParaRPr i="1" sz="900">
              <a:solidFill>
                <a:schemeClr val="dk1"/>
              </a:solidFill>
              <a:latin typeface="Encode Sans"/>
              <a:ea typeface="Encode Sans"/>
              <a:cs typeface="Encode Sans"/>
              <a:sym typeface="Encode Sans"/>
            </a:endParaRPr>
          </a:p>
          <a:p>
            <a:pPr indent="-200025" lvl="1" marL="200025" rtl="0" algn="l">
              <a:lnSpc>
                <a:spcPct val="115000"/>
              </a:lnSpc>
              <a:spcBef>
                <a:spcPts val="0"/>
              </a:spcBef>
              <a:spcAft>
                <a:spcPts val="1000"/>
              </a:spcAft>
              <a:buClr>
                <a:schemeClr val="dk1"/>
              </a:buClr>
              <a:buSzPts val="900"/>
              <a:buFont typeface="Encode Sans"/>
              <a:buChar char="○"/>
            </a:pPr>
            <a:r>
              <a:rPr b="1" lang="en-GB" sz="900">
                <a:solidFill>
                  <a:schemeClr val="dk1"/>
                </a:solidFill>
                <a:latin typeface="Encode Sans"/>
                <a:ea typeface="Encode Sans"/>
                <a:cs typeface="Encode Sans"/>
                <a:sym typeface="Encode Sans"/>
              </a:rPr>
              <a:t>Storage</a:t>
            </a:r>
            <a:r>
              <a:rPr lang="en-GB" sz="900">
                <a:solidFill>
                  <a:schemeClr val="dk1"/>
                </a:solidFill>
                <a:latin typeface="Encode Sans"/>
                <a:ea typeface="Encode Sans"/>
                <a:cs typeface="Encode Sans"/>
                <a:sym typeface="Encode Sans"/>
              </a:rPr>
              <a:t>: </a:t>
            </a:r>
            <a:r>
              <a:rPr i="1" lang="en-GB" sz="900">
                <a:solidFill>
                  <a:schemeClr val="dk1"/>
                </a:solidFill>
                <a:latin typeface="Encode Sans"/>
                <a:ea typeface="Encode Sans"/>
                <a:cs typeface="Encode Sans"/>
                <a:sym typeface="Encode Sans"/>
              </a:rPr>
              <a:t>Where do we keep it for retrieval?</a:t>
            </a:r>
            <a:endParaRPr i="1" sz="900">
              <a:solidFill>
                <a:schemeClr val="dk1"/>
              </a:solidFill>
              <a:latin typeface="Encode Sans"/>
              <a:ea typeface="Encode Sans"/>
              <a:cs typeface="Encode Sans"/>
              <a:sym typeface="Encode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Ingestion Lifecycle</a:t>
            </a:r>
            <a:endParaRPr>
              <a:solidFill>
                <a:srgbClr val="CE6948"/>
              </a:solidFill>
            </a:endParaRPr>
          </a:p>
        </p:txBody>
      </p:sp>
      <p:sp>
        <p:nvSpPr>
          <p:cNvPr id="496" name="Google Shape;496;p62"/>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1: Loading</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Raw files such as </a:t>
            </a:r>
            <a:r>
              <a:rPr b="1" lang="en-GB">
                <a:solidFill>
                  <a:srgbClr val="434343"/>
                </a:solidFill>
                <a:latin typeface="Encode Sans"/>
                <a:ea typeface="Encode Sans"/>
                <a:cs typeface="Encode Sans"/>
                <a:sym typeface="Encode Sans"/>
              </a:rPr>
              <a:t>PDFs, text documents, CSVs</a:t>
            </a:r>
            <a:r>
              <a:rPr lang="en-GB">
                <a:solidFill>
                  <a:srgbClr val="434343"/>
                </a:solidFill>
                <a:latin typeface="Encode Sans"/>
                <a:ea typeface="Encode Sans"/>
                <a:cs typeface="Encode Sans"/>
                <a:sym typeface="Encode Sans"/>
              </a:rPr>
              <a:t>, or external data sources are loaded through data connectors/readers such as </a:t>
            </a:r>
            <a:r>
              <a:rPr lang="en-GB">
                <a:solidFill>
                  <a:srgbClr val="434343"/>
                </a:solidFill>
                <a:latin typeface="Roboto Mono"/>
                <a:ea typeface="Roboto Mono"/>
                <a:cs typeface="Roboto Mono"/>
                <a:sym typeface="Roboto Mono"/>
              </a:rPr>
              <a:t>SimpleDirectoryReader</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data is converted into standardized LlamaIndex </a:t>
            </a:r>
            <a:r>
              <a:rPr b="1" lang="en-GB">
                <a:solidFill>
                  <a:srgbClr val="434343"/>
                </a:solidFill>
                <a:latin typeface="Roboto Mono"/>
                <a:ea typeface="Roboto Mono"/>
                <a:cs typeface="Roboto Mono"/>
                <a:sym typeface="Roboto Mono"/>
              </a:rPr>
              <a:t>Document</a:t>
            </a:r>
            <a:r>
              <a:rPr b="1" lang="en-GB">
                <a:solidFill>
                  <a:srgbClr val="434343"/>
                </a:solidFill>
                <a:latin typeface="Encode Sans"/>
                <a:ea typeface="Encode Sans"/>
                <a:cs typeface="Encode Sans"/>
                <a:sym typeface="Encode Sans"/>
              </a:rPr>
              <a:t> objects</a:t>
            </a:r>
            <a:r>
              <a:rPr lang="en-GB">
                <a:solidFill>
                  <a:srgbClr val="434343"/>
                </a:solidFill>
                <a:latin typeface="Encode Sans"/>
                <a:ea typeface="Encode Sans"/>
                <a:cs typeface="Encode Sans"/>
                <a:sym typeface="Encode Sans"/>
              </a:rPr>
              <a:t>, containing the document text and metadata.</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Assigning deterministic document identifiers, such as </a:t>
            </a:r>
            <a:r>
              <a:rPr lang="en-GB">
                <a:solidFill>
                  <a:srgbClr val="434343"/>
                </a:solidFill>
                <a:latin typeface="Roboto Mono"/>
                <a:ea typeface="Roboto Mono"/>
                <a:cs typeface="Roboto Mono"/>
                <a:sym typeface="Roboto Mono"/>
              </a:rPr>
              <a:t>filename_as_id=True</a:t>
            </a:r>
            <a:r>
              <a:rPr lang="en-GB">
                <a:solidFill>
                  <a:srgbClr val="434343"/>
                </a:solidFill>
                <a:latin typeface="Encode Sans"/>
                <a:ea typeface="Encode Sans"/>
                <a:cs typeface="Encode Sans"/>
                <a:sym typeface="Encode Sans"/>
              </a:rPr>
              <a:t>, helps the pipeline consistently identify the same source document across ingestion runs.</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Output:</a:t>
            </a:r>
            <a:r>
              <a:rPr lang="en-GB">
                <a:solidFill>
                  <a:srgbClr val="434343"/>
                </a:solidFill>
                <a:latin typeface="Encode Sans"/>
                <a:ea typeface="Encode Sans"/>
                <a:cs typeface="Encode Sans"/>
                <a:sym typeface="Encode Sans"/>
              </a:rPr>
              <a:t> </a:t>
            </a:r>
            <a:r>
              <a:rPr lang="en-GB">
                <a:solidFill>
                  <a:srgbClr val="434343"/>
                </a:solidFill>
                <a:latin typeface="Roboto Mono"/>
                <a:ea typeface="Roboto Mono"/>
                <a:cs typeface="Roboto Mono"/>
                <a:sym typeface="Roboto Mono"/>
              </a:rPr>
              <a:t>Raw Files → Document Objects</a:t>
            </a:r>
            <a:r>
              <a:rPr lang="en-GB">
                <a:solidFill>
                  <a:srgbClr val="434343"/>
                </a:solidFill>
                <a:latin typeface="Encode Sans"/>
                <a:ea typeface="Encode Sans"/>
                <a:cs typeface="Encode Sans"/>
                <a:sym typeface="Encode Sans"/>
              </a:rPr>
              <a:t> </a:t>
            </a:r>
            <a:endParaRPr b="1">
              <a:solidFill>
                <a:srgbClr val="434343"/>
              </a:solidFill>
              <a:latin typeface="Encode Sans"/>
              <a:ea typeface="Encode Sans"/>
              <a:cs typeface="Encode Sans"/>
              <a:sym typeface="Encode Sans"/>
            </a:endParaRPr>
          </a:p>
        </p:txBody>
      </p:sp>
      <p:sp>
        <p:nvSpPr>
          <p:cNvPr id="497" name="Google Shape;497;p6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sp>
        <p:nvSpPr>
          <p:cNvPr id="498" name="Google Shape;498;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3"/>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Ingestion Lifecycle</a:t>
            </a:r>
            <a:endParaRPr>
              <a:solidFill>
                <a:srgbClr val="CE6948"/>
              </a:solidFill>
            </a:endParaRPr>
          </a:p>
        </p:txBody>
      </p:sp>
      <p:sp>
        <p:nvSpPr>
          <p:cNvPr id="504" name="Google Shape;504;p63"/>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2: Check Cache/Hash via Docstore</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Before performing expensive operations such as</a:t>
            </a:r>
            <a:r>
              <a:rPr b="1" lang="en-GB">
                <a:solidFill>
                  <a:srgbClr val="434343"/>
                </a:solidFill>
                <a:latin typeface="Encode Sans"/>
                <a:ea typeface="Encode Sans"/>
                <a:cs typeface="Encode Sans"/>
                <a:sym typeface="Encode Sans"/>
              </a:rPr>
              <a:t> chunking, metadata extraction, and embedding generation</a:t>
            </a:r>
            <a:r>
              <a:rPr lang="en-GB">
                <a:solidFill>
                  <a:srgbClr val="434343"/>
                </a:solidFill>
                <a:latin typeface="Encode Sans"/>
                <a:ea typeface="Encode Sans"/>
                <a:cs typeface="Encode Sans"/>
                <a:sym typeface="Encode Sans"/>
              </a:rPr>
              <a:t>, the pipeline checks whether the document has already been processed.</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pipeline checks the attached </a:t>
            </a:r>
            <a:r>
              <a:rPr lang="en-GB">
                <a:solidFill>
                  <a:srgbClr val="434343"/>
                </a:solidFill>
                <a:latin typeface="Roboto Mono"/>
                <a:ea typeface="Roboto Mono"/>
                <a:cs typeface="Roboto Mono"/>
                <a:sym typeface="Roboto Mono"/>
              </a:rPr>
              <a:t>docstore</a:t>
            </a:r>
            <a:r>
              <a:rPr lang="en-GB">
                <a:solidFill>
                  <a:srgbClr val="434343"/>
                </a:solidFill>
                <a:latin typeface="Encode Sans"/>
                <a:ea typeface="Encode Sans"/>
                <a:cs typeface="Encode Sans"/>
                <a:sym typeface="Encode Sans"/>
              </a:rPr>
              <a:t> (document store), which maintains information about previously processed documents/nodes.</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It maps each document’s unique ID (</a:t>
            </a:r>
            <a:r>
              <a:rPr lang="en-GB">
                <a:solidFill>
                  <a:srgbClr val="434343"/>
                </a:solidFill>
                <a:latin typeface="Roboto Mono"/>
                <a:ea typeface="Roboto Mono"/>
                <a:cs typeface="Roboto Mono"/>
                <a:sym typeface="Roboto Mono"/>
              </a:rPr>
              <a:t>doc_id</a:t>
            </a:r>
            <a:r>
              <a:rPr lang="en-GB">
                <a:solidFill>
                  <a:srgbClr val="434343"/>
                </a:solidFill>
                <a:latin typeface="Encode Sans"/>
                <a:ea typeface="Encode Sans"/>
                <a:cs typeface="Encode Sans"/>
                <a:sym typeface="Encode Sans"/>
              </a:rPr>
              <a:t>) to a cryptographic content hash. The content hash is used to determine whether a document is unchanged or has been modified. </a:t>
            </a:r>
            <a:endParaRPr>
              <a:solidFill>
                <a:srgbClr val="434343"/>
              </a:solidFill>
              <a:latin typeface="Encode Sans"/>
              <a:ea typeface="Encode Sans"/>
              <a:cs typeface="Encode Sans"/>
              <a:sym typeface="Encode Sans"/>
            </a:endParaRPr>
          </a:p>
          <a:p>
            <a:pPr indent="-262551" lvl="2" marL="108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If a file’s hash </a:t>
            </a:r>
            <a:r>
              <a:rPr b="1" lang="en-GB">
                <a:solidFill>
                  <a:srgbClr val="434343"/>
                </a:solidFill>
                <a:latin typeface="Encode Sans"/>
                <a:ea typeface="Encode Sans"/>
                <a:cs typeface="Encode Sans"/>
                <a:sym typeface="Encode Sans"/>
              </a:rPr>
              <a:t>matches</a:t>
            </a:r>
            <a:r>
              <a:rPr lang="en-GB">
                <a:solidFill>
                  <a:srgbClr val="434343"/>
                </a:solidFill>
                <a:latin typeface="Encode Sans"/>
                <a:ea typeface="Encode Sans"/>
                <a:cs typeface="Encode Sans"/>
                <a:sym typeface="Encode Sans"/>
              </a:rPr>
              <a:t> an existing record in the </a:t>
            </a:r>
            <a:r>
              <a:rPr lang="en-GB">
                <a:solidFill>
                  <a:srgbClr val="434343"/>
                </a:solidFill>
                <a:latin typeface="Roboto Mono"/>
                <a:ea typeface="Roboto Mono"/>
                <a:cs typeface="Roboto Mono"/>
                <a:sym typeface="Roboto Mono"/>
              </a:rPr>
              <a:t>docstore</a:t>
            </a:r>
            <a:r>
              <a:rPr lang="en-GB">
                <a:solidFill>
                  <a:srgbClr val="434343"/>
                </a:solidFill>
                <a:latin typeface="Encode Sans"/>
                <a:ea typeface="Encode Sans"/>
                <a:cs typeface="Encode Sans"/>
                <a:sym typeface="Encode Sans"/>
              </a:rPr>
              <a:t>, the file has </a:t>
            </a:r>
            <a:r>
              <a:rPr b="1" lang="en-GB">
                <a:solidFill>
                  <a:srgbClr val="434343"/>
                </a:solidFill>
                <a:latin typeface="Encode Sans"/>
                <a:ea typeface="Encode Sans"/>
                <a:cs typeface="Encode Sans"/>
                <a:sym typeface="Encode Sans"/>
              </a:rPr>
              <a:t>not changed</a:t>
            </a:r>
            <a:r>
              <a:rPr lang="en-GB">
                <a:solidFill>
                  <a:srgbClr val="434343"/>
                </a:solidFill>
                <a:latin typeface="Encode Sans"/>
                <a:ea typeface="Encode Sans"/>
                <a:cs typeface="Encode Sans"/>
                <a:sym typeface="Encode Sans"/>
              </a:rPr>
              <a:t>. The pipeline therefore skips processing it entirely, allowing the existing data to be reused.</a:t>
            </a:r>
            <a:endParaRPr>
              <a:solidFill>
                <a:srgbClr val="434343"/>
              </a:solidFill>
              <a:latin typeface="Encode Sans"/>
              <a:ea typeface="Encode Sans"/>
              <a:cs typeface="Encode Sans"/>
              <a:sym typeface="Encode Sans"/>
            </a:endParaRPr>
          </a:p>
          <a:p>
            <a:pPr indent="-262551" lvl="2" marL="108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If the file is </a:t>
            </a:r>
            <a:r>
              <a:rPr b="1" lang="en-GB">
                <a:solidFill>
                  <a:srgbClr val="434343"/>
                </a:solidFill>
                <a:latin typeface="Encode Sans"/>
                <a:ea typeface="Encode Sans"/>
                <a:cs typeface="Encode Sans"/>
                <a:sym typeface="Encode Sans"/>
              </a:rPr>
              <a:t>new</a:t>
            </a:r>
            <a:r>
              <a:rPr lang="en-GB">
                <a:solidFill>
                  <a:srgbClr val="434343"/>
                </a:solidFill>
                <a:latin typeface="Encode Sans"/>
                <a:ea typeface="Encode Sans"/>
                <a:cs typeface="Encode Sans"/>
                <a:sym typeface="Encode Sans"/>
              </a:rPr>
              <a:t> or its content has </a:t>
            </a:r>
            <a:r>
              <a:rPr b="1" lang="en-GB">
                <a:solidFill>
                  <a:srgbClr val="434343"/>
                </a:solidFill>
                <a:latin typeface="Encode Sans"/>
                <a:ea typeface="Encode Sans"/>
                <a:cs typeface="Encode Sans"/>
                <a:sym typeface="Encode Sans"/>
              </a:rPr>
              <a:t>changed</a:t>
            </a:r>
            <a:r>
              <a:rPr lang="en-GB">
                <a:solidFill>
                  <a:srgbClr val="434343"/>
                </a:solidFill>
                <a:latin typeface="Encode Sans"/>
                <a:ea typeface="Encode Sans"/>
                <a:cs typeface="Encode Sans"/>
                <a:sym typeface="Encode Sans"/>
              </a:rPr>
              <a:t>, it will have a new hash. The file is then flagged for processing and proceeds through the transformation pipeline.</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Purpose</a:t>
            </a:r>
            <a:r>
              <a:rPr lang="en-GB">
                <a:solidFill>
                  <a:srgbClr val="434343"/>
                </a:solidFill>
                <a:latin typeface="Encode Sans"/>
                <a:ea typeface="Encode Sans"/>
                <a:cs typeface="Encode Sans"/>
                <a:sym typeface="Encode Sans"/>
              </a:rPr>
              <a:t>: Avoid unnecessary processing and embedding computation. </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Output</a:t>
            </a:r>
            <a:r>
              <a:rPr lang="en-GB">
                <a:solidFill>
                  <a:srgbClr val="434343"/>
                </a:solidFill>
                <a:latin typeface="Encode Sans"/>
                <a:ea typeface="Encode Sans"/>
                <a:cs typeface="Encode Sans"/>
                <a:sym typeface="Encode Sans"/>
              </a:rPr>
              <a:t>:</a:t>
            </a:r>
            <a:endParaRPr>
              <a:solidFill>
                <a:srgbClr val="434343"/>
              </a:solidFill>
              <a:latin typeface="Encode Sans"/>
              <a:ea typeface="Encode Sans"/>
              <a:cs typeface="Encode Sans"/>
              <a:sym typeface="Encode Sans"/>
            </a:endParaRPr>
          </a:p>
          <a:p>
            <a:pPr indent="0" lvl="0" marL="1634400" rtl="0" algn="just">
              <a:spcBef>
                <a:spcPts val="0"/>
              </a:spcBef>
              <a:spcAft>
                <a:spcPts val="0"/>
              </a:spcAft>
              <a:buNone/>
            </a:pPr>
            <a:r>
              <a:rPr lang="en-GB">
                <a:solidFill>
                  <a:srgbClr val="188038"/>
                </a:solidFill>
                <a:latin typeface="Roboto Mono"/>
                <a:ea typeface="Roboto Mono"/>
                <a:cs typeface="Roboto Mono"/>
                <a:sym typeface="Roboto Mono"/>
              </a:rPr>
              <a:t>Unchanged 		→ Reuse / Skip</a:t>
            </a:r>
            <a:endParaRPr>
              <a:solidFill>
                <a:srgbClr val="188038"/>
              </a:solidFill>
              <a:latin typeface="Roboto Mono"/>
              <a:ea typeface="Roboto Mono"/>
              <a:cs typeface="Roboto Mono"/>
              <a:sym typeface="Roboto Mono"/>
            </a:endParaRPr>
          </a:p>
          <a:p>
            <a:pPr indent="0" lvl="0" marL="1634400" rtl="0" algn="just">
              <a:spcBef>
                <a:spcPts val="0"/>
              </a:spcBef>
              <a:spcAft>
                <a:spcPts val="0"/>
              </a:spcAft>
              <a:buNone/>
            </a:pPr>
            <a:r>
              <a:rPr lang="en-GB">
                <a:solidFill>
                  <a:srgbClr val="188038"/>
                </a:solidFill>
                <a:latin typeface="Roboto Mono"/>
                <a:ea typeface="Roboto Mono"/>
                <a:cs typeface="Roboto Mono"/>
                <a:sym typeface="Roboto Mono"/>
              </a:rPr>
              <a:t>New or Modified	→ Process </a:t>
            </a:r>
            <a:endParaRPr b="1">
              <a:solidFill>
                <a:srgbClr val="434343"/>
              </a:solidFill>
              <a:latin typeface="Encode Sans"/>
              <a:ea typeface="Encode Sans"/>
              <a:cs typeface="Encode Sans"/>
              <a:sym typeface="Encode Sans"/>
            </a:endParaRPr>
          </a:p>
        </p:txBody>
      </p:sp>
      <p:sp>
        <p:nvSpPr>
          <p:cNvPr id="505" name="Google Shape;505;p63"/>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sp>
        <p:nvSpPr>
          <p:cNvPr id="506" name="Google Shape;506;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Ingestion Lifecycle</a:t>
            </a:r>
            <a:endParaRPr>
              <a:solidFill>
                <a:srgbClr val="CE6948"/>
              </a:solidFill>
            </a:endParaRPr>
          </a:p>
        </p:txBody>
      </p:sp>
      <p:sp>
        <p:nvSpPr>
          <p:cNvPr id="512" name="Google Shape;512;p64"/>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3: Run Transformations (Chunking / Metadata / Embedding)</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17550" lvl="1" marL="720000" rtl="0" algn="just">
              <a:spcBef>
                <a:spcPts val="0"/>
              </a:spcBef>
              <a:spcAft>
                <a:spcPts val="0"/>
              </a:spcAft>
              <a:buClr>
                <a:srgbClr val="CE6948"/>
              </a:buClr>
              <a:buSzPts val="1300"/>
              <a:buFont typeface="Encode Sans"/>
              <a:buChar char="○"/>
            </a:pPr>
            <a:r>
              <a:rPr lang="en-GB">
                <a:solidFill>
                  <a:schemeClr val="dk1"/>
                </a:solidFill>
                <a:latin typeface="Encode Sans"/>
                <a:ea typeface="Encode Sans"/>
                <a:cs typeface="Encode Sans"/>
                <a:sym typeface="Encode Sans"/>
              </a:rPr>
              <a:t>New or modified documents pass through a sequence of transformations defined in the </a:t>
            </a:r>
            <a:r>
              <a:rPr lang="en-GB">
                <a:solidFill>
                  <a:srgbClr val="188038"/>
                </a:solidFill>
                <a:latin typeface="Roboto Mono"/>
                <a:ea typeface="Roboto Mono"/>
                <a:cs typeface="Roboto Mono"/>
                <a:sym typeface="Roboto Mono"/>
              </a:rPr>
              <a:t>IngestionPipeline</a:t>
            </a:r>
            <a:r>
              <a:rPr lang="en-GB">
                <a:solidFill>
                  <a:schemeClr val="dk1"/>
                </a:solidFill>
                <a:latin typeface="Encode Sans"/>
                <a:ea typeface="Encode Sans"/>
                <a:cs typeface="Encode Sans"/>
                <a:sym typeface="Encode Sans"/>
              </a:rPr>
              <a:t>. </a:t>
            </a:r>
            <a:endParaRPr>
              <a:solidFill>
                <a:schemeClr val="dk1"/>
              </a:solidFill>
              <a:latin typeface="Encode Sans"/>
              <a:ea typeface="Encode Sans"/>
              <a:cs typeface="Encode Sans"/>
              <a:sym typeface="Encode Sans"/>
            </a:endParaRPr>
          </a:p>
          <a:p>
            <a:pPr indent="-217550" lvl="1" marL="720000" rtl="0" algn="just">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The Sub-Stages:</a:t>
            </a:r>
            <a:endParaRPr>
              <a:solidFill>
                <a:srgbClr val="434343"/>
              </a:solidFill>
              <a:latin typeface="Encode Sans"/>
              <a:ea typeface="Encode Sans"/>
              <a:cs typeface="Encode Sans"/>
              <a:sym typeface="Encode Sans"/>
            </a:endParaRPr>
          </a:p>
          <a:p>
            <a:pPr indent="-262551" lvl="2" marL="1080000" rtl="0" algn="just">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Chunking</a:t>
            </a:r>
            <a:endParaRPr>
              <a:solidFill>
                <a:srgbClr val="434343"/>
              </a:solidFill>
              <a:latin typeface="Encode Sans"/>
              <a:ea typeface="Encode Sans"/>
              <a:cs typeface="Encode Sans"/>
              <a:sym typeface="Encode Sans"/>
            </a:endParaRPr>
          </a:p>
          <a:p>
            <a:pPr indent="-262551" lvl="2" marL="1080000" rtl="0" algn="just">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Metadata Extraction</a:t>
            </a:r>
            <a:endParaRPr>
              <a:solidFill>
                <a:srgbClr val="434343"/>
              </a:solidFill>
              <a:latin typeface="Encode Sans"/>
              <a:ea typeface="Encode Sans"/>
              <a:cs typeface="Encode Sans"/>
              <a:sym typeface="Encode Sans"/>
            </a:endParaRPr>
          </a:p>
          <a:p>
            <a:pPr indent="-262551" lvl="2" marL="1080000" rtl="0" algn="just">
              <a:spcBef>
                <a:spcPts val="0"/>
              </a:spcBef>
              <a:spcAft>
                <a:spcPts val="0"/>
              </a:spcAft>
              <a:buClr>
                <a:srgbClr val="434343"/>
              </a:buClr>
              <a:buSzPts val="1300"/>
              <a:buFont typeface="Encode Sans"/>
              <a:buChar char="■"/>
            </a:pPr>
            <a:r>
              <a:rPr b="1" lang="en-GB">
                <a:solidFill>
                  <a:srgbClr val="434343"/>
                </a:solidFill>
                <a:latin typeface="Encode Sans"/>
                <a:ea typeface="Encode Sans"/>
                <a:cs typeface="Encode Sans"/>
                <a:sym typeface="Encode Sans"/>
              </a:rPr>
              <a:t>Embedding Generation</a:t>
            </a:r>
            <a:endParaRPr b="1">
              <a:solidFill>
                <a:srgbClr val="434343"/>
              </a:solidFill>
              <a:latin typeface="Encode Sans"/>
              <a:ea typeface="Encode Sans"/>
              <a:cs typeface="Encode Sans"/>
              <a:sym typeface="Encode Sans"/>
            </a:endParaRPr>
          </a:p>
        </p:txBody>
      </p:sp>
      <p:sp>
        <p:nvSpPr>
          <p:cNvPr id="513" name="Google Shape;513;p6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sp>
        <p:nvSpPr>
          <p:cNvPr id="514" name="Google Shape;514;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5"/>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Ingestion Lifecycle</a:t>
            </a:r>
            <a:endParaRPr>
              <a:solidFill>
                <a:srgbClr val="CE6948"/>
              </a:solidFill>
            </a:endParaRPr>
          </a:p>
        </p:txBody>
      </p:sp>
      <p:sp>
        <p:nvSpPr>
          <p:cNvPr id="520" name="Google Shape;520;p65"/>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3: Run Transformations (Chunking / Metadata / Embedding)</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17550" lvl="1" marL="720000" rtl="0" algn="just">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The Sub-Stages:</a:t>
            </a:r>
            <a:endParaRPr>
              <a:solidFill>
                <a:srgbClr val="434343"/>
              </a:solidFill>
              <a:latin typeface="Encode Sans"/>
              <a:ea typeface="Encode Sans"/>
              <a:cs typeface="Encode Sans"/>
              <a:sym typeface="Encode Sans"/>
            </a:endParaRPr>
          </a:p>
          <a:p>
            <a:pPr indent="-262551" lvl="2" marL="1080000" rtl="0" algn="just">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Chunking:</a:t>
            </a:r>
            <a:endParaRPr>
              <a:solidFill>
                <a:srgbClr val="434343"/>
              </a:solidFill>
              <a:latin typeface="Encode Sans"/>
              <a:ea typeface="Encode Sans"/>
              <a:cs typeface="Encode Sans"/>
              <a:sym typeface="Encode Sans"/>
            </a:endParaRPr>
          </a:p>
          <a:p>
            <a:pPr indent="-217550" lvl="3" marL="1350000" rtl="0" algn="just">
              <a:spcBef>
                <a:spcPts val="0"/>
              </a:spcBef>
              <a:spcAft>
                <a:spcPts val="0"/>
              </a:spcAft>
              <a:buClr>
                <a:srgbClr val="CE6948"/>
              </a:buClr>
              <a:buSzPts val="1300"/>
              <a:buFont typeface="Encode Sans"/>
              <a:buChar char="●"/>
            </a:pPr>
            <a:r>
              <a:rPr lang="en-GB">
                <a:solidFill>
                  <a:schemeClr val="dk1"/>
                </a:solidFill>
                <a:latin typeface="Encode Sans"/>
                <a:ea typeface="Encode Sans"/>
                <a:cs typeface="Encode Sans"/>
                <a:sym typeface="Encode Sans"/>
              </a:rPr>
              <a:t>Long documents are divided into smaller units called </a:t>
            </a:r>
            <a:r>
              <a:rPr b="1" lang="en-GB">
                <a:solidFill>
                  <a:schemeClr val="dk1"/>
                </a:solidFill>
                <a:latin typeface="Encode Sans"/>
                <a:ea typeface="Encode Sans"/>
                <a:cs typeface="Encode Sans"/>
                <a:sym typeface="Encode Sans"/>
              </a:rPr>
              <a:t>Chunks</a:t>
            </a:r>
            <a:r>
              <a:rPr lang="en-GB">
                <a:solidFill>
                  <a:schemeClr val="dk1"/>
                </a:solidFill>
                <a:latin typeface="Encode Sans"/>
                <a:ea typeface="Encode Sans"/>
                <a:cs typeface="Encode Sans"/>
                <a:sym typeface="Encode Sans"/>
              </a:rPr>
              <a:t>. </a:t>
            </a:r>
            <a:endParaRPr>
              <a:solidFill>
                <a:schemeClr val="dk1"/>
              </a:solidFill>
              <a:latin typeface="Encode Sans"/>
              <a:ea typeface="Encode Sans"/>
              <a:cs typeface="Encode Sans"/>
              <a:sym typeface="Encode Sans"/>
            </a:endParaRPr>
          </a:p>
          <a:p>
            <a:pPr indent="-217550" lvl="3" marL="1350000" rtl="0" algn="just">
              <a:spcBef>
                <a:spcPts val="0"/>
              </a:spcBef>
              <a:spcAft>
                <a:spcPts val="0"/>
              </a:spcAft>
              <a:buClr>
                <a:srgbClr val="CE6948"/>
              </a:buClr>
              <a:buSzPts val="1300"/>
              <a:buFont typeface="Encode Sans"/>
              <a:buChar char="●"/>
            </a:pPr>
            <a:r>
              <a:rPr lang="en-GB">
                <a:solidFill>
                  <a:schemeClr val="dk1"/>
                </a:solidFill>
                <a:latin typeface="Encode Sans"/>
                <a:ea typeface="Encode Sans"/>
                <a:cs typeface="Encode Sans"/>
                <a:sym typeface="Encode Sans"/>
              </a:rPr>
              <a:t>Modules like </a:t>
            </a:r>
            <a:r>
              <a:rPr lang="en-GB">
                <a:solidFill>
                  <a:srgbClr val="188038"/>
                </a:solidFill>
                <a:latin typeface="Roboto Mono"/>
                <a:ea typeface="Roboto Mono"/>
                <a:cs typeface="Roboto Mono"/>
                <a:sym typeface="Roboto Mono"/>
              </a:rPr>
              <a:t>SentenceSplitter</a:t>
            </a:r>
            <a:r>
              <a:rPr lang="en-GB">
                <a:solidFill>
                  <a:schemeClr val="dk1"/>
                </a:solidFill>
                <a:latin typeface="Encode Sans"/>
                <a:ea typeface="Encode Sans"/>
                <a:cs typeface="Encode Sans"/>
                <a:sym typeface="Encode Sans"/>
              </a:rPr>
              <a:t> chop long documents into smaller structural pieces called </a:t>
            </a:r>
            <a:r>
              <a:rPr lang="en-GB">
                <a:solidFill>
                  <a:srgbClr val="188038"/>
                </a:solidFill>
                <a:latin typeface="Roboto Mono"/>
                <a:ea typeface="Roboto Mono"/>
                <a:cs typeface="Roboto Mono"/>
                <a:sym typeface="Roboto Mono"/>
              </a:rPr>
              <a:t>Nodes</a:t>
            </a:r>
            <a:r>
              <a:rPr lang="en-GB">
                <a:solidFill>
                  <a:schemeClr val="dk1"/>
                </a:solidFill>
                <a:latin typeface="Encode Sans"/>
                <a:ea typeface="Encode Sans"/>
                <a:cs typeface="Encode Sans"/>
                <a:sym typeface="Encode Sans"/>
              </a:rPr>
              <a:t>.</a:t>
            </a:r>
            <a:endParaRPr>
              <a:solidFill>
                <a:schemeClr val="dk1"/>
              </a:solidFill>
              <a:latin typeface="Encode Sans"/>
              <a:ea typeface="Encode Sans"/>
              <a:cs typeface="Encode Sans"/>
              <a:sym typeface="Encode Sans"/>
            </a:endParaRPr>
          </a:p>
          <a:p>
            <a:pPr indent="-217550" lvl="3" marL="1350000" rtl="0" algn="just">
              <a:spcBef>
                <a:spcPts val="0"/>
              </a:spcBef>
              <a:spcAft>
                <a:spcPts val="0"/>
              </a:spcAft>
              <a:buClr>
                <a:srgbClr val="CE6948"/>
              </a:buClr>
              <a:buSzPts val="1300"/>
              <a:buFont typeface="Encode Sans"/>
              <a:buChar char="●"/>
            </a:pPr>
            <a:r>
              <a:rPr lang="en-GB">
                <a:solidFill>
                  <a:schemeClr val="dk1"/>
                </a:solidFill>
                <a:latin typeface="Encode Sans"/>
                <a:ea typeface="Encode Sans"/>
                <a:cs typeface="Encode Sans"/>
                <a:sym typeface="Encode Sans"/>
              </a:rPr>
              <a:t>Chunking makes individual passages easier to retrieve and fit into the LLM's context window.</a:t>
            </a:r>
            <a:endParaRPr>
              <a:solidFill>
                <a:srgbClr val="434343"/>
              </a:solidFill>
              <a:latin typeface="Encode Sans"/>
              <a:ea typeface="Encode Sans"/>
              <a:cs typeface="Encode Sans"/>
              <a:sym typeface="Encode Sans"/>
            </a:endParaRPr>
          </a:p>
        </p:txBody>
      </p:sp>
      <p:sp>
        <p:nvSpPr>
          <p:cNvPr id="521" name="Google Shape;521;p65"/>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sp>
        <p:nvSpPr>
          <p:cNvPr id="522" name="Google Shape;522;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6"/>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Ingestion Lifecycle</a:t>
            </a:r>
            <a:endParaRPr>
              <a:solidFill>
                <a:srgbClr val="CE6948"/>
              </a:solidFill>
            </a:endParaRPr>
          </a:p>
        </p:txBody>
      </p:sp>
      <p:sp>
        <p:nvSpPr>
          <p:cNvPr id="528" name="Google Shape;528;p66"/>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3: Run Transformations (Chunking / Metadata / Embedding)</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17550" lvl="1" marL="720000" rtl="0" algn="just">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The Sub-Stages (cont)</a:t>
            </a:r>
            <a:endParaRPr>
              <a:solidFill>
                <a:srgbClr val="434343"/>
              </a:solidFill>
              <a:latin typeface="Encode Sans"/>
              <a:ea typeface="Encode Sans"/>
              <a:cs typeface="Encode Sans"/>
              <a:sym typeface="Encode Sans"/>
            </a:endParaRPr>
          </a:p>
          <a:p>
            <a:pPr indent="-262551" lvl="2" marL="1080000" rtl="0" algn="just">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Metadata Extraction:</a:t>
            </a:r>
            <a:endParaRPr>
              <a:solidFill>
                <a:srgbClr val="434343"/>
              </a:solidFill>
              <a:latin typeface="Encode Sans"/>
              <a:ea typeface="Encode Sans"/>
              <a:cs typeface="Encode Sans"/>
              <a:sym typeface="Encode Sans"/>
            </a:endParaRPr>
          </a:p>
          <a:p>
            <a:pPr indent="-217550" lvl="3" marL="1350000" rtl="0" algn="just">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Optional transformations can enrich nodes with additional information such as:</a:t>
            </a:r>
            <a:endParaRPr>
              <a:solidFill>
                <a:srgbClr val="434343"/>
              </a:solidFill>
              <a:latin typeface="Encode Sans"/>
              <a:ea typeface="Encode Sans"/>
              <a:cs typeface="Encode Sans"/>
              <a:sym typeface="Encode Sans"/>
            </a:endParaRPr>
          </a:p>
          <a:p>
            <a:pPr indent="-217551" lvl="4" marL="1665000" rtl="0" algn="just">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Titles</a:t>
            </a:r>
            <a:endParaRPr>
              <a:solidFill>
                <a:srgbClr val="434343"/>
              </a:solidFill>
              <a:latin typeface="Encode Sans"/>
              <a:ea typeface="Encode Sans"/>
              <a:cs typeface="Encode Sans"/>
              <a:sym typeface="Encode Sans"/>
            </a:endParaRPr>
          </a:p>
          <a:p>
            <a:pPr indent="-217551" lvl="4" marL="1665000" rtl="0" algn="just">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Keywords</a:t>
            </a:r>
            <a:endParaRPr>
              <a:solidFill>
                <a:srgbClr val="434343"/>
              </a:solidFill>
              <a:latin typeface="Encode Sans"/>
              <a:ea typeface="Encode Sans"/>
              <a:cs typeface="Encode Sans"/>
              <a:sym typeface="Encode Sans"/>
            </a:endParaRPr>
          </a:p>
          <a:p>
            <a:pPr indent="-217551" lvl="4" marL="1665000" rtl="0" algn="just">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Summaries</a:t>
            </a:r>
            <a:endParaRPr>
              <a:solidFill>
                <a:srgbClr val="434343"/>
              </a:solidFill>
              <a:latin typeface="Encode Sans"/>
              <a:ea typeface="Encode Sans"/>
              <a:cs typeface="Encode Sans"/>
              <a:sym typeface="Encode Sans"/>
            </a:endParaRPr>
          </a:p>
          <a:p>
            <a:pPr indent="-217551" lvl="4" marL="1665000" rtl="0" algn="just">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Entities</a:t>
            </a:r>
            <a:endParaRPr>
              <a:solidFill>
                <a:srgbClr val="434343"/>
              </a:solidFill>
              <a:latin typeface="Encode Sans"/>
              <a:ea typeface="Encode Sans"/>
              <a:cs typeface="Encode Sans"/>
              <a:sym typeface="Encode Sans"/>
            </a:endParaRPr>
          </a:p>
          <a:p>
            <a:pPr indent="-217551" lvl="4" marL="1665000" rtl="0" algn="just">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Source information</a:t>
            </a:r>
            <a:endParaRPr>
              <a:solidFill>
                <a:srgbClr val="434343"/>
              </a:solidFill>
              <a:latin typeface="Encode Sans"/>
              <a:ea typeface="Encode Sans"/>
              <a:cs typeface="Encode Sans"/>
              <a:sym typeface="Encode Sans"/>
            </a:endParaRPr>
          </a:p>
          <a:p>
            <a:pPr indent="-217550" lvl="3" marL="1350000" rtl="0" algn="just">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This metadata can later support </a:t>
            </a:r>
            <a:r>
              <a:rPr b="1" lang="en-GB">
                <a:solidFill>
                  <a:srgbClr val="434343"/>
                </a:solidFill>
                <a:latin typeface="Encode Sans"/>
                <a:ea typeface="Encode Sans"/>
                <a:cs typeface="Encode Sans"/>
                <a:sym typeface="Encode Sans"/>
              </a:rPr>
              <a:t>filtering and retrieval</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p:txBody>
      </p:sp>
      <p:sp>
        <p:nvSpPr>
          <p:cNvPr id="529" name="Google Shape;529;p66"/>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sp>
        <p:nvSpPr>
          <p:cNvPr id="530" name="Google Shape;530;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Ingestion Lifecycle</a:t>
            </a:r>
            <a:endParaRPr>
              <a:solidFill>
                <a:srgbClr val="CE6948"/>
              </a:solidFill>
            </a:endParaRPr>
          </a:p>
        </p:txBody>
      </p:sp>
      <p:sp>
        <p:nvSpPr>
          <p:cNvPr id="536" name="Google Shape;536;p67"/>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3: Run Transformations (Chunking / Metadata / Embedding)</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17550" lvl="1" marL="720000" rtl="0" algn="just">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The Sub-Stages (cont)</a:t>
            </a:r>
            <a:endParaRPr>
              <a:solidFill>
                <a:srgbClr val="434343"/>
              </a:solidFill>
              <a:latin typeface="Encode Sans"/>
              <a:ea typeface="Encode Sans"/>
              <a:cs typeface="Encode Sans"/>
              <a:sym typeface="Encode Sans"/>
            </a:endParaRPr>
          </a:p>
          <a:p>
            <a:pPr indent="-262551" lvl="2" marL="1080000" rtl="0" algn="just">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Embedding Generation:</a:t>
            </a:r>
            <a:endParaRPr>
              <a:solidFill>
                <a:srgbClr val="434343"/>
              </a:solidFill>
              <a:latin typeface="Encode Sans"/>
              <a:ea typeface="Encode Sans"/>
              <a:cs typeface="Encode Sans"/>
              <a:sym typeface="Encode Sans"/>
            </a:endParaRPr>
          </a:p>
          <a:p>
            <a:pPr indent="-217550" lvl="3" marL="1350000" rtl="0" algn="just">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Each text chunk is converted into a numerical vector representation using an embedding model  (e.g., OpenAI or HuggingFace).</a:t>
            </a:r>
            <a:endParaRPr>
              <a:solidFill>
                <a:srgbClr val="434343"/>
              </a:solidFill>
              <a:latin typeface="Encode Sans"/>
              <a:ea typeface="Encode Sans"/>
              <a:cs typeface="Encode Sans"/>
              <a:sym typeface="Encode Sans"/>
            </a:endParaRPr>
          </a:p>
          <a:p>
            <a:pPr indent="0" lvl="0" marL="1350000" rtl="0" algn="just">
              <a:spcBef>
                <a:spcPts val="0"/>
              </a:spcBef>
              <a:spcAft>
                <a:spcPts val="0"/>
              </a:spcAft>
              <a:buNone/>
            </a:pPr>
            <a:r>
              <a:t/>
            </a:r>
            <a:endParaRPr>
              <a:solidFill>
                <a:srgbClr val="434343"/>
              </a:solidFill>
              <a:latin typeface="Encode Sans"/>
              <a:ea typeface="Encode Sans"/>
              <a:cs typeface="Encode Sans"/>
              <a:sym typeface="Encode Sans"/>
            </a:endParaRPr>
          </a:p>
          <a:p>
            <a:pPr indent="0" lvl="0" marL="2264400" rtl="0" algn="just">
              <a:spcBef>
                <a:spcPts val="0"/>
              </a:spcBef>
              <a:spcAft>
                <a:spcPts val="0"/>
              </a:spcAft>
              <a:buClr>
                <a:schemeClr val="dk1"/>
              </a:buClr>
              <a:buSzPts val="1100"/>
              <a:buFont typeface="Arial"/>
              <a:buNone/>
            </a:pPr>
            <a:r>
              <a:rPr b="1" lang="en-GB">
                <a:solidFill>
                  <a:srgbClr val="067D17"/>
                </a:solidFill>
                <a:latin typeface="Consolas"/>
                <a:ea typeface="Consolas"/>
                <a:cs typeface="Consolas"/>
                <a:sym typeface="Consolas"/>
              </a:rPr>
              <a:t>"Document ingestion is..."</a:t>
            </a:r>
            <a:endParaRPr b="1">
              <a:solidFill>
                <a:srgbClr val="067D17"/>
              </a:solidFill>
              <a:latin typeface="Consolas"/>
              <a:ea typeface="Consolas"/>
              <a:cs typeface="Consolas"/>
              <a:sym typeface="Consolas"/>
            </a:endParaRPr>
          </a:p>
          <a:p>
            <a:pPr indent="0" lvl="0" marL="2264400" rtl="0" algn="just">
              <a:spcBef>
                <a:spcPts val="0"/>
              </a:spcBef>
              <a:spcAft>
                <a:spcPts val="0"/>
              </a:spcAft>
              <a:buClr>
                <a:schemeClr val="dk1"/>
              </a:buClr>
              <a:buSzPts val="1100"/>
              <a:buFont typeface="Arial"/>
              <a:buNone/>
            </a:pPr>
            <a:r>
              <a:rPr b="1" lang="en-GB">
                <a:solidFill>
                  <a:srgbClr val="067D17"/>
                </a:solidFill>
                <a:latin typeface="Consolas"/>
                <a:ea typeface="Consolas"/>
                <a:cs typeface="Consolas"/>
                <a:sym typeface="Consolas"/>
              </a:rPr>
              <a:t>          ↓</a:t>
            </a:r>
            <a:endParaRPr b="1">
              <a:solidFill>
                <a:srgbClr val="067D17"/>
              </a:solidFill>
              <a:latin typeface="Consolas"/>
              <a:ea typeface="Consolas"/>
              <a:cs typeface="Consolas"/>
              <a:sym typeface="Consolas"/>
            </a:endParaRPr>
          </a:p>
          <a:p>
            <a:pPr indent="0" lvl="0" marL="2264400" rtl="0" algn="just">
              <a:spcBef>
                <a:spcPts val="0"/>
              </a:spcBef>
              <a:spcAft>
                <a:spcPts val="0"/>
              </a:spcAft>
              <a:buClr>
                <a:schemeClr val="dk1"/>
              </a:buClr>
              <a:buSzPts val="1100"/>
              <a:buFont typeface="Arial"/>
              <a:buNone/>
            </a:pPr>
            <a:r>
              <a:rPr b="1" lang="en-GB">
                <a:solidFill>
                  <a:srgbClr val="067D17"/>
                </a:solidFill>
                <a:latin typeface="Consolas"/>
                <a:ea typeface="Consolas"/>
                <a:cs typeface="Consolas"/>
                <a:sym typeface="Consolas"/>
              </a:rPr>
              <a:t>    Embedding Model</a:t>
            </a:r>
            <a:endParaRPr b="1">
              <a:solidFill>
                <a:srgbClr val="067D17"/>
              </a:solidFill>
              <a:latin typeface="Consolas"/>
              <a:ea typeface="Consolas"/>
              <a:cs typeface="Consolas"/>
              <a:sym typeface="Consolas"/>
            </a:endParaRPr>
          </a:p>
          <a:p>
            <a:pPr indent="0" lvl="0" marL="2264400" rtl="0" algn="just">
              <a:spcBef>
                <a:spcPts val="0"/>
              </a:spcBef>
              <a:spcAft>
                <a:spcPts val="0"/>
              </a:spcAft>
              <a:buClr>
                <a:schemeClr val="dk1"/>
              </a:buClr>
              <a:buSzPts val="1100"/>
              <a:buFont typeface="Arial"/>
              <a:buNone/>
            </a:pPr>
            <a:r>
              <a:rPr b="1" lang="en-GB">
                <a:solidFill>
                  <a:srgbClr val="067D17"/>
                </a:solidFill>
                <a:latin typeface="Consolas"/>
                <a:ea typeface="Consolas"/>
                <a:cs typeface="Consolas"/>
                <a:sym typeface="Consolas"/>
              </a:rPr>
              <a:t>          ↓</a:t>
            </a:r>
            <a:endParaRPr b="1">
              <a:solidFill>
                <a:srgbClr val="067D17"/>
              </a:solidFill>
              <a:latin typeface="Consolas"/>
              <a:ea typeface="Consolas"/>
              <a:cs typeface="Consolas"/>
              <a:sym typeface="Consolas"/>
            </a:endParaRPr>
          </a:p>
          <a:p>
            <a:pPr indent="0" lvl="0" marL="2264400" rtl="0" algn="just">
              <a:spcBef>
                <a:spcPts val="0"/>
              </a:spcBef>
              <a:spcAft>
                <a:spcPts val="0"/>
              </a:spcAft>
              <a:buClr>
                <a:schemeClr val="dk1"/>
              </a:buClr>
              <a:buSzPts val="1100"/>
              <a:buFont typeface="Arial"/>
              <a:buNone/>
            </a:pPr>
            <a:r>
              <a:rPr b="1" lang="en-GB">
                <a:solidFill>
                  <a:srgbClr val="067D17"/>
                </a:solidFill>
                <a:latin typeface="Consolas"/>
                <a:ea typeface="Consolas"/>
                <a:cs typeface="Consolas"/>
                <a:sym typeface="Consolas"/>
              </a:rPr>
              <a:t>[0.12, -0.43, 0.87, ...]</a:t>
            </a:r>
            <a:endParaRPr b="1">
              <a:solidFill>
                <a:srgbClr val="067D17"/>
              </a:solidFill>
              <a:latin typeface="Consolas"/>
              <a:ea typeface="Consolas"/>
              <a:cs typeface="Consolas"/>
              <a:sym typeface="Consolas"/>
            </a:endParaRPr>
          </a:p>
          <a:p>
            <a:pPr indent="0" lvl="0" marL="1350000" rtl="0" algn="just">
              <a:spcBef>
                <a:spcPts val="0"/>
              </a:spcBef>
              <a:spcAft>
                <a:spcPts val="0"/>
              </a:spcAft>
              <a:buNone/>
            </a:pPr>
            <a:r>
              <a:t/>
            </a:r>
            <a:endParaRPr>
              <a:solidFill>
                <a:srgbClr val="434343"/>
              </a:solidFill>
              <a:latin typeface="Encode Sans"/>
              <a:ea typeface="Encode Sans"/>
              <a:cs typeface="Encode Sans"/>
              <a:sym typeface="Encode Sans"/>
            </a:endParaRPr>
          </a:p>
          <a:p>
            <a:pPr indent="-217550" lvl="3" marL="1350000" rtl="0" algn="just">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These vectors capture semantic information that enables similarity-based retrieval. </a:t>
            </a:r>
            <a:endParaRPr>
              <a:solidFill>
                <a:srgbClr val="434343"/>
              </a:solidFill>
              <a:latin typeface="Encode Sans"/>
              <a:ea typeface="Encode Sans"/>
              <a:cs typeface="Encode Sans"/>
              <a:sym typeface="Encode Sans"/>
            </a:endParaRPr>
          </a:p>
        </p:txBody>
      </p:sp>
      <p:sp>
        <p:nvSpPr>
          <p:cNvPr id="537" name="Google Shape;537;p6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sp>
        <p:nvSpPr>
          <p:cNvPr id="538" name="Google Shape;538;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8"/>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Ingestion Lifecycle</a:t>
            </a:r>
            <a:endParaRPr>
              <a:solidFill>
                <a:srgbClr val="CE6948"/>
              </a:solidFill>
            </a:endParaRPr>
          </a:p>
        </p:txBody>
      </p:sp>
      <p:sp>
        <p:nvSpPr>
          <p:cNvPr id="544" name="Google Shape;544;p68"/>
          <p:cNvSpPr txBox="1"/>
          <p:nvPr>
            <p:ph idx="1" type="body"/>
          </p:nvPr>
        </p:nvSpPr>
        <p:spPr>
          <a:xfrm>
            <a:off x="311700" y="1069550"/>
            <a:ext cx="8520600" cy="3584100"/>
          </a:xfrm>
          <a:prstGeom prst="rect">
            <a:avLst/>
          </a:prstGeom>
        </p:spPr>
        <p:txBody>
          <a:bodyPr anchorCtr="0" anchor="t" bIns="91425" lIns="91425" spcFirstLastPara="1" rIns="91425" wrap="square" tIns="91425">
            <a:no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434343"/>
                </a:solidFill>
                <a:latin typeface="Encode Sans"/>
                <a:ea typeface="Encode Sans"/>
                <a:cs typeface="Encode Sans"/>
                <a:sym typeface="Encode Sans"/>
              </a:rPr>
              <a:t>Step 4: Save to Vector Store (Persistence &amp; Upserts)</a:t>
            </a:r>
            <a:r>
              <a:rPr lang="en-GB">
                <a:solidFill>
                  <a:srgbClr val="434343"/>
                </a:solidFill>
                <a:latin typeface="Encode Sans"/>
                <a:ea typeface="Encode Sans"/>
                <a:cs typeface="Encode Sans"/>
                <a:sym typeface="Encode Sans"/>
              </a:rPr>
              <a:t> </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The processed c</a:t>
            </a:r>
            <a:r>
              <a:rPr lang="en-GB">
                <a:solidFill>
                  <a:srgbClr val="434343"/>
                </a:solidFill>
                <a:latin typeface="Encode Sans"/>
                <a:ea typeface="Encode Sans"/>
                <a:cs typeface="Encode Sans"/>
                <a:sym typeface="Encode Sans"/>
              </a:rPr>
              <a:t>hunks</a:t>
            </a:r>
            <a:r>
              <a:rPr lang="en-GB">
                <a:solidFill>
                  <a:srgbClr val="434343"/>
                </a:solidFill>
                <a:latin typeface="Encode Sans"/>
                <a:ea typeface="Encode Sans"/>
                <a:cs typeface="Encode Sans"/>
                <a:sym typeface="Encode Sans"/>
              </a:rPr>
              <a:t>, including their </a:t>
            </a:r>
            <a:r>
              <a:rPr b="1" lang="en-GB">
                <a:solidFill>
                  <a:srgbClr val="434343"/>
                </a:solidFill>
                <a:latin typeface="Encode Sans"/>
                <a:ea typeface="Encode Sans"/>
                <a:cs typeface="Encode Sans"/>
                <a:sym typeface="Encode Sans"/>
              </a:rPr>
              <a:t>text, metadata, and vector embeddings</a:t>
            </a:r>
            <a:r>
              <a:rPr lang="en-GB">
                <a:solidFill>
                  <a:srgbClr val="434343"/>
                </a:solidFill>
                <a:latin typeface="Encode Sans"/>
                <a:ea typeface="Encode Sans"/>
                <a:cs typeface="Encode Sans"/>
                <a:sym typeface="Encode Sans"/>
              </a:rPr>
              <a:t>, are stored for later retrieval. </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Depending on the architecture, they may be stored in: </a:t>
            </a:r>
            <a:endParaRPr>
              <a:solidFill>
                <a:srgbClr val="434343"/>
              </a:solidFill>
              <a:latin typeface="Encode Sans"/>
              <a:ea typeface="Encode Sans"/>
              <a:cs typeface="Encode Sans"/>
              <a:sym typeface="Encode Sans"/>
            </a:endParaRPr>
          </a:p>
          <a:p>
            <a:pPr indent="-262551" lvl="2" marL="108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A vector database</a:t>
            </a:r>
            <a:endParaRPr>
              <a:solidFill>
                <a:srgbClr val="434343"/>
              </a:solidFill>
              <a:latin typeface="Encode Sans"/>
              <a:ea typeface="Encode Sans"/>
              <a:cs typeface="Encode Sans"/>
              <a:sym typeface="Encode Sans"/>
            </a:endParaRPr>
          </a:p>
          <a:p>
            <a:pPr indent="-262551" lvl="2" marL="108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A document store</a:t>
            </a:r>
            <a:endParaRPr>
              <a:solidFill>
                <a:srgbClr val="434343"/>
              </a:solidFill>
              <a:latin typeface="Encode Sans"/>
              <a:ea typeface="Encode Sans"/>
              <a:cs typeface="Encode Sans"/>
              <a:sym typeface="Encode Sans"/>
            </a:endParaRPr>
          </a:p>
          <a:p>
            <a:pPr indent="-262551" lvl="2" marL="108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Local persistent storage</a:t>
            </a:r>
            <a:endParaRPr>
              <a:solidFill>
                <a:srgbClr val="434343"/>
              </a:solidFill>
              <a:latin typeface="Encode Sans"/>
              <a:ea typeface="Encode Sans"/>
              <a:cs typeface="Encode Sans"/>
              <a:sym typeface="Encode Sans"/>
            </a:endParaRPr>
          </a:p>
          <a:p>
            <a:pPr indent="-262551" lvl="2" marL="108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A remote database</a:t>
            </a:r>
            <a:endParaRPr>
              <a:solidFill>
                <a:srgbClr val="434343"/>
              </a:solidFill>
              <a:latin typeface="Encode Sans"/>
              <a:ea typeface="Encode Sans"/>
              <a:cs typeface="Encode Sans"/>
              <a:sym typeface="Encode Sans"/>
            </a:endParaRPr>
          </a:p>
          <a:p>
            <a:pPr indent="-217550" lvl="1" marL="720000" marR="0" rtl="0" algn="just">
              <a:lnSpc>
                <a:spcPct val="115000"/>
              </a:lnSpc>
              <a:spcBef>
                <a:spcPts val="0"/>
              </a:spcBef>
              <a:spcAft>
                <a:spcPts val="0"/>
              </a:spcAft>
              <a:buClr>
                <a:srgbClr val="CE6948"/>
              </a:buClr>
              <a:buSzPts val="1300"/>
              <a:buFont typeface="Encode Sans"/>
              <a:buChar char="○"/>
            </a:pPr>
            <a:r>
              <a:rPr lang="en-GB">
                <a:solidFill>
                  <a:srgbClr val="434343"/>
                </a:solidFill>
                <a:latin typeface="Encode Sans"/>
                <a:ea typeface="Encode Sans"/>
                <a:cs typeface="Encode Sans"/>
                <a:sym typeface="Encode Sans"/>
              </a:rPr>
              <a:t>How it finishes: </a:t>
            </a:r>
            <a:endParaRPr>
              <a:solidFill>
                <a:srgbClr val="434343"/>
              </a:solidFill>
              <a:latin typeface="Encode Sans"/>
              <a:ea typeface="Encode Sans"/>
              <a:cs typeface="Encode Sans"/>
              <a:sym typeface="Encode Sans"/>
            </a:endParaRPr>
          </a:p>
          <a:p>
            <a:pPr indent="-262551" lvl="2" marL="108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If a vector store is attached to the pipeline, it handles </a:t>
            </a:r>
            <a:r>
              <a:rPr b="1" lang="en-GB">
                <a:solidFill>
                  <a:srgbClr val="434343"/>
                </a:solidFill>
                <a:latin typeface="Encode Sans"/>
                <a:ea typeface="Encode Sans"/>
                <a:cs typeface="Encode Sans"/>
                <a:sym typeface="Encode Sans"/>
              </a:rPr>
              <a:t>upserts</a:t>
            </a:r>
            <a:r>
              <a:rPr lang="en-GB">
                <a:solidFill>
                  <a:srgbClr val="434343"/>
                </a:solidFill>
                <a:latin typeface="Encode Sans"/>
                <a:ea typeface="Encode Sans"/>
                <a:cs typeface="Encode Sans"/>
                <a:sym typeface="Encode Sans"/>
              </a:rPr>
              <a:t> (inserting new nodes or replacing outdated ones if a document changed).</a:t>
            </a:r>
            <a:endParaRPr>
              <a:solidFill>
                <a:srgbClr val="434343"/>
              </a:solidFill>
              <a:latin typeface="Encode Sans"/>
              <a:ea typeface="Encode Sans"/>
              <a:cs typeface="Encode Sans"/>
              <a:sym typeface="Encode Sans"/>
            </a:endParaRPr>
          </a:p>
          <a:p>
            <a:pPr indent="-262551" lvl="2" marL="1080000" rtl="0" algn="just">
              <a:spcBef>
                <a:spcPts val="0"/>
              </a:spcBef>
              <a:spcAft>
                <a:spcPts val="0"/>
              </a:spcAft>
              <a:buClr>
                <a:srgbClr val="434343"/>
              </a:buClr>
              <a:buSzPts val="1300"/>
              <a:buFont typeface="Encode Sans"/>
              <a:buChar char="■"/>
            </a:pPr>
            <a:r>
              <a:rPr lang="en-GB">
                <a:solidFill>
                  <a:srgbClr val="434343"/>
                </a:solidFill>
                <a:latin typeface="Encode Sans"/>
                <a:ea typeface="Encode Sans"/>
                <a:cs typeface="Encode Sans"/>
                <a:sym typeface="Encode Sans"/>
              </a:rPr>
              <a:t>You can persist the document state locally (using </a:t>
            </a:r>
            <a:r>
              <a:rPr b="1" lang="en-GB">
                <a:solidFill>
                  <a:srgbClr val="067D17"/>
                </a:solidFill>
                <a:latin typeface="Roboto Mono"/>
                <a:ea typeface="Roboto Mono"/>
                <a:cs typeface="Roboto Mono"/>
                <a:sym typeface="Roboto Mono"/>
              </a:rPr>
              <a:t>.persist()</a:t>
            </a:r>
            <a:r>
              <a:rPr lang="en-GB">
                <a:solidFill>
                  <a:srgbClr val="434343"/>
                </a:solidFill>
                <a:latin typeface="Encode Sans"/>
                <a:ea typeface="Encode Sans"/>
                <a:cs typeface="Encode Sans"/>
                <a:sym typeface="Encode Sans"/>
              </a:rPr>
              <a:t>) or to a remote database cache so future runs remain fast and cost-effective.</a:t>
            </a:r>
            <a:endParaRPr b="1">
              <a:solidFill>
                <a:srgbClr val="434343"/>
              </a:solidFill>
              <a:latin typeface="Encode Sans"/>
              <a:ea typeface="Encode Sans"/>
              <a:cs typeface="Encode Sans"/>
              <a:sym typeface="Encode Sans"/>
            </a:endParaRPr>
          </a:p>
        </p:txBody>
      </p:sp>
      <p:sp>
        <p:nvSpPr>
          <p:cNvPr id="545" name="Google Shape;545;p68"/>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DOCUMENT INGESTION PIPELINES</a:t>
            </a:r>
            <a:endParaRPr/>
          </a:p>
        </p:txBody>
      </p:sp>
      <p:sp>
        <p:nvSpPr>
          <p:cNvPr id="546" name="Google Shape;546;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69"/>
          <p:cNvSpPr txBox="1"/>
          <p:nvPr>
            <p:ph idx="1" type="body"/>
          </p:nvPr>
        </p:nvSpPr>
        <p:spPr>
          <a:xfrm>
            <a:off x="920500" y="3453036"/>
            <a:ext cx="7551900" cy="130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Understanding </a:t>
            </a:r>
            <a:r>
              <a:rPr lang="en-GB"/>
              <a:t>the four architectural layers of an LLM application (Model, Orchestration, Data, Observability and Guardrail) and the principles that make components swappable and reusable, single responsibility, standard interfaces, and composability.</a:t>
            </a:r>
            <a:endParaRPr/>
          </a:p>
        </p:txBody>
      </p:sp>
      <p:sp>
        <p:nvSpPr>
          <p:cNvPr id="552" name="Google Shape;552;p69"/>
          <p:cNvSpPr txBox="1"/>
          <p:nvPr>
            <p:ph type="title"/>
          </p:nvPr>
        </p:nvSpPr>
        <p:spPr>
          <a:xfrm>
            <a:off x="920500" y="1267200"/>
            <a:ext cx="2516700" cy="1003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05</a:t>
            </a:r>
            <a:endParaRPr/>
          </a:p>
        </p:txBody>
      </p:sp>
      <p:sp>
        <p:nvSpPr>
          <p:cNvPr id="553" name="Google Shape;553;p69"/>
          <p:cNvSpPr/>
          <p:nvPr/>
        </p:nvSpPr>
        <p:spPr>
          <a:xfrm>
            <a:off x="0" y="-47700"/>
            <a:ext cx="137100" cy="5238900"/>
          </a:xfrm>
          <a:prstGeom prst="rect">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554" name="Google Shape;554;p69"/>
          <p:cNvSpPr txBox="1"/>
          <p:nvPr>
            <p:ph idx="2" type="title"/>
          </p:nvPr>
        </p:nvSpPr>
        <p:spPr>
          <a:xfrm>
            <a:off x="920500" y="2437725"/>
            <a:ext cx="7755900" cy="904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Modular</a:t>
            </a:r>
            <a:endParaRPr/>
          </a:p>
          <a:p>
            <a:pPr indent="0" lvl="0" marL="0" rtl="0" algn="l">
              <a:spcBef>
                <a:spcPts val="0"/>
              </a:spcBef>
              <a:spcAft>
                <a:spcPts val="0"/>
              </a:spcAft>
              <a:buNone/>
            </a:pPr>
            <a:r>
              <a:rPr lang="en-GB"/>
              <a:t>Workflow Design</a:t>
            </a:r>
            <a:endParaRPr>
              <a:solidFill>
                <a:srgbClr val="CE6948"/>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7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What is Modular Workflow Design?</a:t>
            </a:r>
            <a:endParaRPr>
              <a:solidFill>
                <a:srgbClr val="CE6948"/>
              </a:solidFill>
            </a:endParaRPr>
          </a:p>
        </p:txBody>
      </p:sp>
      <p:sp>
        <p:nvSpPr>
          <p:cNvPr id="560" name="Google Shape;560;p70"/>
          <p:cNvSpPr txBox="1"/>
          <p:nvPr>
            <p:ph idx="1" type="body"/>
          </p:nvPr>
        </p:nvSpPr>
        <p:spPr>
          <a:xfrm>
            <a:off x="311700" y="1069550"/>
            <a:ext cx="8520600" cy="645000"/>
          </a:xfrm>
          <a:prstGeom prst="rect">
            <a:avLst/>
          </a:prstGeom>
        </p:spPr>
        <p:txBody>
          <a:bodyPr anchorCtr="0" anchor="t" bIns="91425" lIns="91425" spcFirstLastPara="1" rIns="91425" wrap="square" tIns="91425">
            <a:sp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b="1" lang="en-GB">
                <a:solidFill>
                  <a:srgbClr val="CE6948"/>
                </a:solidFill>
                <a:latin typeface="Encode Sans"/>
                <a:ea typeface="Encode Sans"/>
                <a:cs typeface="Encode Sans"/>
                <a:sym typeface="Encode Sans"/>
              </a:rPr>
              <a:t>Modular workflow design</a:t>
            </a:r>
            <a:r>
              <a:rPr lang="en-GB">
                <a:solidFill>
                  <a:schemeClr val="dk1"/>
                </a:solidFill>
                <a:latin typeface="Encode Sans"/>
                <a:ea typeface="Encode Sans"/>
                <a:cs typeface="Encode Sans"/>
                <a:sym typeface="Encode Sans"/>
              </a:rPr>
              <a:t> is the practice of building an LLM application as small, independently swappable pieces, connected through standard interfaces, rather than one large, tightly-coupled script.</a:t>
            </a:r>
            <a:endParaRPr>
              <a:solidFill>
                <a:srgbClr val="434343"/>
              </a:solidFill>
              <a:latin typeface="Encode Sans"/>
              <a:ea typeface="Encode Sans"/>
              <a:cs typeface="Encode Sans"/>
              <a:sym typeface="Encode Sans"/>
            </a:endParaRPr>
          </a:p>
        </p:txBody>
      </p:sp>
      <p:sp>
        <p:nvSpPr>
          <p:cNvPr id="561" name="Google Shape;561;p7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Modular Workflow Design</a:t>
            </a:r>
            <a:endParaRPr/>
          </a:p>
        </p:txBody>
      </p:sp>
      <p:sp>
        <p:nvSpPr>
          <p:cNvPr id="562" name="Google Shape;562;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563" name="Google Shape;563;p70"/>
          <p:cNvPicPr preferRelativeResize="0"/>
          <p:nvPr/>
        </p:nvPicPr>
        <p:blipFill>
          <a:blip r:embed="rId3">
            <a:alphaModFix/>
          </a:blip>
          <a:stretch>
            <a:fillRect/>
          </a:stretch>
        </p:blipFill>
        <p:spPr>
          <a:xfrm>
            <a:off x="1463025" y="1714550"/>
            <a:ext cx="6217943" cy="312415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The Four Layers of an LLM Application</a:t>
            </a:r>
            <a:endParaRPr>
              <a:solidFill>
                <a:srgbClr val="CE6948"/>
              </a:solidFill>
            </a:endParaRPr>
          </a:p>
        </p:txBody>
      </p:sp>
      <p:sp>
        <p:nvSpPr>
          <p:cNvPr id="569" name="Google Shape;569;p71"/>
          <p:cNvSpPr txBox="1"/>
          <p:nvPr>
            <p:ph idx="1" type="body"/>
          </p:nvPr>
        </p:nvSpPr>
        <p:spPr>
          <a:xfrm>
            <a:off x="311700" y="1069550"/>
            <a:ext cx="8520600" cy="3759300"/>
          </a:xfrm>
          <a:prstGeom prst="rect">
            <a:avLst/>
          </a:prstGeom>
        </p:spPr>
        <p:txBody>
          <a:bodyPr anchorCtr="0" anchor="t" bIns="91425" lIns="91425" spcFirstLastPara="1" rIns="91425" wrap="square" tIns="91425">
            <a:spAutoFit/>
          </a:bodyPr>
          <a:lstStyle/>
          <a:p>
            <a:pPr indent="-225425" lvl="0" marL="228600" rtl="0" algn="just">
              <a:lnSpc>
                <a:spcPct val="130000"/>
              </a:lnSpc>
              <a:spcBef>
                <a:spcPts val="1000"/>
              </a:spcBef>
              <a:spcAft>
                <a:spcPts val="0"/>
              </a:spcAft>
              <a:buClr>
                <a:srgbClr val="D97757"/>
              </a:buClr>
              <a:buSzPts val="1300"/>
              <a:buFont typeface="Encode Sans"/>
              <a:buChar char="●"/>
            </a:pPr>
            <a:r>
              <a:rPr lang="en-GB">
                <a:solidFill>
                  <a:schemeClr val="dk1"/>
                </a:solidFill>
                <a:latin typeface="Encode Sans"/>
                <a:ea typeface="Encode Sans"/>
                <a:cs typeface="Encode Sans"/>
                <a:sym typeface="Encode Sans"/>
              </a:rPr>
              <a:t>This 4 layers modularity applied at the scale of the whole system, each layer is a single responsibility, just a much bigger one than any single function's. Splitting by layer before ever splitting by individual component is what keeps a change to one job, swapping a model, tightening a guardrail, from forcing a change everywhere else.</a:t>
            </a:r>
            <a:endParaRPr>
              <a:solidFill>
                <a:schemeClr val="dk1"/>
              </a:solidFill>
              <a:latin typeface="Encode Sans"/>
              <a:ea typeface="Encode Sans"/>
              <a:cs typeface="Encode Sans"/>
              <a:sym typeface="Encode Sans"/>
            </a:endParaRPr>
          </a:p>
          <a:p>
            <a:pPr indent="-225425" lvl="1" marL="571500" rtl="0" algn="just">
              <a:lnSpc>
                <a:spcPct val="130000"/>
              </a:lnSpc>
              <a:spcBef>
                <a:spcPts val="100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Model Layer:</a:t>
            </a:r>
            <a:r>
              <a:rPr lang="en-GB">
                <a:solidFill>
                  <a:schemeClr val="dk1"/>
                </a:solidFill>
                <a:latin typeface="Encode Sans"/>
                <a:ea typeface="Encode Sans"/>
                <a:cs typeface="Encode Sans"/>
                <a:sym typeface="Encode Sans"/>
              </a:rPr>
              <a:t> how the application accesses a model. It should be a replaceable component, not a hard dependency, swapping providers shouldn't touch anything else in the system.</a:t>
            </a:r>
            <a:endParaRPr>
              <a:solidFill>
                <a:schemeClr val="dk1"/>
              </a:solidFill>
              <a:latin typeface="Encode Sans"/>
              <a:ea typeface="Encode Sans"/>
              <a:cs typeface="Encode Sans"/>
              <a:sym typeface="Encode Sans"/>
            </a:endParaRPr>
          </a:p>
          <a:p>
            <a:pPr indent="-225425" lvl="1" marL="571500" rtl="0" algn="just">
              <a:lnSpc>
                <a:spcPct val="130000"/>
              </a:lnSpc>
              <a:spcBef>
                <a:spcPts val="100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Orchestration Layer:</a:t>
            </a:r>
            <a:r>
              <a:rPr lang="en-GB">
                <a:solidFill>
                  <a:schemeClr val="dk1"/>
                </a:solidFill>
                <a:latin typeface="Encode Sans"/>
                <a:ea typeface="Encode Sans"/>
                <a:cs typeface="Encode Sans"/>
                <a:sym typeface="Encode Sans"/>
              </a:rPr>
              <a:t> routing, sequencing, and state management across multi-step interactions, the layer deciding what happens next.</a:t>
            </a:r>
            <a:endParaRPr>
              <a:solidFill>
                <a:schemeClr val="dk1"/>
              </a:solidFill>
              <a:latin typeface="Encode Sans"/>
              <a:ea typeface="Encode Sans"/>
              <a:cs typeface="Encode Sans"/>
              <a:sym typeface="Encode Sans"/>
            </a:endParaRPr>
          </a:p>
          <a:p>
            <a:pPr indent="-225425" lvl="1" marL="571500" rtl="0" algn="just">
              <a:lnSpc>
                <a:spcPct val="130000"/>
              </a:lnSpc>
              <a:spcBef>
                <a:spcPts val="100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Data Layer:</a:t>
            </a:r>
            <a:r>
              <a:rPr lang="en-GB">
                <a:solidFill>
                  <a:schemeClr val="dk1"/>
                </a:solidFill>
                <a:latin typeface="Encode Sans"/>
                <a:ea typeface="Encode Sans"/>
                <a:cs typeface="Encode Sans"/>
                <a:sym typeface="Encode Sans"/>
              </a:rPr>
              <a:t> how the application retrieves and prepares context, documents, embeddings, anything the model needs but doesn't already know.</a:t>
            </a:r>
            <a:endParaRPr>
              <a:solidFill>
                <a:schemeClr val="dk1"/>
              </a:solidFill>
              <a:latin typeface="Encode Sans"/>
              <a:ea typeface="Encode Sans"/>
              <a:cs typeface="Encode Sans"/>
              <a:sym typeface="Encode Sans"/>
            </a:endParaRPr>
          </a:p>
          <a:p>
            <a:pPr indent="-225425" lvl="1" marL="571500" rtl="0" algn="just">
              <a:lnSpc>
                <a:spcPct val="130000"/>
              </a:lnSpc>
              <a:spcBef>
                <a:spcPts val="100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Observability and Guardrail Layer:</a:t>
            </a:r>
            <a:r>
              <a:rPr lang="en-GB">
                <a:solidFill>
                  <a:schemeClr val="dk1"/>
                </a:solidFill>
                <a:latin typeface="Encode Sans"/>
                <a:ea typeface="Encode Sans"/>
                <a:cs typeface="Encode Sans"/>
                <a:sym typeface="Encode Sans"/>
              </a:rPr>
              <a:t> tracing, logging, hallucination detection, safety enforcement, output validation.</a:t>
            </a:r>
            <a:endParaRPr>
              <a:solidFill>
                <a:schemeClr val="dk1"/>
              </a:solidFill>
              <a:latin typeface="Encode Sans"/>
              <a:ea typeface="Encode Sans"/>
              <a:cs typeface="Encode Sans"/>
              <a:sym typeface="Encode Sans"/>
            </a:endParaRPr>
          </a:p>
        </p:txBody>
      </p:sp>
      <p:sp>
        <p:nvSpPr>
          <p:cNvPr id="570" name="Google Shape;570;p7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Modular Workflow Design</a:t>
            </a:r>
            <a:endParaRPr/>
          </a:p>
        </p:txBody>
      </p:sp>
      <p:sp>
        <p:nvSpPr>
          <p:cNvPr id="571" name="Google Shape;571;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Principles of Modular Design</a:t>
            </a:r>
            <a:endParaRPr>
              <a:solidFill>
                <a:srgbClr val="CE6948"/>
              </a:solidFill>
            </a:endParaRPr>
          </a:p>
        </p:txBody>
      </p:sp>
      <p:sp>
        <p:nvSpPr>
          <p:cNvPr id="577" name="Google Shape;577;p72"/>
          <p:cNvSpPr txBox="1"/>
          <p:nvPr>
            <p:ph idx="1" type="body"/>
          </p:nvPr>
        </p:nvSpPr>
        <p:spPr>
          <a:xfrm>
            <a:off x="311700" y="1069550"/>
            <a:ext cx="8520600" cy="3110700"/>
          </a:xfrm>
          <a:prstGeom prst="rect">
            <a:avLst/>
          </a:prstGeom>
        </p:spPr>
        <p:txBody>
          <a:bodyPr anchorCtr="0" anchor="t" bIns="91425" lIns="91425" spcFirstLastPara="1" rIns="91425" wrap="square" tIns="91425">
            <a:spAutoFit/>
          </a:bodyPr>
          <a:lstStyle/>
          <a:p>
            <a:pPr indent="-225425" lvl="0" marL="228600" marR="0" rtl="0" algn="just">
              <a:lnSpc>
                <a:spcPct val="130000"/>
              </a:lnSpc>
              <a:spcBef>
                <a:spcPts val="1000"/>
              </a:spcBef>
              <a:spcAft>
                <a:spcPts val="0"/>
              </a:spcAft>
              <a:buClr>
                <a:srgbClr val="CE6948"/>
              </a:buClr>
              <a:buSzPts val="1300"/>
              <a:buFont typeface="Encode Sans"/>
              <a:buChar char="●"/>
            </a:pPr>
            <a:r>
              <a:rPr lang="en-GB">
                <a:solidFill>
                  <a:schemeClr val="dk1"/>
                </a:solidFill>
                <a:latin typeface="Encode Sans"/>
                <a:ea typeface="Encode Sans"/>
                <a:cs typeface="Encode Sans"/>
                <a:sym typeface="Encode Sans"/>
              </a:rPr>
              <a:t>An</a:t>
            </a:r>
            <a:r>
              <a:rPr lang="en-GB">
                <a:solidFill>
                  <a:schemeClr val="dk1"/>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LLM Application that consider as modular should follow the 3 principles as below:</a:t>
            </a:r>
            <a:endParaRPr>
              <a:solidFill>
                <a:schemeClr val="dk1"/>
              </a:solidFill>
              <a:latin typeface="Encode Sans"/>
              <a:ea typeface="Encode Sans"/>
              <a:cs typeface="Encode Sans"/>
              <a:sym typeface="Encode Sans"/>
            </a:endParaRPr>
          </a:p>
          <a:p>
            <a:pPr indent="-225425" lvl="1" marL="571500" marR="0" rtl="0" algn="just">
              <a:lnSpc>
                <a:spcPct val="130000"/>
              </a:lnSpc>
              <a:spcBef>
                <a:spcPts val="100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Single responsibility: </a:t>
            </a:r>
            <a:r>
              <a:rPr lang="en-GB">
                <a:solidFill>
                  <a:schemeClr val="dk1"/>
                </a:solidFill>
                <a:latin typeface="Encode Sans"/>
                <a:ea typeface="Encode Sans"/>
                <a:cs typeface="Encode Sans"/>
                <a:sym typeface="Encode Sans"/>
              </a:rPr>
              <a:t>Each piece should do exactly one job. A function that configures a model shouldn't also handle prompts or parsing. A schema that defines a valid answer shouldn't know how that answer gets generated. A piece with only one reason to change can be changed without affecting anything else.</a:t>
            </a:r>
            <a:endParaRPr>
              <a:solidFill>
                <a:schemeClr val="dk1"/>
              </a:solidFill>
              <a:latin typeface="Encode Sans"/>
              <a:ea typeface="Encode Sans"/>
              <a:cs typeface="Encode Sans"/>
              <a:sym typeface="Encode Sans"/>
            </a:endParaRPr>
          </a:p>
          <a:p>
            <a:pPr indent="-225425" lvl="1" marL="571500" marR="0" rtl="0" algn="just">
              <a:lnSpc>
                <a:spcPct val="130000"/>
              </a:lnSpc>
              <a:spcBef>
                <a:spcPts val="100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Standard interfaces:</a:t>
            </a:r>
            <a:r>
              <a:rPr lang="en-GB">
                <a:solidFill>
                  <a:schemeClr val="dk1"/>
                </a:solidFill>
                <a:latin typeface="Encode Sans"/>
                <a:ea typeface="Encode Sans"/>
                <a:cs typeface="Encode Sans"/>
                <a:sym typeface="Encode Sans"/>
              </a:rPr>
              <a:t> A piece can only be swapped out if the code around it doesn't depend on which specific version it's using. If every model in a system responds to a call the same way, replacing one model with another becomes a one-line change instead of a rewrite.</a:t>
            </a:r>
            <a:endParaRPr>
              <a:solidFill>
                <a:schemeClr val="dk1"/>
              </a:solidFill>
              <a:latin typeface="Encode Sans"/>
              <a:ea typeface="Encode Sans"/>
              <a:cs typeface="Encode Sans"/>
              <a:sym typeface="Encode Sans"/>
            </a:endParaRPr>
          </a:p>
          <a:p>
            <a:pPr indent="-225425" lvl="1" marL="571500" marR="0" rtl="0" algn="just">
              <a:lnSpc>
                <a:spcPct val="130000"/>
              </a:lnSpc>
              <a:spcBef>
                <a:spcPts val="100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Composability: </a:t>
            </a:r>
            <a:r>
              <a:rPr lang="en-GB">
                <a:solidFill>
                  <a:schemeClr val="dk1"/>
                </a:solidFill>
                <a:latin typeface="Encode Sans"/>
                <a:ea typeface="Encode Sans"/>
                <a:cs typeface="Encode Sans"/>
                <a:sym typeface="Encode Sans"/>
              </a:rPr>
              <a:t>Small pieces combine into bigger workflows without extra connecting code, because they already share the same interface. Linking two pieces together, through a pipe, an edge, any connection, works simply because both sides were already built to the same shared format.</a:t>
            </a:r>
            <a:endParaRPr>
              <a:solidFill>
                <a:schemeClr val="dk1"/>
              </a:solidFill>
              <a:latin typeface="Encode Sans"/>
              <a:ea typeface="Encode Sans"/>
              <a:cs typeface="Encode Sans"/>
              <a:sym typeface="Encode Sans"/>
            </a:endParaRPr>
          </a:p>
        </p:txBody>
      </p:sp>
      <p:sp>
        <p:nvSpPr>
          <p:cNvPr id="578" name="Google Shape;578;p7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Modular Workflow Design</a:t>
            </a:r>
            <a:endParaRPr/>
          </a:p>
        </p:txBody>
      </p:sp>
      <p:sp>
        <p:nvSpPr>
          <p:cNvPr id="579" name="Google Shape;579;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73"/>
          <p:cNvSpPr txBox="1"/>
          <p:nvPr>
            <p:ph idx="1" type="body"/>
          </p:nvPr>
        </p:nvSpPr>
        <p:spPr>
          <a:xfrm>
            <a:off x="920500" y="3453036"/>
            <a:ext cx="7551900" cy="130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Three framework for building multi-step LLM workflows, </a:t>
            </a:r>
            <a:r>
              <a:rPr b="1" lang="en-GB"/>
              <a:t>LangChain</a:t>
            </a:r>
            <a:r>
              <a:rPr lang="en-GB"/>
              <a:t> handles linear workflows and prompt orchestration, </a:t>
            </a:r>
            <a:r>
              <a:rPr b="1" lang="en-GB"/>
              <a:t>LangGraph</a:t>
            </a:r>
            <a:r>
              <a:rPr lang="en-GB"/>
              <a:t> manages complex stateful routing and memory, and </a:t>
            </a:r>
            <a:r>
              <a:rPr b="1" lang="en-GB"/>
              <a:t>LlamaIndex</a:t>
            </a:r>
            <a:r>
              <a:rPr lang="en-GB"/>
              <a:t> powers data ingestion and indexing.</a:t>
            </a:r>
            <a:endParaRPr/>
          </a:p>
        </p:txBody>
      </p:sp>
      <p:sp>
        <p:nvSpPr>
          <p:cNvPr id="585" name="Google Shape;585;p73"/>
          <p:cNvSpPr txBox="1"/>
          <p:nvPr>
            <p:ph type="title"/>
          </p:nvPr>
        </p:nvSpPr>
        <p:spPr>
          <a:xfrm>
            <a:off x="920500" y="1267200"/>
            <a:ext cx="2516700" cy="1003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06</a:t>
            </a:r>
            <a:endParaRPr/>
          </a:p>
        </p:txBody>
      </p:sp>
      <p:sp>
        <p:nvSpPr>
          <p:cNvPr id="586" name="Google Shape;586;p73"/>
          <p:cNvSpPr/>
          <p:nvPr/>
        </p:nvSpPr>
        <p:spPr>
          <a:xfrm>
            <a:off x="0" y="-47700"/>
            <a:ext cx="137100" cy="5238900"/>
          </a:xfrm>
          <a:prstGeom prst="rect">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587" name="Google Shape;587;p73"/>
          <p:cNvSpPr txBox="1"/>
          <p:nvPr>
            <p:ph idx="2" type="title"/>
          </p:nvPr>
        </p:nvSpPr>
        <p:spPr>
          <a:xfrm>
            <a:off x="920500" y="2437725"/>
            <a:ext cx="7755900" cy="904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Orchestration</a:t>
            </a:r>
            <a:endParaRPr/>
          </a:p>
          <a:p>
            <a:pPr indent="0" lvl="0" marL="0" rtl="0" algn="l">
              <a:spcBef>
                <a:spcPts val="0"/>
              </a:spcBef>
              <a:spcAft>
                <a:spcPts val="0"/>
              </a:spcAft>
              <a:buNone/>
            </a:pPr>
            <a:r>
              <a:rPr lang="en-GB"/>
              <a:t>Framework</a:t>
            </a:r>
            <a:endParaRPr>
              <a:solidFill>
                <a:srgbClr val="CE6948"/>
              </a:solidFill>
            </a:endParaRPr>
          </a:p>
        </p:txBody>
      </p:sp>
      <p:pic>
        <p:nvPicPr>
          <p:cNvPr id="588" name="Google Shape;588;p73"/>
          <p:cNvPicPr preferRelativeResize="0"/>
          <p:nvPr/>
        </p:nvPicPr>
        <p:blipFill>
          <a:blip r:embed="rId3">
            <a:alphaModFix amt="15000"/>
          </a:blip>
          <a:stretch>
            <a:fillRect/>
          </a:stretch>
        </p:blipFill>
        <p:spPr>
          <a:xfrm>
            <a:off x="7236150" y="3262051"/>
            <a:ext cx="1907850" cy="1907826"/>
          </a:xfrm>
          <a:prstGeom prst="rect">
            <a:avLst/>
          </a:prstGeom>
          <a:noFill/>
          <a:ln>
            <a:noFill/>
          </a:ln>
          <a:effectLst>
            <a:outerShdw blurRad="57150" rotWithShape="0" algn="bl" dir="5400000" dist="19050">
              <a:srgbClr val="000000">
                <a:alpha val="50000"/>
              </a:srgbClr>
            </a:outerShdw>
          </a:effectLst>
        </p:spPr>
      </p:pic>
      <p:pic>
        <p:nvPicPr>
          <p:cNvPr id="589" name="Google Shape;589;p73"/>
          <p:cNvPicPr preferRelativeResize="0"/>
          <p:nvPr/>
        </p:nvPicPr>
        <p:blipFill>
          <a:blip r:embed="rId4">
            <a:alphaModFix amt="30000"/>
          </a:blip>
          <a:stretch>
            <a:fillRect/>
          </a:stretch>
        </p:blipFill>
        <p:spPr>
          <a:xfrm>
            <a:off x="4641575" y="1323425"/>
            <a:ext cx="1003800" cy="1003800"/>
          </a:xfrm>
          <a:prstGeom prst="rect">
            <a:avLst/>
          </a:prstGeom>
          <a:noFill/>
          <a:ln>
            <a:noFill/>
          </a:ln>
        </p:spPr>
      </p:pic>
      <p:sp>
        <p:nvSpPr>
          <p:cNvPr id="590" name="Google Shape;590;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LlamaIndex</a:t>
            </a:r>
            <a:endParaRPr>
              <a:solidFill>
                <a:srgbClr val="CE6948"/>
              </a:solidFill>
            </a:endParaRPr>
          </a:p>
        </p:txBody>
      </p:sp>
      <p:sp>
        <p:nvSpPr>
          <p:cNvPr id="596" name="Google Shape;596;p74"/>
          <p:cNvSpPr txBox="1"/>
          <p:nvPr>
            <p:ph idx="1" type="body"/>
          </p:nvPr>
        </p:nvSpPr>
        <p:spPr>
          <a:xfrm>
            <a:off x="311700" y="1069550"/>
            <a:ext cx="8520600" cy="11652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100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LlamaIndex </a:t>
            </a:r>
            <a:r>
              <a:rPr lang="en-GB">
                <a:solidFill>
                  <a:schemeClr val="dk1"/>
                </a:solidFill>
                <a:latin typeface="Encode Sans"/>
                <a:ea typeface="Encode Sans"/>
                <a:cs typeface="Encode Sans"/>
                <a:sym typeface="Encode Sans"/>
              </a:rPr>
              <a:t>is a data framework designed to connect </a:t>
            </a:r>
            <a:r>
              <a:rPr b="1" lang="en-GB">
                <a:solidFill>
                  <a:srgbClr val="CE6948"/>
                </a:solidFill>
                <a:latin typeface="Encode Sans"/>
                <a:ea typeface="Encode Sans"/>
                <a:cs typeface="Encode Sans"/>
                <a:sym typeface="Encode Sans"/>
              </a:rPr>
              <a:t>custom</a:t>
            </a:r>
            <a:r>
              <a:rPr lang="en-GB">
                <a:solidFill>
                  <a:schemeClr val="dk1"/>
                </a:solidFill>
                <a:latin typeface="Encode Sans"/>
                <a:ea typeface="Encode Sans"/>
                <a:cs typeface="Encode Sans"/>
                <a:sym typeface="Encode Sans"/>
              </a:rPr>
              <a:t> and </a:t>
            </a:r>
            <a:r>
              <a:rPr b="1" lang="en-GB">
                <a:solidFill>
                  <a:srgbClr val="CE6948"/>
                </a:solidFill>
                <a:latin typeface="Encode Sans"/>
                <a:ea typeface="Encode Sans"/>
                <a:cs typeface="Encode Sans"/>
                <a:sym typeface="Encode Sans"/>
              </a:rPr>
              <a:t>private data sources</a:t>
            </a:r>
            <a:r>
              <a:rPr lang="en-GB">
                <a:solidFill>
                  <a:schemeClr val="dk1"/>
                </a:solidFill>
                <a:latin typeface="Encode Sans"/>
                <a:ea typeface="Encode Sans"/>
                <a:cs typeface="Encode Sans"/>
                <a:sym typeface="Encode Sans"/>
              </a:rPr>
              <a:t> (such as PDFs, databases, APIs, and unstructured files) to Large Language Models (LLMs). Its primary purpose is to simplify the end-to-end development of Retrieval-Augmented Generation (RAG) applications, search interfaces, and data-driven AI agents.</a:t>
            </a:r>
            <a:endParaRPr>
              <a:solidFill>
                <a:srgbClr val="434343"/>
              </a:solidFill>
              <a:latin typeface="Encode Sans"/>
              <a:ea typeface="Encode Sans"/>
              <a:cs typeface="Encode Sans"/>
              <a:sym typeface="Encode Sans"/>
            </a:endParaRPr>
          </a:p>
        </p:txBody>
      </p:sp>
      <p:sp>
        <p:nvSpPr>
          <p:cNvPr id="597" name="Google Shape;597;p7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sp>
        <p:nvSpPr>
          <p:cNvPr id="598" name="Google Shape;598;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75"/>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Key Components</a:t>
            </a:r>
            <a:endParaRPr>
              <a:solidFill>
                <a:srgbClr val="CE6948"/>
              </a:solidFill>
            </a:endParaRPr>
          </a:p>
        </p:txBody>
      </p:sp>
      <p:sp>
        <p:nvSpPr>
          <p:cNvPr id="604" name="Google Shape;604;p75"/>
          <p:cNvSpPr txBox="1"/>
          <p:nvPr>
            <p:ph idx="1" type="body"/>
          </p:nvPr>
        </p:nvSpPr>
        <p:spPr>
          <a:xfrm>
            <a:off x="311700" y="1069550"/>
            <a:ext cx="8520600" cy="29862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1000"/>
              </a:spcBef>
              <a:spcAft>
                <a:spcPts val="0"/>
              </a:spcAft>
              <a:buClr>
                <a:srgbClr val="CE6948"/>
              </a:buClr>
              <a:buSzPts val="1000"/>
              <a:buFont typeface="Encode Sans"/>
              <a:buChar char="●"/>
            </a:pPr>
            <a:r>
              <a:rPr lang="en-GB">
                <a:solidFill>
                  <a:schemeClr val="dk1"/>
                </a:solidFill>
                <a:latin typeface="Encode Sans"/>
                <a:ea typeface="Encode Sans"/>
                <a:cs typeface="Encode Sans"/>
                <a:sym typeface="Encode Sans"/>
              </a:rPr>
              <a:t>These five components work together as a pipeline raw data comes in through Data Connectors, gets restructured into Nodes, organized into a searchable Index, and made retrievable through Retrievers and Query Engines.</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rgbClr val="D97757"/>
              </a:buClr>
              <a:buSzPts val="1300"/>
              <a:buFont typeface="Arial"/>
              <a:buChar char="○"/>
            </a:pPr>
            <a:r>
              <a:rPr b="1" lang="en-GB">
                <a:solidFill>
                  <a:srgbClr val="D97757"/>
                </a:solidFill>
                <a:latin typeface="Encode Sans"/>
                <a:ea typeface="Encode Sans"/>
                <a:cs typeface="Encode Sans"/>
                <a:sym typeface="Encode Sans"/>
              </a:rPr>
              <a:t>Data Connectors:</a:t>
            </a:r>
            <a:r>
              <a:rPr lang="en-GB">
                <a:solidFill>
                  <a:schemeClr val="dk1"/>
                </a:solidFill>
                <a:latin typeface="Encode Sans"/>
                <a:ea typeface="Encode Sans"/>
                <a:cs typeface="Encode Sans"/>
                <a:sym typeface="Encode Sans"/>
              </a:rPr>
              <a:t> Ingest raw data from diverse sources (PDFs, SQL databases, cloud storage, API endpoints) and convert it into standardized </a:t>
            </a:r>
            <a:r>
              <a:rPr lang="en-GB">
                <a:solidFill>
                  <a:srgbClr val="188038"/>
                </a:solidFill>
                <a:latin typeface="Encode Sans"/>
                <a:ea typeface="Encode Sans"/>
                <a:cs typeface="Encode Sans"/>
                <a:sym typeface="Encode Sans"/>
              </a:rPr>
              <a:t>Document</a:t>
            </a:r>
            <a:r>
              <a:rPr lang="en-GB">
                <a:solidFill>
                  <a:schemeClr val="dk1"/>
                </a:solidFill>
                <a:latin typeface="Encode Sans"/>
                <a:ea typeface="Encode Sans"/>
                <a:cs typeface="Encode Sans"/>
                <a:sym typeface="Encode Sans"/>
              </a:rPr>
              <a:t> objects while extracting basic text and metadata.</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rgbClr val="D97757"/>
              </a:buClr>
              <a:buSzPts val="1300"/>
              <a:buFont typeface="Arial"/>
              <a:buChar char="○"/>
            </a:pPr>
            <a:r>
              <a:rPr b="1" lang="en-GB">
                <a:solidFill>
                  <a:srgbClr val="D97757"/>
                </a:solidFill>
                <a:latin typeface="Encode Sans"/>
                <a:ea typeface="Encode Sans"/>
                <a:cs typeface="Encode Sans"/>
                <a:sym typeface="Encode Sans"/>
              </a:rPr>
              <a:t>Nodes:</a:t>
            </a:r>
            <a:r>
              <a:rPr lang="en-GB">
                <a:solidFill>
                  <a:schemeClr val="dk1"/>
                </a:solidFill>
                <a:latin typeface="Encode Sans"/>
                <a:ea typeface="Encode Sans"/>
                <a:cs typeface="Encode Sans"/>
                <a:sym typeface="Encode Sans"/>
              </a:rPr>
              <a:t> Chunked, structured fragments derived from </a:t>
            </a:r>
            <a:r>
              <a:rPr lang="en-GB">
                <a:solidFill>
                  <a:srgbClr val="188038"/>
                </a:solidFill>
                <a:latin typeface="Encode Sans"/>
                <a:ea typeface="Encode Sans"/>
                <a:cs typeface="Encode Sans"/>
                <a:sym typeface="Encode Sans"/>
              </a:rPr>
              <a:t>Document</a:t>
            </a:r>
            <a:r>
              <a:rPr lang="en-GB">
                <a:solidFill>
                  <a:schemeClr val="dk1"/>
                </a:solidFill>
                <a:latin typeface="Encode Sans"/>
                <a:ea typeface="Encode Sans"/>
                <a:cs typeface="Encode Sans"/>
                <a:sym typeface="Encode Sans"/>
              </a:rPr>
              <a:t> objects. They represent the fundamental atomic units of data stored, embedded, and fetched during a query, maintaining relationships to parent documents and adjacent chunks.</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rgbClr val="D97757"/>
              </a:buClr>
              <a:buSzPts val="1300"/>
              <a:buFont typeface="Arial"/>
              <a:buChar char="○"/>
            </a:pPr>
            <a:r>
              <a:rPr b="1" lang="en-GB">
                <a:solidFill>
                  <a:srgbClr val="D97757"/>
                </a:solidFill>
                <a:latin typeface="Encode Sans"/>
                <a:ea typeface="Encode Sans"/>
                <a:cs typeface="Encode Sans"/>
                <a:sym typeface="Encode Sans"/>
              </a:rPr>
              <a:t>Indices:</a:t>
            </a:r>
            <a:r>
              <a:rPr lang="en-GB">
                <a:solidFill>
                  <a:schemeClr val="dk1"/>
                </a:solidFill>
                <a:latin typeface="Encode Sans"/>
                <a:ea typeface="Encode Sans"/>
                <a:cs typeface="Encode Sans"/>
                <a:sym typeface="Encode Sans"/>
              </a:rPr>
              <a:t> Searchable data structures that organize Nodes to enable efficient retrieval. They structure data based on the intended search pattern, such as vector indices for semantic similarity, keyword indices for exact matching, or summary structures for hierarchical analysis.</a:t>
            </a:r>
            <a:endParaRPr sz="1500">
              <a:solidFill>
                <a:schemeClr val="dk1"/>
              </a:solidFill>
              <a:latin typeface="Encode Sans"/>
              <a:ea typeface="Encode Sans"/>
              <a:cs typeface="Encode Sans"/>
              <a:sym typeface="Encode Sans"/>
            </a:endParaRPr>
          </a:p>
        </p:txBody>
      </p:sp>
      <p:sp>
        <p:nvSpPr>
          <p:cNvPr id="605" name="Google Shape;605;p75"/>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sp>
        <p:nvSpPr>
          <p:cNvPr id="606" name="Google Shape;606;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6"/>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Key Components (cont)</a:t>
            </a:r>
            <a:endParaRPr>
              <a:solidFill>
                <a:srgbClr val="CE6948"/>
              </a:solidFill>
            </a:endParaRPr>
          </a:p>
        </p:txBody>
      </p:sp>
      <p:sp>
        <p:nvSpPr>
          <p:cNvPr id="612" name="Google Shape;612;p76"/>
          <p:cNvSpPr txBox="1"/>
          <p:nvPr>
            <p:ph idx="1" type="body"/>
          </p:nvPr>
        </p:nvSpPr>
        <p:spPr>
          <a:xfrm>
            <a:off x="311700" y="1069550"/>
            <a:ext cx="8520600" cy="1685400"/>
          </a:xfrm>
          <a:prstGeom prst="rect">
            <a:avLst/>
          </a:prstGeom>
        </p:spPr>
        <p:txBody>
          <a:bodyPr anchorCtr="0" anchor="t" bIns="91425" lIns="91425" spcFirstLastPara="1" rIns="91425" wrap="square" tIns="91425">
            <a:spAutoFit/>
          </a:bodyPr>
          <a:lstStyle/>
          <a:p>
            <a:pPr indent="-225425" lvl="1" marL="571500" rtl="0" algn="l">
              <a:lnSpc>
                <a:spcPct val="130000"/>
              </a:lnSpc>
              <a:spcBef>
                <a:spcPts val="0"/>
              </a:spcBef>
              <a:spcAft>
                <a:spcPts val="0"/>
              </a:spcAft>
              <a:buClr>
                <a:srgbClr val="D97757"/>
              </a:buClr>
              <a:buSzPts val="1300"/>
              <a:buFont typeface="Arial"/>
              <a:buChar char="○"/>
            </a:pPr>
            <a:r>
              <a:rPr b="1" lang="en-GB">
                <a:solidFill>
                  <a:srgbClr val="D97757"/>
                </a:solidFill>
                <a:latin typeface="Encode Sans"/>
                <a:ea typeface="Encode Sans"/>
                <a:cs typeface="Encode Sans"/>
                <a:sym typeface="Encode Sans"/>
              </a:rPr>
              <a:t>Retrievers:</a:t>
            </a:r>
            <a:r>
              <a:rPr lang="en-GB">
                <a:solidFill>
                  <a:schemeClr val="dk1"/>
                </a:solidFill>
                <a:latin typeface="Encode Sans"/>
                <a:ea typeface="Encode Sans"/>
                <a:cs typeface="Encode Sans"/>
                <a:sym typeface="Encode Sans"/>
              </a:rPr>
              <a:t> Query execution modules that select the most relevant Nodes from an index. They apply specific search strategies based on the index type, including vector embedding comparisons, keyword filtering, BM25 matching, or hybrid approaches.</a:t>
            </a:r>
            <a:endParaRPr>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Arial"/>
              <a:buChar char="○"/>
            </a:pPr>
            <a:r>
              <a:rPr b="1" lang="en-GB">
                <a:solidFill>
                  <a:srgbClr val="D97757"/>
                </a:solidFill>
                <a:latin typeface="Encode Sans"/>
                <a:ea typeface="Encode Sans"/>
                <a:cs typeface="Encode Sans"/>
                <a:sym typeface="Encode Sans"/>
              </a:rPr>
              <a:t>Query Engines:</a:t>
            </a:r>
            <a:r>
              <a:rPr lang="en-GB">
                <a:solidFill>
                  <a:schemeClr val="dk1"/>
                </a:solidFill>
                <a:latin typeface="Encode Sans"/>
                <a:ea typeface="Encode Sans"/>
                <a:cs typeface="Encode Sans"/>
                <a:sym typeface="Encode Sans"/>
              </a:rPr>
              <a:t> Top-level pipeline orchestrators that manage the full RAG interaction. They route the user's prompt to the Retriever, collect the returned context Nodes, optionally perform post-processing (like reranking), and prompt the LLM to generate a grounded response.</a:t>
            </a:r>
            <a:endParaRPr sz="1500">
              <a:solidFill>
                <a:schemeClr val="dk1"/>
              </a:solidFill>
              <a:latin typeface="Encode Sans"/>
              <a:ea typeface="Encode Sans"/>
              <a:cs typeface="Encode Sans"/>
              <a:sym typeface="Encode Sans"/>
            </a:endParaRPr>
          </a:p>
        </p:txBody>
      </p:sp>
      <p:sp>
        <p:nvSpPr>
          <p:cNvPr id="613" name="Google Shape;613;p76"/>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sp>
        <p:nvSpPr>
          <p:cNvPr id="614" name="Google Shape;614;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Key Components (cont)</a:t>
            </a:r>
            <a:endParaRPr>
              <a:solidFill>
                <a:srgbClr val="CE6948"/>
              </a:solidFill>
            </a:endParaRPr>
          </a:p>
        </p:txBody>
      </p:sp>
      <p:sp>
        <p:nvSpPr>
          <p:cNvPr id="620" name="Google Shape;620;p7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pic>
        <p:nvPicPr>
          <p:cNvPr id="621" name="Google Shape;621;p77" title="LlamaIndex Explainer.mp4">
            <a:hlinkClick r:id="rId3"/>
          </p:cNvPr>
          <p:cNvPicPr preferRelativeResize="0"/>
          <p:nvPr/>
        </p:nvPicPr>
        <p:blipFill>
          <a:blip r:embed="rId4">
            <a:alphaModFix/>
          </a:blip>
          <a:stretch>
            <a:fillRect/>
          </a:stretch>
        </p:blipFill>
        <p:spPr>
          <a:xfrm>
            <a:off x="934538" y="746550"/>
            <a:ext cx="7274931" cy="4092149"/>
          </a:xfrm>
          <a:prstGeom prst="rect">
            <a:avLst/>
          </a:prstGeom>
          <a:noFill/>
          <a:ln>
            <a:noFill/>
          </a:ln>
        </p:spPr>
      </p:pic>
      <p:sp>
        <p:nvSpPr>
          <p:cNvPr id="622" name="Google Shape;622;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1000"/>
                                        <p:tgtEl>
                                          <p:spTgt spid="621"/>
                                        </p:tgtEl>
                                      </p:cBhvr>
                                    </p:animEffect>
                                  </p:childTnLst>
                                </p:cTn>
                              </p:par>
                              <p:par>
                                <p:cTn fill="hold" nodeType="with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1000"/>
                                        <p:tgtEl>
                                          <p:spTgt spid="6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78"/>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Document Ingestion Workflow with LlamaIndex</a:t>
            </a:r>
            <a:endParaRPr>
              <a:solidFill>
                <a:srgbClr val="CE6948"/>
              </a:solidFill>
            </a:endParaRPr>
          </a:p>
        </p:txBody>
      </p:sp>
      <p:sp>
        <p:nvSpPr>
          <p:cNvPr id="628" name="Google Shape;628;p78"/>
          <p:cNvSpPr txBox="1"/>
          <p:nvPr>
            <p:ph idx="1" type="body"/>
          </p:nvPr>
        </p:nvSpPr>
        <p:spPr>
          <a:xfrm>
            <a:off x="311700" y="1069550"/>
            <a:ext cx="8520600" cy="3506400"/>
          </a:xfrm>
          <a:prstGeom prst="rect">
            <a:avLst/>
          </a:prstGeom>
        </p:spPr>
        <p:txBody>
          <a:bodyPr anchorCtr="0" anchor="t" bIns="91425" lIns="91425" spcFirstLastPara="1" rIns="91425" wrap="square" tIns="91425">
            <a:spAutoFit/>
          </a:bodyPr>
          <a:lstStyle/>
          <a:p>
            <a:pPr indent="-311150" lvl="0" marL="457200" rtl="0" algn="l">
              <a:lnSpc>
                <a:spcPct val="130000"/>
              </a:lnSpc>
              <a:spcBef>
                <a:spcPts val="0"/>
              </a:spcBef>
              <a:spcAft>
                <a:spcPts val="0"/>
              </a:spcAft>
              <a:buClr>
                <a:srgbClr val="CE6948"/>
              </a:buClr>
              <a:buSzPts val="1300"/>
              <a:buFont typeface="Arial"/>
              <a:buChar char="●"/>
            </a:pPr>
            <a:r>
              <a:rPr lang="en-GB">
                <a:solidFill>
                  <a:schemeClr val="dk1"/>
                </a:solidFill>
                <a:latin typeface="Encode Sans"/>
                <a:ea typeface="Encode Sans"/>
                <a:cs typeface="Encode Sans"/>
                <a:sym typeface="Encode Sans"/>
              </a:rPr>
              <a:t>Document ingestion is the offline half of the workflow, three stages that turn raw files into a queryable index before any user ever asks a question.</a:t>
            </a:r>
            <a:endParaRPr>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Arial"/>
              <a:buChar char="○"/>
            </a:pPr>
            <a:r>
              <a:rPr b="1" lang="en-GB">
                <a:solidFill>
                  <a:srgbClr val="D97757"/>
                </a:solidFill>
                <a:latin typeface="Encode Sans"/>
                <a:ea typeface="Encode Sans"/>
                <a:cs typeface="Encode Sans"/>
                <a:sym typeface="Encode Sans"/>
              </a:rPr>
              <a:t>Loading:</a:t>
            </a:r>
            <a:r>
              <a:rPr lang="en-GB">
                <a:solidFill>
                  <a:schemeClr val="dk1"/>
                </a:solidFill>
                <a:latin typeface="Encode Sans"/>
                <a:ea typeface="Encode Sans"/>
                <a:cs typeface="Encode Sans"/>
                <a:sym typeface="Encode Sans"/>
              </a:rPr>
              <a:t> Connectors fetch your raw files (PDFs, databases, web pages, APIs) and convert them all into a standard</a:t>
            </a:r>
            <a:r>
              <a:rPr b="1" lang="en-GB">
                <a:solidFill>
                  <a:srgbClr val="D97757"/>
                </a:solidFill>
                <a:latin typeface="Encode Sans"/>
                <a:ea typeface="Encode Sans"/>
                <a:cs typeface="Encode Sans"/>
                <a:sym typeface="Encode Sans"/>
              </a:rPr>
              <a:t> "Document"</a:t>
            </a:r>
            <a:r>
              <a:rPr lang="en-GB">
                <a:solidFill>
                  <a:schemeClr val="dk1"/>
                </a:solidFill>
                <a:latin typeface="Encode Sans"/>
                <a:ea typeface="Encode Sans"/>
                <a:cs typeface="Encode Sans"/>
                <a:sym typeface="Encode Sans"/>
              </a:rPr>
              <a:t> format.</a:t>
            </a:r>
            <a:endParaRPr>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Arial"/>
              <a:buChar char="○"/>
            </a:pPr>
            <a:r>
              <a:rPr b="1" lang="en-GB">
                <a:solidFill>
                  <a:srgbClr val="D97757"/>
                </a:solidFill>
                <a:latin typeface="Encode Sans"/>
                <a:ea typeface="Encode Sans"/>
                <a:cs typeface="Encode Sans"/>
                <a:sym typeface="Encode Sans"/>
              </a:rPr>
              <a:t>Transformations:</a:t>
            </a:r>
            <a:r>
              <a:rPr lang="en-GB">
                <a:solidFill>
                  <a:schemeClr val="dk1"/>
                </a:solidFill>
                <a:latin typeface="Encode Sans"/>
                <a:ea typeface="Encode Sans"/>
                <a:cs typeface="Encode Sans"/>
                <a:sym typeface="Encode Sans"/>
              </a:rPr>
              <a:t> </a:t>
            </a:r>
            <a:endParaRPr>
              <a:solidFill>
                <a:schemeClr val="dk1"/>
              </a:solidFill>
              <a:latin typeface="Encode Sans"/>
              <a:ea typeface="Encode Sans"/>
              <a:cs typeface="Encode Sans"/>
              <a:sym typeface="Encode Sans"/>
            </a:endParaRPr>
          </a:p>
          <a:p>
            <a:pPr indent="-311150" lvl="2" marL="990001" marR="0" rtl="0" algn="l">
              <a:lnSpc>
                <a:spcPct val="130000"/>
              </a:lnSpc>
              <a:spcBef>
                <a:spcPts val="0"/>
              </a:spcBef>
              <a:spcAft>
                <a:spcPts val="0"/>
              </a:spcAft>
              <a:buClr>
                <a:srgbClr val="D97757"/>
              </a:buClr>
              <a:buSzPts val="1300"/>
              <a:buFont typeface="Arial"/>
              <a:buChar char="■"/>
            </a:pPr>
            <a:r>
              <a:rPr lang="en-GB">
                <a:solidFill>
                  <a:schemeClr val="dk1"/>
                </a:solidFill>
                <a:latin typeface="Encode Sans"/>
                <a:ea typeface="Encode Sans"/>
                <a:cs typeface="Encode Sans"/>
                <a:sym typeface="Encode Sans"/>
              </a:rPr>
              <a:t>Documents are split into </a:t>
            </a:r>
            <a:r>
              <a:rPr b="1" lang="en-GB">
                <a:solidFill>
                  <a:srgbClr val="D97757"/>
                </a:solidFill>
                <a:latin typeface="Encode Sans"/>
                <a:ea typeface="Encode Sans"/>
                <a:cs typeface="Encode Sans"/>
                <a:sym typeface="Encode Sans"/>
              </a:rPr>
              <a:t>Nodes</a:t>
            </a:r>
            <a:r>
              <a:rPr lang="en-GB">
                <a:solidFill>
                  <a:schemeClr val="dk1"/>
                </a:solidFill>
                <a:latin typeface="Encode Sans"/>
                <a:ea typeface="Encode Sans"/>
                <a:cs typeface="Encode Sans"/>
                <a:sym typeface="Encode Sans"/>
              </a:rPr>
              <a:t> by a Node Parser. </a:t>
            </a:r>
            <a:endParaRPr>
              <a:solidFill>
                <a:schemeClr val="dk1"/>
              </a:solidFill>
              <a:latin typeface="Encode Sans"/>
              <a:ea typeface="Encode Sans"/>
              <a:cs typeface="Encode Sans"/>
              <a:sym typeface="Encode Sans"/>
            </a:endParaRPr>
          </a:p>
          <a:p>
            <a:pPr indent="-311150" lvl="2" marL="990001" marR="0" rtl="0" algn="l">
              <a:lnSpc>
                <a:spcPct val="130000"/>
              </a:lnSpc>
              <a:spcBef>
                <a:spcPts val="0"/>
              </a:spcBef>
              <a:spcAft>
                <a:spcPts val="0"/>
              </a:spcAft>
              <a:buClr>
                <a:srgbClr val="D97757"/>
              </a:buClr>
              <a:buSzPts val="1300"/>
              <a:buFont typeface="Arial"/>
              <a:buChar char="■"/>
            </a:pPr>
            <a:r>
              <a:rPr b="1" lang="en-GB">
                <a:solidFill>
                  <a:srgbClr val="D97757"/>
                </a:solidFill>
                <a:latin typeface="Encode Sans"/>
                <a:ea typeface="Encode Sans"/>
                <a:cs typeface="Encode Sans"/>
                <a:sym typeface="Encode Sans"/>
              </a:rPr>
              <a:t>Metadata extraction</a:t>
            </a:r>
            <a:r>
              <a:rPr lang="en-GB">
                <a:solidFill>
                  <a:schemeClr val="dk1"/>
                </a:solidFill>
                <a:latin typeface="Encode Sans"/>
                <a:ea typeface="Encode Sans"/>
                <a:cs typeface="Encode Sans"/>
                <a:sym typeface="Encode Sans"/>
              </a:rPr>
              <a:t> and </a:t>
            </a:r>
            <a:r>
              <a:rPr b="1" lang="en-GB">
                <a:solidFill>
                  <a:srgbClr val="D97757"/>
                </a:solidFill>
                <a:latin typeface="Encode Sans"/>
                <a:ea typeface="Encode Sans"/>
                <a:cs typeface="Encode Sans"/>
                <a:sym typeface="Encode Sans"/>
              </a:rPr>
              <a:t>Embedding</a:t>
            </a:r>
            <a:r>
              <a:rPr lang="en-GB">
                <a:solidFill>
                  <a:schemeClr val="dk1"/>
                </a:solidFill>
                <a:latin typeface="Encode Sans"/>
                <a:ea typeface="Encode Sans"/>
                <a:cs typeface="Encode Sans"/>
                <a:sym typeface="Encode Sans"/>
              </a:rPr>
              <a:t> are both optional, embedding specifically is only needed if the Index ahead relies on semantic search.</a:t>
            </a:r>
            <a:endParaRPr>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Arial"/>
              <a:buChar char="○"/>
            </a:pPr>
            <a:r>
              <a:rPr b="1" lang="en-GB">
                <a:solidFill>
                  <a:srgbClr val="D97757"/>
                </a:solidFill>
                <a:latin typeface="Encode Sans"/>
                <a:ea typeface="Encode Sans"/>
                <a:cs typeface="Encode Sans"/>
                <a:sym typeface="Encode Sans"/>
              </a:rPr>
              <a:t>Indexing:</a:t>
            </a:r>
            <a:r>
              <a:rPr lang="en-GB">
                <a:solidFill>
                  <a:schemeClr val="dk1"/>
                </a:solidFill>
                <a:latin typeface="Encode Sans"/>
                <a:ea typeface="Encode Sans"/>
                <a:cs typeface="Encode Sans"/>
                <a:sym typeface="Encode Sans"/>
              </a:rPr>
              <a:t> The resulting Nodes are organized into an Index shaped for the intended search pattern, semantic similarity, keyword matching, or summary, depending on the index type chosen. </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rgbClr val="D97757"/>
              </a:buClr>
              <a:buSzPts val="1300"/>
              <a:buFont typeface="Arial"/>
              <a:buChar char="○"/>
            </a:pPr>
            <a:r>
              <a:rPr b="1" lang="en-GB">
                <a:solidFill>
                  <a:srgbClr val="D97757"/>
                </a:solidFill>
                <a:latin typeface="Encode Sans"/>
                <a:ea typeface="Encode Sans"/>
                <a:cs typeface="Encode Sans"/>
                <a:sym typeface="Encode Sans"/>
              </a:rPr>
              <a:t>Persisting &amp; Loading Data:</a:t>
            </a:r>
            <a:r>
              <a:rPr lang="en-GB">
                <a:solidFill>
                  <a:schemeClr val="dk1"/>
                </a:solidFill>
                <a:latin typeface="Encode Sans"/>
                <a:ea typeface="Encode Sans"/>
                <a:cs typeface="Encode Sans"/>
                <a:sym typeface="Encode Sans"/>
              </a:rPr>
              <a:t> The finished Index is saved to a disk or database based on your index type, so your system doesn't have to reprocess all your data every time the app launches. This completes the data ingestion process.</a:t>
            </a:r>
            <a:endParaRPr>
              <a:solidFill>
                <a:schemeClr val="dk1"/>
              </a:solidFill>
              <a:latin typeface="Encode Sans"/>
              <a:ea typeface="Encode Sans"/>
              <a:cs typeface="Encode Sans"/>
              <a:sym typeface="Encode Sans"/>
            </a:endParaRPr>
          </a:p>
        </p:txBody>
      </p:sp>
      <p:sp>
        <p:nvSpPr>
          <p:cNvPr id="629" name="Google Shape;629;p78"/>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sp>
        <p:nvSpPr>
          <p:cNvPr id="630" name="Google Shape;630;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79"/>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Required Package</a:t>
            </a:r>
            <a:endParaRPr>
              <a:solidFill>
                <a:srgbClr val="CE6948"/>
              </a:solidFill>
            </a:endParaRPr>
          </a:p>
        </p:txBody>
      </p:sp>
      <p:sp>
        <p:nvSpPr>
          <p:cNvPr id="636" name="Google Shape;636;p79"/>
          <p:cNvSpPr txBox="1"/>
          <p:nvPr>
            <p:ph idx="1" type="body"/>
          </p:nvPr>
        </p:nvSpPr>
        <p:spPr>
          <a:xfrm>
            <a:off x="311700" y="1069550"/>
            <a:ext cx="8520600" cy="3506400"/>
          </a:xfrm>
          <a:prstGeom prst="rect">
            <a:avLst/>
          </a:prstGeom>
        </p:spPr>
        <p:txBody>
          <a:bodyPr anchorCtr="0" anchor="t" bIns="91425" lIns="91425" spcFirstLastPara="1" rIns="91425" wrap="square" tIns="91425">
            <a:spAutoFit/>
          </a:bodyPr>
          <a:lstStyle/>
          <a:p>
            <a:pPr indent="-311150" lvl="0" marL="457200" marR="0" rtl="0" algn="l">
              <a:lnSpc>
                <a:spcPct val="130000"/>
              </a:lnSpc>
              <a:spcBef>
                <a:spcPts val="0"/>
              </a:spcBef>
              <a:spcAft>
                <a:spcPts val="0"/>
              </a:spcAft>
              <a:buClr>
                <a:srgbClr val="D97757"/>
              </a:buClr>
              <a:buSzPts val="1300"/>
              <a:buFont typeface="Arial"/>
              <a:buChar char="●"/>
            </a:pPr>
            <a:r>
              <a:rPr lang="en-GB">
                <a:solidFill>
                  <a:schemeClr val="dk1"/>
                </a:solidFill>
                <a:latin typeface="Encode Sans"/>
                <a:ea typeface="Encode Sans"/>
                <a:cs typeface="Encode Sans"/>
                <a:sym typeface="Encode Sans"/>
              </a:rPr>
              <a:t>These are the minimum package you need to install to get your LlamaIndex working</a:t>
            </a:r>
            <a:endParaRPr>
              <a:solidFill>
                <a:schemeClr val="dk1"/>
              </a:solidFill>
              <a:latin typeface="Encode Sans"/>
              <a:ea typeface="Encode Sans"/>
              <a:cs typeface="Encode Sans"/>
              <a:sym typeface="Encode Sans"/>
            </a:endParaRPr>
          </a:p>
          <a:p>
            <a:pPr indent="0" lvl="0" marL="457200" marR="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457200" marR="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457200" marR="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457200" marR="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457200" marR="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0" marR="0" rtl="0" algn="l">
              <a:lnSpc>
                <a:spcPct val="130000"/>
              </a:lnSpc>
              <a:spcBef>
                <a:spcPts val="0"/>
              </a:spcBef>
              <a:spcAft>
                <a:spcPts val="0"/>
              </a:spcAft>
              <a:buNone/>
            </a:pPr>
            <a:r>
              <a:t/>
            </a:r>
            <a:endParaRPr>
              <a:solidFill>
                <a:srgbClr val="D97757"/>
              </a:solidFill>
              <a:latin typeface="Encode Sans"/>
              <a:ea typeface="Encode Sans"/>
              <a:cs typeface="Encode Sans"/>
              <a:sym typeface="Encode Sans"/>
            </a:endParaRPr>
          </a:p>
          <a:p>
            <a:pPr indent="-311150" lvl="0" marL="914400" marR="0" rtl="0" algn="l">
              <a:lnSpc>
                <a:spcPct val="130000"/>
              </a:lnSpc>
              <a:spcBef>
                <a:spcPts val="0"/>
              </a:spcBef>
              <a:spcAft>
                <a:spcPts val="0"/>
              </a:spcAft>
              <a:buClr>
                <a:srgbClr val="D97757"/>
              </a:buClr>
              <a:buSzPts val="1300"/>
              <a:buFont typeface="Encode Sans"/>
              <a:buChar char="○"/>
            </a:pPr>
            <a:r>
              <a:rPr lang="en-GB">
                <a:solidFill>
                  <a:srgbClr val="CC0000"/>
                </a:solidFill>
                <a:latin typeface="Encode Sans"/>
                <a:ea typeface="Encode Sans"/>
                <a:cs typeface="Encode Sans"/>
                <a:sym typeface="Encode Sans"/>
              </a:rPr>
              <a:t>llama-index-core</a:t>
            </a:r>
            <a:r>
              <a:rPr lang="en-GB">
                <a:solidFill>
                  <a:schemeClr val="dk1"/>
                </a:solidFill>
                <a:latin typeface="Encode Sans"/>
                <a:ea typeface="Encode Sans"/>
                <a:cs typeface="Encode Sans"/>
                <a:sym typeface="Encode Sans"/>
              </a:rPr>
              <a:t> - the framework itself</a:t>
            </a:r>
            <a:endParaRPr>
              <a:solidFill>
                <a:schemeClr val="dk1"/>
              </a:solidFill>
              <a:latin typeface="Encode Sans"/>
              <a:ea typeface="Encode Sans"/>
              <a:cs typeface="Encode Sans"/>
              <a:sym typeface="Encode Sans"/>
            </a:endParaRPr>
          </a:p>
          <a:p>
            <a:pPr indent="-311150" lvl="0" marL="914400" marR="0" rtl="0" algn="l">
              <a:lnSpc>
                <a:spcPct val="130000"/>
              </a:lnSpc>
              <a:spcBef>
                <a:spcPts val="0"/>
              </a:spcBef>
              <a:spcAft>
                <a:spcPts val="0"/>
              </a:spcAft>
              <a:buClr>
                <a:srgbClr val="D97757"/>
              </a:buClr>
              <a:buSzPts val="1300"/>
              <a:buFont typeface="Encode Sans"/>
              <a:buChar char="○"/>
            </a:pPr>
            <a:r>
              <a:rPr lang="en-GB">
                <a:solidFill>
                  <a:srgbClr val="CC0000"/>
                </a:solidFill>
                <a:latin typeface="Encode Sans"/>
                <a:ea typeface="Encode Sans"/>
                <a:cs typeface="Encode Sans"/>
                <a:sym typeface="Encode Sans"/>
              </a:rPr>
              <a:t>llama-index-llms-openai-like</a:t>
            </a:r>
            <a:r>
              <a:rPr lang="en-GB">
                <a:solidFill>
                  <a:schemeClr val="dk1"/>
                </a:solidFill>
                <a:latin typeface="Encode Sans"/>
                <a:ea typeface="Encode Sans"/>
                <a:cs typeface="Encode Sans"/>
                <a:sym typeface="Encode Sans"/>
              </a:rPr>
              <a:t> - lets </a:t>
            </a:r>
            <a:r>
              <a:rPr lang="en-GB">
                <a:solidFill>
                  <a:srgbClr val="CC0000"/>
                </a:solidFill>
                <a:latin typeface="Encode Sans"/>
                <a:ea typeface="Encode Sans"/>
                <a:cs typeface="Encode Sans"/>
                <a:sym typeface="Encode Sans"/>
              </a:rPr>
              <a:t>Settings.llm</a:t>
            </a:r>
            <a:r>
              <a:rPr lang="en-GB">
                <a:solidFill>
                  <a:schemeClr val="dk1"/>
                </a:solidFill>
                <a:latin typeface="Encode Sans"/>
                <a:ea typeface="Encode Sans"/>
                <a:cs typeface="Encode Sans"/>
                <a:sym typeface="Encode Sans"/>
              </a:rPr>
              <a:t> talk to vLLM's </a:t>
            </a:r>
            <a:r>
              <a:rPr lang="en-GB">
                <a:solidFill>
                  <a:srgbClr val="CC0000"/>
                </a:solidFill>
                <a:latin typeface="Encode Sans"/>
                <a:ea typeface="Encode Sans"/>
                <a:cs typeface="Encode Sans"/>
                <a:sym typeface="Encode Sans"/>
              </a:rPr>
              <a:t>/v1/chat/completions</a:t>
            </a:r>
            <a:r>
              <a:rPr lang="en-GB">
                <a:solidFill>
                  <a:schemeClr val="dk1"/>
                </a:solidFill>
                <a:latin typeface="Encode Sans"/>
                <a:ea typeface="Encode Sans"/>
                <a:cs typeface="Encode Sans"/>
                <a:sym typeface="Encode Sans"/>
              </a:rPr>
              <a:t> endpoint</a:t>
            </a:r>
            <a:endParaRPr>
              <a:solidFill>
                <a:schemeClr val="dk1"/>
              </a:solidFill>
              <a:latin typeface="Encode Sans"/>
              <a:ea typeface="Encode Sans"/>
              <a:cs typeface="Encode Sans"/>
              <a:sym typeface="Encode Sans"/>
            </a:endParaRPr>
          </a:p>
          <a:p>
            <a:pPr indent="-311150" lvl="0" marL="914400" marR="0" rtl="0" algn="l">
              <a:lnSpc>
                <a:spcPct val="130000"/>
              </a:lnSpc>
              <a:spcBef>
                <a:spcPts val="0"/>
              </a:spcBef>
              <a:spcAft>
                <a:spcPts val="0"/>
              </a:spcAft>
              <a:buClr>
                <a:srgbClr val="D97757"/>
              </a:buClr>
              <a:buSzPts val="1300"/>
              <a:buFont typeface="Encode Sans"/>
              <a:buChar char="○"/>
            </a:pPr>
            <a:r>
              <a:rPr lang="en-GB">
                <a:solidFill>
                  <a:srgbClr val="CC0000"/>
                </a:solidFill>
                <a:latin typeface="Encode Sans"/>
                <a:ea typeface="Encode Sans"/>
                <a:cs typeface="Encode Sans"/>
                <a:sym typeface="Encode Sans"/>
              </a:rPr>
              <a:t>llama-index-embeddings-openai-like</a:t>
            </a:r>
            <a:r>
              <a:rPr lang="en-GB">
                <a:solidFill>
                  <a:schemeClr val="dk1"/>
                </a:solidFill>
                <a:latin typeface="Encode Sans"/>
                <a:ea typeface="Encode Sans"/>
                <a:cs typeface="Encode Sans"/>
                <a:sym typeface="Encode Sans"/>
              </a:rPr>
              <a:t> - lets</a:t>
            </a:r>
            <a:r>
              <a:rPr lang="en-GB">
                <a:solidFill>
                  <a:srgbClr val="CC0000"/>
                </a:solidFill>
                <a:latin typeface="Encode Sans"/>
                <a:ea typeface="Encode Sans"/>
                <a:cs typeface="Encode Sans"/>
                <a:sym typeface="Encode Sans"/>
              </a:rPr>
              <a:t> Settings.embed_model</a:t>
            </a:r>
            <a:r>
              <a:rPr lang="en-GB">
                <a:solidFill>
                  <a:schemeClr val="dk1"/>
                </a:solidFill>
                <a:latin typeface="Encode Sans"/>
                <a:ea typeface="Encode Sans"/>
                <a:cs typeface="Encode Sans"/>
                <a:sym typeface="Encode Sans"/>
              </a:rPr>
              <a:t> talk to vLLM's</a:t>
            </a:r>
            <a:r>
              <a:rPr lang="en-GB">
                <a:solidFill>
                  <a:srgbClr val="CC0000"/>
                </a:solidFill>
                <a:latin typeface="Encode Sans"/>
                <a:ea typeface="Encode Sans"/>
                <a:cs typeface="Encode Sans"/>
                <a:sym typeface="Encode Sans"/>
              </a:rPr>
              <a:t> /v1/embeddings endpoint</a:t>
            </a:r>
            <a:endParaRPr>
              <a:solidFill>
                <a:schemeClr val="dk1"/>
              </a:solidFill>
              <a:latin typeface="Encode Sans"/>
              <a:ea typeface="Encode Sans"/>
              <a:cs typeface="Encode Sans"/>
              <a:sym typeface="Encode Sans"/>
            </a:endParaRPr>
          </a:p>
          <a:p>
            <a:pPr indent="-311150" lvl="0" marL="914400" marR="0" rtl="0" algn="l">
              <a:lnSpc>
                <a:spcPct val="130000"/>
              </a:lnSpc>
              <a:spcBef>
                <a:spcPts val="0"/>
              </a:spcBef>
              <a:spcAft>
                <a:spcPts val="0"/>
              </a:spcAft>
              <a:buClr>
                <a:srgbClr val="D97757"/>
              </a:buClr>
              <a:buSzPts val="1300"/>
              <a:buFont typeface="Encode Sans"/>
              <a:buChar char="○"/>
            </a:pPr>
            <a:r>
              <a:rPr lang="en-GB">
                <a:solidFill>
                  <a:srgbClr val="CC0000"/>
                </a:solidFill>
                <a:latin typeface="Encode Sans"/>
                <a:ea typeface="Encode Sans"/>
                <a:cs typeface="Encode Sans"/>
                <a:sym typeface="Encode Sans"/>
              </a:rPr>
              <a:t>llama-index-readers-file</a:t>
            </a:r>
            <a:r>
              <a:rPr lang="en-GB">
                <a:solidFill>
                  <a:schemeClr val="dk1"/>
                </a:solidFill>
                <a:latin typeface="Encode Sans"/>
                <a:ea typeface="Encode Sans"/>
                <a:cs typeface="Encode Sans"/>
                <a:sym typeface="Encode Sans"/>
              </a:rPr>
              <a:t> - adds the file-type-specific readers </a:t>
            </a:r>
            <a:r>
              <a:rPr lang="en-GB">
                <a:solidFill>
                  <a:srgbClr val="CC0000"/>
                </a:solidFill>
                <a:latin typeface="Encode Sans"/>
                <a:ea typeface="Encode Sans"/>
                <a:cs typeface="Encode Sans"/>
                <a:sym typeface="Encode Sans"/>
              </a:rPr>
              <a:t>SimpleDirectoryReader</a:t>
            </a:r>
            <a:r>
              <a:rPr lang="en-GB">
                <a:solidFill>
                  <a:schemeClr val="dk1"/>
                </a:solidFill>
                <a:latin typeface="Encode Sans"/>
                <a:ea typeface="Encode Sans"/>
                <a:cs typeface="Encode Sans"/>
                <a:sym typeface="Encode Sans"/>
              </a:rPr>
              <a:t> dispatches to (PDF, DOCX, and so on)</a:t>
            </a:r>
            <a:endParaRPr>
              <a:solidFill>
                <a:schemeClr val="dk1"/>
              </a:solidFill>
              <a:latin typeface="Encode Sans"/>
              <a:ea typeface="Encode Sans"/>
              <a:cs typeface="Encode Sans"/>
              <a:sym typeface="Encode Sans"/>
            </a:endParaRPr>
          </a:p>
        </p:txBody>
      </p:sp>
      <p:sp>
        <p:nvSpPr>
          <p:cNvPr id="637" name="Google Shape;637;p79"/>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grpSp>
        <p:nvGrpSpPr>
          <p:cNvPr id="638" name="Google Shape;638;p79"/>
          <p:cNvGrpSpPr/>
          <p:nvPr/>
        </p:nvGrpSpPr>
        <p:grpSpPr>
          <a:xfrm>
            <a:off x="865452" y="1527606"/>
            <a:ext cx="4046951" cy="1262700"/>
            <a:chOff x="1637652" y="2946100"/>
            <a:chExt cx="4046951" cy="1262700"/>
          </a:xfrm>
        </p:grpSpPr>
        <p:grpSp>
          <p:nvGrpSpPr>
            <p:cNvPr id="639" name="Google Shape;639;p79"/>
            <p:cNvGrpSpPr/>
            <p:nvPr/>
          </p:nvGrpSpPr>
          <p:grpSpPr>
            <a:xfrm>
              <a:off x="1637652" y="2946100"/>
              <a:ext cx="4046951" cy="1262700"/>
              <a:chOff x="1637652" y="2946100"/>
              <a:chExt cx="4046951" cy="1262700"/>
            </a:xfrm>
          </p:grpSpPr>
          <p:grpSp>
            <p:nvGrpSpPr>
              <p:cNvPr id="640" name="Google Shape;640;p79"/>
              <p:cNvGrpSpPr/>
              <p:nvPr/>
            </p:nvGrpSpPr>
            <p:grpSpPr>
              <a:xfrm>
                <a:off x="1637652" y="2946100"/>
                <a:ext cx="4046951" cy="1262700"/>
                <a:chOff x="1637700" y="2946100"/>
                <a:chExt cx="3379500" cy="1262700"/>
              </a:xfrm>
            </p:grpSpPr>
            <p:sp>
              <p:nvSpPr>
                <p:cNvPr id="641" name="Google Shape;641;p79"/>
                <p:cNvSpPr/>
                <p:nvPr/>
              </p:nvSpPr>
              <p:spPr>
                <a:xfrm>
                  <a:off x="1639175" y="2946100"/>
                  <a:ext cx="3378000" cy="1262700"/>
                </a:xfrm>
                <a:prstGeom prst="roundRect">
                  <a:avLst>
                    <a:gd fmla="val 808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642" name="Google Shape;642;p79"/>
                <p:cNvCxnSpPr/>
                <p:nvPr/>
              </p:nvCxnSpPr>
              <p:spPr>
                <a:xfrm>
                  <a:off x="1637700" y="3256225"/>
                  <a:ext cx="3379500" cy="0"/>
                </a:xfrm>
                <a:prstGeom prst="straightConnector1">
                  <a:avLst/>
                </a:prstGeom>
                <a:noFill/>
                <a:ln cap="flat" cmpd="sng" w="9525">
                  <a:solidFill>
                    <a:schemeClr val="dk2"/>
                  </a:solidFill>
                  <a:prstDash val="solid"/>
                  <a:round/>
                  <a:headEnd len="med" w="med" type="none"/>
                  <a:tailEnd len="med" w="med" type="none"/>
                </a:ln>
              </p:spPr>
            </p:cxnSp>
          </p:grpSp>
          <p:sp>
            <p:nvSpPr>
              <p:cNvPr id="643" name="Google Shape;643;p79"/>
              <p:cNvSpPr txBox="1"/>
              <p:nvPr/>
            </p:nvSpPr>
            <p:spPr>
              <a:xfrm>
                <a:off x="1768600" y="3264052"/>
                <a:ext cx="35910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100">
                    <a:solidFill>
                      <a:srgbClr val="0051C2"/>
                    </a:solidFill>
                    <a:latin typeface="Consolas"/>
                    <a:ea typeface="Consolas"/>
                    <a:cs typeface="Consolas"/>
                    <a:sym typeface="Consolas"/>
                  </a:rPr>
                  <a:t>pip</a:t>
                </a:r>
                <a:r>
                  <a:rPr lang="en-GB" sz="1100">
                    <a:solidFill>
                      <a:schemeClr val="dk1"/>
                    </a:solidFill>
                    <a:latin typeface="Consolas"/>
                    <a:ea typeface="Consolas"/>
                    <a:cs typeface="Consolas"/>
                    <a:sym typeface="Consolas"/>
                  </a:rPr>
                  <a:t> </a:t>
                </a:r>
                <a:r>
                  <a:rPr lang="en-GB" sz="1100">
                    <a:solidFill>
                      <a:srgbClr val="008000"/>
                    </a:solidFill>
                    <a:latin typeface="Consolas"/>
                    <a:ea typeface="Consolas"/>
                    <a:cs typeface="Consolas"/>
                    <a:sym typeface="Consolas"/>
                  </a:rPr>
                  <a:t>install</a:t>
                </a:r>
                <a:r>
                  <a:rPr lang="en-GB" sz="1100">
                    <a:solidFill>
                      <a:schemeClr val="dk1"/>
                    </a:solidFill>
                    <a:latin typeface="Consolas"/>
                    <a:ea typeface="Consolas"/>
                    <a:cs typeface="Consolas"/>
                    <a:sym typeface="Consolas"/>
                  </a:rPr>
                  <a:t> </a:t>
                </a:r>
                <a:r>
                  <a:rPr lang="en-GB" sz="1100">
                    <a:solidFill>
                      <a:srgbClr val="008000"/>
                    </a:solidFill>
                    <a:latin typeface="Consolas"/>
                    <a:ea typeface="Consolas"/>
                    <a:cs typeface="Consolas"/>
                    <a:sym typeface="Consolas"/>
                  </a:rPr>
                  <a:t>llama-index-core</a:t>
                </a:r>
                <a:r>
                  <a:rPr lang="en-GB" sz="1100">
                    <a:solidFill>
                      <a:schemeClr val="dk1"/>
                    </a:solidFill>
                    <a:latin typeface="Consolas"/>
                    <a:ea typeface="Consolas"/>
                    <a:cs typeface="Consolas"/>
                    <a:sym typeface="Consolas"/>
                  </a:rPr>
                  <a:t> </a:t>
                </a:r>
                <a:r>
                  <a:rPr lang="en-GB" sz="1100">
                    <a:solidFill>
                      <a:srgbClr val="008080"/>
                    </a:solidFill>
                    <a:latin typeface="Consolas"/>
                    <a:ea typeface="Consolas"/>
                    <a:cs typeface="Consolas"/>
                    <a:sym typeface="Consolas"/>
                  </a:rPr>
                  <a:t>\</a:t>
                </a:r>
                <a:r>
                  <a:rPr lang="en-GB" sz="1100">
                    <a:solidFill>
                      <a:schemeClr val="dk1"/>
                    </a:solidFill>
                    <a:latin typeface="Consolas"/>
                    <a:ea typeface="Consolas"/>
                    <a:cs typeface="Consolas"/>
                    <a:sym typeface="Consolas"/>
                  </a:rPr>
                  <a:t> </a:t>
                </a:r>
                <a:r>
                  <a:rPr lang="en-GB" sz="1100">
                    <a:solidFill>
                      <a:srgbClr val="008000"/>
                    </a:solidFill>
                    <a:latin typeface="Consolas"/>
                    <a:ea typeface="Consolas"/>
                    <a:cs typeface="Consolas"/>
                    <a:sym typeface="Consolas"/>
                  </a:rPr>
                  <a:t>llama-index-llms-openai-like</a:t>
                </a:r>
                <a:r>
                  <a:rPr lang="en-GB" sz="1100">
                    <a:solidFill>
                      <a:schemeClr val="dk1"/>
                    </a:solidFill>
                    <a:latin typeface="Consolas"/>
                    <a:ea typeface="Consolas"/>
                    <a:cs typeface="Consolas"/>
                    <a:sym typeface="Consolas"/>
                  </a:rPr>
                  <a:t> </a:t>
                </a:r>
                <a:r>
                  <a:rPr lang="en-GB" sz="1100">
                    <a:solidFill>
                      <a:srgbClr val="008080"/>
                    </a:solidFill>
                    <a:latin typeface="Consolas"/>
                    <a:ea typeface="Consolas"/>
                    <a:cs typeface="Consolas"/>
                    <a:sym typeface="Consolas"/>
                  </a:rPr>
                  <a:t>\</a:t>
                </a:r>
                <a:r>
                  <a:rPr lang="en-GB" sz="1100">
                    <a:solidFill>
                      <a:schemeClr val="dk1"/>
                    </a:solidFill>
                    <a:latin typeface="Consolas"/>
                    <a:ea typeface="Consolas"/>
                    <a:cs typeface="Consolas"/>
                    <a:sym typeface="Consolas"/>
                  </a:rPr>
                  <a:t> </a:t>
                </a:r>
                <a:r>
                  <a:rPr lang="en-GB" sz="1100">
                    <a:solidFill>
                      <a:srgbClr val="008000"/>
                    </a:solidFill>
                    <a:latin typeface="Consolas"/>
                    <a:ea typeface="Consolas"/>
                    <a:cs typeface="Consolas"/>
                    <a:sym typeface="Consolas"/>
                  </a:rPr>
                  <a:t>llama-index-embeddings-openai-like</a:t>
                </a:r>
                <a:r>
                  <a:rPr lang="en-GB" sz="1100">
                    <a:solidFill>
                      <a:schemeClr val="dk1"/>
                    </a:solidFill>
                    <a:latin typeface="Consolas"/>
                    <a:ea typeface="Consolas"/>
                    <a:cs typeface="Consolas"/>
                    <a:sym typeface="Consolas"/>
                  </a:rPr>
                  <a:t> </a:t>
                </a:r>
                <a:r>
                  <a:rPr lang="en-GB" sz="1100">
                    <a:solidFill>
                      <a:srgbClr val="008080"/>
                    </a:solidFill>
                    <a:latin typeface="Consolas"/>
                    <a:ea typeface="Consolas"/>
                    <a:cs typeface="Consolas"/>
                    <a:sym typeface="Consolas"/>
                  </a:rPr>
                  <a:t>\</a:t>
                </a:r>
                <a:r>
                  <a:rPr lang="en-GB" sz="1100">
                    <a:solidFill>
                      <a:schemeClr val="dk1"/>
                    </a:solidFill>
                    <a:latin typeface="Consolas"/>
                    <a:ea typeface="Consolas"/>
                    <a:cs typeface="Consolas"/>
                    <a:sym typeface="Consolas"/>
                  </a:rPr>
                  <a:t> </a:t>
                </a:r>
                <a:r>
                  <a:rPr lang="en-GB" sz="1100">
                    <a:solidFill>
                      <a:srgbClr val="008000"/>
                    </a:solidFill>
                    <a:latin typeface="Consolas"/>
                    <a:ea typeface="Consolas"/>
                    <a:cs typeface="Consolas"/>
                    <a:sym typeface="Consolas"/>
                  </a:rPr>
                  <a:t>llama-index-readers-file</a:t>
                </a:r>
                <a:endParaRPr sz="1300">
                  <a:solidFill>
                    <a:srgbClr val="666666"/>
                  </a:solidFill>
                  <a:latin typeface="Consolas"/>
                  <a:ea typeface="Consolas"/>
                  <a:cs typeface="Consolas"/>
                  <a:sym typeface="Consolas"/>
                </a:endParaRPr>
              </a:p>
            </p:txBody>
          </p:sp>
        </p:grpSp>
        <p:grpSp>
          <p:nvGrpSpPr>
            <p:cNvPr id="644" name="Google Shape;644;p79"/>
            <p:cNvGrpSpPr/>
            <p:nvPr/>
          </p:nvGrpSpPr>
          <p:grpSpPr>
            <a:xfrm>
              <a:off x="1769550" y="3049750"/>
              <a:ext cx="448950" cy="109200"/>
              <a:chOff x="1769550" y="3049750"/>
              <a:chExt cx="448950" cy="109200"/>
            </a:xfrm>
          </p:grpSpPr>
          <p:sp>
            <p:nvSpPr>
              <p:cNvPr id="645" name="Google Shape;645;p79"/>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646" name="Google Shape;646;p79"/>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647" name="Google Shape;647;p79"/>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grpSp>
      <p:sp>
        <p:nvSpPr>
          <p:cNvPr id="648" name="Google Shape;648;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8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Setting Up Model</a:t>
            </a:r>
            <a:endParaRPr>
              <a:solidFill>
                <a:srgbClr val="CE6948"/>
              </a:solidFill>
            </a:endParaRPr>
          </a:p>
        </p:txBody>
      </p:sp>
      <p:sp>
        <p:nvSpPr>
          <p:cNvPr id="654" name="Google Shape;654;p80"/>
          <p:cNvSpPr txBox="1"/>
          <p:nvPr>
            <p:ph idx="1" type="body"/>
          </p:nvPr>
        </p:nvSpPr>
        <p:spPr>
          <a:xfrm>
            <a:off x="311700" y="1069550"/>
            <a:ext cx="4524600" cy="384900"/>
          </a:xfrm>
          <a:prstGeom prst="rect">
            <a:avLst/>
          </a:prstGeom>
        </p:spPr>
        <p:txBody>
          <a:bodyPr anchorCtr="0" anchor="t" bIns="91425" lIns="91425" spcFirstLastPara="1" rIns="91425" wrap="square" tIns="91425">
            <a:spAutoFit/>
          </a:bodyPr>
          <a:lstStyle/>
          <a:p>
            <a:pPr indent="-311150" lvl="0" marL="457200" marR="0" rtl="0" algn="l">
              <a:lnSpc>
                <a:spcPct val="130000"/>
              </a:lnSpc>
              <a:spcBef>
                <a:spcPts val="0"/>
              </a:spcBef>
              <a:spcAft>
                <a:spcPts val="0"/>
              </a:spcAft>
              <a:buClr>
                <a:srgbClr val="D97757"/>
              </a:buClr>
              <a:buSzPts val="1300"/>
              <a:buFont typeface="Arial"/>
              <a:buChar char="●"/>
            </a:pPr>
            <a:r>
              <a:rPr b="1" lang="en-GB">
                <a:solidFill>
                  <a:srgbClr val="D97757"/>
                </a:solidFill>
                <a:latin typeface="Encode Sans"/>
                <a:ea typeface="Encode Sans"/>
                <a:cs typeface="Encode Sans"/>
                <a:sym typeface="Encode Sans"/>
              </a:rPr>
              <a:t>Global Model Configuration Setup with Settings</a:t>
            </a:r>
            <a:endParaRPr b="1">
              <a:solidFill>
                <a:srgbClr val="D97757"/>
              </a:solidFill>
              <a:latin typeface="Encode Sans"/>
              <a:ea typeface="Encode Sans"/>
              <a:cs typeface="Encode Sans"/>
              <a:sym typeface="Encode Sans"/>
            </a:endParaRPr>
          </a:p>
        </p:txBody>
      </p:sp>
      <p:sp>
        <p:nvSpPr>
          <p:cNvPr id="655" name="Google Shape;655;p8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grpSp>
        <p:nvGrpSpPr>
          <p:cNvPr id="656" name="Google Shape;656;p80"/>
          <p:cNvGrpSpPr/>
          <p:nvPr/>
        </p:nvGrpSpPr>
        <p:grpSpPr>
          <a:xfrm>
            <a:off x="3608825" y="1547525"/>
            <a:ext cx="5071057" cy="3506400"/>
            <a:chOff x="865425" y="1527600"/>
            <a:chExt cx="5071057" cy="3506400"/>
          </a:xfrm>
        </p:grpSpPr>
        <p:grpSp>
          <p:nvGrpSpPr>
            <p:cNvPr id="657" name="Google Shape;657;p80"/>
            <p:cNvGrpSpPr/>
            <p:nvPr/>
          </p:nvGrpSpPr>
          <p:grpSpPr>
            <a:xfrm>
              <a:off x="865425" y="1527600"/>
              <a:ext cx="5071057" cy="3506400"/>
              <a:chOff x="1637650" y="2946097"/>
              <a:chExt cx="3089094" cy="3506400"/>
            </a:xfrm>
          </p:grpSpPr>
          <p:grpSp>
            <p:nvGrpSpPr>
              <p:cNvPr id="658" name="Google Shape;658;p80"/>
              <p:cNvGrpSpPr/>
              <p:nvPr/>
            </p:nvGrpSpPr>
            <p:grpSpPr>
              <a:xfrm>
                <a:off x="1637650" y="2946097"/>
                <a:ext cx="3089094" cy="3506400"/>
                <a:chOff x="1637698" y="2946097"/>
                <a:chExt cx="2579619" cy="3506400"/>
              </a:xfrm>
            </p:grpSpPr>
            <p:sp>
              <p:nvSpPr>
                <p:cNvPr id="659" name="Google Shape;659;p80"/>
                <p:cNvSpPr/>
                <p:nvPr/>
              </p:nvSpPr>
              <p:spPr>
                <a:xfrm>
                  <a:off x="1638818" y="2946097"/>
                  <a:ext cx="2578500" cy="35064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660" name="Google Shape;660;p80"/>
                <p:cNvCxnSpPr/>
                <p:nvPr/>
              </p:nvCxnSpPr>
              <p:spPr>
                <a:xfrm>
                  <a:off x="1637698" y="3256225"/>
                  <a:ext cx="2579100" cy="0"/>
                </a:xfrm>
                <a:prstGeom prst="straightConnector1">
                  <a:avLst/>
                </a:prstGeom>
                <a:noFill/>
                <a:ln cap="flat" cmpd="sng" w="9525">
                  <a:solidFill>
                    <a:schemeClr val="dk2"/>
                  </a:solidFill>
                  <a:prstDash val="solid"/>
                  <a:round/>
                  <a:headEnd len="med" w="med" type="none"/>
                  <a:tailEnd len="med" w="med" type="none"/>
                </a:ln>
              </p:spPr>
            </p:cxnSp>
          </p:grpSp>
          <p:sp>
            <p:nvSpPr>
              <p:cNvPr id="661" name="Google Shape;661;p80"/>
              <p:cNvSpPr txBox="1"/>
              <p:nvPr/>
            </p:nvSpPr>
            <p:spPr>
              <a:xfrm>
                <a:off x="1689253" y="3264048"/>
                <a:ext cx="2925900" cy="3188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a:t>
                </a:r>
                <a:r>
                  <a:rPr lang="en-GB" sz="1000">
                    <a:solidFill>
                      <a:srgbClr val="080808"/>
                    </a:solidFill>
                    <a:latin typeface="Consolas"/>
                    <a:ea typeface="Consolas"/>
                    <a:cs typeface="Consolas"/>
                    <a:sym typeface="Consolas"/>
                  </a:rPr>
                  <a:t> llama_index.core</a:t>
                </a:r>
                <a:r>
                  <a:rPr lang="en-GB" sz="1100">
                    <a:solidFill>
                      <a:schemeClr val="dk1"/>
                    </a:solidFill>
                  </a:rPr>
                  <a:t> </a:t>
                </a:r>
                <a:r>
                  <a:rPr lang="en-GB" sz="1000">
                    <a:solidFill>
                      <a:srgbClr val="0033B3"/>
                    </a:solidFill>
                    <a:latin typeface="Consolas"/>
                    <a:ea typeface="Consolas"/>
                    <a:cs typeface="Consolas"/>
                    <a:sym typeface="Consolas"/>
                  </a:rPr>
                  <a:t>import</a:t>
                </a:r>
                <a:r>
                  <a:rPr lang="en-GB" sz="1100">
                    <a:solidFill>
                      <a:schemeClr val="dk1"/>
                    </a:solidFill>
                  </a:rPr>
                  <a:t> </a:t>
                </a:r>
                <a:r>
                  <a:rPr lang="en-GB" sz="1000">
                    <a:solidFill>
                      <a:srgbClr val="080808"/>
                    </a:solidFill>
                    <a:latin typeface="Consolas"/>
                    <a:ea typeface="Consolas"/>
                    <a:cs typeface="Consolas"/>
                    <a:sym typeface="Consolas"/>
                  </a:rPr>
                  <a:t>Settings</a:t>
                </a:r>
                <a:endParaRPr sz="1000">
                  <a:solidFill>
                    <a:srgbClr val="0033B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llama_index.llms.openai_like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OpenAILike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llama_index.embeddings.openai_like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OpenAILikeEmbedding</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Settings.llm = OpenAILike(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model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"Qwen/Qwen2.5-7B-Instruct"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api_base</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"http://localhost:8000/v1"</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api_key</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"VLLM"</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660099"/>
                    </a:solidFill>
                    <a:latin typeface="Consolas"/>
                    <a:ea typeface="Consolas"/>
                    <a:cs typeface="Consolas"/>
                    <a:sym typeface="Consolas"/>
                  </a:rPr>
                  <a:t>   context_window</a:t>
                </a:r>
                <a:r>
                  <a:rPr lang="en-GB" sz="1000">
                    <a:solidFill>
                      <a:srgbClr val="080808"/>
                    </a:solidFill>
                    <a:latin typeface="Consolas"/>
                    <a:ea typeface="Consolas"/>
                    <a:cs typeface="Consolas"/>
                    <a:sym typeface="Consolas"/>
                  </a:rPr>
                  <a:t>=</a:t>
                </a:r>
                <a:r>
                  <a:rPr lang="en-GB" sz="1000">
                    <a:solidFill>
                      <a:srgbClr val="0033B3"/>
                    </a:solidFill>
                    <a:latin typeface="Consolas"/>
                    <a:ea typeface="Consolas"/>
                    <a:cs typeface="Consolas"/>
                    <a:sym typeface="Consolas"/>
                  </a:rPr>
                  <a:t>32768</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is_chat_model</a:t>
                </a:r>
                <a:r>
                  <a:rPr lang="en-GB" sz="1000">
                    <a:solidFill>
                      <a:srgbClr val="080808"/>
                    </a:solidFill>
                    <a:latin typeface="Consolas"/>
                    <a:ea typeface="Consolas"/>
                    <a:cs typeface="Consolas"/>
                    <a:sym typeface="Consolas"/>
                  </a:rPr>
                  <a:t>=</a:t>
                </a:r>
                <a:r>
                  <a:rPr lang="en-GB" sz="1000">
                    <a:solidFill>
                      <a:srgbClr val="0033B3"/>
                    </a:solidFill>
                    <a:latin typeface="Consolas"/>
                    <a:ea typeface="Consolas"/>
                    <a:cs typeface="Consolas"/>
                    <a:sym typeface="Consolas"/>
                  </a:rPr>
                  <a:t>True</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Settings.embed_model = OpenAILikeEmbedding(</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model_name</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"nomic-embed-text:latest"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api_base</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"http://localhost:8000/v1"</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api_key</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"VLLM"</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embed_batch_size</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10</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a:t>
                </a:r>
                <a:endParaRPr sz="1000">
                  <a:solidFill>
                    <a:srgbClr val="8100C2"/>
                  </a:solidFill>
                  <a:latin typeface="Consolas"/>
                  <a:ea typeface="Consolas"/>
                  <a:cs typeface="Consolas"/>
                  <a:sym typeface="Consolas"/>
                </a:endParaRPr>
              </a:p>
            </p:txBody>
          </p:sp>
        </p:grpSp>
        <p:grpSp>
          <p:nvGrpSpPr>
            <p:cNvPr id="662" name="Google Shape;662;p80"/>
            <p:cNvGrpSpPr/>
            <p:nvPr/>
          </p:nvGrpSpPr>
          <p:grpSpPr>
            <a:xfrm>
              <a:off x="997350" y="1631256"/>
              <a:ext cx="448950" cy="109200"/>
              <a:chOff x="1769550" y="3049750"/>
              <a:chExt cx="448950" cy="109200"/>
            </a:xfrm>
          </p:grpSpPr>
          <p:sp>
            <p:nvSpPr>
              <p:cNvPr id="663" name="Google Shape;663;p80"/>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664" name="Google Shape;664;p80"/>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665" name="Google Shape;665;p80"/>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grpSp>
      <p:sp>
        <p:nvSpPr>
          <p:cNvPr id="666" name="Google Shape;666;p80"/>
          <p:cNvSpPr txBox="1"/>
          <p:nvPr>
            <p:ph idx="1" type="body"/>
          </p:nvPr>
        </p:nvSpPr>
        <p:spPr>
          <a:xfrm>
            <a:off x="311700" y="1740875"/>
            <a:ext cx="3243900" cy="1945500"/>
          </a:xfrm>
          <a:prstGeom prst="rect">
            <a:avLst/>
          </a:prstGeom>
        </p:spPr>
        <p:txBody>
          <a:bodyPr anchorCtr="0" anchor="t" bIns="91425" lIns="91425" spcFirstLastPara="1" rIns="91425" wrap="square" tIns="91425">
            <a:spAutoFit/>
          </a:bodyPr>
          <a:lstStyle/>
          <a:p>
            <a:pPr indent="-206375" lvl="1" marL="571500" rtl="0" algn="l">
              <a:lnSpc>
                <a:spcPct val="130000"/>
              </a:lnSpc>
              <a:spcBef>
                <a:spcPts val="0"/>
              </a:spcBef>
              <a:spcAft>
                <a:spcPts val="0"/>
              </a:spcAft>
              <a:buClr>
                <a:srgbClr val="D97757"/>
              </a:buClr>
              <a:buSzPts val="1000"/>
              <a:buFont typeface="Encode Sans"/>
              <a:buChar char="○"/>
            </a:pPr>
            <a:r>
              <a:rPr b="1" lang="en-GB">
                <a:solidFill>
                  <a:srgbClr val="D97757"/>
                </a:solidFill>
                <a:latin typeface="Encode Sans"/>
                <a:ea typeface="Encode Sans"/>
                <a:cs typeface="Encode Sans"/>
                <a:sym typeface="Encode Sans"/>
              </a:rPr>
              <a:t>Settings</a:t>
            </a:r>
            <a:r>
              <a:rPr lang="en-GB">
                <a:solidFill>
                  <a:schemeClr val="dk1"/>
                </a:solidFill>
                <a:latin typeface="Encode Sans"/>
                <a:ea typeface="Encode Sans"/>
                <a:cs typeface="Encode Sans"/>
                <a:sym typeface="Encode Sans"/>
              </a:rPr>
              <a:t> is a global object LlamaIndex reads from by default, set it once, and every index, retriever, and query engine built afterward uses it automatically, no need to pass the model into each one individually.</a:t>
            </a:r>
            <a:endParaRPr>
              <a:solidFill>
                <a:schemeClr val="dk1"/>
              </a:solidFill>
              <a:latin typeface="Encode Sans"/>
              <a:ea typeface="Encode Sans"/>
              <a:cs typeface="Encode Sans"/>
              <a:sym typeface="Encode Sans"/>
            </a:endParaRPr>
          </a:p>
        </p:txBody>
      </p:sp>
      <p:sp>
        <p:nvSpPr>
          <p:cNvPr id="667" name="Google Shape;667;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8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Setting Up Model (cont)</a:t>
            </a:r>
            <a:endParaRPr>
              <a:solidFill>
                <a:srgbClr val="CE6948"/>
              </a:solidFill>
            </a:endParaRPr>
          </a:p>
        </p:txBody>
      </p:sp>
      <p:sp>
        <p:nvSpPr>
          <p:cNvPr id="673" name="Google Shape;673;p8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sp>
        <p:nvSpPr>
          <p:cNvPr id="674" name="Google Shape;674;p81"/>
          <p:cNvSpPr txBox="1"/>
          <p:nvPr>
            <p:ph idx="1" type="body"/>
          </p:nvPr>
        </p:nvSpPr>
        <p:spPr>
          <a:xfrm>
            <a:off x="311700" y="1069550"/>
            <a:ext cx="8520600" cy="2061000"/>
          </a:xfrm>
          <a:prstGeom prst="rect">
            <a:avLst/>
          </a:prstGeom>
        </p:spPr>
        <p:txBody>
          <a:bodyPr anchorCtr="0" anchor="t" bIns="91425" lIns="91425" spcFirstLastPara="1" rIns="91425" wrap="square" tIns="91425">
            <a:spAutoFit/>
          </a:bodyPr>
          <a:lstStyle/>
          <a:p>
            <a:pPr indent="-311150" lvl="0" marL="457200" rtl="0" algn="l">
              <a:lnSpc>
                <a:spcPct val="130000"/>
              </a:lnSpc>
              <a:spcBef>
                <a:spcPts val="0"/>
              </a:spcBef>
              <a:spcAft>
                <a:spcPts val="0"/>
              </a:spcAft>
              <a:buClr>
                <a:srgbClr val="CE6948"/>
              </a:buClr>
              <a:buSzPts val="1300"/>
              <a:buFont typeface="Arial"/>
              <a:buChar char="●"/>
            </a:pPr>
            <a:r>
              <a:rPr b="1" lang="en-GB">
                <a:solidFill>
                  <a:srgbClr val="D97757"/>
                </a:solidFill>
                <a:latin typeface="Encode Sans"/>
                <a:ea typeface="Encode Sans"/>
                <a:cs typeface="Encode Sans"/>
                <a:sym typeface="Encode Sans"/>
              </a:rPr>
              <a:t>Global Model Configuration Setup with Settings (cont.)</a:t>
            </a:r>
            <a:endParaRPr>
              <a:solidFill>
                <a:srgbClr val="D97757"/>
              </a:solidFill>
              <a:latin typeface="Encode Sans"/>
              <a:ea typeface="Encode Sans"/>
              <a:cs typeface="Encode Sans"/>
              <a:sym typeface="Encode Sans"/>
            </a:endParaRPr>
          </a:p>
          <a:p>
            <a:pPr indent="-317500" lvl="0" marL="914400" rtl="0" algn="l">
              <a:lnSpc>
                <a:spcPct val="130000"/>
              </a:lnSpc>
              <a:spcBef>
                <a:spcPts val="0"/>
              </a:spcBef>
              <a:spcAft>
                <a:spcPts val="0"/>
              </a:spcAft>
              <a:buClr>
                <a:srgbClr val="D97757"/>
              </a:buClr>
              <a:buSzPts val="1400"/>
              <a:buFont typeface="Encode Sans"/>
              <a:buChar char="○"/>
            </a:pPr>
            <a:r>
              <a:rPr b="1" lang="en-GB">
                <a:solidFill>
                  <a:srgbClr val="D97757"/>
                </a:solidFill>
                <a:latin typeface="Encode Sans"/>
                <a:ea typeface="Encode Sans"/>
                <a:cs typeface="Encode Sans"/>
                <a:sym typeface="Encode Sans"/>
              </a:rPr>
              <a:t>model</a:t>
            </a:r>
            <a:r>
              <a:rPr lang="en-GB">
                <a:solidFill>
                  <a:schemeClr val="dk1"/>
                </a:solidFill>
                <a:latin typeface="Encode Sans"/>
                <a:ea typeface="Encode Sans"/>
                <a:cs typeface="Encode Sans"/>
                <a:sym typeface="Encode Sans"/>
              </a:rPr>
              <a:t> /</a:t>
            </a:r>
            <a:r>
              <a:rPr b="1" lang="en-GB">
                <a:solidFill>
                  <a:srgbClr val="D97757"/>
                </a:solidFill>
                <a:latin typeface="Encode Sans"/>
                <a:ea typeface="Encode Sans"/>
                <a:cs typeface="Encode Sans"/>
                <a:sym typeface="Encode Sans"/>
              </a:rPr>
              <a:t> model_name</a:t>
            </a:r>
            <a:r>
              <a:rPr lang="en-GB">
                <a:solidFill>
                  <a:schemeClr val="dk1"/>
                </a:solidFill>
                <a:latin typeface="Encode Sans"/>
                <a:ea typeface="Encode Sans"/>
                <a:cs typeface="Encode Sans"/>
                <a:sym typeface="Encode Sans"/>
              </a:rPr>
              <a:t> - match the model vLLM or ollama </a:t>
            </a:r>
            <a:endParaRPr>
              <a:solidFill>
                <a:schemeClr val="dk1"/>
              </a:solidFill>
              <a:latin typeface="Encode Sans"/>
              <a:ea typeface="Encode Sans"/>
              <a:cs typeface="Encode Sans"/>
              <a:sym typeface="Encode Sans"/>
            </a:endParaRPr>
          </a:p>
          <a:p>
            <a:pPr indent="-317500" lvl="0" marL="914400" rtl="0" algn="l">
              <a:lnSpc>
                <a:spcPct val="130000"/>
              </a:lnSpc>
              <a:spcBef>
                <a:spcPts val="0"/>
              </a:spcBef>
              <a:spcAft>
                <a:spcPts val="0"/>
              </a:spcAft>
              <a:buClr>
                <a:srgbClr val="D97757"/>
              </a:buClr>
              <a:buSzPts val="1400"/>
              <a:buFont typeface="Encode Sans"/>
              <a:buChar char="○"/>
            </a:pPr>
            <a:r>
              <a:rPr b="1" lang="en-GB">
                <a:solidFill>
                  <a:srgbClr val="D97757"/>
                </a:solidFill>
                <a:latin typeface="Encode Sans"/>
                <a:ea typeface="Encode Sans"/>
                <a:cs typeface="Encode Sans"/>
                <a:sym typeface="Encode Sans"/>
              </a:rPr>
              <a:t>api_base</a:t>
            </a:r>
            <a:r>
              <a:rPr lang="en-GB">
                <a:solidFill>
                  <a:schemeClr val="dk1"/>
                </a:solidFill>
                <a:latin typeface="Encode Sans"/>
                <a:ea typeface="Encode Sans"/>
                <a:cs typeface="Encode Sans"/>
                <a:sym typeface="Encode Sans"/>
              </a:rPr>
              <a:t> - the server's URL, ending in </a:t>
            </a:r>
            <a:r>
              <a:rPr b="1" lang="en-GB">
                <a:solidFill>
                  <a:srgbClr val="D97757"/>
                </a:solidFill>
                <a:latin typeface="Encode Sans"/>
                <a:ea typeface="Encode Sans"/>
                <a:cs typeface="Encode Sans"/>
                <a:sym typeface="Encode Sans"/>
              </a:rPr>
              <a:t>/v1</a:t>
            </a:r>
            <a:endParaRPr>
              <a:solidFill>
                <a:srgbClr val="188038"/>
              </a:solidFill>
              <a:latin typeface="Encode Sans"/>
              <a:ea typeface="Encode Sans"/>
              <a:cs typeface="Encode Sans"/>
              <a:sym typeface="Encode Sans"/>
            </a:endParaRPr>
          </a:p>
          <a:p>
            <a:pPr indent="-317500" lvl="0" marL="914400" rtl="0" algn="l">
              <a:lnSpc>
                <a:spcPct val="130000"/>
              </a:lnSpc>
              <a:spcBef>
                <a:spcPts val="0"/>
              </a:spcBef>
              <a:spcAft>
                <a:spcPts val="0"/>
              </a:spcAft>
              <a:buClr>
                <a:srgbClr val="D97757"/>
              </a:buClr>
              <a:buSzPts val="1400"/>
              <a:buFont typeface="Encode Sans"/>
              <a:buChar char="○"/>
            </a:pPr>
            <a:r>
              <a:rPr b="1" lang="en-GB">
                <a:solidFill>
                  <a:srgbClr val="D97757"/>
                </a:solidFill>
                <a:latin typeface="Encode Sans"/>
                <a:ea typeface="Encode Sans"/>
                <a:cs typeface="Encode Sans"/>
                <a:sym typeface="Encode Sans"/>
              </a:rPr>
              <a:t>context_window=32768</a:t>
            </a:r>
            <a:r>
              <a:rPr lang="en-GB">
                <a:solidFill>
                  <a:schemeClr val="dk1"/>
                </a:solidFill>
                <a:latin typeface="Encode Sans"/>
                <a:ea typeface="Encode Sans"/>
                <a:cs typeface="Encode Sans"/>
                <a:sym typeface="Encode Sans"/>
              </a:rPr>
              <a:t> - defaults to 3900, change this to fit the model you’re using</a:t>
            </a:r>
            <a:endParaRPr>
              <a:solidFill>
                <a:schemeClr val="dk1"/>
              </a:solidFill>
              <a:latin typeface="Encode Sans"/>
              <a:ea typeface="Encode Sans"/>
              <a:cs typeface="Encode Sans"/>
              <a:sym typeface="Encode Sans"/>
            </a:endParaRPr>
          </a:p>
          <a:p>
            <a:pPr indent="-317500" lvl="0" marL="914400" rtl="0" algn="l">
              <a:lnSpc>
                <a:spcPct val="130000"/>
              </a:lnSpc>
              <a:spcBef>
                <a:spcPts val="0"/>
              </a:spcBef>
              <a:spcAft>
                <a:spcPts val="0"/>
              </a:spcAft>
              <a:buClr>
                <a:srgbClr val="D97757"/>
              </a:buClr>
              <a:buSzPts val="1400"/>
              <a:buFont typeface="Encode Sans"/>
              <a:buChar char="○"/>
            </a:pPr>
            <a:r>
              <a:rPr b="1" lang="en-GB">
                <a:solidFill>
                  <a:srgbClr val="D97757"/>
                </a:solidFill>
                <a:latin typeface="Encode Sans"/>
                <a:ea typeface="Encode Sans"/>
                <a:cs typeface="Encode Sans"/>
                <a:sym typeface="Encode Sans"/>
              </a:rPr>
              <a:t>is_chat_model=True</a:t>
            </a:r>
            <a:r>
              <a:rPr lang="en-GB">
                <a:solidFill>
                  <a:schemeClr val="dk1"/>
                </a:solidFill>
                <a:latin typeface="Encode Sans"/>
                <a:ea typeface="Encode Sans"/>
                <a:cs typeface="Encode Sans"/>
                <a:sym typeface="Encode Sans"/>
              </a:rPr>
              <a:t> - sends requests to </a:t>
            </a:r>
            <a:r>
              <a:rPr b="1" lang="en-GB">
                <a:solidFill>
                  <a:srgbClr val="D97757"/>
                </a:solidFill>
                <a:latin typeface="Encode Sans"/>
                <a:ea typeface="Encode Sans"/>
                <a:cs typeface="Encode Sans"/>
                <a:sym typeface="Encode Sans"/>
              </a:rPr>
              <a:t>/chat/completions</a:t>
            </a:r>
            <a:endParaRPr>
              <a:solidFill>
                <a:srgbClr val="188038"/>
              </a:solidFill>
              <a:latin typeface="Encode Sans"/>
              <a:ea typeface="Encode Sans"/>
              <a:cs typeface="Encode Sans"/>
              <a:sym typeface="Encode Sans"/>
            </a:endParaRPr>
          </a:p>
          <a:p>
            <a:pPr indent="-317500" lvl="0" marL="914400" rtl="0" algn="l">
              <a:lnSpc>
                <a:spcPct val="130000"/>
              </a:lnSpc>
              <a:spcBef>
                <a:spcPts val="0"/>
              </a:spcBef>
              <a:spcAft>
                <a:spcPts val="0"/>
              </a:spcAft>
              <a:buClr>
                <a:srgbClr val="D97757"/>
              </a:buClr>
              <a:buSzPts val="1400"/>
              <a:buFont typeface="Encode Sans"/>
              <a:buChar char="○"/>
            </a:pPr>
            <a:r>
              <a:rPr b="1" lang="en-GB">
                <a:solidFill>
                  <a:srgbClr val="D97757"/>
                </a:solidFill>
                <a:latin typeface="Encode Sans"/>
                <a:ea typeface="Encode Sans"/>
                <a:cs typeface="Encode Sans"/>
                <a:sym typeface="Encode Sans"/>
              </a:rPr>
              <a:t>api_key="EMPTY"</a:t>
            </a:r>
            <a:r>
              <a:rPr lang="en-GB">
                <a:solidFill>
                  <a:schemeClr val="dk1"/>
                </a:solidFill>
                <a:latin typeface="Encode Sans"/>
                <a:ea typeface="Encode Sans"/>
                <a:cs typeface="Encode Sans"/>
                <a:sym typeface="Encode Sans"/>
              </a:rPr>
              <a:t> - a placeholder, vLLM ignores it</a:t>
            </a:r>
            <a:endParaRPr>
              <a:solidFill>
                <a:schemeClr val="dk1"/>
              </a:solidFill>
              <a:latin typeface="Encode Sans"/>
              <a:ea typeface="Encode Sans"/>
              <a:cs typeface="Encode Sans"/>
              <a:sym typeface="Encode Sans"/>
            </a:endParaRPr>
          </a:p>
          <a:p>
            <a:pPr indent="-317500" lvl="0" marL="914400" rtl="0" algn="l">
              <a:lnSpc>
                <a:spcPct val="130000"/>
              </a:lnSpc>
              <a:spcBef>
                <a:spcPts val="0"/>
              </a:spcBef>
              <a:spcAft>
                <a:spcPts val="0"/>
              </a:spcAft>
              <a:buClr>
                <a:srgbClr val="D97757"/>
              </a:buClr>
              <a:buSzPts val="1400"/>
              <a:buFont typeface="Encode Sans"/>
              <a:buChar char="○"/>
            </a:pPr>
            <a:r>
              <a:rPr b="1" lang="en-GB">
                <a:solidFill>
                  <a:srgbClr val="D97757"/>
                </a:solidFill>
                <a:latin typeface="Encode Sans"/>
                <a:ea typeface="Encode Sans"/>
                <a:cs typeface="Encode Sans"/>
                <a:sym typeface="Encode Sans"/>
              </a:rPr>
              <a:t>embed_batch_size=10</a:t>
            </a:r>
            <a:r>
              <a:rPr lang="en-GB">
                <a:solidFill>
                  <a:schemeClr val="dk1"/>
                </a:solidFill>
                <a:latin typeface="Encode Sans"/>
                <a:ea typeface="Encode Sans"/>
                <a:cs typeface="Encode Sans"/>
                <a:sym typeface="Encode Sans"/>
              </a:rPr>
              <a:t> - how many texts get embedded per request (default 10)</a:t>
            </a:r>
            <a:endParaRPr sz="1500">
              <a:solidFill>
                <a:srgbClr val="188038"/>
              </a:solidFill>
              <a:latin typeface="Encode Sans"/>
              <a:ea typeface="Encode Sans"/>
              <a:cs typeface="Encode Sans"/>
              <a:sym typeface="Encode Sans"/>
            </a:endParaRPr>
          </a:p>
        </p:txBody>
      </p:sp>
      <p:sp>
        <p:nvSpPr>
          <p:cNvPr id="675" name="Google Shape;675;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8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Data Con</a:t>
            </a:r>
            <a:r>
              <a:rPr lang="en-GB">
                <a:solidFill>
                  <a:srgbClr val="CE6948"/>
                </a:solidFill>
              </a:rPr>
              <a:t>nector</a:t>
            </a:r>
            <a:endParaRPr>
              <a:solidFill>
                <a:srgbClr val="CE6948"/>
              </a:solidFill>
            </a:endParaRPr>
          </a:p>
        </p:txBody>
      </p:sp>
      <p:sp>
        <p:nvSpPr>
          <p:cNvPr id="681" name="Google Shape;681;p82"/>
          <p:cNvSpPr txBox="1"/>
          <p:nvPr>
            <p:ph idx="1" type="body"/>
          </p:nvPr>
        </p:nvSpPr>
        <p:spPr>
          <a:xfrm>
            <a:off x="311700" y="1069550"/>
            <a:ext cx="8520600" cy="3634500"/>
          </a:xfrm>
          <a:prstGeom prst="rect">
            <a:avLst/>
          </a:prstGeom>
        </p:spPr>
        <p:txBody>
          <a:bodyPr anchorCtr="0" anchor="t" bIns="91425" lIns="91425" spcFirstLastPara="1" rIns="91425" wrap="square" tIns="91425">
            <a:spAutoFit/>
          </a:bodyPr>
          <a:lstStyle/>
          <a:p>
            <a:pPr indent="-311150" lvl="0" marL="457200" marR="0" rtl="0" algn="l">
              <a:lnSpc>
                <a:spcPct val="130000"/>
              </a:lnSpc>
              <a:spcBef>
                <a:spcPts val="0"/>
              </a:spcBef>
              <a:spcAft>
                <a:spcPts val="0"/>
              </a:spcAft>
              <a:buClr>
                <a:srgbClr val="CE6948"/>
              </a:buClr>
              <a:buSzPts val="1300"/>
              <a:buFont typeface="Arial"/>
              <a:buChar char="●"/>
            </a:pPr>
            <a:r>
              <a:rPr b="1" lang="en-GB">
                <a:solidFill>
                  <a:srgbClr val="D97757"/>
                </a:solidFill>
                <a:latin typeface="Encode Sans"/>
                <a:ea typeface="Encode Sans"/>
                <a:cs typeface="Encode Sans"/>
                <a:sym typeface="Encode Sans"/>
              </a:rPr>
              <a:t>SimpleDirectoryReader </a:t>
            </a:r>
            <a:r>
              <a:rPr lang="en-GB">
                <a:solidFill>
                  <a:schemeClr val="dk1"/>
                </a:solidFill>
                <a:latin typeface="Encode Sans"/>
                <a:ea typeface="Encode Sans"/>
                <a:cs typeface="Encode Sans"/>
                <a:sym typeface="Encode Sans"/>
              </a:rPr>
              <a:t>is the default connector for a local folder, point it at a directory and it returns a </a:t>
            </a:r>
            <a:r>
              <a:rPr b="1" lang="en-GB">
                <a:solidFill>
                  <a:srgbClr val="D97757"/>
                </a:solidFill>
                <a:latin typeface="Encode Sans"/>
                <a:ea typeface="Encode Sans"/>
                <a:cs typeface="Encode Sans"/>
                <a:sym typeface="Encode Sans"/>
              </a:rPr>
              <a:t>list[Document]</a:t>
            </a:r>
            <a:r>
              <a:rPr lang="en-GB">
                <a:solidFill>
                  <a:schemeClr val="dk1"/>
                </a:solidFill>
                <a:latin typeface="Encode Sans"/>
                <a:ea typeface="Encode Sans"/>
                <a:cs typeface="Encode Sans"/>
                <a:sym typeface="Encode Sans"/>
              </a:rPr>
              <a:t>, one entry per file.</a:t>
            </a:r>
            <a:endParaRPr>
              <a:solidFill>
                <a:schemeClr val="dk1"/>
              </a:solidFill>
              <a:latin typeface="Encode Sans"/>
              <a:ea typeface="Encode Sans"/>
              <a:cs typeface="Encode Sans"/>
              <a:sym typeface="Encode Sans"/>
            </a:endParaRPr>
          </a:p>
          <a:p>
            <a:pPr indent="0" lvl="0" marL="0" marR="0" rtl="0" algn="l">
              <a:lnSpc>
                <a:spcPct val="130000"/>
              </a:lnSpc>
              <a:spcBef>
                <a:spcPts val="0"/>
              </a:spcBef>
              <a:spcAft>
                <a:spcPts val="0"/>
              </a:spcAft>
              <a:buNone/>
            </a:pPr>
            <a:r>
              <a:t/>
            </a:r>
            <a:endParaRPr>
              <a:solidFill>
                <a:schemeClr val="dk1"/>
              </a:solidFill>
              <a:latin typeface="Encode Sans"/>
              <a:ea typeface="Encode Sans"/>
              <a:cs typeface="Encode Sans"/>
              <a:sym typeface="Encode Sans"/>
            </a:endParaRPr>
          </a:p>
          <a:p>
            <a:pPr indent="0" lvl="0" marL="0" marR="0" rtl="0" algn="l">
              <a:lnSpc>
                <a:spcPct val="130000"/>
              </a:lnSpc>
              <a:spcBef>
                <a:spcPts val="0"/>
              </a:spcBef>
              <a:spcAft>
                <a:spcPts val="0"/>
              </a:spcAft>
              <a:buNone/>
            </a:pPr>
            <a:r>
              <a:t/>
            </a:r>
            <a:endParaRPr>
              <a:solidFill>
                <a:schemeClr val="dk1"/>
              </a:solidFill>
              <a:latin typeface="Encode Sans"/>
              <a:ea typeface="Encode Sans"/>
              <a:cs typeface="Encode Sans"/>
              <a:sym typeface="Encode Sans"/>
            </a:endParaRPr>
          </a:p>
          <a:p>
            <a:pPr indent="0" lvl="0" marL="0" marR="0" rtl="0" algn="l">
              <a:lnSpc>
                <a:spcPct val="130000"/>
              </a:lnSpc>
              <a:spcBef>
                <a:spcPts val="0"/>
              </a:spcBef>
              <a:spcAft>
                <a:spcPts val="0"/>
              </a:spcAft>
              <a:buNone/>
            </a:pPr>
            <a:r>
              <a:t/>
            </a:r>
            <a:endParaRPr>
              <a:solidFill>
                <a:schemeClr val="dk1"/>
              </a:solidFill>
              <a:latin typeface="Encode Sans"/>
              <a:ea typeface="Encode Sans"/>
              <a:cs typeface="Encode Sans"/>
              <a:sym typeface="Encode Sans"/>
            </a:endParaRPr>
          </a:p>
          <a:p>
            <a:pPr indent="0" lvl="0" marL="0" marR="0" rtl="0" algn="l">
              <a:lnSpc>
                <a:spcPct val="130000"/>
              </a:lnSpc>
              <a:spcBef>
                <a:spcPts val="0"/>
              </a:spcBef>
              <a:spcAft>
                <a:spcPts val="0"/>
              </a:spcAft>
              <a:buNone/>
            </a:pPr>
            <a:r>
              <a:t/>
            </a:r>
            <a:endParaRPr>
              <a:solidFill>
                <a:schemeClr val="dk1"/>
              </a:solidFill>
              <a:latin typeface="Encode Sans"/>
              <a:ea typeface="Encode Sans"/>
              <a:cs typeface="Encode Sans"/>
              <a:sym typeface="Encode Sans"/>
            </a:endParaRPr>
          </a:p>
          <a:p>
            <a:pPr indent="0" lvl="0" marL="0" marR="0" rtl="0" algn="l">
              <a:lnSpc>
                <a:spcPct val="130000"/>
              </a:lnSpc>
              <a:spcBef>
                <a:spcPts val="0"/>
              </a:spcBef>
              <a:spcAft>
                <a:spcPts val="0"/>
              </a:spcAft>
              <a:buNone/>
            </a:pPr>
            <a:r>
              <a:t/>
            </a:r>
            <a:endParaRPr>
              <a:solidFill>
                <a:schemeClr val="dk1"/>
              </a:solidFill>
              <a:latin typeface="Encode Sans"/>
              <a:ea typeface="Encode Sans"/>
              <a:cs typeface="Encode Sans"/>
              <a:sym typeface="Encode Sans"/>
            </a:endParaRPr>
          </a:p>
          <a:p>
            <a:pPr indent="0" lvl="0" marL="0" marR="0" rtl="0" algn="l">
              <a:lnSpc>
                <a:spcPct val="130000"/>
              </a:lnSpc>
              <a:spcBef>
                <a:spcPts val="0"/>
              </a:spcBef>
              <a:spcAft>
                <a:spcPts val="0"/>
              </a:spcAft>
              <a:buNone/>
            </a:pPr>
            <a:r>
              <a:t/>
            </a:r>
            <a:endParaRPr>
              <a:solidFill>
                <a:schemeClr val="dk1"/>
              </a:solidFill>
              <a:latin typeface="Encode Sans"/>
              <a:ea typeface="Encode Sans"/>
              <a:cs typeface="Encode Sans"/>
              <a:sym typeface="Encode Sans"/>
            </a:endParaRPr>
          </a:p>
          <a:p>
            <a:pPr indent="0" lvl="0" marL="0" marR="0" rtl="0" algn="l">
              <a:lnSpc>
                <a:spcPct val="130000"/>
              </a:lnSpc>
              <a:spcBef>
                <a:spcPts val="0"/>
              </a:spcBef>
              <a:spcAft>
                <a:spcPts val="0"/>
              </a:spcAft>
              <a:buNone/>
            </a:pPr>
            <a:r>
              <a:t/>
            </a:r>
            <a:endParaRPr>
              <a:solidFill>
                <a:schemeClr val="dk1"/>
              </a:solidFill>
              <a:latin typeface="Encode Sans"/>
              <a:ea typeface="Encode Sans"/>
              <a:cs typeface="Encode Sans"/>
              <a:sym typeface="Encode Sans"/>
            </a:endParaRPr>
          </a:p>
          <a:p>
            <a:pPr indent="0" lvl="0" marL="0" marR="0" rtl="0" algn="l">
              <a:lnSpc>
                <a:spcPct val="130000"/>
              </a:lnSpc>
              <a:spcBef>
                <a:spcPts val="0"/>
              </a:spcBef>
              <a:spcAft>
                <a:spcPts val="0"/>
              </a:spcAft>
              <a:buNone/>
            </a:pPr>
            <a:r>
              <a:t/>
            </a:r>
            <a:endParaRPr>
              <a:solidFill>
                <a:schemeClr val="dk1"/>
              </a:solidFill>
              <a:latin typeface="Encode Sans"/>
              <a:ea typeface="Encode Sans"/>
              <a:cs typeface="Encode Sans"/>
              <a:sym typeface="Encode Sans"/>
            </a:endParaRPr>
          </a:p>
          <a:p>
            <a:pPr indent="-225425" lvl="1" marL="571500" marR="0" rtl="0" algn="l">
              <a:lnSpc>
                <a:spcPct val="130000"/>
              </a:lnSpc>
              <a:spcBef>
                <a:spcPts val="100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recursive=True</a:t>
            </a:r>
            <a:r>
              <a:rPr lang="en-GB">
                <a:solidFill>
                  <a:schemeClr val="dk1"/>
                </a:solidFill>
                <a:latin typeface="Encode Sans"/>
                <a:ea typeface="Encode Sans"/>
                <a:cs typeface="Encode Sans"/>
                <a:sym typeface="Encode Sans"/>
              </a:rPr>
              <a:t> also loads files in subfolders, off by default</a:t>
            </a:r>
            <a:endParaRPr>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required_exts</a:t>
            </a:r>
            <a:r>
              <a:rPr lang="en-GB">
                <a:solidFill>
                  <a:schemeClr val="dk1"/>
                </a:solidFill>
                <a:latin typeface="Encode Sans"/>
                <a:ea typeface="Encode Sans"/>
                <a:cs typeface="Encode Sans"/>
                <a:sym typeface="Encode Sans"/>
              </a:rPr>
              <a:t> restricts loading to specific file types, default to load every file type SimpleDirectoryReader recognizes such as .pdf, .docx, .ppt, .pptm, .pptx, .csv, .md, etc.</a:t>
            </a:r>
            <a:endParaRPr>
              <a:solidFill>
                <a:schemeClr val="dk1"/>
              </a:solidFill>
              <a:latin typeface="Encode Sans"/>
              <a:ea typeface="Encode Sans"/>
              <a:cs typeface="Encode Sans"/>
              <a:sym typeface="Encode Sans"/>
            </a:endParaRPr>
          </a:p>
        </p:txBody>
      </p:sp>
      <p:sp>
        <p:nvSpPr>
          <p:cNvPr id="682" name="Google Shape;682;p8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grpSp>
        <p:nvGrpSpPr>
          <p:cNvPr id="683" name="Google Shape;683;p82"/>
          <p:cNvGrpSpPr/>
          <p:nvPr/>
        </p:nvGrpSpPr>
        <p:grpSpPr>
          <a:xfrm>
            <a:off x="865426" y="1832400"/>
            <a:ext cx="4200815" cy="1909200"/>
            <a:chOff x="865426" y="1984800"/>
            <a:chExt cx="4200815" cy="1909200"/>
          </a:xfrm>
        </p:grpSpPr>
        <p:grpSp>
          <p:nvGrpSpPr>
            <p:cNvPr id="684" name="Google Shape;684;p82"/>
            <p:cNvGrpSpPr/>
            <p:nvPr/>
          </p:nvGrpSpPr>
          <p:grpSpPr>
            <a:xfrm>
              <a:off x="865426" y="1984800"/>
              <a:ext cx="4200815" cy="1909200"/>
              <a:chOff x="1637651" y="2946097"/>
              <a:chExt cx="2558976" cy="1909200"/>
            </a:xfrm>
          </p:grpSpPr>
          <p:grpSp>
            <p:nvGrpSpPr>
              <p:cNvPr id="685" name="Google Shape;685;p82"/>
              <p:cNvGrpSpPr/>
              <p:nvPr/>
            </p:nvGrpSpPr>
            <p:grpSpPr>
              <a:xfrm>
                <a:off x="1637651" y="2946097"/>
                <a:ext cx="2558976" cy="1909200"/>
                <a:chOff x="1637699" y="2946097"/>
                <a:chExt cx="2136932" cy="1909200"/>
              </a:xfrm>
            </p:grpSpPr>
            <p:sp>
              <p:nvSpPr>
                <p:cNvPr id="686" name="Google Shape;686;p82"/>
                <p:cNvSpPr/>
                <p:nvPr/>
              </p:nvSpPr>
              <p:spPr>
                <a:xfrm>
                  <a:off x="1638631" y="2946097"/>
                  <a:ext cx="2136000" cy="19092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687" name="Google Shape;687;p82"/>
                <p:cNvCxnSpPr/>
                <p:nvPr/>
              </p:nvCxnSpPr>
              <p:spPr>
                <a:xfrm>
                  <a:off x="1637699" y="3256225"/>
                  <a:ext cx="2136300" cy="0"/>
                </a:xfrm>
                <a:prstGeom prst="straightConnector1">
                  <a:avLst/>
                </a:prstGeom>
                <a:noFill/>
                <a:ln cap="flat" cmpd="sng" w="9525">
                  <a:solidFill>
                    <a:schemeClr val="dk2"/>
                  </a:solidFill>
                  <a:prstDash val="solid"/>
                  <a:round/>
                  <a:headEnd len="med" w="med" type="none"/>
                  <a:tailEnd len="med" w="med" type="none"/>
                </a:ln>
              </p:spPr>
            </p:cxnSp>
          </p:grpSp>
          <p:sp>
            <p:nvSpPr>
              <p:cNvPr id="688" name="Google Shape;688;p82"/>
              <p:cNvSpPr txBox="1"/>
              <p:nvPr/>
            </p:nvSpPr>
            <p:spPr>
              <a:xfrm>
                <a:off x="1680397" y="3264048"/>
                <a:ext cx="2423700" cy="140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llama_index.core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SimpleDirectoryReader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documents = SimpleDirectoryReader(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"./workflow-engineering/llama-index/data"</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recursive</a:t>
                </a:r>
                <a:r>
                  <a:rPr lang="en-GB" sz="1000">
                    <a:solidFill>
                      <a:srgbClr val="080808"/>
                    </a:solidFill>
                    <a:latin typeface="Consolas"/>
                    <a:ea typeface="Consolas"/>
                    <a:cs typeface="Consolas"/>
                    <a:sym typeface="Consolas"/>
                  </a:rPr>
                  <a:t>=</a:t>
                </a:r>
                <a:r>
                  <a:rPr lang="en-GB" sz="1000">
                    <a:solidFill>
                      <a:srgbClr val="0033B3"/>
                    </a:solidFill>
                    <a:latin typeface="Consolas"/>
                    <a:ea typeface="Consolas"/>
                    <a:cs typeface="Consolas"/>
                    <a:sym typeface="Consolas"/>
                  </a:rPr>
                  <a:t>True</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required_exts</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".pdf"</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".md"</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).load_data()</a:t>
                </a:r>
                <a:endParaRPr sz="1000">
                  <a:solidFill>
                    <a:srgbClr val="080808"/>
                  </a:solidFill>
                  <a:latin typeface="Consolas"/>
                  <a:ea typeface="Consolas"/>
                  <a:cs typeface="Consolas"/>
                  <a:sym typeface="Consolas"/>
                </a:endParaRPr>
              </a:p>
            </p:txBody>
          </p:sp>
        </p:grpSp>
        <p:grpSp>
          <p:nvGrpSpPr>
            <p:cNvPr id="689" name="Google Shape;689;p82"/>
            <p:cNvGrpSpPr/>
            <p:nvPr/>
          </p:nvGrpSpPr>
          <p:grpSpPr>
            <a:xfrm>
              <a:off x="997350" y="2088456"/>
              <a:ext cx="448950" cy="109200"/>
              <a:chOff x="1769550" y="3049750"/>
              <a:chExt cx="448950" cy="109200"/>
            </a:xfrm>
          </p:grpSpPr>
          <p:sp>
            <p:nvSpPr>
              <p:cNvPr id="690" name="Google Shape;690;p82"/>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691" name="Google Shape;691;p82"/>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692" name="Google Shape;692;p82"/>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grpSp>
      <p:sp>
        <p:nvSpPr>
          <p:cNvPr id="693" name="Google Shape;693;p82"/>
          <p:cNvSpPr txBox="1"/>
          <p:nvPr>
            <p:ph idx="1" type="body"/>
          </p:nvPr>
        </p:nvSpPr>
        <p:spPr>
          <a:xfrm>
            <a:off x="5370100" y="1897350"/>
            <a:ext cx="3604500" cy="1779300"/>
          </a:xfrm>
          <a:prstGeom prst="rect">
            <a:avLst/>
          </a:prstGeom>
          <a:ln cap="flat" cmpd="sng" w="9525">
            <a:solidFill>
              <a:srgbClr val="CE6948"/>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en-GB" sz="1000">
                <a:solidFill>
                  <a:srgbClr val="D97757"/>
                </a:solidFill>
                <a:latin typeface="Encode Sans"/>
                <a:ea typeface="Encode Sans"/>
                <a:cs typeface="Encode Sans"/>
                <a:sym typeface="Encode Sans"/>
              </a:rPr>
              <a:t>Note: </a:t>
            </a:r>
            <a:endParaRPr sz="1000">
              <a:solidFill>
                <a:srgbClr val="D97757"/>
              </a:solidFill>
              <a:latin typeface="Encode Sans"/>
              <a:ea typeface="Encode Sans"/>
              <a:cs typeface="Encode Sans"/>
              <a:sym typeface="Encode Sans"/>
            </a:endParaRPr>
          </a:p>
          <a:p>
            <a:pPr indent="-292100" lvl="0" marL="450000" marR="0" rtl="0" algn="l">
              <a:lnSpc>
                <a:spcPct val="130000"/>
              </a:lnSpc>
              <a:spcBef>
                <a:spcPts val="0"/>
              </a:spcBef>
              <a:spcAft>
                <a:spcPts val="0"/>
              </a:spcAft>
              <a:buClr>
                <a:srgbClr val="D97757"/>
              </a:buClr>
              <a:buSzPts val="1000"/>
              <a:buFont typeface="Encode Sans"/>
              <a:buChar char="●"/>
            </a:pPr>
            <a:r>
              <a:rPr b="1" lang="en-GB" sz="1000">
                <a:solidFill>
                  <a:srgbClr val="D97757"/>
                </a:solidFill>
                <a:latin typeface="Encode Sans"/>
                <a:ea typeface="Encode Sans"/>
                <a:cs typeface="Encode Sans"/>
                <a:sym typeface="Encode Sans"/>
              </a:rPr>
              <a:t>SimpleDirectoryReader </a:t>
            </a:r>
            <a:r>
              <a:rPr lang="en-GB" sz="1000">
                <a:solidFill>
                  <a:schemeClr val="dk1"/>
                </a:solidFill>
                <a:latin typeface="Encode Sans"/>
                <a:ea typeface="Encode Sans"/>
                <a:cs typeface="Encode Sans"/>
                <a:sym typeface="Encode Sans"/>
              </a:rPr>
              <a:t>handles local folders by default, and all data connectors output the exact same format (list[Document]).</a:t>
            </a:r>
            <a:endParaRPr sz="1000">
              <a:solidFill>
                <a:schemeClr val="dk1"/>
              </a:solidFill>
              <a:latin typeface="Encode Sans"/>
              <a:ea typeface="Encode Sans"/>
              <a:cs typeface="Encode Sans"/>
              <a:sym typeface="Encode Sans"/>
            </a:endParaRPr>
          </a:p>
          <a:p>
            <a:pPr indent="-304800" lvl="0" marL="450000" marR="0" rtl="0" algn="l">
              <a:lnSpc>
                <a:spcPct val="130000"/>
              </a:lnSpc>
              <a:spcBef>
                <a:spcPts val="0"/>
              </a:spcBef>
              <a:spcAft>
                <a:spcPts val="0"/>
              </a:spcAft>
              <a:buClr>
                <a:srgbClr val="D97757"/>
              </a:buClr>
              <a:buSzPts val="1200"/>
              <a:buFont typeface="Encode Sans"/>
              <a:buChar char="●"/>
            </a:pPr>
            <a:r>
              <a:rPr b="1" lang="en-GB" sz="1000">
                <a:solidFill>
                  <a:srgbClr val="D97757"/>
                </a:solidFill>
                <a:latin typeface="Encode Sans"/>
                <a:ea typeface="Encode Sans"/>
                <a:cs typeface="Encode Sans"/>
                <a:sym typeface="Encode Sans"/>
              </a:rPr>
              <a:t>LlamaHub Integrations:</a:t>
            </a:r>
            <a:r>
              <a:rPr lang="en-GB" sz="1000">
                <a:solidFill>
                  <a:schemeClr val="dk1"/>
                </a:solidFill>
                <a:latin typeface="Encode Sans"/>
                <a:ea typeface="Encode Sans"/>
                <a:cs typeface="Encode Sans"/>
                <a:sym typeface="Encode Sans"/>
              </a:rPr>
              <a:t> Hundreds of individual, package-based readers are available through LlamaHub to ingest data from third-party platforms (e.g., Notion, Slack, Google Drive, S3).</a:t>
            </a:r>
            <a:endParaRPr sz="1000">
              <a:solidFill>
                <a:schemeClr val="dk1"/>
              </a:solidFill>
              <a:latin typeface="Encode Sans"/>
              <a:ea typeface="Encode Sans"/>
              <a:cs typeface="Encode Sans"/>
              <a:sym typeface="Encode Sans"/>
            </a:endParaRPr>
          </a:p>
        </p:txBody>
      </p:sp>
      <p:sp>
        <p:nvSpPr>
          <p:cNvPr id="694" name="Google Shape;694;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83"/>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Transformation &amp; Indexing</a:t>
            </a:r>
            <a:endParaRPr>
              <a:solidFill>
                <a:srgbClr val="CE6948"/>
              </a:solidFill>
            </a:endParaRPr>
          </a:p>
        </p:txBody>
      </p:sp>
      <p:sp>
        <p:nvSpPr>
          <p:cNvPr id="700" name="Google Shape;700;p83"/>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sp>
        <p:nvSpPr>
          <p:cNvPr id="701" name="Google Shape;701;p83"/>
          <p:cNvSpPr txBox="1"/>
          <p:nvPr>
            <p:ph idx="1" type="body"/>
          </p:nvPr>
        </p:nvSpPr>
        <p:spPr>
          <a:xfrm>
            <a:off x="311700" y="1069550"/>
            <a:ext cx="8520600" cy="1685400"/>
          </a:xfrm>
          <a:prstGeom prst="rect">
            <a:avLst/>
          </a:prstGeom>
        </p:spPr>
        <p:txBody>
          <a:bodyPr anchorCtr="0" anchor="t" bIns="91425" lIns="91425" spcFirstLastPara="1" rIns="91425" wrap="square" tIns="91425">
            <a:spAutoFit/>
          </a:bodyPr>
          <a:lstStyle/>
          <a:p>
            <a:pPr indent="-311150" lvl="0" marL="457200" rtl="0" algn="l">
              <a:lnSpc>
                <a:spcPct val="130000"/>
              </a:lnSpc>
              <a:spcBef>
                <a:spcPts val="0"/>
              </a:spcBef>
              <a:spcAft>
                <a:spcPts val="0"/>
              </a:spcAft>
              <a:buClr>
                <a:srgbClr val="D97757"/>
              </a:buClr>
              <a:buSzPts val="1300"/>
              <a:buFont typeface="Arial"/>
              <a:buChar char="●"/>
            </a:pPr>
            <a:r>
              <a:rPr lang="en-GB">
                <a:solidFill>
                  <a:schemeClr val="dk1"/>
                </a:solidFill>
                <a:latin typeface="Encode Sans"/>
                <a:ea typeface="Encode Sans"/>
                <a:cs typeface="Encode Sans"/>
                <a:sym typeface="Encode Sans"/>
              </a:rPr>
              <a:t>In llamaIndex there are several way you can implement this step:</a:t>
            </a:r>
            <a:endParaRPr>
              <a:solidFill>
                <a:schemeClr val="dk1"/>
              </a:solidFill>
              <a:latin typeface="Encode Sans"/>
              <a:ea typeface="Encode Sans"/>
              <a:cs typeface="Encode Sans"/>
              <a:sym typeface="Encode Sans"/>
            </a:endParaRPr>
          </a:p>
          <a:p>
            <a:pPr indent="-311150" lvl="0" marL="914400" rtl="0" algn="l">
              <a:lnSpc>
                <a:spcPct val="130000"/>
              </a:lnSpc>
              <a:spcBef>
                <a:spcPts val="0"/>
              </a:spcBef>
              <a:spcAft>
                <a:spcPts val="0"/>
              </a:spcAft>
              <a:buClr>
                <a:srgbClr val="D97757"/>
              </a:buClr>
              <a:buSzPts val="1300"/>
              <a:buFont typeface="Encode Sans"/>
              <a:buChar char="○"/>
            </a:pPr>
            <a:r>
              <a:rPr lang="en-GB">
                <a:solidFill>
                  <a:schemeClr val="dk1"/>
                </a:solidFill>
                <a:latin typeface="Encode Sans"/>
                <a:ea typeface="Encode Sans"/>
                <a:cs typeface="Encode Sans"/>
                <a:sym typeface="Encode Sans"/>
              </a:rPr>
              <a:t>Manual transformation with </a:t>
            </a:r>
            <a:r>
              <a:rPr b="1" lang="en-GB">
                <a:solidFill>
                  <a:srgbClr val="D97757"/>
                </a:solidFill>
                <a:latin typeface="Encode Sans"/>
                <a:ea typeface="Encode Sans"/>
                <a:cs typeface="Encode Sans"/>
                <a:sym typeface="Encode Sans"/>
              </a:rPr>
              <a:t>SentenceSplitter(),</a:t>
            </a:r>
            <a:r>
              <a:rPr lang="en-GB">
                <a:solidFill>
                  <a:schemeClr val="dk1"/>
                </a:solidFill>
                <a:latin typeface="Encode Sans"/>
                <a:ea typeface="Encode Sans"/>
                <a:cs typeface="Encode Sans"/>
                <a:sym typeface="Encode Sans"/>
              </a:rPr>
              <a:t> split then Index</a:t>
            </a:r>
            <a:endParaRPr>
              <a:solidFill>
                <a:schemeClr val="dk1"/>
              </a:solidFill>
              <a:latin typeface="Encode Sans"/>
              <a:ea typeface="Encode Sans"/>
              <a:cs typeface="Encode Sans"/>
              <a:sym typeface="Encode Sans"/>
            </a:endParaRPr>
          </a:p>
          <a:p>
            <a:pPr indent="-311150" lvl="0" marL="914400" rtl="0" algn="l">
              <a:lnSpc>
                <a:spcPct val="130000"/>
              </a:lnSpc>
              <a:spcBef>
                <a:spcPts val="0"/>
              </a:spcBef>
              <a:spcAft>
                <a:spcPts val="0"/>
              </a:spcAft>
              <a:buClr>
                <a:srgbClr val="D97757"/>
              </a:buClr>
              <a:buSzPts val="1300"/>
              <a:buFont typeface="Encode Sans"/>
              <a:buChar char="○"/>
            </a:pPr>
            <a:r>
              <a:rPr lang="en-GB">
                <a:solidFill>
                  <a:schemeClr val="dk1"/>
                </a:solidFill>
                <a:latin typeface="Encode Sans"/>
                <a:ea typeface="Encode Sans"/>
                <a:cs typeface="Encode Sans"/>
                <a:sym typeface="Encode Sans"/>
              </a:rPr>
              <a:t>Using </a:t>
            </a:r>
            <a:r>
              <a:rPr b="1" lang="en-GB">
                <a:solidFill>
                  <a:srgbClr val="D97757"/>
                </a:solidFill>
                <a:latin typeface="Encode Sans"/>
                <a:ea typeface="Encode Sans"/>
                <a:cs typeface="Encode Sans"/>
                <a:sym typeface="Encode Sans"/>
              </a:rPr>
              <a:t>IngestionPipeline(),</a:t>
            </a:r>
            <a:r>
              <a:rPr lang="en-GB">
                <a:solidFill>
                  <a:schemeClr val="dk1"/>
                </a:solidFill>
                <a:latin typeface="Encode Sans"/>
                <a:ea typeface="Encode Sans"/>
                <a:cs typeface="Encode Sans"/>
                <a:sym typeface="Encode Sans"/>
              </a:rPr>
              <a:t> split then index</a:t>
            </a:r>
            <a:endParaRPr>
              <a:solidFill>
                <a:schemeClr val="dk1"/>
              </a:solidFill>
              <a:latin typeface="Encode Sans"/>
              <a:ea typeface="Encode Sans"/>
              <a:cs typeface="Encode Sans"/>
              <a:sym typeface="Encode Sans"/>
            </a:endParaRPr>
          </a:p>
          <a:p>
            <a:pPr indent="-311150" lvl="0" marL="914400" rtl="0" algn="l">
              <a:lnSpc>
                <a:spcPct val="130000"/>
              </a:lnSpc>
              <a:spcBef>
                <a:spcPts val="0"/>
              </a:spcBef>
              <a:spcAft>
                <a:spcPts val="0"/>
              </a:spcAft>
              <a:buClr>
                <a:srgbClr val="D97757"/>
              </a:buClr>
              <a:buSzPts val="1300"/>
              <a:buFont typeface="Encode Sans"/>
              <a:buChar char="○"/>
            </a:pPr>
            <a:r>
              <a:rPr lang="en-GB">
                <a:solidFill>
                  <a:schemeClr val="dk1"/>
                </a:solidFill>
                <a:latin typeface="Encode Sans"/>
                <a:ea typeface="Encode Sans"/>
                <a:cs typeface="Encode Sans"/>
                <a:sym typeface="Encode Sans"/>
              </a:rPr>
              <a:t>Using </a:t>
            </a:r>
            <a:r>
              <a:rPr b="1" lang="en-GB">
                <a:solidFill>
                  <a:srgbClr val="D97757"/>
                </a:solidFill>
                <a:latin typeface="Encode Sans"/>
                <a:ea typeface="Encode Sans"/>
                <a:cs typeface="Encode Sans"/>
                <a:sym typeface="Encode Sans"/>
              </a:rPr>
              <a:t>index_type.from_documents(),</a:t>
            </a:r>
            <a:r>
              <a:rPr lang="en-GB">
                <a:solidFill>
                  <a:schemeClr val="dk1"/>
                </a:solidFill>
                <a:latin typeface="Encode Sans"/>
                <a:ea typeface="Encode Sans"/>
                <a:cs typeface="Encode Sans"/>
                <a:sym typeface="Encode Sans"/>
              </a:rPr>
              <a:t> split and index</a:t>
            </a:r>
            <a:endParaRPr>
              <a:solidFill>
                <a:schemeClr val="dk1"/>
              </a:solidFill>
              <a:latin typeface="Encode Sans"/>
              <a:ea typeface="Encode Sans"/>
              <a:cs typeface="Encode Sans"/>
              <a:sym typeface="Encode Sans"/>
            </a:endParaRPr>
          </a:p>
          <a:p>
            <a:pPr indent="-311150" lvl="0" marL="457200" rtl="0" algn="l">
              <a:lnSpc>
                <a:spcPct val="130000"/>
              </a:lnSpc>
              <a:spcBef>
                <a:spcPts val="0"/>
              </a:spcBef>
              <a:spcAft>
                <a:spcPts val="0"/>
              </a:spcAft>
              <a:buClr>
                <a:srgbClr val="D97757"/>
              </a:buClr>
              <a:buSzPts val="1300"/>
              <a:buFont typeface="Arial"/>
              <a:buChar char="●"/>
            </a:pPr>
            <a:r>
              <a:rPr lang="en-GB">
                <a:solidFill>
                  <a:schemeClr val="dk1"/>
                </a:solidFill>
                <a:latin typeface="Encode Sans"/>
                <a:ea typeface="Encode Sans"/>
                <a:cs typeface="Encode Sans"/>
                <a:sym typeface="Encode Sans"/>
              </a:rPr>
              <a:t>VectorStoreIndex is the default for semantic search, but it's one of several index types LlamaIndex can build from the same Nodes:</a:t>
            </a:r>
            <a:endParaRPr>
              <a:solidFill>
                <a:schemeClr val="dk1"/>
              </a:solidFill>
              <a:latin typeface="Encode Sans"/>
              <a:ea typeface="Encode Sans"/>
              <a:cs typeface="Encode Sans"/>
              <a:sym typeface="Encode Sans"/>
            </a:endParaRPr>
          </a:p>
        </p:txBody>
      </p:sp>
      <p:graphicFrame>
        <p:nvGraphicFramePr>
          <p:cNvPr id="702" name="Google Shape;702;p83"/>
          <p:cNvGraphicFramePr/>
          <p:nvPr/>
        </p:nvGraphicFramePr>
        <p:xfrm>
          <a:off x="1732925" y="2975612"/>
          <a:ext cx="3000000" cy="3000000"/>
        </p:xfrm>
        <a:graphic>
          <a:graphicData uri="http://schemas.openxmlformats.org/drawingml/2006/table">
            <a:tbl>
              <a:tblPr>
                <a:noFill/>
                <a:tableStyleId>{72E992ED-6B25-4E48-9C0A-EFB178C94E49}</a:tableStyleId>
              </a:tblPr>
              <a:tblGrid>
                <a:gridCol w="1901150"/>
                <a:gridCol w="3776975"/>
              </a:tblGrid>
              <a:tr h="348450">
                <a:tc>
                  <a:txBody>
                    <a:bodyPr/>
                    <a:lstStyle/>
                    <a:p>
                      <a:pPr indent="0" lvl="0" marL="0" rtl="0" algn="l">
                        <a:spcBef>
                          <a:spcPts val="0"/>
                        </a:spcBef>
                        <a:spcAft>
                          <a:spcPts val="0"/>
                        </a:spcAft>
                        <a:buNone/>
                      </a:pPr>
                      <a:r>
                        <a:rPr b="1" lang="en-GB" sz="950">
                          <a:solidFill>
                            <a:srgbClr val="FFFFFF"/>
                          </a:solidFill>
                          <a:latin typeface="Encode Sans"/>
                          <a:ea typeface="Encode Sans"/>
                          <a:cs typeface="Encode Sans"/>
                          <a:sym typeface="Encode Sans"/>
                        </a:rPr>
                        <a:t>Index type</a:t>
                      </a:r>
                      <a:endParaRPr sz="95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950">
                          <a:solidFill>
                            <a:srgbClr val="FFFFFF"/>
                          </a:solidFill>
                          <a:latin typeface="Encode Sans"/>
                          <a:ea typeface="Encode Sans"/>
                          <a:cs typeface="Encode Sans"/>
                          <a:sym typeface="Encode Sans"/>
                        </a:rPr>
                        <a:t>Best for</a:t>
                      </a:r>
                      <a:endParaRPr sz="95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r>
              <a:tr h="348450">
                <a:tc>
                  <a:txBody>
                    <a:bodyPr/>
                    <a:lstStyle/>
                    <a:p>
                      <a:pPr indent="0" lvl="0" marL="0" rtl="0" algn="l">
                        <a:spcBef>
                          <a:spcPts val="0"/>
                        </a:spcBef>
                        <a:spcAft>
                          <a:spcPts val="0"/>
                        </a:spcAft>
                        <a:buNone/>
                      </a:pPr>
                      <a:r>
                        <a:rPr b="1" lang="en-GB" sz="950">
                          <a:solidFill>
                            <a:srgbClr val="1F1F1F"/>
                          </a:solidFill>
                          <a:latin typeface="Encode Sans"/>
                          <a:ea typeface="Encode Sans"/>
                          <a:cs typeface="Encode Sans"/>
                          <a:sym typeface="Encode Sans"/>
                        </a:rPr>
                        <a:t>VectorStoreIndex</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950">
                          <a:solidFill>
                            <a:srgbClr val="1F1F1F"/>
                          </a:solidFill>
                          <a:latin typeface="Encode Sans"/>
                          <a:ea typeface="Encode Sans"/>
                          <a:cs typeface="Encode Sans"/>
                          <a:sym typeface="Encode Sans"/>
                        </a:rPr>
                        <a:t>Semantic similarity search</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348450">
                <a:tc>
                  <a:txBody>
                    <a:bodyPr/>
                    <a:lstStyle/>
                    <a:p>
                      <a:pPr indent="0" lvl="0" marL="0" rtl="0" algn="l">
                        <a:spcBef>
                          <a:spcPts val="0"/>
                        </a:spcBef>
                        <a:spcAft>
                          <a:spcPts val="0"/>
                        </a:spcAft>
                        <a:buNone/>
                      </a:pPr>
                      <a:r>
                        <a:rPr b="1" lang="en-GB" sz="950">
                          <a:solidFill>
                            <a:srgbClr val="1F1F1F"/>
                          </a:solidFill>
                          <a:latin typeface="Encode Sans"/>
                          <a:ea typeface="Encode Sans"/>
                          <a:cs typeface="Encode Sans"/>
                          <a:sym typeface="Encode Sans"/>
                        </a:rPr>
                        <a:t>SummaryIndex</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950">
                          <a:solidFill>
                            <a:srgbClr val="1F1F1F"/>
                          </a:solidFill>
                          <a:latin typeface="Encode Sans"/>
                          <a:ea typeface="Encode Sans"/>
                          <a:cs typeface="Encode Sans"/>
                          <a:sym typeface="Encode Sans"/>
                        </a:rPr>
                        <a:t>Small datasets, sends every Node to the LLM</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348450">
                <a:tc>
                  <a:txBody>
                    <a:bodyPr/>
                    <a:lstStyle/>
                    <a:p>
                      <a:pPr indent="0" lvl="0" marL="0" rtl="0" algn="l">
                        <a:spcBef>
                          <a:spcPts val="0"/>
                        </a:spcBef>
                        <a:spcAft>
                          <a:spcPts val="0"/>
                        </a:spcAft>
                        <a:buNone/>
                      </a:pPr>
                      <a:r>
                        <a:rPr b="1" lang="en-GB" sz="950">
                          <a:solidFill>
                            <a:srgbClr val="1F1F1F"/>
                          </a:solidFill>
                          <a:latin typeface="Encode Sans"/>
                          <a:ea typeface="Encode Sans"/>
                          <a:cs typeface="Encode Sans"/>
                          <a:sym typeface="Encode Sans"/>
                        </a:rPr>
                        <a:t>KeywordTableIndex</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spcBef>
                          <a:spcPts val="0"/>
                        </a:spcBef>
                        <a:spcAft>
                          <a:spcPts val="0"/>
                        </a:spcAft>
                        <a:buNone/>
                      </a:pPr>
                      <a:r>
                        <a:rPr lang="en-GB" sz="950">
                          <a:solidFill>
                            <a:srgbClr val="1F1F1F"/>
                          </a:solidFill>
                          <a:latin typeface="Encode Sans"/>
                          <a:ea typeface="Encode Sans"/>
                          <a:cs typeface="Encode Sans"/>
                          <a:sym typeface="Encode Sans"/>
                        </a:rPr>
                        <a:t>Exact keyword matching</a:t>
                      </a:r>
                      <a:endParaRPr i="1"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bl>
          </a:graphicData>
        </a:graphic>
      </p:graphicFrame>
      <p:sp>
        <p:nvSpPr>
          <p:cNvPr id="703" name="Google Shape;703;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8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Transformation &amp; Indexing (cont)</a:t>
            </a:r>
            <a:endParaRPr>
              <a:solidFill>
                <a:srgbClr val="CE6948"/>
              </a:solidFill>
            </a:endParaRPr>
          </a:p>
        </p:txBody>
      </p:sp>
      <p:sp>
        <p:nvSpPr>
          <p:cNvPr id="709" name="Google Shape;709;p84"/>
          <p:cNvSpPr txBox="1"/>
          <p:nvPr>
            <p:ph idx="1" type="body"/>
          </p:nvPr>
        </p:nvSpPr>
        <p:spPr>
          <a:xfrm>
            <a:off x="311700" y="1069550"/>
            <a:ext cx="8520600" cy="384900"/>
          </a:xfrm>
          <a:prstGeom prst="rect">
            <a:avLst/>
          </a:prstGeom>
        </p:spPr>
        <p:txBody>
          <a:bodyPr anchorCtr="0" anchor="t" bIns="91425" lIns="91425" spcFirstLastPara="1" rIns="91425" wrap="square" tIns="91425">
            <a:spAutoFit/>
          </a:bodyPr>
          <a:lstStyle/>
          <a:p>
            <a:pPr indent="-311150" lvl="0" marL="457200" marR="0" rtl="0" algn="l">
              <a:lnSpc>
                <a:spcPct val="130000"/>
              </a:lnSpc>
              <a:spcBef>
                <a:spcPts val="0"/>
              </a:spcBef>
              <a:spcAft>
                <a:spcPts val="0"/>
              </a:spcAft>
              <a:buClr>
                <a:srgbClr val="CE6948"/>
              </a:buClr>
              <a:buSzPts val="1300"/>
              <a:buFont typeface="Arial"/>
              <a:buChar char="●"/>
            </a:pPr>
            <a:r>
              <a:rPr b="1" lang="en-GB">
                <a:solidFill>
                  <a:srgbClr val="D97757"/>
                </a:solidFill>
                <a:latin typeface="Encode Sans"/>
                <a:ea typeface="Encode Sans"/>
                <a:cs typeface="Encode Sans"/>
                <a:sym typeface="Encode Sans"/>
              </a:rPr>
              <a:t>Manual transformation, split then Index</a:t>
            </a:r>
            <a:r>
              <a:rPr b="1" lang="en-GB">
                <a:solidFill>
                  <a:srgbClr val="D97757"/>
                </a:solidFill>
                <a:latin typeface="Encode Sans"/>
                <a:ea typeface="Encode Sans"/>
                <a:cs typeface="Encode Sans"/>
                <a:sym typeface="Encode Sans"/>
              </a:rPr>
              <a:t> </a:t>
            </a:r>
            <a:endParaRPr>
              <a:solidFill>
                <a:schemeClr val="dk1"/>
              </a:solidFill>
              <a:latin typeface="Encode Sans"/>
              <a:ea typeface="Encode Sans"/>
              <a:cs typeface="Encode Sans"/>
              <a:sym typeface="Encode Sans"/>
            </a:endParaRPr>
          </a:p>
        </p:txBody>
      </p:sp>
      <p:sp>
        <p:nvSpPr>
          <p:cNvPr id="710" name="Google Shape;710;p8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grpSp>
        <p:nvGrpSpPr>
          <p:cNvPr id="711" name="Google Shape;711;p84"/>
          <p:cNvGrpSpPr/>
          <p:nvPr/>
        </p:nvGrpSpPr>
        <p:grpSpPr>
          <a:xfrm>
            <a:off x="865428" y="1527600"/>
            <a:ext cx="6684595" cy="3311700"/>
            <a:chOff x="1637652" y="2946097"/>
            <a:chExt cx="4072000" cy="3311700"/>
          </a:xfrm>
        </p:grpSpPr>
        <p:grpSp>
          <p:nvGrpSpPr>
            <p:cNvPr id="712" name="Google Shape;712;p84"/>
            <p:cNvGrpSpPr/>
            <p:nvPr/>
          </p:nvGrpSpPr>
          <p:grpSpPr>
            <a:xfrm>
              <a:off x="1637652" y="2946097"/>
              <a:ext cx="4046920" cy="3311700"/>
              <a:chOff x="1637700" y="2946097"/>
              <a:chExt cx="3379474" cy="3311700"/>
            </a:xfrm>
          </p:grpSpPr>
          <p:sp>
            <p:nvSpPr>
              <p:cNvPr id="713" name="Google Shape;713;p84"/>
              <p:cNvSpPr/>
              <p:nvPr/>
            </p:nvSpPr>
            <p:spPr>
              <a:xfrm>
                <a:off x="1639174" y="2946097"/>
                <a:ext cx="3378000" cy="33117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714" name="Google Shape;714;p84"/>
              <p:cNvCxnSpPr/>
              <p:nvPr/>
            </p:nvCxnSpPr>
            <p:spPr>
              <a:xfrm>
                <a:off x="1637700" y="3256225"/>
                <a:ext cx="3378600" cy="0"/>
              </a:xfrm>
              <a:prstGeom prst="straightConnector1">
                <a:avLst/>
              </a:prstGeom>
              <a:noFill/>
              <a:ln cap="flat" cmpd="sng" w="9525">
                <a:solidFill>
                  <a:schemeClr val="dk2"/>
                </a:solidFill>
                <a:prstDash val="solid"/>
                <a:round/>
                <a:headEnd len="med" w="med" type="none"/>
                <a:tailEnd len="med" w="med" type="none"/>
              </a:ln>
            </p:spPr>
          </p:cxnSp>
        </p:grpSp>
        <p:sp>
          <p:nvSpPr>
            <p:cNvPr id="715" name="Google Shape;715;p84"/>
            <p:cNvSpPr txBox="1"/>
            <p:nvPr/>
          </p:nvSpPr>
          <p:spPr>
            <a:xfrm>
              <a:off x="1705252" y="3264047"/>
              <a:ext cx="4004400" cy="299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llama_index.core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VectorStoreIndex</a:t>
              </a:r>
              <a:br>
                <a:rPr lang="en-GB" sz="1000">
                  <a:solidFill>
                    <a:srgbClr val="0033B3"/>
                  </a:solidFill>
                  <a:latin typeface="Consolas"/>
                  <a:ea typeface="Consolas"/>
                  <a:cs typeface="Consolas"/>
                  <a:sym typeface="Consolas"/>
                </a:rPr>
              </a:b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llama_index.core.node_parser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SentenceSplitter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llama_index.core.extractors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TitleExtractor</a:t>
              </a:r>
              <a:endParaRPr sz="1000">
                <a:solidFill>
                  <a:srgbClr val="0033B3"/>
                </a:solidFill>
                <a:latin typeface="Consolas"/>
                <a:ea typeface="Consolas"/>
                <a:cs typeface="Consolas"/>
                <a:sym typeface="Consolas"/>
              </a:endParaRPr>
            </a:p>
            <a:p>
              <a:pPr indent="0" lvl="0" marL="0" rtl="0" algn="l">
                <a:lnSpc>
                  <a:spcPct val="115000"/>
                </a:lnSpc>
                <a:spcBef>
                  <a:spcPts val="0"/>
                </a:spcBef>
                <a:spcAft>
                  <a:spcPts val="0"/>
                </a:spcAft>
                <a:buNone/>
              </a:pPr>
              <a:br>
                <a:rPr lang="en-GB" sz="1000">
                  <a:solidFill>
                    <a:srgbClr val="080808"/>
                  </a:solidFill>
                  <a:latin typeface="Consolas"/>
                  <a:ea typeface="Consolas"/>
                  <a:cs typeface="Consolas"/>
                  <a:sym typeface="Consolas"/>
                </a:rPr>
              </a:br>
              <a:r>
                <a:rPr i="1" lang="en-GB" sz="1000">
                  <a:solidFill>
                    <a:srgbClr val="8C8C8C"/>
                  </a:solidFill>
                  <a:latin typeface="Consolas"/>
                  <a:ea typeface="Consolas"/>
                  <a:cs typeface="Consolas"/>
                  <a:sym typeface="Consolas"/>
                </a:rPr>
                <a:t>#Splitting the document into nodes</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splitter = SentenceSplitter(</a:t>
              </a:r>
              <a:r>
                <a:rPr lang="en-GB" sz="1000">
                  <a:solidFill>
                    <a:srgbClr val="660099"/>
                  </a:solidFill>
                  <a:latin typeface="Consolas"/>
                  <a:ea typeface="Consolas"/>
                  <a:cs typeface="Consolas"/>
                  <a:sym typeface="Consolas"/>
                </a:rPr>
                <a:t>chunk_size</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512</a:t>
              </a: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chunk_overlap</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50</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nodes = splitter.get_nodes_from_documents(documents)</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i="1" lang="en-GB" sz="1000">
                  <a:solidFill>
                    <a:srgbClr val="8C8C8C"/>
                  </a:solidFill>
                  <a:latin typeface="Consolas"/>
                  <a:ea typeface="Consolas"/>
                  <a:cs typeface="Consolas"/>
                  <a:sym typeface="Consolas"/>
                </a:rPr>
                <a:t>#Optional adding metadata</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title_extractor = TitleExtractor(</a:t>
              </a:r>
              <a:r>
                <a:rPr lang="en-GB" sz="1000">
                  <a:solidFill>
                    <a:srgbClr val="660099"/>
                  </a:solidFill>
                  <a:latin typeface="Consolas"/>
                  <a:ea typeface="Consolas"/>
                  <a:cs typeface="Consolas"/>
                  <a:sym typeface="Consolas"/>
                </a:rPr>
                <a:t>nodes</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5</a:t>
              </a: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llm</a:t>
              </a:r>
              <a:r>
                <a:rPr lang="en-GB" sz="1000">
                  <a:solidFill>
                    <a:srgbClr val="080808"/>
                  </a:solidFill>
                  <a:latin typeface="Consolas"/>
                  <a:ea typeface="Consolas"/>
                  <a:cs typeface="Consolas"/>
                  <a:sym typeface="Consolas"/>
                </a:rPr>
                <a:t>=Settings.llm)</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nodes = title_extractor(nodes)</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i="1" lang="en-GB" sz="1000">
                  <a:solidFill>
                    <a:srgbClr val="8C8C8C"/>
                  </a:solidFill>
                  <a:latin typeface="Consolas"/>
                  <a:ea typeface="Consolas"/>
                  <a:cs typeface="Consolas"/>
                  <a:sym typeface="Consolas"/>
                </a:rPr>
                <a:t>#Optional Embedding based on storing in this case embed and store in In-Memory Vector Store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for </a:t>
              </a:r>
              <a:r>
                <a:rPr lang="en-GB" sz="1000">
                  <a:solidFill>
                    <a:srgbClr val="080808"/>
                  </a:solidFill>
                  <a:latin typeface="Consolas"/>
                  <a:ea typeface="Consolas"/>
                  <a:cs typeface="Consolas"/>
                  <a:sym typeface="Consolas"/>
                </a:rPr>
                <a:t>node </a:t>
              </a:r>
              <a:r>
                <a:rPr lang="en-GB" sz="1000">
                  <a:solidFill>
                    <a:srgbClr val="0033B3"/>
                  </a:solidFill>
                  <a:latin typeface="Consolas"/>
                  <a:ea typeface="Consolas"/>
                  <a:cs typeface="Consolas"/>
                  <a:sym typeface="Consolas"/>
                </a:rPr>
                <a:t>in </a:t>
              </a:r>
              <a:r>
                <a:rPr lang="en-GB" sz="1000">
                  <a:solidFill>
                    <a:srgbClr val="080808"/>
                  </a:solidFill>
                  <a:latin typeface="Consolas"/>
                  <a:ea typeface="Consolas"/>
                  <a:cs typeface="Consolas"/>
                  <a:sym typeface="Consolas"/>
                </a:rPr>
                <a:t>nodes:</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node.embedding = Settings.embed_model.get_text_embedding(node.get_content())</a:t>
              </a:r>
              <a:br>
                <a:rPr lang="en-GB" sz="1000">
                  <a:solidFill>
                    <a:srgbClr val="080808"/>
                  </a:solidFill>
                  <a:latin typeface="Consolas"/>
                  <a:ea typeface="Consolas"/>
                  <a:cs typeface="Consolas"/>
                  <a:sym typeface="Consolas"/>
                </a:rPr>
              </a:br>
              <a:r>
                <a:rPr lang="en-GB" sz="1000">
                  <a:solidFill>
                    <a:srgbClr val="080808"/>
                  </a:solidFill>
                  <a:latin typeface="Consolas"/>
                  <a:ea typeface="Consolas"/>
                  <a:cs typeface="Consolas"/>
                  <a:sym typeface="Consolas"/>
                </a:rPr>
                <a:t>index = VectorStoreIndex(nodes)</a:t>
              </a:r>
              <a:endParaRPr sz="1000">
                <a:solidFill>
                  <a:srgbClr val="080808"/>
                </a:solidFill>
                <a:latin typeface="Consolas"/>
                <a:ea typeface="Consolas"/>
                <a:cs typeface="Consolas"/>
                <a:sym typeface="Consolas"/>
              </a:endParaRPr>
            </a:p>
          </p:txBody>
        </p:sp>
      </p:grpSp>
      <p:grpSp>
        <p:nvGrpSpPr>
          <p:cNvPr id="716" name="Google Shape;716;p84"/>
          <p:cNvGrpSpPr/>
          <p:nvPr/>
        </p:nvGrpSpPr>
        <p:grpSpPr>
          <a:xfrm>
            <a:off x="997350" y="1631256"/>
            <a:ext cx="448950" cy="109200"/>
            <a:chOff x="1769550" y="3049750"/>
            <a:chExt cx="448950" cy="109200"/>
          </a:xfrm>
        </p:grpSpPr>
        <p:sp>
          <p:nvSpPr>
            <p:cNvPr id="717" name="Google Shape;717;p84"/>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718" name="Google Shape;718;p84"/>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719" name="Google Shape;719;p84"/>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720" name="Google Shape;720;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85"/>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Transformation &amp; Indexing (cont)</a:t>
            </a:r>
            <a:endParaRPr>
              <a:solidFill>
                <a:srgbClr val="CE6948"/>
              </a:solidFill>
            </a:endParaRPr>
          </a:p>
        </p:txBody>
      </p:sp>
      <p:sp>
        <p:nvSpPr>
          <p:cNvPr id="726" name="Google Shape;726;p85"/>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sp>
        <p:nvSpPr>
          <p:cNvPr id="727" name="Google Shape;727;p85"/>
          <p:cNvSpPr txBox="1"/>
          <p:nvPr>
            <p:ph idx="1" type="body"/>
          </p:nvPr>
        </p:nvSpPr>
        <p:spPr>
          <a:xfrm>
            <a:off x="311700" y="1069550"/>
            <a:ext cx="8520600" cy="3110700"/>
          </a:xfrm>
          <a:prstGeom prst="rect">
            <a:avLst/>
          </a:prstGeom>
        </p:spPr>
        <p:txBody>
          <a:bodyPr anchorCtr="0" anchor="t" bIns="91425" lIns="91425" spcFirstLastPara="1" rIns="91425" wrap="square" tIns="91425">
            <a:spAutoFit/>
          </a:bodyPr>
          <a:lstStyle/>
          <a:p>
            <a:pPr indent="-311150" lvl="0" marL="457200" rtl="0" algn="l">
              <a:lnSpc>
                <a:spcPct val="130000"/>
              </a:lnSpc>
              <a:spcBef>
                <a:spcPts val="0"/>
              </a:spcBef>
              <a:spcAft>
                <a:spcPts val="0"/>
              </a:spcAft>
              <a:buClr>
                <a:srgbClr val="CE6948"/>
              </a:buClr>
              <a:buSzPts val="1300"/>
              <a:buFont typeface="Arial"/>
              <a:buChar char="●"/>
            </a:pPr>
            <a:r>
              <a:rPr b="1" lang="en-GB">
                <a:solidFill>
                  <a:srgbClr val="D97757"/>
                </a:solidFill>
                <a:latin typeface="Encode Sans"/>
                <a:ea typeface="Encode Sans"/>
                <a:cs typeface="Encode Sans"/>
                <a:sym typeface="Encode Sans"/>
              </a:rPr>
              <a:t>Manual transformation, split then Index</a:t>
            </a:r>
            <a:r>
              <a:rPr b="1" lang="en-GB">
                <a:solidFill>
                  <a:srgbClr val="D97757"/>
                </a:solidFill>
                <a:latin typeface="Encode Sans"/>
                <a:ea typeface="Encode Sans"/>
                <a:cs typeface="Encode Sans"/>
                <a:sym typeface="Encode Sans"/>
              </a:rPr>
              <a:t> (cont.)</a:t>
            </a:r>
            <a:endParaRPr>
              <a:solidFill>
                <a:srgbClr val="D97757"/>
              </a:solidFill>
              <a:latin typeface="Encode Sans"/>
              <a:ea typeface="Encode Sans"/>
              <a:cs typeface="Encode Sans"/>
              <a:sym typeface="Encode Sans"/>
            </a:endParaRPr>
          </a:p>
          <a:p>
            <a:pPr indent="-311150" lvl="0" marL="914400" marR="0" rtl="0" algn="l">
              <a:lnSpc>
                <a:spcPct val="130000"/>
              </a:lnSpc>
              <a:spcBef>
                <a:spcPts val="100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SentenceSplitter</a:t>
            </a:r>
            <a:r>
              <a:rPr lang="en-GB">
                <a:solidFill>
                  <a:schemeClr val="dk1"/>
                </a:solidFill>
                <a:latin typeface="Encode Sans"/>
                <a:ea typeface="Encode Sans"/>
                <a:cs typeface="Encode Sans"/>
                <a:sym typeface="Encode Sans"/>
              </a:rPr>
              <a:t> turns Documents into Nodes.</a:t>
            </a:r>
            <a:r>
              <a:rPr b="1" lang="en-GB">
                <a:solidFill>
                  <a:srgbClr val="D97757"/>
                </a:solidFill>
                <a:latin typeface="Encode Sans"/>
                <a:ea typeface="Encode Sans"/>
                <a:cs typeface="Encode Sans"/>
                <a:sym typeface="Encode Sans"/>
              </a:rPr>
              <a:t> chunk_size</a:t>
            </a:r>
            <a:r>
              <a:rPr lang="en-GB">
                <a:solidFill>
                  <a:schemeClr val="dk1"/>
                </a:solidFill>
                <a:latin typeface="Encode Sans"/>
                <a:ea typeface="Encode Sans"/>
                <a:cs typeface="Encode Sans"/>
                <a:sym typeface="Encode Sans"/>
              </a:rPr>
              <a:t> sets max tokens per Node (default 1024); </a:t>
            </a:r>
            <a:r>
              <a:rPr b="1" lang="en-GB">
                <a:solidFill>
                  <a:srgbClr val="D97757"/>
                </a:solidFill>
                <a:latin typeface="Encode Sans"/>
                <a:ea typeface="Encode Sans"/>
                <a:cs typeface="Encode Sans"/>
                <a:sym typeface="Encode Sans"/>
              </a:rPr>
              <a:t>chunk_overlap</a:t>
            </a:r>
            <a:r>
              <a:rPr lang="en-GB">
                <a:solidFill>
                  <a:schemeClr val="dk1"/>
                </a:solidFill>
                <a:latin typeface="Encode Sans"/>
                <a:ea typeface="Encode Sans"/>
                <a:cs typeface="Encode Sans"/>
                <a:sym typeface="Encode Sans"/>
              </a:rPr>
              <a:t> (default 200) repeats that many tokens at the end of one Node and the start of the next, so a sentence split across the cut point still appears whole in at least one Node instead of being torn in half</a:t>
            </a:r>
            <a:endParaRPr>
              <a:solidFill>
                <a:schemeClr val="dk1"/>
              </a:solidFill>
              <a:latin typeface="Encode Sans"/>
              <a:ea typeface="Encode Sans"/>
              <a:cs typeface="Encode Sans"/>
              <a:sym typeface="Encode Sans"/>
            </a:endParaRPr>
          </a:p>
          <a:p>
            <a:pPr indent="-311150" lvl="0" marL="914400" marR="0" rtl="0" algn="l">
              <a:lnSpc>
                <a:spcPct val="130000"/>
              </a:lnSpc>
              <a:spcBef>
                <a:spcPts val="100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TitleExtractor</a:t>
            </a:r>
            <a:r>
              <a:rPr lang="en-GB">
                <a:solidFill>
                  <a:schemeClr val="dk1"/>
                </a:solidFill>
                <a:latin typeface="Encode Sans"/>
                <a:ea typeface="Encode Sans"/>
                <a:cs typeface="Encode Sans"/>
                <a:sym typeface="Encode Sans"/>
              </a:rPr>
              <a:t> reads the first few Nodes of a Document (</a:t>
            </a:r>
            <a:r>
              <a:rPr b="1" lang="en-GB">
                <a:solidFill>
                  <a:srgbClr val="D97757"/>
                </a:solidFill>
                <a:latin typeface="Encode Sans"/>
                <a:ea typeface="Encode Sans"/>
                <a:cs typeface="Encode Sans"/>
                <a:sym typeface="Encode Sans"/>
              </a:rPr>
              <a:t>nodes</a:t>
            </a:r>
            <a:r>
              <a:rPr lang="en-GB">
                <a:solidFill>
                  <a:schemeClr val="dk1"/>
                </a:solidFill>
                <a:latin typeface="Encode Sans"/>
                <a:ea typeface="Encode Sans"/>
                <a:cs typeface="Encode Sans"/>
                <a:sym typeface="Encode Sans"/>
              </a:rPr>
              <a:t>) to guess a title using a chosen model (</a:t>
            </a:r>
            <a:r>
              <a:rPr b="1" lang="en-GB">
                <a:solidFill>
                  <a:srgbClr val="D97757"/>
                </a:solidFill>
                <a:latin typeface="Encode Sans"/>
                <a:ea typeface="Encode Sans"/>
                <a:cs typeface="Encode Sans"/>
                <a:sym typeface="Encode Sans"/>
              </a:rPr>
              <a:t>llm</a:t>
            </a:r>
            <a:r>
              <a:rPr lang="en-GB">
                <a:solidFill>
                  <a:schemeClr val="dk1"/>
                </a:solidFill>
                <a:latin typeface="Encode Sans"/>
                <a:ea typeface="Encode Sans"/>
                <a:cs typeface="Encode Sans"/>
                <a:sym typeface="Encode Sans"/>
              </a:rPr>
              <a:t>), then writes that one title </a:t>
            </a:r>
            <a:r>
              <a:rPr lang="en-GB">
                <a:solidFill>
                  <a:schemeClr val="dk1"/>
                </a:solidFill>
                <a:latin typeface="Encode Sans"/>
                <a:ea typeface="Encode Sans"/>
                <a:cs typeface="Encode Sans"/>
                <a:sym typeface="Encode Sans"/>
              </a:rPr>
              <a:t>onto</a:t>
            </a:r>
            <a:r>
              <a:rPr lang="en-GB">
                <a:solidFill>
                  <a:schemeClr val="dk1"/>
                </a:solidFill>
                <a:latin typeface="Encode Sans"/>
                <a:ea typeface="Encode Sans"/>
                <a:cs typeface="Encode Sans"/>
                <a:sym typeface="Encode Sans"/>
              </a:rPr>
              <a:t> every Node from that Document, including ones it never read. One LLM call per Document, not per Node, that's why it's cheap enough to leave on by default.</a:t>
            </a:r>
            <a:endParaRPr>
              <a:solidFill>
                <a:schemeClr val="dk1"/>
              </a:solidFill>
              <a:latin typeface="Encode Sans"/>
              <a:ea typeface="Encode Sans"/>
              <a:cs typeface="Encode Sans"/>
              <a:sym typeface="Encode Sans"/>
            </a:endParaRPr>
          </a:p>
          <a:p>
            <a:pPr indent="-311150" lvl="0" marL="914400" marR="0" rtl="0" algn="l">
              <a:lnSpc>
                <a:spcPct val="130000"/>
              </a:lnSpc>
              <a:spcBef>
                <a:spcPts val="100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VectorStoreIndex()</a:t>
            </a:r>
            <a:r>
              <a:rPr lang="en-GB">
                <a:solidFill>
                  <a:srgbClr val="188038"/>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builds a searchable vector index directly from the already-embedded Nodes and stored entirely on RAM.</a:t>
            </a:r>
            <a:endParaRPr>
              <a:solidFill>
                <a:schemeClr val="dk1"/>
              </a:solidFill>
              <a:latin typeface="Encode Sans"/>
              <a:ea typeface="Encode Sans"/>
              <a:cs typeface="Encode Sans"/>
              <a:sym typeface="Encode Sans"/>
            </a:endParaRPr>
          </a:p>
        </p:txBody>
      </p:sp>
      <p:sp>
        <p:nvSpPr>
          <p:cNvPr id="728" name="Google Shape;728;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86"/>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5833"/>
              <a:buFont typeface="Arial"/>
              <a:buNone/>
            </a:pPr>
            <a:r>
              <a:rPr lang="en-GB">
                <a:solidFill>
                  <a:srgbClr val="CE6948"/>
                </a:solidFill>
              </a:rPr>
              <a:t>Transformation &amp; Indexing (cont)</a:t>
            </a:r>
            <a:endParaRPr>
              <a:solidFill>
                <a:srgbClr val="CE6948"/>
              </a:solidFill>
            </a:endParaRPr>
          </a:p>
        </p:txBody>
      </p:sp>
      <p:sp>
        <p:nvSpPr>
          <p:cNvPr id="734" name="Google Shape;734;p86"/>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grpSp>
        <p:nvGrpSpPr>
          <p:cNvPr id="735" name="Google Shape;735;p86"/>
          <p:cNvGrpSpPr/>
          <p:nvPr/>
        </p:nvGrpSpPr>
        <p:grpSpPr>
          <a:xfrm>
            <a:off x="865430" y="1527515"/>
            <a:ext cx="6238687" cy="2860873"/>
            <a:chOff x="1637650" y="2946097"/>
            <a:chExt cx="3800370" cy="2687275"/>
          </a:xfrm>
        </p:grpSpPr>
        <p:grpSp>
          <p:nvGrpSpPr>
            <p:cNvPr id="736" name="Google Shape;736;p86"/>
            <p:cNvGrpSpPr/>
            <p:nvPr/>
          </p:nvGrpSpPr>
          <p:grpSpPr>
            <a:xfrm>
              <a:off x="1637650" y="2946097"/>
              <a:ext cx="3800370" cy="2659800"/>
              <a:chOff x="1637698" y="2946097"/>
              <a:chExt cx="3173586" cy="2659800"/>
            </a:xfrm>
          </p:grpSpPr>
          <p:sp>
            <p:nvSpPr>
              <p:cNvPr id="737" name="Google Shape;737;p86"/>
              <p:cNvSpPr/>
              <p:nvPr/>
            </p:nvSpPr>
            <p:spPr>
              <a:xfrm>
                <a:off x="1639085" y="2946097"/>
                <a:ext cx="3172200" cy="2659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738" name="Google Shape;738;p86"/>
              <p:cNvCxnSpPr/>
              <p:nvPr/>
            </p:nvCxnSpPr>
            <p:spPr>
              <a:xfrm>
                <a:off x="1637698" y="3256225"/>
                <a:ext cx="3172500" cy="0"/>
              </a:xfrm>
              <a:prstGeom prst="straightConnector1">
                <a:avLst/>
              </a:prstGeom>
              <a:noFill/>
              <a:ln cap="flat" cmpd="sng" w="9525">
                <a:solidFill>
                  <a:schemeClr val="dk2"/>
                </a:solidFill>
                <a:prstDash val="solid"/>
                <a:round/>
                <a:headEnd len="med" w="med" type="none"/>
                <a:tailEnd len="med" w="med" type="none"/>
              </a:ln>
            </p:spPr>
          </p:cxnSp>
        </p:grpSp>
        <p:sp>
          <p:nvSpPr>
            <p:cNvPr id="739" name="Google Shape;739;p86"/>
            <p:cNvSpPr txBox="1"/>
            <p:nvPr/>
          </p:nvSpPr>
          <p:spPr>
            <a:xfrm>
              <a:off x="1705252" y="3320072"/>
              <a:ext cx="3475200" cy="231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llama_index.core.ingestion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IngestionPipeline, IngestionCache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llama_index.core.storage.docstore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SimpleDocumentStore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pipeline = IngestionPipeline(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transformations</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SentenceSplitter(</a:t>
              </a:r>
              <a:r>
                <a:rPr lang="en-GB" sz="1000">
                  <a:solidFill>
                    <a:srgbClr val="660099"/>
                  </a:solidFill>
                  <a:latin typeface="Consolas"/>
                  <a:ea typeface="Consolas"/>
                  <a:cs typeface="Consolas"/>
                  <a:sym typeface="Consolas"/>
                </a:rPr>
                <a:t>chunk_size</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512</a:t>
              </a: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chunk_overlap</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50</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080808"/>
                  </a:solidFill>
                  <a:latin typeface="Consolas"/>
                  <a:ea typeface="Consolas"/>
                  <a:cs typeface="Consolas"/>
                  <a:sym typeface="Consolas"/>
                </a:rPr>
                <a:t>TitleExtractor(</a:t>
              </a:r>
              <a:r>
                <a:rPr lang="en-GB" sz="1000">
                  <a:solidFill>
                    <a:srgbClr val="660099"/>
                  </a:solidFill>
                  <a:latin typeface="Consolas"/>
                  <a:ea typeface="Consolas"/>
                  <a:cs typeface="Consolas"/>
                  <a:sym typeface="Consolas"/>
                </a:rPr>
                <a:t>nodes</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5</a:t>
              </a: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llm</a:t>
              </a:r>
              <a:r>
                <a:rPr lang="en-GB" sz="1000">
                  <a:solidFill>
                    <a:srgbClr val="080808"/>
                  </a:solidFill>
                  <a:latin typeface="Consolas"/>
                  <a:ea typeface="Consolas"/>
                  <a:cs typeface="Consolas"/>
                  <a:sym typeface="Consolas"/>
                </a:rPr>
                <a:t>=Settings.llm),</a:t>
              </a:r>
              <a:endParaRPr sz="1000">
                <a:solidFill>
                  <a:srgbClr val="080808"/>
                </a:solidFill>
                <a:latin typeface="Consolas"/>
                <a:ea typeface="Consolas"/>
                <a:cs typeface="Consolas"/>
                <a:sym typeface="Consolas"/>
              </a:endParaRPr>
            </a:p>
            <a:p>
              <a:pPr indent="0" lvl="0" marL="0" marR="0" rtl="0" algn="l">
                <a:lnSpc>
                  <a:spcPct val="115000"/>
                </a:lnSpc>
                <a:spcBef>
                  <a:spcPts val="0"/>
                </a:spcBef>
                <a:spcAft>
                  <a:spcPts val="0"/>
                </a:spcAft>
                <a:buNone/>
              </a:pPr>
              <a:r>
                <a:rPr lang="en-GB" sz="1000">
                  <a:solidFill>
                    <a:srgbClr val="080808"/>
                  </a:solidFill>
                  <a:latin typeface="Consolas"/>
                  <a:ea typeface="Consolas"/>
                  <a:cs typeface="Consolas"/>
                  <a:sym typeface="Consolas"/>
                </a:rPr>
                <a:t>       Settings.embed_model,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nodes = pipeline.run(</a:t>
              </a:r>
              <a:r>
                <a:rPr lang="en-GB" sz="1000">
                  <a:solidFill>
                    <a:srgbClr val="660099"/>
                  </a:solidFill>
                  <a:latin typeface="Consolas"/>
                  <a:ea typeface="Consolas"/>
                  <a:cs typeface="Consolas"/>
                  <a:sym typeface="Consolas"/>
                </a:rPr>
                <a:t>documents</a:t>
              </a:r>
              <a:r>
                <a:rPr lang="en-GB" sz="1000">
                  <a:solidFill>
                    <a:srgbClr val="080808"/>
                  </a:solidFill>
                  <a:latin typeface="Consolas"/>
                  <a:ea typeface="Consolas"/>
                  <a:cs typeface="Consolas"/>
                  <a:sym typeface="Consolas"/>
                </a:rPr>
                <a:t>=documents, </a:t>
              </a:r>
              <a:r>
                <a:rPr lang="en-GB" sz="1000">
                  <a:solidFill>
                    <a:srgbClr val="660099"/>
                  </a:solidFill>
                  <a:latin typeface="Consolas"/>
                  <a:ea typeface="Consolas"/>
                  <a:cs typeface="Consolas"/>
                  <a:sym typeface="Consolas"/>
                </a:rPr>
                <a:t>show_progress</a:t>
              </a:r>
              <a:r>
                <a:rPr lang="en-GB" sz="1000">
                  <a:solidFill>
                    <a:srgbClr val="080808"/>
                  </a:solidFill>
                  <a:latin typeface="Consolas"/>
                  <a:ea typeface="Consolas"/>
                  <a:cs typeface="Consolas"/>
                  <a:sym typeface="Consolas"/>
                </a:rPr>
                <a:t>=</a:t>
              </a:r>
              <a:r>
                <a:rPr lang="en-GB" sz="1000">
                  <a:solidFill>
                    <a:srgbClr val="0033B3"/>
                  </a:solidFill>
                  <a:latin typeface="Consolas"/>
                  <a:ea typeface="Consolas"/>
                  <a:cs typeface="Consolas"/>
                  <a:sym typeface="Consolas"/>
                </a:rPr>
                <a:t>True</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index = VectorStoreIndex(nodes)</a:t>
              </a:r>
              <a:endParaRPr sz="1000">
                <a:solidFill>
                  <a:srgbClr val="080808"/>
                </a:solidFill>
                <a:latin typeface="Consolas"/>
                <a:ea typeface="Consolas"/>
                <a:cs typeface="Consolas"/>
                <a:sym typeface="Consolas"/>
              </a:endParaRPr>
            </a:p>
          </p:txBody>
        </p:sp>
      </p:grpSp>
      <p:grpSp>
        <p:nvGrpSpPr>
          <p:cNvPr id="740" name="Google Shape;740;p86"/>
          <p:cNvGrpSpPr/>
          <p:nvPr/>
        </p:nvGrpSpPr>
        <p:grpSpPr>
          <a:xfrm>
            <a:off x="997350" y="1631256"/>
            <a:ext cx="448950" cy="109200"/>
            <a:chOff x="1769550" y="3049750"/>
            <a:chExt cx="448950" cy="109200"/>
          </a:xfrm>
        </p:grpSpPr>
        <p:sp>
          <p:nvSpPr>
            <p:cNvPr id="741" name="Google Shape;741;p86"/>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742" name="Google Shape;742;p86"/>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743" name="Google Shape;743;p86"/>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744" name="Google Shape;744;p86"/>
          <p:cNvSpPr txBox="1"/>
          <p:nvPr>
            <p:ph idx="1" type="body"/>
          </p:nvPr>
        </p:nvSpPr>
        <p:spPr>
          <a:xfrm>
            <a:off x="311700" y="1069550"/>
            <a:ext cx="8520600" cy="384900"/>
          </a:xfrm>
          <a:prstGeom prst="rect">
            <a:avLst/>
          </a:prstGeom>
        </p:spPr>
        <p:txBody>
          <a:bodyPr anchorCtr="0" anchor="t" bIns="91425" lIns="91425" spcFirstLastPara="1" rIns="91425" wrap="square" tIns="91425">
            <a:spAutoFit/>
          </a:bodyPr>
          <a:lstStyle/>
          <a:p>
            <a:pPr indent="-311150" lvl="0" marL="457200" rtl="0" algn="l">
              <a:lnSpc>
                <a:spcPct val="130000"/>
              </a:lnSpc>
              <a:spcBef>
                <a:spcPts val="0"/>
              </a:spcBef>
              <a:spcAft>
                <a:spcPts val="0"/>
              </a:spcAft>
              <a:buClr>
                <a:srgbClr val="CE6948"/>
              </a:buClr>
              <a:buSzPts val="1300"/>
              <a:buFont typeface="Arial"/>
              <a:buChar char="●"/>
            </a:pPr>
            <a:r>
              <a:rPr b="1" lang="en-GB">
                <a:solidFill>
                  <a:srgbClr val="D97757"/>
                </a:solidFill>
                <a:latin typeface="Encode Sans"/>
                <a:ea typeface="Encode Sans"/>
                <a:cs typeface="Encode Sans"/>
                <a:sym typeface="Encode Sans"/>
              </a:rPr>
              <a:t>Using IngestionPipeline(), split then index</a:t>
            </a:r>
            <a:endParaRPr b="1">
              <a:solidFill>
                <a:srgbClr val="D97757"/>
              </a:solidFill>
              <a:latin typeface="Encode Sans"/>
              <a:ea typeface="Encode Sans"/>
              <a:cs typeface="Encode Sans"/>
              <a:sym typeface="Encode Sans"/>
            </a:endParaRPr>
          </a:p>
        </p:txBody>
      </p:sp>
      <p:sp>
        <p:nvSpPr>
          <p:cNvPr id="745" name="Google Shape;745;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8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5833"/>
              <a:buFont typeface="Arial"/>
              <a:buNone/>
            </a:pPr>
            <a:r>
              <a:rPr lang="en-GB">
                <a:solidFill>
                  <a:srgbClr val="CE6948"/>
                </a:solidFill>
              </a:rPr>
              <a:t>Transformation &amp; Indexing (cont)</a:t>
            </a:r>
            <a:endParaRPr>
              <a:solidFill>
                <a:srgbClr val="CE6948"/>
              </a:solidFill>
            </a:endParaRPr>
          </a:p>
        </p:txBody>
      </p:sp>
      <p:sp>
        <p:nvSpPr>
          <p:cNvPr id="751" name="Google Shape;751;p87"/>
          <p:cNvSpPr txBox="1"/>
          <p:nvPr>
            <p:ph idx="1" type="body"/>
          </p:nvPr>
        </p:nvSpPr>
        <p:spPr>
          <a:xfrm>
            <a:off x="311700" y="1069550"/>
            <a:ext cx="8520600" cy="3766500"/>
          </a:xfrm>
          <a:prstGeom prst="rect">
            <a:avLst/>
          </a:prstGeom>
        </p:spPr>
        <p:txBody>
          <a:bodyPr anchorCtr="0" anchor="t" bIns="91425" lIns="91425" spcFirstLastPara="1" rIns="91425" wrap="square" tIns="91425">
            <a:spAutoFit/>
          </a:bodyPr>
          <a:lstStyle/>
          <a:p>
            <a:pPr indent="-311150" lvl="0" marL="457200" rtl="0" algn="l">
              <a:lnSpc>
                <a:spcPct val="130000"/>
              </a:lnSpc>
              <a:spcBef>
                <a:spcPts val="0"/>
              </a:spcBef>
              <a:spcAft>
                <a:spcPts val="0"/>
              </a:spcAft>
              <a:buClr>
                <a:srgbClr val="CE6948"/>
              </a:buClr>
              <a:buSzPts val="1300"/>
              <a:buFont typeface="Arial"/>
              <a:buChar char="●"/>
            </a:pPr>
            <a:r>
              <a:rPr b="1" lang="en-GB">
                <a:solidFill>
                  <a:srgbClr val="D97757"/>
                </a:solidFill>
                <a:latin typeface="Encode Sans"/>
                <a:ea typeface="Encode Sans"/>
                <a:cs typeface="Encode Sans"/>
                <a:sym typeface="Encode Sans"/>
              </a:rPr>
              <a:t>Using index_type.from_documents()</a:t>
            </a:r>
            <a:endParaRPr b="1">
              <a:solidFill>
                <a:srgbClr val="D97757"/>
              </a:solidFill>
              <a:latin typeface="Encode Sans"/>
              <a:ea typeface="Encode Sans"/>
              <a:cs typeface="Encode Sans"/>
              <a:sym typeface="Encode Sans"/>
            </a:endParaRPr>
          </a:p>
          <a:p>
            <a:pPr indent="0" lvl="0" marL="45720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45720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45720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45720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0" rtl="0" algn="l">
              <a:lnSpc>
                <a:spcPct val="130000"/>
              </a:lnSpc>
              <a:spcBef>
                <a:spcPts val="0"/>
              </a:spcBef>
              <a:spcAft>
                <a:spcPts val="0"/>
              </a:spcAft>
              <a:buNone/>
            </a:pPr>
            <a:r>
              <a:t/>
            </a:r>
            <a:endParaRPr>
              <a:solidFill>
                <a:srgbClr val="188038"/>
              </a:solidFill>
              <a:latin typeface="Encode Sans"/>
              <a:ea typeface="Encode Sans"/>
              <a:cs typeface="Encode Sans"/>
              <a:sym typeface="Encode Sans"/>
            </a:endParaRPr>
          </a:p>
          <a:p>
            <a:pPr indent="0" lvl="0" marL="0" rtl="0" algn="l">
              <a:lnSpc>
                <a:spcPct val="130000"/>
              </a:lnSpc>
              <a:spcBef>
                <a:spcPts val="0"/>
              </a:spcBef>
              <a:spcAft>
                <a:spcPts val="0"/>
              </a:spcAft>
              <a:buNone/>
            </a:pPr>
            <a:r>
              <a:t/>
            </a:r>
            <a:endParaRPr>
              <a:solidFill>
                <a:srgbClr val="188038"/>
              </a:solidFill>
              <a:latin typeface="Encode Sans"/>
              <a:ea typeface="Encode Sans"/>
              <a:cs typeface="Encode Sans"/>
              <a:sym typeface="Encode Sans"/>
            </a:endParaRPr>
          </a:p>
          <a:p>
            <a:pPr indent="0" lvl="0" marL="0" rtl="0" algn="l">
              <a:lnSpc>
                <a:spcPct val="130000"/>
              </a:lnSpc>
              <a:spcBef>
                <a:spcPts val="0"/>
              </a:spcBef>
              <a:spcAft>
                <a:spcPts val="0"/>
              </a:spcAft>
              <a:buNone/>
            </a:pPr>
            <a:r>
              <a:t/>
            </a:r>
            <a:endParaRPr>
              <a:solidFill>
                <a:srgbClr val="188038"/>
              </a:solidFill>
              <a:latin typeface="Encode Sans"/>
              <a:ea typeface="Encode Sans"/>
              <a:cs typeface="Encode Sans"/>
              <a:sym typeface="Encode Sans"/>
            </a:endParaRPr>
          </a:p>
          <a:p>
            <a:pPr indent="0" lvl="0" marL="0" rtl="0" algn="l">
              <a:lnSpc>
                <a:spcPct val="130000"/>
              </a:lnSpc>
              <a:spcBef>
                <a:spcPts val="0"/>
              </a:spcBef>
              <a:spcAft>
                <a:spcPts val="0"/>
              </a:spcAft>
              <a:buNone/>
            </a:pPr>
            <a:r>
              <a:t/>
            </a:r>
            <a:endParaRPr>
              <a:solidFill>
                <a:srgbClr val="188038"/>
              </a:solidFill>
              <a:latin typeface="Encode Sans"/>
              <a:ea typeface="Encode Sans"/>
              <a:cs typeface="Encode Sans"/>
              <a:sym typeface="Encode Sans"/>
            </a:endParaRPr>
          </a:p>
          <a:p>
            <a:pPr indent="0" lvl="0" marL="0" rtl="0" algn="l">
              <a:lnSpc>
                <a:spcPct val="130000"/>
              </a:lnSpc>
              <a:spcBef>
                <a:spcPts val="0"/>
              </a:spcBef>
              <a:spcAft>
                <a:spcPts val="0"/>
              </a:spcAft>
              <a:buNone/>
            </a:pPr>
            <a:r>
              <a:t/>
            </a:r>
            <a:endParaRPr>
              <a:solidFill>
                <a:srgbClr val="188038"/>
              </a:solidFill>
              <a:latin typeface="Encode Sans"/>
              <a:ea typeface="Encode Sans"/>
              <a:cs typeface="Encode Sans"/>
              <a:sym typeface="Encode Sans"/>
            </a:endParaRPr>
          </a:p>
          <a:p>
            <a:pPr indent="-304800" lvl="0" marL="914400" rtl="0" algn="l">
              <a:lnSpc>
                <a:spcPct val="130000"/>
              </a:lnSpc>
              <a:spcBef>
                <a:spcPts val="0"/>
              </a:spcBef>
              <a:spcAft>
                <a:spcPts val="0"/>
              </a:spcAft>
              <a:buClr>
                <a:srgbClr val="D97757"/>
              </a:buClr>
              <a:buSzPts val="1200"/>
              <a:buFont typeface="Encode Sans"/>
              <a:buChar char="●"/>
            </a:pPr>
            <a:r>
              <a:rPr b="1" lang="en-GB">
                <a:solidFill>
                  <a:srgbClr val="D97757"/>
                </a:solidFill>
                <a:latin typeface="Encode Sans"/>
                <a:ea typeface="Encode Sans"/>
                <a:cs typeface="Encode Sans"/>
                <a:sym typeface="Encode Sans"/>
              </a:rPr>
              <a:t>VectorStoreIndex.from_documents(documents)</a:t>
            </a:r>
            <a:r>
              <a:rPr lang="en-GB">
                <a:solidFill>
                  <a:schemeClr val="dk1"/>
                </a:solidFill>
                <a:latin typeface="Encode Sans"/>
                <a:ea typeface="Encode Sans"/>
                <a:cs typeface="Encode Sans"/>
                <a:sym typeface="Encode Sans"/>
              </a:rPr>
              <a:t> combine splitting, embedding and indexing in one call.</a:t>
            </a:r>
            <a:endParaRPr>
              <a:solidFill>
                <a:schemeClr val="dk1"/>
              </a:solidFill>
              <a:latin typeface="Encode Sans"/>
              <a:ea typeface="Encode Sans"/>
              <a:cs typeface="Encode Sans"/>
              <a:sym typeface="Encode Sans"/>
            </a:endParaRPr>
          </a:p>
          <a:p>
            <a:pPr indent="-311150" lvl="0" marL="914400" rtl="0" algn="l">
              <a:lnSpc>
                <a:spcPct val="130000"/>
              </a:lnSpc>
              <a:spcBef>
                <a:spcPts val="0"/>
              </a:spcBef>
              <a:spcAft>
                <a:spcPts val="0"/>
              </a:spcAft>
              <a:buClr>
                <a:srgbClr val="D97757"/>
              </a:buClr>
              <a:buSzPts val="1300"/>
              <a:buFont typeface="Encode Sans"/>
              <a:buChar char="●"/>
            </a:pPr>
            <a:r>
              <a:rPr lang="en-GB">
                <a:solidFill>
                  <a:schemeClr val="dk1"/>
                </a:solidFill>
                <a:latin typeface="Encode Sans"/>
                <a:ea typeface="Encode Sans"/>
                <a:cs typeface="Encode Sans"/>
                <a:sym typeface="Encode Sans"/>
              </a:rPr>
              <a:t>This single line replaces the Transformations → Indexing into one step having defaults to </a:t>
            </a:r>
            <a:r>
              <a:rPr b="1" lang="en-GB">
                <a:solidFill>
                  <a:srgbClr val="D97757"/>
                </a:solidFill>
                <a:latin typeface="Encode Sans"/>
                <a:ea typeface="Encode Sans"/>
                <a:cs typeface="Encode Sans"/>
                <a:sym typeface="Encode Sans"/>
              </a:rPr>
              <a:t>SentenceSplitter(chunk_size=1024, chunk_overlap=200)</a:t>
            </a:r>
            <a:r>
              <a:rPr lang="en-GB">
                <a:solidFill>
                  <a:schemeClr val="dk1"/>
                </a:solidFill>
                <a:latin typeface="Encode Sans"/>
                <a:ea typeface="Encode Sans"/>
                <a:cs typeface="Encode Sans"/>
                <a:sym typeface="Encode Sans"/>
              </a:rPr>
              <a:t>.</a:t>
            </a:r>
            <a:endParaRPr>
              <a:solidFill>
                <a:schemeClr val="dk1"/>
              </a:solidFill>
              <a:latin typeface="Encode Sans"/>
              <a:ea typeface="Encode Sans"/>
              <a:cs typeface="Encode Sans"/>
              <a:sym typeface="Encode Sans"/>
            </a:endParaRPr>
          </a:p>
        </p:txBody>
      </p:sp>
      <p:sp>
        <p:nvSpPr>
          <p:cNvPr id="752" name="Google Shape;752;p8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grpSp>
        <p:nvGrpSpPr>
          <p:cNvPr id="753" name="Google Shape;753;p87"/>
          <p:cNvGrpSpPr/>
          <p:nvPr/>
        </p:nvGrpSpPr>
        <p:grpSpPr>
          <a:xfrm>
            <a:off x="865424" y="1527600"/>
            <a:ext cx="6238687" cy="2128800"/>
            <a:chOff x="1637650" y="2946097"/>
            <a:chExt cx="3800370" cy="2128800"/>
          </a:xfrm>
        </p:grpSpPr>
        <p:grpSp>
          <p:nvGrpSpPr>
            <p:cNvPr id="754" name="Google Shape;754;p87"/>
            <p:cNvGrpSpPr/>
            <p:nvPr/>
          </p:nvGrpSpPr>
          <p:grpSpPr>
            <a:xfrm>
              <a:off x="1637650" y="2946097"/>
              <a:ext cx="3800370" cy="2128800"/>
              <a:chOff x="1637698" y="2946097"/>
              <a:chExt cx="3173586" cy="2128800"/>
            </a:xfrm>
          </p:grpSpPr>
          <p:sp>
            <p:nvSpPr>
              <p:cNvPr id="755" name="Google Shape;755;p87"/>
              <p:cNvSpPr/>
              <p:nvPr/>
            </p:nvSpPr>
            <p:spPr>
              <a:xfrm>
                <a:off x="1639085" y="2946097"/>
                <a:ext cx="3172200" cy="2128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756" name="Google Shape;756;p87"/>
              <p:cNvCxnSpPr/>
              <p:nvPr/>
            </p:nvCxnSpPr>
            <p:spPr>
              <a:xfrm>
                <a:off x="1637698" y="3256225"/>
                <a:ext cx="3172500" cy="0"/>
              </a:xfrm>
              <a:prstGeom prst="straightConnector1">
                <a:avLst/>
              </a:prstGeom>
              <a:noFill/>
              <a:ln cap="flat" cmpd="sng" w="9525">
                <a:solidFill>
                  <a:schemeClr val="dk2"/>
                </a:solidFill>
                <a:prstDash val="solid"/>
                <a:round/>
                <a:headEnd len="med" w="med" type="none"/>
                <a:tailEnd len="med" w="med" type="none"/>
              </a:ln>
            </p:spPr>
          </p:cxnSp>
        </p:grpSp>
        <p:sp>
          <p:nvSpPr>
            <p:cNvPr id="757" name="Google Shape;757;p87"/>
            <p:cNvSpPr txBox="1"/>
            <p:nvPr/>
          </p:nvSpPr>
          <p:spPr>
            <a:xfrm>
              <a:off x="1705252" y="3320072"/>
              <a:ext cx="3475200" cy="175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GB" sz="1000">
                  <a:solidFill>
                    <a:srgbClr val="8C8C8C"/>
                  </a:solidFill>
                  <a:latin typeface="Consolas"/>
                  <a:ea typeface="Consolas"/>
                  <a:cs typeface="Consolas"/>
                  <a:sym typeface="Consolas"/>
                </a:rPr>
                <a:t>#Combine Splitting and Embedding into one step.</a:t>
              </a:r>
              <a:endParaRPr i="1" sz="1000">
                <a:solidFill>
                  <a:srgbClr val="8C8C8C"/>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index = VectorStoreIndex.from_documents(</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documents,</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i="1" lang="en-GB" sz="1000">
                  <a:solidFill>
                    <a:srgbClr val="8C8C8C"/>
                  </a:solidFill>
                  <a:latin typeface="Consolas"/>
                  <a:ea typeface="Consolas"/>
                  <a:cs typeface="Consolas"/>
                  <a:sym typeface="Consolas"/>
                </a:rPr>
                <a:t>#transformations is optional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transformations</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SentenceSplitter(</a:t>
              </a:r>
              <a:r>
                <a:rPr lang="en-GB" sz="1000">
                  <a:solidFill>
                    <a:srgbClr val="660099"/>
                  </a:solidFill>
                  <a:latin typeface="Consolas"/>
                  <a:ea typeface="Consolas"/>
                  <a:cs typeface="Consolas"/>
                  <a:sym typeface="Consolas"/>
                </a:rPr>
                <a:t>chunk_size</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512</a:t>
              </a: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chunk_overlap</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50</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TitleExtractor(</a:t>
              </a:r>
              <a:r>
                <a:rPr lang="en-GB" sz="1000">
                  <a:solidFill>
                    <a:srgbClr val="660099"/>
                  </a:solidFill>
                  <a:latin typeface="Consolas"/>
                  <a:ea typeface="Consolas"/>
                  <a:cs typeface="Consolas"/>
                  <a:sym typeface="Consolas"/>
                </a:rPr>
                <a:t>nodes</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5</a:t>
              </a: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llm</a:t>
              </a:r>
              <a:r>
                <a:rPr lang="en-GB" sz="1000">
                  <a:solidFill>
                    <a:srgbClr val="080808"/>
                  </a:solidFill>
                  <a:latin typeface="Consolas"/>
                  <a:ea typeface="Consolas"/>
                  <a:cs typeface="Consolas"/>
                  <a:sym typeface="Consolas"/>
                </a:rPr>
                <a:t>=Settings.llm),</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endParaRPr sz="1000">
                <a:solidFill>
                  <a:srgbClr val="660099"/>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p:txBody>
        </p:sp>
      </p:grpSp>
      <p:grpSp>
        <p:nvGrpSpPr>
          <p:cNvPr id="758" name="Google Shape;758;p87"/>
          <p:cNvGrpSpPr/>
          <p:nvPr/>
        </p:nvGrpSpPr>
        <p:grpSpPr>
          <a:xfrm>
            <a:off x="997350" y="1631256"/>
            <a:ext cx="448950" cy="109200"/>
            <a:chOff x="1769550" y="3049750"/>
            <a:chExt cx="448950" cy="109200"/>
          </a:xfrm>
        </p:grpSpPr>
        <p:sp>
          <p:nvSpPr>
            <p:cNvPr id="759" name="Google Shape;759;p87"/>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760" name="Google Shape;760;p87"/>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761" name="Google Shape;761;p87"/>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762" name="Google Shape;762;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88"/>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Persisting and Loading Data</a:t>
            </a:r>
            <a:endParaRPr>
              <a:solidFill>
                <a:srgbClr val="CE6948"/>
              </a:solidFill>
            </a:endParaRPr>
          </a:p>
        </p:txBody>
      </p:sp>
      <p:sp>
        <p:nvSpPr>
          <p:cNvPr id="768" name="Google Shape;768;p88"/>
          <p:cNvSpPr txBox="1"/>
          <p:nvPr>
            <p:ph idx="1" type="body"/>
          </p:nvPr>
        </p:nvSpPr>
        <p:spPr>
          <a:xfrm>
            <a:off x="311700" y="1069550"/>
            <a:ext cx="8520600" cy="2726100"/>
          </a:xfrm>
          <a:prstGeom prst="rect">
            <a:avLst/>
          </a:prstGeom>
        </p:spPr>
        <p:txBody>
          <a:bodyPr anchorCtr="0" anchor="t" bIns="91425" lIns="91425" spcFirstLastPara="1" rIns="91425" wrap="square" tIns="91425">
            <a:spAutoFit/>
          </a:bodyPr>
          <a:lstStyle/>
          <a:p>
            <a:pPr indent="-311150" lvl="0" marL="457200" rtl="0" algn="l">
              <a:lnSpc>
                <a:spcPct val="130000"/>
              </a:lnSpc>
              <a:spcBef>
                <a:spcPts val="0"/>
              </a:spcBef>
              <a:spcAft>
                <a:spcPts val="0"/>
              </a:spcAft>
              <a:buClr>
                <a:srgbClr val="CE6948"/>
              </a:buClr>
              <a:buSzPts val="1300"/>
              <a:buFont typeface="Arial"/>
              <a:buChar char="●"/>
            </a:pPr>
            <a:r>
              <a:rPr b="1" lang="en-GB">
                <a:solidFill>
                  <a:srgbClr val="D97757"/>
                </a:solidFill>
                <a:latin typeface="Encode Sans"/>
                <a:ea typeface="Encode Sans"/>
                <a:cs typeface="Encode Sans"/>
                <a:sym typeface="Encode Sans"/>
              </a:rPr>
              <a:t>Persisting and Loading Data </a:t>
            </a:r>
            <a:endParaRPr b="1">
              <a:solidFill>
                <a:srgbClr val="D97757"/>
              </a:solidFill>
              <a:latin typeface="Encode Sans"/>
              <a:ea typeface="Encode Sans"/>
              <a:cs typeface="Encode Sans"/>
              <a:sym typeface="Encode Sans"/>
            </a:endParaRPr>
          </a:p>
          <a:p>
            <a:pPr indent="0" lvl="0" marL="45720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45720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45720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457200" rtl="0" algn="l">
              <a:lnSpc>
                <a:spcPct val="130000"/>
              </a:lnSpc>
              <a:spcBef>
                <a:spcPts val="0"/>
              </a:spcBef>
              <a:spcAft>
                <a:spcPts val="0"/>
              </a:spcAft>
              <a:buNone/>
            </a:pPr>
            <a:r>
              <a:t/>
            </a:r>
            <a:endParaRPr b="1">
              <a:solidFill>
                <a:srgbClr val="D97757"/>
              </a:solidFill>
              <a:latin typeface="Encode Sans"/>
              <a:ea typeface="Encode Sans"/>
              <a:cs typeface="Encode Sans"/>
              <a:sym typeface="Encode Sans"/>
            </a:endParaRPr>
          </a:p>
          <a:p>
            <a:pPr indent="0" lvl="0" marL="0" rtl="0" algn="l">
              <a:lnSpc>
                <a:spcPct val="130000"/>
              </a:lnSpc>
              <a:spcBef>
                <a:spcPts val="0"/>
              </a:spcBef>
              <a:spcAft>
                <a:spcPts val="0"/>
              </a:spcAft>
              <a:buNone/>
            </a:pPr>
            <a:r>
              <a:t/>
            </a:r>
            <a:endParaRPr>
              <a:solidFill>
                <a:srgbClr val="188038"/>
              </a:solidFill>
              <a:latin typeface="Encode Sans"/>
              <a:ea typeface="Encode Sans"/>
              <a:cs typeface="Encode Sans"/>
              <a:sym typeface="Encode Sans"/>
            </a:endParaRPr>
          </a:p>
          <a:p>
            <a:pPr indent="0" lvl="0" marL="0" rtl="0" algn="l">
              <a:lnSpc>
                <a:spcPct val="130000"/>
              </a:lnSpc>
              <a:spcBef>
                <a:spcPts val="0"/>
              </a:spcBef>
              <a:spcAft>
                <a:spcPts val="0"/>
              </a:spcAft>
              <a:buNone/>
            </a:pPr>
            <a:r>
              <a:t/>
            </a:r>
            <a:endParaRPr>
              <a:solidFill>
                <a:srgbClr val="188038"/>
              </a:solidFill>
              <a:latin typeface="Encode Sans"/>
              <a:ea typeface="Encode Sans"/>
              <a:cs typeface="Encode Sans"/>
              <a:sym typeface="Encode Sans"/>
            </a:endParaRPr>
          </a:p>
          <a:p>
            <a:pPr indent="0" lvl="0" marL="0" rtl="0" algn="l">
              <a:lnSpc>
                <a:spcPct val="130000"/>
              </a:lnSpc>
              <a:spcBef>
                <a:spcPts val="0"/>
              </a:spcBef>
              <a:spcAft>
                <a:spcPts val="0"/>
              </a:spcAft>
              <a:buNone/>
            </a:pPr>
            <a:r>
              <a:t/>
            </a:r>
            <a:endParaRPr>
              <a:solidFill>
                <a:srgbClr val="188038"/>
              </a:solidFill>
              <a:latin typeface="Encode Sans"/>
              <a:ea typeface="Encode Sans"/>
              <a:cs typeface="Encode Sans"/>
              <a:sym typeface="Encode Sans"/>
            </a:endParaRPr>
          </a:p>
          <a:p>
            <a:pPr indent="-311150" lvl="0" marL="914400" marR="0" rtl="0" algn="l">
              <a:lnSpc>
                <a:spcPct val="130000"/>
              </a:lnSpc>
              <a:spcBef>
                <a:spcPts val="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persist()</a:t>
            </a:r>
            <a:r>
              <a:rPr lang="en-GB">
                <a:solidFill>
                  <a:srgbClr val="188038"/>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writes the docstore, index store, and vector store, the in-memory </a:t>
            </a:r>
            <a:r>
              <a:rPr b="1" lang="en-GB">
                <a:solidFill>
                  <a:srgbClr val="D97757"/>
                </a:solidFill>
                <a:latin typeface="Encode Sans"/>
                <a:ea typeface="Encode Sans"/>
                <a:cs typeface="Encode Sans"/>
                <a:sym typeface="Encode Sans"/>
              </a:rPr>
              <a:t>SimpleVectorStore</a:t>
            </a:r>
            <a:r>
              <a:rPr lang="en-GB">
                <a:solidFill>
                  <a:schemeClr val="dk1"/>
                </a:solidFill>
                <a:latin typeface="Encode Sans"/>
                <a:ea typeface="Encode Sans"/>
                <a:cs typeface="Encode Sans"/>
                <a:sym typeface="Encode Sans"/>
              </a:rPr>
              <a:t> used here, to JSON files in </a:t>
            </a:r>
            <a:r>
              <a:rPr b="1" lang="en-GB">
                <a:solidFill>
                  <a:srgbClr val="D97757"/>
                </a:solidFill>
                <a:latin typeface="Encode Sans"/>
                <a:ea typeface="Encode Sans"/>
                <a:cs typeface="Encode Sans"/>
                <a:sym typeface="Encode Sans"/>
              </a:rPr>
              <a:t>persist_dir</a:t>
            </a:r>
            <a:endParaRPr>
              <a:solidFill>
                <a:schemeClr val="dk1"/>
              </a:solidFill>
              <a:latin typeface="Encode Sans"/>
              <a:ea typeface="Encode Sans"/>
              <a:cs typeface="Encode Sans"/>
              <a:sym typeface="Encode Sans"/>
            </a:endParaRPr>
          </a:p>
        </p:txBody>
      </p:sp>
      <p:sp>
        <p:nvSpPr>
          <p:cNvPr id="769" name="Google Shape;769;p88"/>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grpSp>
        <p:nvGrpSpPr>
          <p:cNvPr id="770" name="Google Shape;770;p88"/>
          <p:cNvGrpSpPr/>
          <p:nvPr/>
        </p:nvGrpSpPr>
        <p:grpSpPr>
          <a:xfrm>
            <a:off x="865425" y="1527600"/>
            <a:ext cx="7683840" cy="1547700"/>
            <a:chOff x="1637650" y="2946097"/>
            <a:chExt cx="4680702" cy="1547700"/>
          </a:xfrm>
        </p:grpSpPr>
        <p:grpSp>
          <p:nvGrpSpPr>
            <p:cNvPr id="771" name="Google Shape;771;p88"/>
            <p:cNvGrpSpPr/>
            <p:nvPr/>
          </p:nvGrpSpPr>
          <p:grpSpPr>
            <a:xfrm>
              <a:off x="1637650" y="2946097"/>
              <a:ext cx="4680553" cy="1547700"/>
              <a:chOff x="1637698" y="2946097"/>
              <a:chExt cx="3908604" cy="1547700"/>
            </a:xfrm>
          </p:grpSpPr>
          <p:sp>
            <p:nvSpPr>
              <p:cNvPr id="772" name="Google Shape;772;p88"/>
              <p:cNvSpPr/>
              <p:nvPr/>
            </p:nvSpPr>
            <p:spPr>
              <a:xfrm>
                <a:off x="1639403" y="2946097"/>
                <a:ext cx="3906900" cy="15477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773" name="Google Shape;773;p88"/>
              <p:cNvCxnSpPr/>
              <p:nvPr/>
            </p:nvCxnSpPr>
            <p:spPr>
              <a:xfrm>
                <a:off x="1637698" y="3256225"/>
                <a:ext cx="3907500" cy="0"/>
              </a:xfrm>
              <a:prstGeom prst="straightConnector1">
                <a:avLst/>
              </a:prstGeom>
              <a:noFill/>
              <a:ln cap="flat" cmpd="sng" w="9525">
                <a:solidFill>
                  <a:schemeClr val="dk2"/>
                </a:solidFill>
                <a:prstDash val="solid"/>
                <a:round/>
                <a:headEnd len="med" w="med" type="none"/>
                <a:tailEnd len="med" w="med" type="none"/>
              </a:ln>
            </p:spPr>
          </p:cxnSp>
        </p:grpSp>
        <p:sp>
          <p:nvSpPr>
            <p:cNvPr id="774" name="Google Shape;774;p88"/>
            <p:cNvSpPr txBox="1"/>
            <p:nvPr/>
          </p:nvSpPr>
          <p:spPr>
            <a:xfrm>
              <a:off x="1705252" y="3320072"/>
              <a:ext cx="4613100" cy="104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llama_index.core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StorageContext, load_index_from_storage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storage_context = StorageContext.from_defaults(</a:t>
              </a:r>
              <a:r>
                <a:rPr lang="en-GB" sz="1000">
                  <a:solidFill>
                    <a:srgbClr val="660099"/>
                  </a:solidFill>
                  <a:latin typeface="Consolas"/>
                  <a:ea typeface="Consolas"/>
                  <a:cs typeface="Consolas"/>
                  <a:sym typeface="Consolas"/>
                </a:rPr>
                <a:t>persist_dir</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"./workflow-engineering/llama-index/storage"</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index = load_index_from_storage(storage_context)</a:t>
              </a:r>
              <a:endParaRPr i="1" sz="1000">
                <a:solidFill>
                  <a:srgbClr val="8C8C8C"/>
                </a:solidFill>
                <a:latin typeface="Consolas"/>
                <a:ea typeface="Consolas"/>
                <a:cs typeface="Consolas"/>
                <a:sym typeface="Consolas"/>
              </a:endParaRPr>
            </a:p>
          </p:txBody>
        </p:sp>
      </p:grpSp>
      <p:grpSp>
        <p:nvGrpSpPr>
          <p:cNvPr id="775" name="Google Shape;775;p88"/>
          <p:cNvGrpSpPr/>
          <p:nvPr/>
        </p:nvGrpSpPr>
        <p:grpSpPr>
          <a:xfrm>
            <a:off x="997350" y="1631256"/>
            <a:ext cx="448950" cy="109200"/>
            <a:chOff x="1769550" y="3049750"/>
            <a:chExt cx="448950" cy="109200"/>
          </a:xfrm>
        </p:grpSpPr>
        <p:sp>
          <p:nvSpPr>
            <p:cNvPr id="776" name="Google Shape;776;p88"/>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777" name="Google Shape;777;p88"/>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778" name="Google Shape;778;p88"/>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779" name="Google Shape;779;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89"/>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Putting Everything Together</a:t>
            </a:r>
            <a:endParaRPr>
              <a:solidFill>
                <a:srgbClr val="CE6948"/>
              </a:solidFill>
            </a:endParaRPr>
          </a:p>
        </p:txBody>
      </p:sp>
      <p:sp>
        <p:nvSpPr>
          <p:cNvPr id="785" name="Google Shape;785;p89"/>
          <p:cNvSpPr txBox="1"/>
          <p:nvPr>
            <p:ph idx="1" type="body"/>
          </p:nvPr>
        </p:nvSpPr>
        <p:spPr>
          <a:xfrm>
            <a:off x="311700" y="1069550"/>
            <a:ext cx="8520600" cy="1945500"/>
          </a:xfrm>
          <a:prstGeom prst="rect">
            <a:avLst/>
          </a:prstGeom>
        </p:spPr>
        <p:txBody>
          <a:bodyPr anchorCtr="0" anchor="t" bIns="91425" lIns="91425" spcFirstLastPara="1" rIns="91425" wrap="square" tIns="91425">
            <a:spAutoFit/>
          </a:bodyPr>
          <a:lstStyle/>
          <a:p>
            <a:pPr indent="-311150" lvl="0" marL="457200" rtl="0" algn="l">
              <a:lnSpc>
                <a:spcPct val="130000"/>
              </a:lnSpc>
              <a:spcBef>
                <a:spcPts val="0"/>
              </a:spcBef>
              <a:spcAft>
                <a:spcPts val="0"/>
              </a:spcAft>
              <a:buClr>
                <a:srgbClr val="D97757"/>
              </a:buClr>
              <a:buSzPts val="1300"/>
              <a:buFont typeface="Arial"/>
              <a:buChar char="●"/>
            </a:pPr>
            <a:r>
              <a:rPr lang="en-GB">
                <a:solidFill>
                  <a:schemeClr val="dk1"/>
                </a:solidFill>
                <a:latin typeface="Encode Sans"/>
                <a:ea typeface="Encode Sans"/>
                <a:cs typeface="Encode Sans"/>
                <a:sym typeface="Encode Sans"/>
              </a:rPr>
              <a:t>This code ingest file </a:t>
            </a:r>
            <a:r>
              <a:rPr b="1" lang="en-GB">
                <a:solidFill>
                  <a:srgbClr val="D97757"/>
                </a:solidFill>
                <a:latin typeface="Encode Sans"/>
                <a:ea typeface="Encode Sans"/>
                <a:cs typeface="Encode Sans"/>
                <a:sym typeface="Encode Sans"/>
              </a:rPr>
              <a:t>.md </a:t>
            </a:r>
            <a:r>
              <a:rPr lang="en-GB">
                <a:solidFill>
                  <a:schemeClr val="dk1"/>
                </a:solidFill>
                <a:latin typeface="Encode Sans"/>
                <a:ea typeface="Encode Sans"/>
                <a:cs typeface="Encode Sans"/>
                <a:sym typeface="Encode Sans"/>
              </a:rPr>
              <a:t>from a local folder and the flow goes:</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rgbClr val="D97757"/>
              </a:buClr>
              <a:buSzPts val="1300"/>
              <a:buFont typeface="Encode Sans"/>
              <a:buChar char="○"/>
            </a:pPr>
            <a:r>
              <a:rPr lang="en-GB">
                <a:solidFill>
                  <a:schemeClr val="dk1"/>
                </a:solidFill>
                <a:latin typeface="Encode Sans"/>
                <a:ea typeface="Encode Sans"/>
                <a:cs typeface="Encode Sans"/>
                <a:sym typeface="Encode Sans"/>
              </a:rPr>
              <a:t>checks whether a persisted index already exists</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rgbClr val="D97757"/>
              </a:buClr>
              <a:buSzPts val="1300"/>
              <a:buFont typeface="Encode Sans"/>
              <a:buChar char="○"/>
            </a:pPr>
            <a:r>
              <a:rPr lang="en-GB">
                <a:solidFill>
                  <a:schemeClr val="dk1"/>
                </a:solidFill>
                <a:latin typeface="Encode Sans"/>
                <a:ea typeface="Encode Sans"/>
                <a:cs typeface="Encode Sans"/>
                <a:sym typeface="Encode Sans"/>
              </a:rPr>
              <a:t>if not: loads documents, builds the index, and persists it, prints how many documents it processed</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rgbClr val="D97757"/>
              </a:buClr>
              <a:buSzPts val="1300"/>
              <a:buFont typeface="Encode Sans"/>
              <a:buChar char="○"/>
            </a:pPr>
            <a:r>
              <a:rPr lang="en-GB">
                <a:solidFill>
                  <a:schemeClr val="dk1"/>
                </a:solidFill>
                <a:latin typeface="Encode Sans"/>
                <a:ea typeface="Encode Sans"/>
                <a:cs typeface="Encode Sans"/>
                <a:sym typeface="Encode Sans"/>
              </a:rPr>
              <a:t>if it already exists: loads it directly from disk instead, no re-reading files, no re-embedding, prints that it skipped reprocessing</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rgbClr val="D97757"/>
              </a:buClr>
              <a:buSzPts val="1300"/>
              <a:buFont typeface="Encode Sans"/>
              <a:buChar char="○"/>
            </a:pPr>
            <a:r>
              <a:rPr lang="en-GB">
                <a:solidFill>
                  <a:schemeClr val="dk1"/>
                </a:solidFill>
                <a:latin typeface="Encode Sans"/>
                <a:ea typeface="Encode Sans"/>
                <a:cs typeface="Encode Sans"/>
                <a:sym typeface="Encode Sans"/>
              </a:rPr>
              <a:t>runs one small, explicitly-marked retrieval check</a:t>
            </a:r>
            <a:endParaRPr>
              <a:solidFill>
                <a:schemeClr val="dk1"/>
              </a:solidFill>
              <a:latin typeface="Encode Sans"/>
              <a:ea typeface="Encode Sans"/>
              <a:cs typeface="Encode Sans"/>
              <a:sym typeface="Encode Sans"/>
            </a:endParaRPr>
          </a:p>
          <a:p>
            <a:pPr indent="-311150" lvl="0" marL="457200" rtl="0" algn="l">
              <a:lnSpc>
                <a:spcPct val="130000"/>
              </a:lnSpc>
              <a:spcBef>
                <a:spcPts val="0"/>
              </a:spcBef>
              <a:spcAft>
                <a:spcPts val="0"/>
              </a:spcAft>
              <a:buClr>
                <a:srgbClr val="D97757"/>
              </a:buClr>
              <a:buSzPts val="1300"/>
              <a:buFont typeface="Encode Sans"/>
              <a:buChar char="●"/>
            </a:pPr>
            <a:r>
              <a:rPr lang="en-GB" u="sng">
                <a:solidFill>
                  <a:schemeClr val="hlink"/>
                </a:solidFill>
                <a:latin typeface="Encode Sans"/>
                <a:ea typeface="Encode Sans"/>
                <a:cs typeface="Encode Sans"/>
                <a:sym typeface="Encode Sans"/>
                <a:hlinkClick r:id="rId3"/>
              </a:rPr>
              <a:t>Github Link</a:t>
            </a:r>
            <a:endParaRPr>
              <a:solidFill>
                <a:schemeClr val="dk1"/>
              </a:solidFill>
              <a:latin typeface="Encode Sans"/>
              <a:ea typeface="Encode Sans"/>
              <a:cs typeface="Encode Sans"/>
              <a:sym typeface="Encode Sans"/>
            </a:endParaRPr>
          </a:p>
        </p:txBody>
      </p:sp>
      <p:sp>
        <p:nvSpPr>
          <p:cNvPr id="786" name="Google Shape;786;p89"/>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LlamaIndex</a:t>
            </a:r>
            <a:endParaRPr/>
          </a:p>
        </p:txBody>
      </p:sp>
      <p:pic>
        <p:nvPicPr>
          <p:cNvPr id="787" name="Google Shape;787;p89"/>
          <p:cNvPicPr preferRelativeResize="0"/>
          <p:nvPr/>
        </p:nvPicPr>
        <p:blipFill>
          <a:blip r:embed="rId4">
            <a:alphaModFix/>
          </a:blip>
          <a:stretch>
            <a:fillRect/>
          </a:stretch>
        </p:blipFill>
        <p:spPr>
          <a:xfrm>
            <a:off x="152400" y="2917975"/>
            <a:ext cx="8839204" cy="1320701"/>
          </a:xfrm>
          <a:prstGeom prst="rect">
            <a:avLst/>
          </a:prstGeom>
          <a:noFill/>
          <a:ln>
            <a:noFill/>
          </a:ln>
        </p:spPr>
      </p:pic>
      <p:sp>
        <p:nvSpPr>
          <p:cNvPr id="788" name="Google Shape;788;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9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LangChain</a:t>
            </a:r>
            <a:endParaRPr>
              <a:solidFill>
                <a:srgbClr val="CE6948"/>
              </a:solidFill>
            </a:endParaRPr>
          </a:p>
        </p:txBody>
      </p:sp>
      <p:sp>
        <p:nvSpPr>
          <p:cNvPr id="794" name="Google Shape;794;p90"/>
          <p:cNvSpPr txBox="1"/>
          <p:nvPr>
            <p:ph idx="1" type="body"/>
          </p:nvPr>
        </p:nvSpPr>
        <p:spPr>
          <a:xfrm>
            <a:off x="311700" y="1069550"/>
            <a:ext cx="8520600" cy="28470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100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LangChain</a:t>
            </a:r>
            <a:r>
              <a:rPr b="1" lang="en-GB">
                <a:solidFill>
                  <a:srgbClr val="CE6948"/>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is a toolkit that makes it easy to build AI-powered apps. Instead of writing complex code from scratch to connect your app to an AI model, LangChain gives you pre-built, swappable pieces for standard tasks:</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Formatting prompts</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Calling the AI model</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Parsing outputs</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Adding tools</a:t>
            </a:r>
            <a:endParaRPr>
              <a:solidFill>
                <a:schemeClr val="dk1"/>
              </a:solidFill>
              <a:latin typeface="Encode Sans"/>
              <a:ea typeface="Encode Sans"/>
              <a:cs typeface="Encode Sans"/>
              <a:sym typeface="Encode Sans"/>
            </a:endParaRPr>
          </a:p>
          <a:p>
            <a:pPr indent="-206375" lvl="0" marL="228600" marR="0" rtl="0" algn="just">
              <a:lnSpc>
                <a:spcPct val="130000"/>
              </a:lnSpc>
              <a:spcBef>
                <a:spcPts val="1000"/>
              </a:spcBef>
              <a:spcAft>
                <a:spcPts val="0"/>
              </a:spcAft>
              <a:buClr>
                <a:srgbClr val="CE6948"/>
              </a:buClr>
              <a:buSzPts val="1000"/>
              <a:buFont typeface="Encode Sans"/>
              <a:buChar char="●"/>
            </a:pPr>
            <a:r>
              <a:rPr lang="en-GB">
                <a:solidFill>
                  <a:schemeClr val="dk1"/>
                </a:solidFill>
                <a:latin typeface="Encode Sans"/>
                <a:ea typeface="Encode Sans"/>
                <a:cs typeface="Encode Sans"/>
                <a:sym typeface="Encode Sans"/>
              </a:rPr>
              <a:t>Because these pieces are standardized, you can switch between different AI providers, like running a free model on your computer or using a paid cloud service, by changing just one line of code.</a:t>
            </a:r>
            <a:endParaRPr>
              <a:solidFill>
                <a:schemeClr val="dk1"/>
              </a:solidFill>
              <a:latin typeface="Encode Sans"/>
              <a:ea typeface="Encode Sans"/>
              <a:cs typeface="Encode Sans"/>
              <a:sym typeface="Encode Sans"/>
            </a:endParaRPr>
          </a:p>
        </p:txBody>
      </p:sp>
      <p:sp>
        <p:nvSpPr>
          <p:cNvPr id="795" name="Google Shape;795;p9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pic>
        <p:nvPicPr>
          <p:cNvPr id="796" name="Google Shape;796;p90"/>
          <p:cNvPicPr preferRelativeResize="0"/>
          <p:nvPr/>
        </p:nvPicPr>
        <p:blipFill>
          <a:blip r:embed="rId3">
            <a:alphaModFix amt="35000"/>
          </a:blip>
          <a:stretch>
            <a:fillRect/>
          </a:stretch>
        </p:blipFill>
        <p:spPr>
          <a:xfrm>
            <a:off x="7066375" y="1846225"/>
            <a:ext cx="1293626" cy="1293626"/>
          </a:xfrm>
          <a:prstGeom prst="rect">
            <a:avLst/>
          </a:prstGeom>
          <a:noFill/>
          <a:ln>
            <a:noFill/>
          </a:ln>
        </p:spPr>
      </p:pic>
      <p:sp>
        <p:nvSpPr>
          <p:cNvPr id="797" name="Google Shape;797;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9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Key Components</a:t>
            </a:r>
            <a:endParaRPr>
              <a:solidFill>
                <a:srgbClr val="CE6948"/>
              </a:solidFill>
            </a:endParaRPr>
          </a:p>
        </p:txBody>
      </p:sp>
      <p:sp>
        <p:nvSpPr>
          <p:cNvPr id="803" name="Google Shape;803;p91"/>
          <p:cNvSpPr txBox="1"/>
          <p:nvPr>
            <p:ph idx="1" type="body"/>
          </p:nvPr>
        </p:nvSpPr>
        <p:spPr>
          <a:xfrm>
            <a:off x="311700" y="1069550"/>
            <a:ext cx="8520600" cy="35064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1000"/>
              </a:spcBef>
              <a:spcAft>
                <a:spcPts val="0"/>
              </a:spcAft>
              <a:buClr>
                <a:srgbClr val="CE6948"/>
              </a:buClr>
              <a:buSzPts val="1000"/>
              <a:buFont typeface="Encode Sans"/>
              <a:buChar char="●"/>
            </a:pPr>
            <a:r>
              <a:rPr lang="en-GB">
                <a:solidFill>
                  <a:schemeClr val="dk1"/>
                </a:solidFill>
                <a:latin typeface="Encode Sans"/>
                <a:ea typeface="Encode Sans"/>
                <a:cs typeface="Encode Sans"/>
                <a:sym typeface="Encode Sans"/>
              </a:rPr>
              <a:t>These five components work together as a pipeline raw data comes in through Data Connectors, gets restructured into Nodes, organized into a searchable Index, and made retrievable through Retrievers and Query Engines.</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chemeClr val="dk1"/>
              </a:buClr>
              <a:buSzPts val="1300"/>
              <a:buFont typeface="Arial"/>
              <a:buChar char="○"/>
            </a:pPr>
            <a:r>
              <a:rPr b="1" lang="en-GB">
                <a:solidFill>
                  <a:srgbClr val="CE6948"/>
                </a:solidFill>
                <a:latin typeface="Encode Sans"/>
                <a:ea typeface="Encode Sans"/>
                <a:cs typeface="Encode Sans"/>
                <a:sym typeface="Encode Sans"/>
              </a:rPr>
              <a:t>Chat Models:</a:t>
            </a:r>
            <a:r>
              <a:rPr lang="en-GB">
                <a:solidFill>
                  <a:schemeClr val="dk1"/>
                </a:solidFill>
                <a:latin typeface="Encode Sans"/>
                <a:ea typeface="Encode Sans"/>
                <a:cs typeface="Encode Sans"/>
                <a:sym typeface="Encode Sans"/>
              </a:rPr>
              <a:t> A unified wrapper (ChatOpenAI, and equivalents for every provider) over any chat completions endpoint, including a local vLLM server's OpenAI-compatible API.</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chemeClr val="dk1"/>
              </a:buClr>
              <a:buSzPts val="1300"/>
              <a:buFont typeface="Arial"/>
              <a:buChar char="○"/>
            </a:pPr>
            <a:r>
              <a:rPr b="1" lang="en-GB">
                <a:solidFill>
                  <a:srgbClr val="CE6948"/>
                </a:solidFill>
                <a:latin typeface="Encode Sans"/>
                <a:ea typeface="Encode Sans"/>
                <a:cs typeface="Encode Sans"/>
                <a:sym typeface="Encode Sans"/>
              </a:rPr>
              <a:t>Messages:</a:t>
            </a:r>
            <a:r>
              <a:rPr lang="en-GB">
                <a:solidFill>
                  <a:schemeClr val="dk1"/>
                </a:solidFill>
                <a:latin typeface="Encode Sans"/>
                <a:ea typeface="Encode Sans"/>
                <a:cs typeface="Encode Sans"/>
                <a:sym typeface="Encode Sans"/>
              </a:rPr>
              <a:t> Typed conversation turns (HumanMessage, SystemMessage, AIMessage) that represent one exchange in a chat, the unit chat models actually consume and return.</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chemeClr val="dk1"/>
              </a:buClr>
              <a:buSzPts val="1300"/>
              <a:buFont typeface="Arial"/>
              <a:buChar char="○"/>
            </a:pPr>
            <a:r>
              <a:rPr b="1" lang="en-GB">
                <a:solidFill>
                  <a:srgbClr val="CE6948"/>
                </a:solidFill>
                <a:latin typeface="Encode Sans"/>
                <a:ea typeface="Encode Sans"/>
                <a:cs typeface="Encode Sans"/>
                <a:sym typeface="Encode Sans"/>
              </a:rPr>
              <a:t>Prompt Templates:</a:t>
            </a:r>
            <a:r>
              <a:rPr lang="en-GB">
                <a:solidFill>
                  <a:schemeClr val="dk1"/>
                </a:solidFill>
                <a:latin typeface="Encode Sans"/>
                <a:ea typeface="Encode Sans"/>
                <a:cs typeface="Encode Sans"/>
                <a:sym typeface="Encode Sans"/>
              </a:rPr>
              <a:t> Parameterized prompt strings (ChatPromptTemplate) with named {variables} filled in at call time, instead of hand-formatting strings.</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chemeClr val="dk1"/>
              </a:buClr>
              <a:buSzPts val="1300"/>
              <a:buFont typeface="Arial"/>
              <a:buChar char="○"/>
            </a:pPr>
            <a:r>
              <a:rPr b="1" lang="en-GB">
                <a:solidFill>
                  <a:srgbClr val="CE6948"/>
                </a:solidFill>
                <a:latin typeface="Encode Sans"/>
                <a:ea typeface="Encode Sans"/>
                <a:cs typeface="Encode Sans"/>
                <a:sym typeface="Encode Sans"/>
              </a:rPr>
              <a:t>Output Parsers:</a:t>
            </a:r>
            <a:r>
              <a:rPr lang="en-GB">
                <a:solidFill>
                  <a:schemeClr val="dk1"/>
                </a:solidFill>
                <a:latin typeface="Encode Sans"/>
                <a:ea typeface="Encode Sans"/>
                <a:cs typeface="Encode Sans"/>
                <a:sym typeface="Encode Sans"/>
              </a:rPr>
              <a:t> Convert a model's raw response into a usable Python type, a plain string, a JSON dict, or a validated Pydantic object.</a:t>
            </a:r>
            <a:endParaRPr>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chemeClr val="dk1"/>
              </a:buClr>
              <a:buSzPts val="1300"/>
              <a:buFont typeface="Arial"/>
              <a:buChar char="○"/>
            </a:pPr>
            <a:r>
              <a:rPr b="1" lang="en-GB">
                <a:solidFill>
                  <a:srgbClr val="CE6948"/>
                </a:solidFill>
                <a:latin typeface="Encode Sans"/>
                <a:ea typeface="Encode Sans"/>
                <a:cs typeface="Encode Sans"/>
                <a:sym typeface="Encode Sans"/>
              </a:rPr>
              <a:t>Runnables &amp; </a:t>
            </a:r>
            <a:r>
              <a:rPr b="1" lang="en-GB">
                <a:solidFill>
                  <a:srgbClr val="CE6948"/>
                </a:solidFill>
                <a:latin typeface="Encode Sans"/>
                <a:ea typeface="Encode Sans"/>
                <a:cs typeface="Encode Sans"/>
                <a:sym typeface="Encode Sans"/>
              </a:rPr>
              <a:t>Chain</a:t>
            </a:r>
            <a:r>
              <a:rPr b="1" lang="en-GB">
                <a:solidFill>
                  <a:srgbClr val="CE6948"/>
                </a:solidFill>
                <a:latin typeface="Encode Sans"/>
                <a:ea typeface="Encode Sans"/>
                <a:cs typeface="Encode Sans"/>
                <a:sym typeface="Encode Sans"/>
              </a:rPr>
              <a:t>:</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Runnable</a:t>
            </a:r>
            <a:r>
              <a:rPr lang="en-GB">
                <a:solidFill>
                  <a:schemeClr val="dk1"/>
                </a:solidFill>
                <a:latin typeface="Encode Sans"/>
                <a:ea typeface="Encode Sans"/>
                <a:cs typeface="Encode Sans"/>
                <a:sym typeface="Encode Sans"/>
              </a:rPr>
              <a:t> is the shared interface</a:t>
            </a:r>
            <a:r>
              <a:rPr b="1" lang="en-GB">
                <a:solidFill>
                  <a:srgbClr val="CE6948"/>
                </a:solidFill>
                <a:latin typeface="Encode Sans"/>
                <a:ea typeface="Encode Sans"/>
                <a:cs typeface="Encode Sans"/>
                <a:sym typeface="Encode Sans"/>
              </a:rPr>
              <a:t> (invoke, batch, stream)</a:t>
            </a:r>
            <a:r>
              <a:rPr lang="en-GB">
                <a:solidFill>
                  <a:schemeClr val="dk1"/>
                </a:solidFill>
                <a:latin typeface="Encode Sans"/>
                <a:ea typeface="Encode Sans"/>
                <a:cs typeface="Encode Sans"/>
                <a:sym typeface="Encode Sans"/>
              </a:rPr>
              <a:t> every component above implements. A </a:t>
            </a:r>
            <a:r>
              <a:rPr b="1" lang="en-GB">
                <a:solidFill>
                  <a:srgbClr val="CE6948"/>
                </a:solidFill>
                <a:latin typeface="Encode Sans"/>
                <a:ea typeface="Encode Sans"/>
                <a:cs typeface="Encode Sans"/>
                <a:sym typeface="Encode Sans"/>
              </a:rPr>
              <a:t>Chain</a:t>
            </a:r>
            <a:r>
              <a:rPr lang="en-GB">
                <a:solidFill>
                  <a:schemeClr val="dk1"/>
                </a:solidFill>
                <a:latin typeface="Encode Sans"/>
                <a:ea typeface="Encode Sans"/>
                <a:cs typeface="Encode Sans"/>
                <a:sym typeface="Encode Sans"/>
              </a:rPr>
              <a:t> is what you get piping Runnables together with the</a:t>
            </a:r>
            <a:r>
              <a:rPr b="1" lang="en-GB">
                <a:solidFill>
                  <a:srgbClr val="CE6948"/>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operator</a:t>
            </a:r>
            <a:r>
              <a:rPr lang="en-GB">
                <a:solidFill>
                  <a:schemeClr val="dk1"/>
                </a:solidFill>
                <a:latin typeface="Encode Sans"/>
                <a:ea typeface="Encode Sans"/>
                <a:cs typeface="Encode Sans"/>
                <a:sym typeface="Encode Sans"/>
              </a:rPr>
              <a:t>.</a:t>
            </a:r>
            <a:endParaRPr b="1">
              <a:solidFill>
                <a:srgbClr val="CE6948"/>
              </a:solidFill>
              <a:latin typeface="Encode Sans"/>
              <a:ea typeface="Encode Sans"/>
              <a:cs typeface="Encode Sans"/>
              <a:sym typeface="Encode Sans"/>
            </a:endParaRPr>
          </a:p>
        </p:txBody>
      </p:sp>
      <p:sp>
        <p:nvSpPr>
          <p:cNvPr id="804" name="Google Shape;804;p9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sp>
        <p:nvSpPr>
          <p:cNvPr id="805" name="Google Shape;805;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9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Required Package</a:t>
            </a:r>
            <a:endParaRPr>
              <a:solidFill>
                <a:srgbClr val="CE6948"/>
              </a:solidFill>
            </a:endParaRPr>
          </a:p>
        </p:txBody>
      </p:sp>
      <p:sp>
        <p:nvSpPr>
          <p:cNvPr id="811" name="Google Shape;811;p92"/>
          <p:cNvSpPr txBox="1"/>
          <p:nvPr>
            <p:ph idx="1" type="body"/>
          </p:nvPr>
        </p:nvSpPr>
        <p:spPr>
          <a:xfrm>
            <a:off x="311700" y="1069550"/>
            <a:ext cx="8520600" cy="31107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1000"/>
              </a:spcBef>
              <a:spcAft>
                <a:spcPts val="0"/>
              </a:spcAft>
              <a:buClr>
                <a:srgbClr val="CE6948"/>
              </a:buClr>
              <a:buSzPts val="1000"/>
              <a:buFont typeface="Encode Sans"/>
              <a:buChar char="●"/>
            </a:pPr>
            <a:r>
              <a:rPr lang="en-GB">
                <a:solidFill>
                  <a:schemeClr val="dk1"/>
                </a:solidFill>
                <a:latin typeface="Encode Sans"/>
                <a:ea typeface="Encode Sans"/>
                <a:cs typeface="Encode Sans"/>
                <a:sym typeface="Encode Sans"/>
              </a:rPr>
              <a:t>These are the </a:t>
            </a:r>
            <a:r>
              <a:rPr lang="en-GB">
                <a:solidFill>
                  <a:schemeClr val="dk1"/>
                </a:solidFill>
                <a:latin typeface="Encode Sans"/>
                <a:ea typeface="Encode Sans"/>
                <a:cs typeface="Encode Sans"/>
                <a:sym typeface="Encode Sans"/>
              </a:rPr>
              <a:t>minimum</a:t>
            </a:r>
            <a:r>
              <a:rPr lang="en-GB">
                <a:solidFill>
                  <a:schemeClr val="dk1"/>
                </a:solidFill>
                <a:latin typeface="Encode Sans"/>
                <a:ea typeface="Encode Sans"/>
                <a:cs typeface="Encode Sans"/>
                <a:sym typeface="Encode Sans"/>
              </a:rPr>
              <a:t> package you need to install to get your LangChain working</a:t>
            </a:r>
            <a:endParaRPr>
              <a:solidFill>
                <a:schemeClr val="dk1"/>
              </a:solidFill>
              <a:latin typeface="Encode Sans"/>
              <a:ea typeface="Encode Sans"/>
              <a:cs typeface="Encode Sans"/>
              <a:sym typeface="Encode Sans"/>
            </a:endParaRPr>
          </a:p>
          <a:p>
            <a:pPr indent="0" lvl="0" marL="0" marR="0" rtl="0" algn="just">
              <a:lnSpc>
                <a:spcPct val="130000"/>
              </a:lnSpc>
              <a:spcBef>
                <a:spcPts val="1000"/>
              </a:spcBef>
              <a:spcAft>
                <a:spcPts val="0"/>
              </a:spcAft>
              <a:buNone/>
            </a:pPr>
            <a:r>
              <a:t/>
            </a:r>
            <a:endParaRPr>
              <a:solidFill>
                <a:schemeClr val="dk1"/>
              </a:solidFill>
              <a:latin typeface="Encode Sans"/>
              <a:ea typeface="Encode Sans"/>
              <a:cs typeface="Encode Sans"/>
              <a:sym typeface="Encode Sans"/>
            </a:endParaRPr>
          </a:p>
          <a:p>
            <a:pPr indent="0" lvl="0" marL="0" marR="0" rtl="0" algn="just">
              <a:lnSpc>
                <a:spcPct val="130000"/>
              </a:lnSpc>
              <a:spcBef>
                <a:spcPts val="1000"/>
              </a:spcBef>
              <a:spcAft>
                <a:spcPts val="0"/>
              </a:spcAft>
              <a:buNone/>
            </a:pPr>
            <a:r>
              <a:t/>
            </a:r>
            <a:endParaRPr>
              <a:solidFill>
                <a:schemeClr val="dk1"/>
              </a:solidFill>
              <a:latin typeface="Encode Sans"/>
              <a:ea typeface="Encode Sans"/>
              <a:cs typeface="Encode Sans"/>
              <a:sym typeface="Encode Sans"/>
            </a:endParaRPr>
          </a:p>
          <a:p>
            <a:pPr indent="0" lvl="0" marL="0" marR="0" rtl="0" algn="just">
              <a:lnSpc>
                <a:spcPct val="130000"/>
              </a:lnSpc>
              <a:spcBef>
                <a:spcPts val="1000"/>
              </a:spcBef>
              <a:spcAft>
                <a:spcPts val="0"/>
              </a:spcAft>
              <a:buNone/>
            </a:pPr>
            <a:r>
              <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langchain:</a:t>
            </a:r>
            <a:r>
              <a:rPr lang="en-GB">
                <a:solidFill>
                  <a:schemeClr val="dk1"/>
                </a:solidFill>
                <a:latin typeface="Encode Sans"/>
                <a:ea typeface="Encode Sans"/>
                <a:cs typeface="Encode Sans"/>
                <a:sym typeface="Encode Sans"/>
              </a:rPr>
              <a:t> the high-level package, holds init_chat_model and the agent-building utilities.</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langchain-openai:</a:t>
            </a:r>
            <a:r>
              <a:rPr lang="en-GB">
                <a:solidFill>
                  <a:schemeClr val="dk1"/>
                </a:solidFill>
                <a:latin typeface="Encode Sans"/>
                <a:ea typeface="Encode Sans"/>
                <a:cs typeface="Encode Sans"/>
                <a:sym typeface="Encode Sans"/>
              </a:rPr>
              <a:t> lets LangChain talk to any OpenAI-compatible endpoint, including a local vLLM server's /v1/chat/completions.</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langchain-core:</a:t>
            </a:r>
            <a:r>
              <a:rPr lang="en-GB">
                <a:solidFill>
                  <a:schemeClr val="dk1"/>
                </a:solidFill>
                <a:latin typeface="Encode Sans"/>
                <a:ea typeface="Encode Sans"/>
                <a:cs typeface="Encode Sans"/>
                <a:sym typeface="Encode Sans"/>
              </a:rPr>
              <a:t> the foundation every other package builds on, holds the Runnable interface, prompt templates, messages, and output parsers.</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pydantic:</a:t>
            </a:r>
            <a:r>
              <a:rPr lang="en-GB">
                <a:solidFill>
                  <a:schemeClr val="dk1"/>
                </a:solidFill>
                <a:latin typeface="Encode Sans"/>
                <a:ea typeface="Encode Sans"/>
                <a:cs typeface="Encode Sans"/>
                <a:sym typeface="Encode Sans"/>
              </a:rPr>
              <a:t> schema validation for structured output, pinned to match the course's version target.</a:t>
            </a:r>
            <a:endParaRPr>
              <a:solidFill>
                <a:schemeClr val="dk1"/>
              </a:solidFill>
              <a:latin typeface="Encode Sans"/>
              <a:ea typeface="Encode Sans"/>
              <a:cs typeface="Encode Sans"/>
              <a:sym typeface="Encode Sans"/>
            </a:endParaRPr>
          </a:p>
        </p:txBody>
      </p:sp>
      <p:sp>
        <p:nvSpPr>
          <p:cNvPr id="812" name="Google Shape;812;p9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813" name="Google Shape;813;p92"/>
          <p:cNvGrpSpPr/>
          <p:nvPr/>
        </p:nvGrpSpPr>
        <p:grpSpPr>
          <a:xfrm>
            <a:off x="865425" y="1548115"/>
            <a:ext cx="5884090" cy="829500"/>
            <a:chOff x="1637650" y="2946097"/>
            <a:chExt cx="3584363" cy="829500"/>
          </a:xfrm>
        </p:grpSpPr>
        <p:grpSp>
          <p:nvGrpSpPr>
            <p:cNvPr id="814" name="Google Shape;814;p92"/>
            <p:cNvGrpSpPr/>
            <p:nvPr/>
          </p:nvGrpSpPr>
          <p:grpSpPr>
            <a:xfrm>
              <a:off x="1637650" y="2946097"/>
              <a:ext cx="3584363" cy="829500"/>
              <a:chOff x="1637698" y="2946097"/>
              <a:chExt cx="2993205" cy="829500"/>
            </a:xfrm>
          </p:grpSpPr>
          <p:sp>
            <p:nvSpPr>
              <p:cNvPr id="815" name="Google Shape;815;p92"/>
              <p:cNvSpPr/>
              <p:nvPr/>
            </p:nvSpPr>
            <p:spPr>
              <a:xfrm>
                <a:off x="1639003" y="2946097"/>
                <a:ext cx="2991900" cy="8295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816" name="Google Shape;816;p92"/>
              <p:cNvCxnSpPr/>
              <p:nvPr/>
            </p:nvCxnSpPr>
            <p:spPr>
              <a:xfrm>
                <a:off x="1637698" y="3256225"/>
                <a:ext cx="2992500" cy="0"/>
              </a:xfrm>
              <a:prstGeom prst="straightConnector1">
                <a:avLst/>
              </a:prstGeom>
              <a:noFill/>
              <a:ln cap="flat" cmpd="sng" w="9525">
                <a:solidFill>
                  <a:schemeClr val="dk2"/>
                </a:solidFill>
                <a:prstDash val="solid"/>
                <a:round/>
                <a:headEnd len="med" w="med" type="none"/>
                <a:tailEnd len="med" w="med" type="none"/>
              </a:ln>
            </p:spPr>
          </p:cxnSp>
        </p:grpSp>
        <p:sp>
          <p:nvSpPr>
            <p:cNvPr id="817" name="Google Shape;817;p92"/>
            <p:cNvSpPr txBox="1"/>
            <p:nvPr/>
          </p:nvSpPr>
          <p:spPr>
            <a:xfrm>
              <a:off x="1705252" y="3320072"/>
              <a:ext cx="33606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pip install langchain langchain-openai langchain-core pydantic</a:t>
              </a:r>
              <a:endParaRPr sz="1000">
                <a:solidFill>
                  <a:srgbClr val="0033B3"/>
                </a:solidFill>
                <a:latin typeface="Consolas"/>
                <a:ea typeface="Consolas"/>
                <a:cs typeface="Consolas"/>
                <a:sym typeface="Consolas"/>
              </a:endParaRPr>
            </a:p>
          </p:txBody>
        </p:sp>
      </p:grpSp>
      <p:grpSp>
        <p:nvGrpSpPr>
          <p:cNvPr id="818" name="Google Shape;818;p92"/>
          <p:cNvGrpSpPr/>
          <p:nvPr/>
        </p:nvGrpSpPr>
        <p:grpSpPr>
          <a:xfrm>
            <a:off x="997350" y="1651771"/>
            <a:ext cx="448950" cy="109200"/>
            <a:chOff x="1769550" y="3049750"/>
            <a:chExt cx="448950" cy="109200"/>
          </a:xfrm>
        </p:grpSpPr>
        <p:sp>
          <p:nvSpPr>
            <p:cNvPr id="819" name="Google Shape;819;p92"/>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820" name="Google Shape;820;p92"/>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821" name="Google Shape;821;p92"/>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822" name="Google Shape;822;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93"/>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Chat Models</a:t>
            </a:r>
            <a:endParaRPr>
              <a:solidFill>
                <a:srgbClr val="CE6948"/>
              </a:solidFill>
            </a:endParaRPr>
          </a:p>
        </p:txBody>
      </p:sp>
      <p:sp>
        <p:nvSpPr>
          <p:cNvPr id="828" name="Google Shape;828;p93"/>
          <p:cNvSpPr txBox="1"/>
          <p:nvPr>
            <p:ph idx="1" type="body"/>
          </p:nvPr>
        </p:nvSpPr>
        <p:spPr>
          <a:xfrm>
            <a:off x="311700" y="1069550"/>
            <a:ext cx="8520600" cy="16854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1000"/>
              </a:spcBef>
              <a:spcAft>
                <a:spcPts val="0"/>
              </a:spcAft>
              <a:buClr>
                <a:srgbClr val="CE6948"/>
              </a:buClr>
              <a:buSzPts val="1000"/>
              <a:buFont typeface="Encode Sans"/>
              <a:buChar char="●"/>
            </a:pPr>
            <a:r>
              <a:rPr lang="en-GB">
                <a:solidFill>
                  <a:schemeClr val="dk1"/>
                </a:solidFill>
                <a:latin typeface="Encode Sans"/>
                <a:ea typeface="Encode Sans"/>
                <a:cs typeface="Encode Sans"/>
                <a:sym typeface="Encode Sans"/>
              </a:rPr>
              <a:t>There are </a:t>
            </a:r>
            <a:r>
              <a:rPr b="1" lang="en-GB">
                <a:solidFill>
                  <a:srgbClr val="CE6948"/>
                </a:solidFill>
                <a:latin typeface="Encode Sans"/>
                <a:ea typeface="Encode Sans"/>
                <a:cs typeface="Encode Sans"/>
                <a:sym typeface="Encode Sans"/>
              </a:rPr>
              <a:t>2</a:t>
            </a:r>
            <a:r>
              <a:rPr lang="en-GB">
                <a:solidFill>
                  <a:schemeClr val="dk1"/>
                </a:solidFill>
                <a:latin typeface="Encode Sans"/>
                <a:ea typeface="Encode Sans"/>
                <a:cs typeface="Encode Sans"/>
                <a:sym typeface="Encode Sans"/>
              </a:rPr>
              <a:t> main ways to </a:t>
            </a:r>
            <a:r>
              <a:rPr lang="en-GB">
                <a:solidFill>
                  <a:schemeClr val="dk1"/>
                </a:solidFill>
                <a:latin typeface="Encode Sans"/>
                <a:ea typeface="Encode Sans"/>
                <a:cs typeface="Encode Sans"/>
                <a:sym typeface="Encode Sans"/>
              </a:rPr>
              <a:t>initialize</a:t>
            </a:r>
            <a:r>
              <a:rPr lang="en-GB">
                <a:solidFill>
                  <a:schemeClr val="dk1"/>
                </a:solidFill>
                <a:latin typeface="Encode Sans"/>
                <a:ea typeface="Encode Sans"/>
                <a:cs typeface="Encode Sans"/>
                <a:sym typeface="Encode Sans"/>
              </a:rPr>
              <a:t> a chat model in LangChain using:</a:t>
            </a:r>
            <a:endParaRPr>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chemeClr val="dk1"/>
              </a:buClr>
              <a:buSzPts val="1300"/>
              <a:buFont typeface="Arial"/>
              <a:buChar char="○"/>
            </a:pPr>
            <a:r>
              <a:rPr b="1" lang="en-GB">
                <a:solidFill>
                  <a:srgbClr val="CE6948"/>
                </a:solidFill>
                <a:latin typeface="Encode Sans"/>
                <a:ea typeface="Encode Sans"/>
                <a:cs typeface="Encode Sans"/>
                <a:sym typeface="Encode Sans"/>
              </a:rPr>
              <a:t>Provider Subclass</a:t>
            </a:r>
            <a:r>
              <a:rPr b="1" lang="en-GB">
                <a:solidFill>
                  <a:srgbClr val="CE6948"/>
                </a:solidFill>
                <a:latin typeface="Encode Sans"/>
                <a:ea typeface="Encode Sans"/>
                <a:cs typeface="Encode Sans"/>
                <a:sym typeface="Encode Sans"/>
              </a:rPr>
              <a:t>:</a:t>
            </a:r>
            <a:r>
              <a:rPr lang="en-GB">
                <a:solidFill>
                  <a:schemeClr val="dk1"/>
                </a:solidFill>
                <a:latin typeface="Encode Sans"/>
                <a:ea typeface="Encode Sans"/>
                <a:cs typeface="Encode Sans"/>
                <a:sym typeface="Encode Sans"/>
              </a:rPr>
              <a:t> A unified wrapper (</a:t>
            </a:r>
            <a:r>
              <a:rPr b="1" lang="en-GB">
                <a:solidFill>
                  <a:srgbClr val="CE6948"/>
                </a:solidFill>
                <a:latin typeface="Encode Sans"/>
                <a:ea typeface="Encode Sans"/>
                <a:cs typeface="Encode Sans"/>
                <a:sym typeface="Encode Sans"/>
              </a:rPr>
              <a:t>ChatOpenAI</a:t>
            </a:r>
            <a:r>
              <a:rPr lang="en-GB">
                <a:solidFill>
                  <a:schemeClr val="dk1"/>
                </a:solidFill>
                <a:latin typeface="Encode Sans"/>
                <a:ea typeface="Encode Sans"/>
                <a:cs typeface="Encode Sans"/>
                <a:sym typeface="Encode Sans"/>
              </a:rPr>
              <a:t>, and equivalents for every provider) over any chat completions endpoint, including a local vLLM server's OpenAI-compatible API.</a:t>
            </a:r>
            <a:endParaRPr>
              <a:solidFill>
                <a:schemeClr val="dk1"/>
              </a:solidFill>
              <a:latin typeface="Encode Sans"/>
              <a:ea typeface="Encode Sans"/>
              <a:cs typeface="Encode Sans"/>
              <a:sym typeface="Encode Sans"/>
            </a:endParaRPr>
          </a:p>
          <a:p>
            <a:pPr indent="-225425" lvl="1" marL="571500" rtl="0" algn="l">
              <a:lnSpc>
                <a:spcPct val="130000"/>
              </a:lnSpc>
              <a:spcBef>
                <a:spcPts val="0"/>
              </a:spcBef>
              <a:spcAft>
                <a:spcPts val="0"/>
              </a:spcAft>
              <a:buClr>
                <a:schemeClr val="dk1"/>
              </a:buClr>
              <a:buSzPts val="1300"/>
              <a:buFont typeface="Arial"/>
              <a:buChar char="○"/>
            </a:pPr>
            <a:r>
              <a:rPr b="1" lang="en-GB">
                <a:solidFill>
                  <a:srgbClr val="CE6948"/>
                </a:solidFill>
                <a:latin typeface="Encode Sans"/>
                <a:ea typeface="Encode Sans"/>
                <a:cs typeface="Encode Sans"/>
                <a:sym typeface="Encode Sans"/>
              </a:rPr>
              <a:t>init_chat_model</a:t>
            </a:r>
            <a:r>
              <a:rPr b="1" lang="en-GB">
                <a:solidFill>
                  <a:srgbClr val="CE6948"/>
                </a:solidFill>
                <a:latin typeface="Encode Sans"/>
                <a:ea typeface="Encode Sans"/>
                <a:cs typeface="Encode Sans"/>
                <a:sym typeface="Encode Sans"/>
              </a:rPr>
              <a:t>:</a:t>
            </a:r>
            <a:r>
              <a:rPr lang="en-GB">
                <a:solidFill>
                  <a:schemeClr val="dk1"/>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builds a chat model from one string, </a:t>
            </a:r>
            <a:r>
              <a:rPr b="1" lang="en-GB">
                <a:solidFill>
                  <a:srgbClr val="CE6948"/>
                </a:solidFill>
                <a:latin typeface="Encode Sans"/>
                <a:ea typeface="Encode Sans"/>
                <a:cs typeface="Encode Sans"/>
                <a:sym typeface="Encode Sans"/>
              </a:rPr>
              <a:t>"provider:model-name"</a:t>
            </a:r>
            <a:r>
              <a:rPr lang="en-GB">
                <a:solidFill>
                  <a:schemeClr val="dk1"/>
                </a:solidFill>
                <a:latin typeface="Encode Sans"/>
                <a:ea typeface="Encode Sans"/>
                <a:cs typeface="Encode Sans"/>
                <a:sym typeface="Encode Sans"/>
              </a:rPr>
              <a:t>, instead of importing a provider-specific class. Extra keyword arguments (base_url, api_key, temperature, and so on) pass straight through to that provider's constructor.</a:t>
            </a:r>
            <a:endParaRPr>
              <a:solidFill>
                <a:schemeClr val="dk1"/>
              </a:solidFill>
              <a:latin typeface="Encode Sans"/>
              <a:ea typeface="Encode Sans"/>
              <a:cs typeface="Encode Sans"/>
              <a:sym typeface="Encode Sans"/>
            </a:endParaRPr>
          </a:p>
        </p:txBody>
      </p:sp>
      <p:sp>
        <p:nvSpPr>
          <p:cNvPr id="829" name="Google Shape;829;p93"/>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sp>
        <p:nvSpPr>
          <p:cNvPr id="830" name="Google Shape;830;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9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Chat Models (cont)</a:t>
            </a:r>
            <a:endParaRPr>
              <a:solidFill>
                <a:srgbClr val="CE6948"/>
              </a:solidFill>
            </a:endParaRPr>
          </a:p>
        </p:txBody>
      </p:sp>
      <p:sp>
        <p:nvSpPr>
          <p:cNvPr id="836" name="Google Shape;836;p94"/>
          <p:cNvSpPr txBox="1"/>
          <p:nvPr>
            <p:ph idx="1" type="body"/>
          </p:nvPr>
        </p:nvSpPr>
        <p:spPr>
          <a:xfrm>
            <a:off x="311700" y="1069550"/>
            <a:ext cx="8520600" cy="6450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1000"/>
              </a:spcBef>
              <a:spcAft>
                <a:spcPts val="0"/>
              </a:spcAft>
              <a:buClr>
                <a:srgbClr val="D97757"/>
              </a:buClr>
              <a:buSzPts val="1000"/>
              <a:buFont typeface="Encode Sans"/>
              <a:buChar char="●"/>
            </a:pPr>
            <a:r>
              <a:rPr b="1" lang="en-GB">
                <a:solidFill>
                  <a:srgbClr val="D97757"/>
                </a:solidFill>
                <a:latin typeface="Encode Sans"/>
                <a:ea typeface="Encode Sans"/>
                <a:cs typeface="Encode Sans"/>
                <a:sym typeface="Encode Sans"/>
              </a:rPr>
              <a:t>Provider SubClass with ChatOpenAI</a:t>
            </a:r>
            <a:endParaRPr b="1">
              <a:solidFill>
                <a:srgbClr val="D97757"/>
              </a:solidFill>
              <a:latin typeface="Encode Sans"/>
              <a:ea typeface="Encode Sans"/>
              <a:cs typeface="Encode Sans"/>
              <a:sym typeface="Encode Sans"/>
            </a:endParaRPr>
          </a:p>
          <a:p>
            <a:pPr indent="-206375" lvl="1" marL="57150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Example:</a:t>
            </a:r>
            <a:endParaRPr>
              <a:solidFill>
                <a:schemeClr val="dk1"/>
              </a:solidFill>
              <a:latin typeface="Encode Sans"/>
              <a:ea typeface="Encode Sans"/>
              <a:cs typeface="Encode Sans"/>
              <a:sym typeface="Encode Sans"/>
            </a:endParaRPr>
          </a:p>
        </p:txBody>
      </p:sp>
      <p:sp>
        <p:nvSpPr>
          <p:cNvPr id="837" name="Google Shape;837;p9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838" name="Google Shape;838;p94"/>
          <p:cNvGrpSpPr/>
          <p:nvPr/>
        </p:nvGrpSpPr>
        <p:grpSpPr>
          <a:xfrm>
            <a:off x="1007462" y="1811715"/>
            <a:ext cx="3785458" cy="1786500"/>
            <a:chOff x="1637650" y="2946097"/>
            <a:chExt cx="2305956" cy="1786500"/>
          </a:xfrm>
        </p:grpSpPr>
        <p:grpSp>
          <p:nvGrpSpPr>
            <p:cNvPr id="839" name="Google Shape;839;p94"/>
            <p:cNvGrpSpPr/>
            <p:nvPr/>
          </p:nvGrpSpPr>
          <p:grpSpPr>
            <a:xfrm>
              <a:off x="1637650" y="2946097"/>
              <a:ext cx="2305956" cy="1786500"/>
              <a:chOff x="1637698" y="2946097"/>
              <a:chExt cx="1925642" cy="1786500"/>
            </a:xfrm>
          </p:grpSpPr>
          <p:sp>
            <p:nvSpPr>
              <p:cNvPr id="840" name="Google Shape;840;p94"/>
              <p:cNvSpPr/>
              <p:nvPr/>
            </p:nvSpPr>
            <p:spPr>
              <a:xfrm>
                <a:off x="1638541" y="2946097"/>
                <a:ext cx="1924800" cy="17865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841" name="Google Shape;841;p94"/>
              <p:cNvCxnSpPr/>
              <p:nvPr/>
            </p:nvCxnSpPr>
            <p:spPr>
              <a:xfrm>
                <a:off x="1637698" y="3256225"/>
                <a:ext cx="1925400" cy="0"/>
              </a:xfrm>
              <a:prstGeom prst="straightConnector1">
                <a:avLst/>
              </a:prstGeom>
              <a:noFill/>
              <a:ln cap="flat" cmpd="sng" w="9525">
                <a:solidFill>
                  <a:schemeClr val="dk2"/>
                </a:solidFill>
                <a:prstDash val="solid"/>
                <a:round/>
                <a:headEnd len="med" w="med" type="none"/>
                <a:tailEnd len="med" w="med" type="none"/>
              </a:ln>
            </p:spPr>
          </p:cxnSp>
        </p:grpSp>
        <p:sp>
          <p:nvSpPr>
            <p:cNvPr id="842" name="Google Shape;842;p94"/>
            <p:cNvSpPr txBox="1"/>
            <p:nvPr/>
          </p:nvSpPr>
          <p:spPr>
            <a:xfrm>
              <a:off x="1681537" y="3320072"/>
              <a:ext cx="2261700" cy="140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langchain_openai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ChatOpenAI</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llm = ChatOpenAI(</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model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"Qwen/Qwen2.5-7B-Instruct"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base_url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"http://localhost:8000/v1"</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api_key</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"EMPTY"</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a:t>
              </a:r>
              <a:endParaRPr sz="1000">
                <a:solidFill>
                  <a:srgbClr val="0033B3"/>
                </a:solidFill>
                <a:latin typeface="Consolas"/>
                <a:ea typeface="Consolas"/>
                <a:cs typeface="Consolas"/>
                <a:sym typeface="Consolas"/>
              </a:endParaRPr>
            </a:p>
          </p:txBody>
        </p:sp>
      </p:grpSp>
      <p:grpSp>
        <p:nvGrpSpPr>
          <p:cNvPr id="843" name="Google Shape;843;p94"/>
          <p:cNvGrpSpPr/>
          <p:nvPr/>
        </p:nvGrpSpPr>
        <p:grpSpPr>
          <a:xfrm>
            <a:off x="1139387" y="1915371"/>
            <a:ext cx="448950" cy="109200"/>
            <a:chOff x="1769550" y="3049750"/>
            <a:chExt cx="448950" cy="109200"/>
          </a:xfrm>
        </p:grpSpPr>
        <p:sp>
          <p:nvSpPr>
            <p:cNvPr id="844" name="Google Shape;844;p94"/>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845" name="Google Shape;845;p94"/>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846" name="Google Shape;846;p94"/>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847" name="Google Shape;847;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95"/>
          <p:cNvSpPr txBox="1"/>
          <p:nvPr>
            <p:ph idx="1" type="body"/>
          </p:nvPr>
        </p:nvSpPr>
        <p:spPr>
          <a:xfrm>
            <a:off x="311700" y="1069550"/>
            <a:ext cx="8520600" cy="645000"/>
          </a:xfrm>
          <a:prstGeom prst="rect">
            <a:avLst/>
          </a:prstGeom>
        </p:spPr>
        <p:txBody>
          <a:bodyPr anchorCtr="0" anchor="t" bIns="91425" lIns="91425" spcFirstLastPara="1" rIns="91425" wrap="square" tIns="91425">
            <a:spAutoFit/>
          </a:bodyPr>
          <a:lstStyle/>
          <a:p>
            <a:pPr indent="-206375" lvl="0" marL="22860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init_chat_model()</a:t>
            </a:r>
            <a:endParaRPr b="1">
              <a:solidFill>
                <a:srgbClr val="CE6948"/>
              </a:solidFill>
              <a:latin typeface="Encode Sans"/>
              <a:ea typeface="Encode Sans"/>
              <a:cs typeface="Encode Sans"/>
              <a:sym typeface="Encode Sans"/>
            </a:endParaRPr>
          </a:p>
          <a:p>
            <a:pPr indent="-206375" lvl="1" marL="571500" rtl="0" algn="just">
              <a:lnSpc>
                <a:spcPct val="130000"/>
              </a:lnSpc>
              <a:spcBef>
                <a:spcPts val="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Example:</a:t>
            </a:r>
            <a:endParaRPr b="1">
              <a:solidFill>
                <a:srgbClr val="CE6948"/>
              </a:solidFill>
              <a:latin typeface="Encode Sans"/>
              <a:ea typeface="Encode Sans"/>
              <a:cs typeface="Encode Sans"/>
              <a:sym typeface="Encode Sans"/>
            </a:endParaRPr>
          </a:p>
        </p:txBody>
      </p:sp>
      <p:sp>
        <p:nvSpPr>
          <p:cNvPr id="853" name="Google Shape;853;p95"/>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Chat Models (cont)</a:t>
            </a:r>
            <a:endParaRPr>
              <a:solidFill>
                <a:srgbClr val="CE6948"/>
              </a:solidFill>
            </a:endParaRPr>
          </a:p>
        </p:txBody>
      </p:sp>
      <p:sp>
        <p:nvSpPr>
          <p:cNvPr id="854" name="Google Shape;854;p95"/>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855" name="Google Shape;855;p95"/>
          <p:cNvGrpSpPr/>
          <p:nvPr/>
        </p:nvGrpSpPr>
        <p:grpSpPr>
          <a:xfrm>
            <a:off x="786550" y="1712450"/>
            <a:ext cx="3785453" cy="1951800"/>
            <a:chOff x="1637650" y="2946097"/>
            <a:chExt cx="2305953" cy="1951800"/>
          </a:xfrm>
        </p:grpSpPr>
        <p:grpSp>
          <p:nvGrpSpPr>
            <p:cNvPr id="856" name="Google Shape;856;p95"/>
            <p:cNvGrpSpPr/>
            <p:nvPr/>
          </p:nvGrpSpPr>
          <p:grpSpPr>
            <a:xfrm>
              <a:off x="1637650" y="2946097"/>
              <a:ext cx="2305953" cy="1951800"/>
              <a:chOff x="1637698" y="2946097"/>
              <a:chExt cx="1925639" cy="1951800"/>
            </a:xfrm>
          </p:grpSpPr>
          <p:sp>
            <p:nvSpPr>
              <p:cNvPr id="857" name="Google Shape;857;p95"/>
              <p:cNvSpPr/>
              <p:nvPr/>
            </p:nvSpPr>
            <p:spPr>
              <a:xfrm>
                <a:off x="1638538" y="2946097"/>
                <a:ext cx="1924800" cy="1951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858" name="Google Shape;858;p95"/>
              <p:cNvCxnSpPr/>
              <p:nvPr/>
            </p:nvCxnSpPr>
            <p:spPr>
              <a:xfrm>
                <a:off x="1637698" y="3256225"/>
                <a:ext cx="1925400" cy="0"/>
              </a:xfrm>
              <a:prstGeom prst="straightConnector1">
                <a:avLst/>
              </a:prstGeom>
              <a:noFill/>
              <a:ln cap="flat" cmpd="sng" w="9525">
                <a:solidFill>
                  <a:schemeClr val="dk2"/>
                </a:solidFill>
                <a:prstDash val="solid"/>
                <a:round/>
                <a:headEnd len="med" w="med" type="none"/>
                <a:tailEnd len="med" w="med" type="none"/>
              </a:ln>
            </p:spPr>
          </p:cxnSp>
        </p:grpSp>
        <p:sp>
          <p:nvSpPr>
            <p:cNvPr id="859" name="Google Shape;859;p95"/>
            <p:cNvSpPr txBox="1"/>
            <p:nvPr/>
          </p:nvSpPr>
          <p:spPr>
            <a:xfrm>
              <a:off x="1681537" y="3320072"/>
              <a:ext cx="2261700" cy="157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langchain.chat_models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init_chat_model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llm = init_chat_model(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"openai:Qwen/Qwen2.5-7B-Instruct"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base_url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"http://localhost:8000/v1"</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api_key</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"EMPTY"</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temperature</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0</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a:t>
              </a:r>
              <a:endParaRPr sz="1000">
                <a:solidFill>
                  <a:srgbClr val="0033B3"/>
                </a:solidFill>
                <a:latin typeface="Consolas"/>
                <a:ea typeface="Consolas"/>
                <a:cs typeface="Consolas"/>
                <a:sym typeface="Consolas"/>
              </a:endParaRPr>
            </a:p>
          </p:txBody>
        </p:sp>
      </p:grpSp>
      <p:grpSp>
        <p:nvGrpSpPr>
          <p:cNvPr id="860" name="Google Shape;860;p95"/>
          <p:cNvGrpSpPr/>
          <p:nvPr/>
        </p:nvGrpSpPr>
        <p:grpSpPr>
          <a:xfrm>
            <a:off x="918475" y="1816106"/>
            <a:ext cx="448950" cy="109200"/>
            <a:chOff x="1769550" y="3049750"/>
            <a:chExt cx="448950" cy="109200"/>
          </a:xfrm>
        </p:grpSpPr>
        <p:sp>
          <p:nvSpPr>
            <p:cNvPr id="861" name="Google Shape;861;p95"/>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862" name="Google Shape;862;p95"/>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863" name="Google Shape;863;p95"/>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864" name="Google Shape;864;p95"/>
          <p:cNvSpPr txBox="1"/>
          <p:nvPr>
            <p:ph idx="1" type="body"/>
          </p:nvPr>
        </p:nvSpPr>
        <p:spPr>
          <a:xfrm>
            <a:off x="311700" y="3736550"/>
            <a:ext cx="8520600" cy="1165200"/>
          </a:xfrm>
          <a:prstGeom prst="rect">
            <a:avLst/>
          </a:prstGeom>
        </p:spPr>
        <p:txBody>
          <a:bodyPr anchorCtr="0" anchor="t" bIns="91425" lIns="91425" spcFirstLastPara="1" rIns="91425" wrap="square" tIns="91425">
            <a:spAutoFit/>
          </a:bodyPr>
          <a:lstStyle/>
          <a:p>
            <a:pPr indent="-206375" lvl="0" marL="22860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the</a:t>
            </a:r>
            <a:r>
              <a:rPr b="1" lang="en-GB">
                <a:solidFill>
                  <a:srgbClr val="CE6948"/>
                </a:solidFill>
                <a:latin typeface="Encode Sans"/>
                <a:ea typeface="Encode Sans"/>
                <a:cs typeface="Encode Sans"/>
                <a:sym typeface="Encode Sans"/>
              </a:rPr>
              <a:t> "openai:"</a:t>
            </a:r>
            <a:r>
              <a:rPr lang="en-GB">
                <a:solidFill>
                  <a:schemeClr val="dk1"/>
                </a:solidFill>
                <a:latin typeface="Encode Sans"/>
                <a:ea typeface="Encode Sans"/>
                <a:cs typeface="Encode Sans"/>
                <a:sym typeface="Encode Sans"/>
              </a:rPr>
              <a:t> prefix picks the provider constructor, vLLM speaks the OpenAI protocol, so this is the prefix to use for any self-hosted OpenAI-compatible server.</a:t>
            </a:r>
            <a:endParaRPr>
              <a:solidFill>
                <a:schemeClr val="dk1"/>
              </a:solidFill>
              <a:latin typeface="Encode Sans"/>
              <a:ea typeface="Encode Sans"/>
              <a:cs typeface="Encode Sans"/>
              <a:sym typeface="Encode Sans"/>
            </a:endParaRPr>
          </a:p>
          <a:p>
            <a:pPr indent="-206375" lvl="0" marL="22860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other providers (anthropic, google_vertexai, cohere, and more) get inferred automatically from common name prefixes (claude*, gpt-*) when left off, that inference doesn't cover custom local model names.</a:t>
            </a:r>
            <a:endParaRPr>
              <a:solidFill>
                <a:schemeClr val="dk1"/>
              </a:solidFill>
              <a:latin typeface="Encode Sans"/>
              <a:ea typeface="Encode Sans"/>
              <a:cs typeface="Encode Sans"/>
              <a:sym typeface="Encode Sans"/>
            </a:endParaRPr>
          </a:p>
        </p:txBody>
      </p:sp>
      <p:sp>
        <p:nvSpPr>
          <p:cNvPr id="865" name="Google Shape;865;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96"/>
          <p:cNvSpPr txBox="1"/>
          <p:nvPr>
            <p:ph idx="1" type="body"/>
          </p:nvPr>
        </p:nvSpPr>
        <p:spPr>
          <a:xfrm>
            <a:off x="311700" y="1069550"/>
            <a:ext cx="8520600" cy="1945500"/>
          </a:xfrm>
          <a:prstGeom prst="rect">
            <a:avLst/>
          </a:prstGeom>
        </p:spPr>
        <p:txBody>
          <a:bodyPr anchorCtr="0" anchor="t" bIns="91425" lIns="91425" spcFirstLastPara="1" rIns="91425" wrap="square" tIns="91425">
            <a:spAutoFit/>
          </a:bodyPr>
          <a:lstStyle/>
          <a:p>
            <a:pPr indent="-206375" lvl="0" marL="228600" rtl="0" algn="just">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Every chat model consumes and returns a list of typed message objects, not raw strings, each one tagged with a role that tells the model who is speaking.</a:t>
            </a:r>
            <a:endParaRPr>
              <a:solidFill>
                <a:schemeClr val="dk1"/>
              </a:solidFill>
              <a:latin typeface="Encode Sans"/>
              <a:ea typeface="Encode Sans"/>
              <a:cs typeface="Encode Sans"/>
              <a:sym typeface="Encode Sans"/>
            </a:endParaRPr>
          </a:p>
          <a:p>
            <a:pPr indent="-206375" lvl="1" marL="57150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SystemMessage</a:t>
            </a:r>
            <a:r>
              <a:rPr lang="en-GB">
                <a:solidFill>
                  <a:schemeClr val="dk1"/>
                </a:solidFill>
                <a:latin typeface="Encode Sans"/>
                <a:ea typeface="Encode Sans"/>
                <a:cs typeface="Encode Sans"/>
                <a:sym typeface="Encode Sans"/>
              </a:rPr>
              <a:t> sets persistent instructions and persona, sent once at the start of the list</a:t>
            </a:r>
            <a:endParaRPr>
              <a:solidFill>
                <a:schemeClr val="dk1"/>
              </a:solidFill>
              <a:latin typeface="Encode Sans"/>
              <a:ea typeface="Encode Sans"/>
              <a:cs typeface="Encode Sans"/>
              <a:sym typeface="Encode Sans"/>
            </a:endParaRPr>
          </a:p>
          <a:p>
            <a:pPr indent="-206375" lvl="1" marL="57150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HumanMessage</a:t>
            </a:r>
            <a:r>
              <a:rPr lang="en-GB">
                <a:solidFill>
                  <a:schemeClr val="dk1"/>
                </a:solidFill>
                <a:latin typeface="Encode Sans"/>
                <a:ea typeface="Encode Sans"/>
                <a:cs typeface="Encode Sans"/>
                <a:sym typeface="Encode Sans"/>
              </a:rPr>
              <a:t> and </a:t>
            </a:r>
            <a:r>
              <a:rPr b="1" lang="en-GB">
                <a:solidFill>
                  <a:srgbClr val="CE6948"/>
                </a:solidFill>
                <a:latin typeface="Encode Sans"/>
                <a:ea typeface="Encode Sans"/>
                <a:cs typeface="Encode Sans"/>
                <a:sym typeface="Encode Sans"/>
              </a:rPr>
              <a:t>AIMessage</a:t>
            </a:r>
            <a:r>
              <a:rPr lang="en-GB">
                <a:solidFill>
                  <a:schemeClr val="dk1"/>
                </a:solidFill>
                <a:latin typeface="Encode Sans"/>
                <a:ea typeface="Encode Sans"/>
                <a:cs typeface="Encode Sans"/>
                <a:sym typeface="Encode Sans"/>
              </a:rPr>
              <a:t> alternate to represent the back-and-forth of a conversation, </a:t>
            </a:r>
            <a:r>
              <a:rPr b="1" lang="en-GB">
                <a:solidFill>
                  <a:srgbClr val="CE6948"/>
                </a:solidFill>
                <a:latin typeface="Encode Sans"/>
                <a:ea typeface="Encode Sans"/>
                <a:cs typeface="Encode Sans"/>
                <a:sym typeface="Encode Sans"/>
              </a:rPr>
              <a:t>AIMessage</a:t>
            </a:r>
            <a:r>
              <a:rPr lang="en-GB">
                <a:solidFill>
                  <a:schemeClr val="dk1"/>
                </a:solidFill>
                <a:latin typeface="Encode Sans"/>
                <a:ea typeface="Encode Sans"/>
                <a:cs typeface="Encode Sans"/>
                <a:sym typeface="Encode Sans"/>
              </a:rPr>
              <a:t> is what</a:t>
            </a:r>
            <a:r>
              <a:rPr b="1" lang="en-GB">
                <a:solidFill>
                  <a:srgbClr val="CE6948"/>
                </a:solidFill>
                <a:latin typeface="Encode Sans"/>
                <a:ea typeface="Encode Sans"/>
                <a:cs typeface="Encode Sans"/>
                <a:sym typeface="Encode Sans"/>
              </a:rPr>
              <a:t> .invoke()</a:t>
            </a:r>
            <a:r>
              <a:rPr lang="en-GB">
                <a:solidFill>
                  <a:schemeClr val="dk1"/>
                </a:solidFill>
                <a:latin typeface="Encode Sans"/>
                <a:ea typeface="Encode Sans"/>
                <a:cs typeface="Encode Sans"/>
                <a:sym typeface="Encode Sans"/>
              </a:rPr>
              <a:t> returns</a:t>
            </a:r>
            <a:endParaRPr>
              <a:solidFill>
                <a:schemeClr val="dk1"/>
              </a:solidFill>
              <a:latin typeface="Encode Sans"/>
              <a:ea typeface="Encode Sans"/>
              <a:cs typeface="Encode Sans"/>
              <a:sym typeface="Encode Sans"/>
            </a:endParaRPr>
          </a:p>
          <a:p>
            <a:pPr indent="-206375" lvl="1" marL="57150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ToolMessage</a:t>
            </a:r>
            <a:r>
              <a:rPr lang="en-GB">
                <a:solidFill>
                  <a:schemeClr val="dk1"/>
                </a:solidFill>
                <a:latin typeface="Encode Sans"/>
                <a:ea typeface="Encode Sans"/>
                <a:cs typeface="Encode Sans"/>
                <a:sym typeface="Encode Sans"/>
              </a:rPr>
              <a:t> carries a tool's result back to the model after a tool call, its tool_call_id must match the id on the AIMessage that requested it</a:t>
            </a:r>
            <a:endParaRPr>
              <a:solidFill>
                <a:schemeClr val="dk1"/>
              </a:solidFill>
              <a:latin typeface="Encode Sans"/>
              <a:ea typeface="Encode Sans"/>
              <a:cs typeface="Encode Sans"/>
              <a:sym typeface="Encode Sans"/>
            </a:endParaRPr>
          </a:p>
        </p:txBody>
      </p:sp>
      <p:sp>
        <p:nvSpPr>
          <p:cNvPr id="871" name="Google Shape;871;p96"/>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Messages</a:t>
            </a:r>
            <a:endParaRPr>
              <a:solidFill>
                <a:srgbClr val="CE6948"/>
              </a:solidFill>
            </a:endParaRPr>
          </a:p>
        </p:txBody>
      </p:sp>
      <p:sp>
        <p:nvSpPr>
          <p:cNvPr id="872" name="Google Shape;872;p96"/>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sp>
        <p:nvSpPr>
          <p:cNvPr id="873" name="Google Shape;873;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97"/>
          <p:cNvSpPr txBox="1"/>
          <p:nvPr>
            <p:ph idx="1" type="body"/>
          </p:nvPr>
        </p:nvSpPr>
        <p:spPr>
          <a:xfrm>
            <a:off x="311700" y="1069550"/>
            <a:ext cx="8520600" cy="384900"/>
          </a:xfrm>
          <a:prstGeom prst="rect">
            <a:avLst/>
          </a:prstGeom>
        </p:spPr>
        <p:txBody>
          <a:bodyPr anchorCtr="0" anchor="t" bIns="91425" lIns="91425" spcFirstLastPara="1" rIns="91425" wrap="square" tIns="91425">
            <a:spAutoFit/>
          </a:bodyPr>
          <a:lstStyle/>
          <a:p>
            <a:pPr indent="-206375" lvl="0" marL="22860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Example:</a:t>
            </a:r>
            <a:endParaRPr>
              <a:solidFill>
                <a:schemeClr val="dk1"/>
              </a:solidFill>
              <a:latin typeface="Encode Sans"/>
              <a:ea typeface="Encode Sans"/>
              <a:cs typeface="Encode Sans"/>
              <a:sym typeface="Encode Sans"/>
            </a:endParaRPr>
          </a:p>
        </p:txBody>
      </p:sp>
      <p:sp>
        <p:nvSpPr>
          <p:cNvPr id="879" name="Google Shape;879;p9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Messages (cont)</a:t>
            </a:r>
            <a:endParaRPr>
              <a:solidFill>
                <a:srgbClr val="CE6948"/>
              </a:solidFill>
            </a:endParaRPr>
          </a:p>
        </p:txBody>
      </p:sp>
      <p:sp>
        <p:nvSpPr>
          <p:cNvPr id="880" name="Google Shape;880;p9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881" name="Google Shape;881;p97"/>
          <p:cNvGrpSpPr/>
          <p:nvPr/>
        </p:nvGrpSpPr>
        <p:grpSpPr>
          <a:xfrm>
            <a:off x="786550" y="1573985"/>
            <a:ext cx="6516151" cy="1951800"/>
            <a:chOff x="1637650" y="2946097"/>
            <a:chExt cx="3969390" cy="1951800"/>
          </a:xfrm>
        </p:grpSpPr>
        <p:grpSp>
          <p:nvGrpSpPr>
            <p:cNvPr id="882" name="Google Shape;882;p97"/>
            <p:cNvGrpSpPr/>
            <p:nvPr/>
          </p:nvGrpSpPr>
          <p:grpSpPr>
            <a:xfrm>
              <a:off x="1637650" y="2946097"/>
              <a:ext cx="3969287" cy="1951800"/>
              <a:chOff x="1637698" y="2946097"/>
              <a:chExt cx="3314645" cy="1951800"/>
            </a:xfrm>
          </p:grpSpPr>
          <p:sp>
            <p:nvSpPr>
              <p:cNvPr id="883" name="Google Shape;883;p97"/>
              <p:cNvSpPr/>
              <p:nvPr/>
            </p:nvSpPr>
            <p:spPr>
              <a:xfrm>
                <a:off x="1639143" y="2946097"/>
                <a:ext cx="3313200" cy="1951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884" name="Google Shape;884;p97"/>
              <p:cNvCxnSpPr/>
              <p:nvPr/>
            </p:nvCxnSpPr>
            <p:spPr>
              <a:xfrm>
                <a:off x="1637698" y="3256225"/>
                <a:ext cx="3314400" cy="0"/>
              </a:xfrm>
              <a:prstGeom prst="straightConnector1">
                <a:avLst/>
              </a:prstGeom>
              <a:noFill/>
              <a:ln cap="flat" cmpd="sng" w="9525">
                <a:solidFill>
                  <a:schemeClr val="dk2"/>
                </a:solidFill>
                <a:prstDash val="solid"/>
                <a:round/>
                <a:headEnd len="med" w="med" type="none"/>
                <a:tailEnd len="med" w="med" type="none"/>
              </a:ln>
            </p:spPr>
          </p:cxnSp>
        </p:grpSp>
        <p:sp>
          <p:nvSpPr>
            <p:cNvPr id="885" name="Google Shape;885;p97"/>
            <p:cNvSpPr txBox="1"/>
            <p:nvPr/>
          </p:nvSpPr>
          <p:spPr>
            <a:xfrm>
              <a:off x="1681540" y="3320072"/>
              <a:ext cx="3925500" cy="157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langchain_core.messages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SystemMessage, HumanMessage, AIMessage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messages =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SystemMessage(</a:t>
              </a:r>
              <a:r>
                <a:rPr lang="en-GB" sz="1000">
                  <a:solidFill>
                    <a:srgbClr val="067D17"/>
                  </a:solidFill>
                  <a:latin typeface="Consolas"/>
                  <a:ea typeface="Consolas"/>
                  <a:cs typeface="Consolas"/>
                  <a:sym typeface="Consolas"/>
                </a:rPr>
                <a:t>"You are a concise technical assistant."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HumanMessage(</a:t>
              </a:r>
              <a:r>
                <a:rPr lang="en-GB" sz="1000">
                  <a:solidFill>
                    <a:srgbClr val="067D17"/>
                  </a:solidFill>
                  <a:latin typeface="Consolas"/>
                  <a:ea typeface="Consolas"/>
                  <a:cs typeface="Consolas"/>
                  <a:sym typeface="Consolas"/>
                </a:rPr>
                <a:t>"Name one advantage of PagedAttention."</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AIMessage(</a:t>
              </a:r>
              <a:r>
                <a:rPr lang="en-GB" sz="1000">
                  <a:solidFill>
                    <a:srgbClr val="067D17"/>
                  </a:solidFill>
                  <a:latin typeface="Consolas"/>
                  <a:ea typeface="Consolas"/>
                  <a:cs typeface="Consolas"/>
                  <a:sym typeface="Consolas"/>
                </a:rPr>
                <a:t>"It avoids memory fragmentation in the KV cache."</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HumanMessage(</a:t>
              </a:r>
              <a:r>
                <a:rPr lang="en-GB" sz="1000">
                  <a:solidFill>
                    <a:srgbClr val="067D17"/>
                  </a:solidFill>
                  <a:latin typeface="Consolas"/>
                  <a:ea typeface="Consolas"/>
                  <a:cs typeface="Consolas"/>
                  <a:sym typeface="Consolas"/>
                </a:rPr>
                <a:t>"How does that compare to naive allocation?"</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a:t>
              </a:r>
              <a:endParaRPr sz="1000">
                <a:solidFill>
                  <a:srgbClr val="0033B3"/>
                </a:solidFill>
                <a:latin typeface="Consolas"/>
                <a:ea typeface="Consolas"/>
                <a:cs typeface="Consolas"/>
                <a:sym typeface="Consolas"/>
              </a:endParaRPr>
            </a:p>
          </p:txBody>
        </p:sp>
      </p:grpSp>
      <p:grpSp>
        <p:nvGrpSpPr>
          <p:cNvPr id="886" name="Google Shape;886;p97"/>
          <p:cNvGrpSpPr/>
          <p:nvPr/>
        </p:nvGrpSpPr>
        <p:grpSpPr>
          <a:xfrm>
            <a:off x="918475" y="1677641"/>
            <a:ext cx="448950" cy="109200"/>
            <a:chOff x="1769550" y="3049750"/>
            <a:chExt cx="448950" cy="109200"/>
          </a:xfrm>
        </p:grpSpPr>
        <p:sp>
          <p:nvSpPr>
            <p:cNvPr id="887" name="Google Shape;887;p97"/>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888" name="Google Shape;888;p97"/>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889" name="Google Shape;889;p97"/>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890" name="Google Shape;890;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98"/>
          <p:cNvSpPr txBox="1"/>
          <p:nvPr>
            <p:ph idx="1" type="body"/>
          </p:nvPr>
        </p:nvSpPr>
        <p:spPr>
          <a:xfrm>
            <a:off x="311700" y="1069550"/>
            <a:ext cx="8520600" cy="645000"/>
          </a:xfrm>
          <a:prstGeom prst="rect">
            <a:avLst/>
          </a:prstGeom>
        </p:spPr>
        <p:txBody>
          <a:bodyPr anchorCtr="0" anchor="t" bIns="91425" lIns="91425" spcFirstLastPara="1" rIns="91425" wrap="square" tIns="91425">
            <a:spAutoFit/>
          </a:bodyPr>
          <a:lstStyle/>
          <a:p>
            <a:pPr indent="-206375" lvl="0" marL="228600" rtl="0" algn="just">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 </a:t>
            </a:r>
            <a:r>
              <a:rPr b="1" lang="en-GB">
                <a:solidFill>
                  <a:srgbClr val="CE6948"/>
                </a:solidFill>
                <a:latin typeface="Encode Sans"/>
                <a:ea typeface="Encode Sans"/>
                <a:cs typeface="Encode Sans"/>
                <a:sym typeface="Encode Sans"/>
              </a:rPr>
              <a:t>ChatPromptTemplate</a:t>
            </a:r>
            <a:r>
              <a:rPr lang="en-GB">
                <a:solidFill>
                  <a:schemeClr val="dk1"/>
                </a:solidFill>
                <a:latin typeface="Encode Sans"/>
                <a:ea typeface="Encode Sans"/>
                <a:cs typeface="Encode Sans"/>
                <a:sym typeface="Encode Sans"/>
              </a:rPr>
              <a:t> defines a chat prompt with blanks in it. Each</a:t>
            </a:r>
            <a:r>
              <a:rPr b="1" lang="en-GB">
                <a:solidFill>
                  <a:srgbClr val="CE6948"/>
                </a:solidFill>
                <a:latin typeface="Encode Sans"/>
                <a:ea typeface="Encode Sans"/>
                <a:cs typeface="Encode Sans"/>
                <a:sym typeface="Encode Sans"/>
              </a:rPr>
              <a:t> {variable}</a:t>
            </a:r>
            <a:r>
              <a:rPr lang="en-GB">
                <a:solidFill>
                  <a:schemeClr val="dk1"/>
                </a:solidFill>
                <a:latin typeface="Encode Sans"/>
                <a:ea typeface="Encode Sans"/>
                <a:cs typeface="Encode Sans"/>
                <a:sym typeface="Encode Sans"/>
              </a:rPr>
              <a:t> gets filled in when you call it, so the same template gets reused with different values instead of writing a new prompt string every time.</a:t>
            </a:r>
            <a:endParaRPr>
              <a:solidFill>
                <a:schemeClr val="dk1"/>
              </a:solidFill>
              <a:latin typeface="Encode Sans"/>
              <a:ea typeface="Encode Sans"/>
              <a:cs typeface="Encode Sans"/>
              <a:sym typeface="Encode Sans"/>
            </a:endParaRPr>
          </a:p>
        </p:txBody>
      </p:sp>
      <p:sp>
        <p:nvSpPr>
          <p:cNvPr id="896" name="Google Shape;896;p98"/>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Prompt Templates &amp; Structure Inputs</a:t>
            </a:r>
            <a:endParaRPr>
              <a:solidFill>
                <a:srgbClr val="CE6948"/>
              </a:solidFill>
            </a:endParaRPr>
          </a:p>
        </p:txBody>
      </p:sp>
      <p:sp>
        <p:nvSpPr>
          <p:cNvPr id="897" name="Google Shape;897;p98"/>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898" name="Google Shape;898;p98"/>
          <p:cNvGrpSpPr/>
          <p:nvPr/>
        </p:nvGrpSpPr>
        <p:grpSpPr>
          <a:xfrm>
            <a:off x="786550" y="1802577"/>
            <a:ext cx="6516151" cy="1597800"/>
            <a:chOff x="1637650" y="2946089"/>
            <a:chExt cx="3969390" cy="1597800"/>
          </a:xfrm>
        </p:grpSpPr>
        <p:grpSp>
          <p:nvGrpSpPr>
            <p:cNvPr id="899" name="Google Shape;899;p98"/>
            <p:cNvGrpSpPr/>
            <p:nvPr/>
          </p:nvGrpSpPr>
          <p:grpSpPr>
            <a:xfrm>
              <a:off x="1637650" y="2946089"/>
              <a:ext cx="3969293" cy="1597800"/>
              <a:chOff x="1637698" y="2946089"/>
              <a:chExt cx="3314650" cy="1597800"/>
            </a:xfrm>
          </p:grpSpPr>
          <p:sp>
            <p:nvSpPr>
              <p:cNvPr id="900" name="Google Shape;900;p98"/>
              <p:cNvSpPr/>
              <p:nvPr/>
            </p:nvSpPr>
            <p:spPr>
              <a:xfrm>
                <a:off x="1639148" y="2946089"/>
                <a:ext cx="3313200" cy="1597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901" name="Google Shape;901;p98"/>
              <p:cNvCxnSpPr/>
              <p:nvPr/>
            </p:nvCxnSpPr>
            <p:spPr>
              <a:xfrm>
                <a:off x="1637698" y="3256225"/>
                <a:ext cx="3314400" cy="0"/>
              </a:xfrm>
              <a:prstGeom prst="straightConnector1">
                <a:avLst/>
              </a:prstGeom>
              <a:noFill/>
              <a:ln cap="flat" cmpd="sng" w="9525">
                <a:solidFill>
                  <a:schemeClr val="dk2"/>
                </a:solidFill>
                <a:prstDash val="solid"/>
                <a:round/>
                <a:headEnd len="med" w="med" type="none"/>
                <a:tailEnd len="med" w="med" type="none"/>
              </a:ln>
            </p:spPr>
          </p:cxnSp>
        </p:grpSp>
        <p:sp>
          <p:nvSpPr>
            <p:cNvPr id="902" name="Google Shape;902;p98"/>
            <p:cNvSpPr txBox="1"/>
            <p:nvPr/>
          </p:nvSpPr>
          <p:spPr>
            <a:xfrm>
              <a:off x="1681540" y="3320072"/>
              <a:ext cx="3925500" cy="122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langchain_core.prompts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ChatPromptTemplate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prompt = ChatPromptTemplate.from_messages([</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"system"</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"You are a career coach specializing in {field}."</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"human"</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"{question}"</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a:t>
              </a:r>
              <a:endParaRPr sz="1000">
                <a:solidFill>
                  <a:srgbClr val="0033B3"/>
                </a:solidFill>
                <a:latin typeface="Consolas"/>
                <a:ea typeface="Consolas"/>
                <a:cs typeface="Consolas"/>
                <a:sym typeface="Consolas"/>
              </a:endParaRPr>
            </a:p>
          </p:txBody>
        </p:sp>
      </p:grpSp>
      <p:grpSp>
        <p:nvGrpSpPr>
          <p:cNvPr id="903" name="Google Shape;903;p98"/>
          <p:cNvGrpSpPr/>
          <p:nvPr/>
        </p:nvGrpSpPr>
        <p:grpSpPr>
          <a:xfrm>
            <a:off x="918475" y="1906241"/>
            <a:ext cx="448950" cy="109200"/>
            <a:chOff x="1769550" y="3049750"/>
            <a:chExt cx="448950" cy="109200"/>
          </a:xfrm>
        </p:grpSpPr>
        <p:sp>
          <p:nvSpPr>
            <p:cNvPr id="904" name="Google Shape;904;p98"/>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905" name="Google Shape;905;p98"/>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906" name="Google Shape;906;p98"/>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907" name="Google Shape;907;p98"/>
          <p:cNvSpPr txBox="1"/>
          <p:nvPr>
            <p:ph idx="1" type="body"/>
          </p:nvPr>
        </p:nvSpPr>
        <p:spPr>
          <a:xfrm>
            <a:off x="311700" y="3507950"/>
            <a:ext cx="8520600" cy="905100"/>
          </a:xfrm>
          <a:prstGeom prst="rect">
            <a:avLst/>
          </a:prstGeom>
        </p:spPr>
        <p:txBody>
          <a:bodyPr anchorCtr="0" anchor="t" bIns="91425" lIns="91425" spcFirstLastPara="1" rIns="91425" wrap="square" tIns="91425">
            <a:spAutoFit/>
          </a:bodyPr>
          <a:lstStyle/>
          <a:p>
            <a:pPr indent="-206375" lvl="0" marL="22860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from_messages</a:t>
            </a:r>
            <a:r>
              <a:rPr lang="en-GB">
                <a:solidFill>
                  <a:schemeClr val="dk1"/>
                </a:solidFill>
                <a:latin typeface="Encode Sans"/>
                <a:ea typeface="Encode Sans"/>
                <a:cs typeface="Encode Sans"/>
                <a:sym typeface="Encode Sans"/>
              </a:rPr>
              <a:t> accepts role tuples</a:t>
            </a:r>
            <a:r>
              <a:rPr b="1" lang="en-GB">
                <a:solidFill>
                  <a:srgbClr val="CE6948"/>
                </a:solidFill>
                <a:latin typeface="Encode Sans"/>
                <a:ea typeface="Encode Sans"/>
                <a:cs typeface="Encode Sans"/>
                <a:sym typeface="Encode Sans"/>
              </a:rPr>
              <a:t> ("system", "human", "ai")</a:t>
            </a:r>
            <a:r>
              <a:rPr lang="en-GB">
                <a:solidFill>
                  <a:schemeClr val="dk1"/>
                </a:solidFill>
                <a:latin typeface="Encode Sans"/>
                <a:ea typeface="Encode Sans"/>
                <a:cs typeface="Encode Sans"/>
                <a:sym typeface="Encode Sans"/>
              </a:rPr>
              <a:t> or message objects, mixed freely.</a:t>
            </a:r>
            <a:endParaRPr>
              <a:solidFill>
                <a:schemeClr val="dk1"/>
              </a:solidFill>
              <a:latin typeface="Encode Sans"/>
              <a:ea typeface="Encode Sans"/>
              <a:cs typeface="Encode Sans"/>
              <a:sym typeface="Encode Sans"/>
            </a:endParaRPr>
          </a:p>
          <a:p>
            <a:pPr indent="-206375" lvl="0" marL="228600" marR="0" rtl="0" algn="l">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The role tuples above are shorthand. Each one expands to an actual template class, </a:t>
            </a:r>
            <a:r>
              <a:rPr b="1" lang="en-GB">
                <a:solidFill>
                  <a:srgbClr val="CE6948"/>
                </a:solidFill>
                <a:latin typeface="Encode Sans"/>
                <a:ea typeface="Encode Sans"/>
                <a:cs typeface="Encode Sans"/>
                <a:sym typeface="Encode Sans"/>
              </a:rPr>
              <a:t>SystemMessagePromptTemplate</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HumanMessagePromptTemplate</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AIMessagePromptTemplate</a:t>
            </a:r>
            <a:endParaRPr>
              <a:solidFill>
                <a:schemeClr val="dk1"/>
              </a:solidFill>
              <a:latin typeface="Encode Sans"/>
              <a:ea typeface="Encode Sans"/>
              <a:cs typeface="Encode Sans"/>
              <a:sym typeface="Encode Sans"/>
            </a:endParaRPr>
          </a:p>
        </p:txBody>
      </p:sp>
      <p:sp>
        <p:nvSpPr>
          <p:cNvPr id="908" name="Google Shape;908;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99"/>
          <p:cNvSpPr txBox="1"/>
          <p:nvPr>
            <p:ph idx="1" type="body"/>
          </p:nvPr>
        </p:nvSpPr>
        <p:spPr>
          <a:xfrm>
            <a:off x="311700" y="1069550"/>
            <a:ext cx="8520600" cy="905100"/>
          </a:xfrm>
          <a:prstGeom prst="rect">
            <a:avLst/>
          </a:prstGeom>
        </p:spPr>
        <p:txBody>
          <a:bodyPr anchorCtr="0" anchor="t" bIns="91425" lIns="91425" spcFirstLastPara="1" rIns="91425" wrap="square" tIns="91425">
            <a:spAutoFit/>
          </a:bodyPr>
          <a:lstStyle/>
          <a:p>
            <a:pPr indent="-206375" lvl="0" marL="22860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Chat History with MessagesPlaceholder,</a:t>
            </a:r>
            <a:r>
              <a:rPr lang="en-GB">
                <a:solidFill>
                  <a:schemeClr val="dk1"/>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MessagesPlaceholder is a different kind of blank, it accepts a whole list of prior messages, the conversation history so far, and expands them into real message turns at that spot in the template.</a:t>
            </a:r>
            <a:endParaRPr>
              <a:solidFill>
                <a:schemeClr val="dk1"/>
              </a:solidFill>
              <a:latin typeface="Encode Sans"/>
              <a:ea typeface="Encode Sans"/>
              <a:cs typeface="Encode Sans"/>
              <a:sym typeface="Encode Sans"/>
            </a:endParaRPr>
          </a:p>
        </p:txBody>
      </p:sp>
      <p:sp>
        <p:nvSpPr>
          <p:cNvPr id="914" name="Google Shape;914;p99"/>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Prompt Templates &amp; Structure Inputs (cont)</a:t>
            </a:r>
            <a:endParaRPr>
              <a:solidFill>
                <a:srgbClr val="CE6948"/>
              </a:solidFill>
            </a:endParaRPr>
          </a:p>
        </p:txBody>
      </p:sp>
      <p:sp>
        <p:nvSpPr>
          <p:cNvPr id="915" name="Google Shape;915;p99"/>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916" name="Google Shape;916;p99"/>
          <p:cNvGrpSpPr/>
          <p:nvPr/>
        </p:nvGrpSpPr>
        <p:grpSpPr>
          <a:xfrm>
            <a:off x="786550" y="1970351"/>
            <a:ext cx="6516151" cy="1774800"/>
            <a:chOff x="1637650" y="2946087"/>
            <a:chExt cx="3969390" cy="1774800"/>
          </a:xfrm>
        </p:grpSpPr>
        <p:grpSp>
          <p:nvGrpSpPr>
            <p:cNvPr id="917" name="Google Shape;917;p99"/>
            <p:cNvGrpSpPr/>
            <p:nvPr/>
          </p:nvGrpSpPr>
          <p:grpSpPr>
            <a:xfrm>
              <a:off x="1637650" y="2946087"/>
              <a:ext cx="3969293" cy="1774800"/>
              <a:chOff x="1637698" y="2946087"/>
              <a:chExt cx="3314650" cy="1774800"/>
            </a:xfrm>
          </p:grpSpPr>
          <p:sp>
            <p:nvSpPr>
              <p:cNvPr id="918" name="Google Shape;918;p99"/>
              <p:cNvSpPr/>
              <p:nvPr/>
            </p:nvSpPr>
            <p:spPr>
              <a:xfrm>
                <a:off x="1639148" y="2946087"/>
                <a:ext cx="3313200" cy="1774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919" name="Google Shape;919;p99"/>
              <p:cNvCxnSpPr/>
              <p:nvPr/>
            </p:nvCxnSpPr>
            <p:spPr>
              <a:xfrm>
                <a:off x="1637698" y="3256225"/>
                <a:ext cx="3314400" cy="0"/>
              </a:xfrm>
              <a:prstGeom prst="straightConnector1">
                <a:avLst/>
              </a:prstGeom>
              <a:noFill/>
              <a:ln cap="flat" cmpd="sng" w="9525">
                <a:solidFill>
                  <a:schemeClr val="dk2"/>
                </a:solidFill>
                <a:prstDash val="solid"/>
                <a:round/>
                <a:headEnd len="med" w="med" type="none"/>
                <a:tailEnd len="med" w="med" type="none"/>
              </a:ln>
            </p:spPr>
          </p:cxnSp>
        </p:grpSp>
        <p:sp>
          <p:nvSpPr>
            <p:cNvPr id="920" name="Google Shape;920;p99"/>
            <p:cNvSpPr txBox="1"/>
            <p:nvPr/>
          </p:nvSpPr>
          <p:spPr>
            <a:xfrm>
              <a:off x="1681540" y="3320072"/>
              <a:ext cx="3925500" cy="140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langchain_core.prompts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ChatPromptTemplate, MessagesPlaceholder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prompt = ChatPromptTemplate.from_messages([</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"system"</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"You are a career coach specializing in {field}."</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MessagesPlaceholder(</a:t>
              </a:r>
              <a:r>
                <a:rPr lang="en-GB" sz="1000">
                  <a:solidFill>
                    <a:srgbClr val="067D17"/>
                  </a:solidFill>
                  <a:latin typeface="Consolas"/>
                  <a:ea typeface="Consolas"/>
                  <a:cs typeface="Consolas"/>
                  <a:sym typeface="Consolas"/>
                </a:rPr>
                <a:t>"history"</a:t>
              </a: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optional</a:t>
              </a:r>
              <a:r>
                <a:rPr lang="en-GB" sz="1000">
                  <a:solidFill>
                    <a:srgbClr val="080808"/>
                  </a:solidFill>
                  <a:latin typeface="Consolas"/>
                  <a:ea typeface="Consolas"/>
                  <a:cs typeface="Consolas"/>
                  <a:sym typeface="Consolas"/>
                </a:rPr>
                <a:t>=</a:t>
              </a:r>
              <a:r>
                <a:rPr lang="en-GB" sz="1000">
                  <a:solidFill>
                    <a:srgbClr val="0033B3"/>
                  </a:solidFill>
                  <a:latin typeface="Consolas"/>
                  <a:ea typeface="Consolas"/>
                  <a:cs typeface="Consolas"/>
                  <a:sym typeface="Consolas"/>
                </a:rPr>
                <a:t>True</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"human"</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"{question}"</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a:t>
              </a:r>
              <a:endParaRPr sz="1000">
                <a:solidFill>
                  <a:srgbClr val="0033B3"/>
                </a:solidFill>
                <a:latin typeface="Consolas"/>
                <a:ea typeface="Consolas"/>
                <a:cs typeface="Consolas"/>
                <a:sym typeface="Consolas"/>
              </a:endParaRPr>
            </a:p>
          </p:txBody>
        </p:sp>
      </p:grpSp>
      <p:grpSp>
        <p:nvGrpSpPr>
          <p:cNvPr id="921" name="Google Shape;921;p99"/>
          <p:cNvGrpSpPr/>
          <p:nvPr/>
        </p:nvGrpSpPr>
        <p:grpSpPr>
          <a:xfrm>
            <a:off x="918475" y="2074018"/>
            <a:ext cx="448950" cy="109200"/>
            <a:chOff x="1769550" y="3049750"/>
            <a:chExt cx="448950" cy="109200"/>
          </a:xfrm>
        </p:grpSpPr>
        <p:sp>
          <p:nvSpPr>
            <p:cNvPr id="922" name="Google Shape;922;p99"/>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923" name="Google Shape;923;p99"/>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924" name="Google Shape;924;p99"/>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925" name="Google Shape;925;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00"/>
          <p:cNvSpPr txBox="1"/>
          <p:nvPr>
            <p:ph idx="1" type="body"/>
          </p:nvPr>
        </p:nvSpPr>
        <p:spPr>
          <a:xfrm>
            <a:off x="311700" y="1069550"/>
            <a:ext cx="8520600" cy="1293300"/>
          </a:xfrm>
          <a:prstGeom prst="rect">
            <a:avLst/>
          </a:prstGeom>
        </p:spPr>
        <p:txBody>
          <a:bodyPr anchorCtr="0" anchor="t" bIns="91425" lIns="91425" spcFirstLastPara="1" rIns="91425" wrap="square" tIns="91425">
            <a:spAutoFit/>
          </a:bodyPr>
          <a:lstStyle/>
          <a:p>
            <a:pPr indent="-206375" lvl="0" marL="22860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Output Parsers</a:t>
            </a:r>
            <a:r>
              <a:rPr lang="en-GB">
                <a:solidFill>
                  <a:schemeClr val="dk1"/>
                </a:solidFill>
                <a:latin typeface="Encode Sans"/>
                <a:ea typeface="Encode Sans"/>
                <a:cs typeface="Encode Sans"/>
                <a:sym typeface="Encode Sans"/>
              </a:rPr>
              <a:t> turn a model's raw response into something your code can actually use, a plain string, or a validated object with real fields, instead of manual parsing every time.</a:t>
            </a:r>
            <a:endParaRPr>
              <a:solidFill>
                <a:schemeClr val="dk1"/>
              </a:solidFill>
              <a:latin typeface="Encode Sans"/>
              <a:ea typeface="Encode Sans"/>
              <a:cs typeface="Encode Sans"/>
              <a:sym typeface="Encode Sans"/>
            </a:endParaRPr>
          </a:p>
          <a:p>
            <a:pPr indent="-206375" lvl="1" marL="57150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StrOutputParser(): </a:t>
            </a:r>
            <a:r>
              <a:rPr lang="en-GB">
                <a:solidFill>
                  <a:schemeClr val="dk1"/>
                </a:solidFill>
                <a:latin typeface="Encode Sans"/>
                <a:ea typeface="Encode Sans"/>
                <a:cs typeface="Encode Sans"/>
                <a:sym typeface="Encode Sans"/>
              </a:rPr>
              <a:t>extracts .content (plain text), mainly useful for clean string output at the end of a chain.</a:t>
            </a:r>
            <a:endParaRPr>
              <a:solidFill>
                <a:schemeClr val="dk1"/>
              </a:solidFill>
              <a:latin typeface="Encode Sans"/>
              <a:ea typeface="Encode Sans"/>
              <a:cs typeface="Encode Sans"/>
              <a:sym typeface="Encode Sans"/>
            </a:endParaRPr>
          </a:p>
        </p:txBody>
      </p:sp>
      <p:sp>
        <p:nvSpPr>
          <p:cNvPr id="931" name="Google Shape;931;p10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Output Parsers</a:t>
            </a:r>
            <a:endParaRPr>
              <a:solidFill>
                <a:srgbClr val="CE6948"/>
              </a:solidFill>
            </a:endParaRPr>
          </a:p>
        </p:txBody>
      </p:sp>
      <p:sp>
        <p:nvSpPr>
          <p:cNvPr id="932" name="Google Shape;932;p10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933" name="Google Shape;933;p100"/>
          <p:cNvGrpSpPr/>
          <p:nvPr/>
        </p:nvGrpSpPr>
        <p:grpSpPr>
          <a:xfrm>
            <a:off x="786550" y="2503750"/>
            <a:ext cx="7649580" cy="1951800"/>
            <a:chOff x="1637650" y="2946085"/>
            <a:chExt cx="4659832" cy="1951800"/>
          </a:xfrm>
        </p:grpSpPr>
        <p:grpSp>
          <p:nvGrpSpPr>
            <p:cNvPr id="934" name="Google Shape;934;p100"/>
            <p:cNvGrpSpPr/>
            <p:nvPr/>
          </p:nvGrpSpPr>
          <p:grpSpPr>
            <a:xfrm>
              <a:off x="1637650" y="2946085"/>
              <a:ext cx="4659832" cy="1951800"/>
              <a:chOff x="1637698" y="2946085"/>
              <a:chExt cx="3891300" cy="1951800"/>
            </a:xfrm>
          </p:grpSpPr>
          <p:sp>
            <p:nvSpPr>
              <p:cNvPr id="935" name="Google Shape;935;p100"/>
              <p:cNvSpPr/>
              <p:nvPr/>
            </p:nvSpPr>
            <p:spPr>
              <a:xfrm>
                <a:off x="1639403" y="2946085"/>
                <a:ext cx="3889500" cy="1951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936" name="Google Shape;936;p100"/>
              <p:cNvCxnSpPr/>
              <p:nvPr/>
            </p:nvCxnSpPr>
            <p:spPr>
              <a:xfrm>
                <a:off x="1637698" y="3256224"/>
                <a:ext cx="3891300" cy="0"/>
              </a:xfrm>
              <a:prstGeom prst="straightConnector1">
                <a:avLst/>
              </a:prstGeom>
              <a:noFill/>
              <a:ln cap="flat" cmpd="sng" w="9525">
                <a:solidFill>
                  <a:schemeClr val="dk2"/>
                </a:solidFill>
                <a:prstDash val="solid"/>
                <a:round/>
                <a:headEnd len="med" w="med" type="none"/>
                <a:tailEnd len="med" w="med" type="none"/>
              </a:ln>
            </p:spPr>
          </p:cxnSp>
        </p:grpSp>
        <p:sp>
          <p:nvSpPr>
            <p:cNvPr id="937" name="Google Shape;937;p100"/>
            <p:cNvSpPr txBox="1"/>
            <p:nvPr/>
          </p:nvSpPr>
          <p:spPr>
            <a:xfrm>
              <a:off x="1681540" y="3320060"/>
              <a:ext cx="4615800" cy="157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langchain_core.output_parsers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StrOutputParser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langchain_openai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ChatOpenAI</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llm = ChatOpenAI(</a:t>
              </a:r>
              <a:r>
                <a:rPr lang="en-GB" sz="1000">
                  <a:solidFill>
                    <a:srgbClr val="660099"/>
                  </a:solidFill>
                  <a:latin typeface="Consolas"/>
                  <a:ea typeface="Consolas"/>
                  <a:cs typeface="Consolas"/>
                  <a:sym typeface="Consolas"/>
                </a:rPr>
                <a:t>model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"Qwen/Qwen2.5-7B-Instruct"</a:t>
              </a: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base_url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"http://localhost:8001/v1"</a:t>
              </a:r>
              <a:r>
                <a:rPr lang="en-GB" sz="1000">
                  <a:solidFill>
                    <a:srgbClr val="080808"/>
                  </a:solidFill>
                  <a:latin typeface="Consolas"/>
                  <a:ea typeface="Consolas"/>
                  <a:cs typeface="Consolas"/>
                  <a:sym typeface="Consolas"/>
                </a:rPr>
                <a:t>,</a:t>
              </a: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api_key</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"EMPTY"</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parser = StrOutputParser()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chain = llm | 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0080"/>
                  </a:solidFill>
                  <a:latin typeface="Consolas"/>
                  <a:ea typeface="Consolas"/>
                  <a:cs typeface="Consolas"/>
                  <a:sym typeface="Consolas"/>
                </a:rPr>
                <a:t>print</a:t>
              </a:r>
              <a:r>
                <a:rPr lang="en-GB" sz="1000">
                  <a:solidFill>
                    <a:srgbClr val="080808"/>
                  </a:solidFill>
                  <a:latin typeface="Consolas"/>
                  <a:ea typeface="Consolas"/>
                  <a:cs typeface="Consolas"/>
                  <a:sym typeface="Consolas"/>
                </a:rPr>
                <a:t>(chain.invoke(</a:t>
              </a:r>
              <a:r>
                <a:rPr lang="en-GB" sz="1000">
                  <a:solidFill>
                    <a:srgbClr val="067D17"/>
                  </a:solidFill>
                  <a:latin typeface="Consolas"/>
                  <a:ea typeface="Consolas"/>
                  <a:cs typeface="Consolas"/>
                  <a:sym typeface="Consolas"/>
                </a:rPr>
                <a:t>"Say hello in five words."</a:t>
              </a:r>
              <a:r>
                <a:rPr lang="en-GB" sz="1000">
                  <a:solidFill>
                    <a:srgbClr val="080808"/>
                  </a:solidFill>
                  <a:latin typeface="Consolas"/>
                  <a:ea typeface="Consolas"/>
                  <a:cs typeface="Consolas"/>
                  <a:sym typeface="Consolas"/>
                </a:rPr>
                <a:t>))</a:t>
              </a:r>
              <a:endParaRPr sz="1000">
                <a:solidFill>
                  <a:srgbClr val="0033B3"/>
                </a:solidFill>
                <a:latin typeface="Consolas"/>
                <a:ea typeface="Consolas"/>
                <a:cs typeface="Consolas"/>
                <a:sym typeface="Consolas"/>
              </a:endParaRPr>
            </a:p>
          </p:txBody>
        </p:sp>
      </p:grpSp>
      <p:grpSp>
        <p:nvGrpSpPr>
          <p:cNvPr id="938" name="Google Shape;938;p100"/>
          <p:cNvGrpSpPr/>
          <p:nvPr/>
        </p:nvGrpSpPr>
        <p:grpSpPr>
          <a:xfrm>
            <a:off x="918475" y="2607418"/>
            <a:ext cx="448950" cy="109200"/>
            <a:chOff x="1769550" y="3049750"/>
            <a:chExt cx="448950" cy="109200"/>
          </a:xfrm>
        </p:grpSpPr>
        <p:sp>
          <p:nvSpPr>
            <p:cNvPr id="939" name="Google Shape;939;p100"/>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940" name="Google Shape;940;p100"/>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941" name="Google Shape;941;p100"/>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942" name="Google Shape;942;p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01"/>
          <p:cNvSpPr txBox="1"/>
          <p:nvPr>
            <p:ph idx="1" type="body"/>
          </p:nvPr>
        </p:nvSpPr>
        <p:spPr>
          <a:xfrm>
            <a:off x="311700" y="1069550"/>
            <a:ext cx="8520600" cy="645000"/>
          </a:xfrm>
          <a:prstGeom prst="rect">
            <a:avLst/>
          </a:prstGeom>
        </p:spPr>
        <p:txBody>
          <a:bodyPr anchorCtr="0" anchor="t" bIns="91425" lIns="91425" spcFirstLastPara="1" rIns="91425" wrap="square" tIns="91425">
            <a:spAutoFit/>
          </a:bodyPr>
          <a:lstStyle/>
          <a:p>
            <a:pPr indent="-206375" lvl="1" marL="57150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.with_structured_output()</a:t>
            </a:r>
            <a:r>
              <a:rPr b="1" lang="en-GB">
                <a:solidFill>
                  <a:srgbClr val="CE6948"/>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It uses the model's native tool-calling or JSON-mode support to make the llm responses as JSON Format.</a:t>
            </a:r>
            <a:endParaRPr>
              <a:solidFill>
                <a:schemeClr val="dk1"/>
              </a:solidFill>
              <a:latin typeface="Encode Sans"/>
              <a:ea typeface="Encode Sans"/>
              <a:cs typeface="Encode Sans"/>
              <a:sym typeface="Encode Sans"/>
            </a:endParaRPr>
          </a:p>
        </p:txBody>
      </p:sp>
      <p:sp>
        <p:nvSpPr>
          <p:cNvPr id="948" name="Google Shape;948;p10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Output Parsers (cont)</a:t>
            </a:r>
            <a:endParaRPr>
              <a:solidFill>
                <a:srgbClr val="CE6948"/>
              </a:solidFill>
            </a:endParaRPr>
          </a:p>
        </p:txBody>
      </p:sp>
      <p:sp>
        <p:nvSpPr>
          <p:cNvPr id="949" name="Google Shape;949;p10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950" name="Google Shape;950;p101"/>
          <p:cNvGrpSpPr/>
          <p:nvPr/>
        </p:nvGrpSpPr>
        <p:grpSpPr>
          <a:xfrm>
            <a:off x="786550" y="1741750"/>
            <a:ext cx="7649580" cy="2836675"/>
            <a:chOff x="1637650" y="2946085"/>
            <a:chExt cx="4659832" cy="2836675"/>
          </a:xfrm>
        </p:grpSpPr>
        <p:grpSp>
          <p:nvGrpSpPr>
            <p:cNvPr id="951" name="Google Shape;951;p101"/>
            <p:cNvGrpSpPr/>
            <p:nvPr/>
          </p:nvGrpSpPr>
          <p:grpSpPr>
            <a:xfrm>
              <a:off x="1637650" y="2946085"/>
              <a:ext cx="4659832" cy="2659800"/>
              <a:chOff x="1637698" y="2946085"/>
              <a:chExt cx="3891300" cy="2659800"/>
            </a:xfrm>
          </p:grpSpPr>
          <p:sp>
            <p:nvSpPr>
              <p:cNvPr id="952" name="Google Shape;952;p101"/>
              <p:cNvSpPr/>
              <p:nvPr/>
            </p:nvSpPr>
            <p:spPr>
              <a:xfrm>
                <a:off x="1639403" y="2946085"/>
                <a:ext cx="3889500" cy="2659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953" name="Google Shape;953;p101"/>
              <p:cNvCxnSpPr/>
              <p:nvPr/>
            </p:nvCxnSpPr>
            <p:spPr>
              <a:xfrm>
                <a:off x="1637698" y="3256224"/>
                <a:ext cx="3891300" cy="0"/>
              </a:xfrm>
              <a:prstGeom prst="straightConnector1">
                <a:avLst/>
              </a:prstGeom>
              <a:noFill/>
              <a:ln cap="flat" cmpd="sng" w="9525">
                <a:solidFill>
                  <a:schemeClr val="dk2"/>
                </a:solidFill>
                <a:prstDash val="solid"/>
                <a:round/>
                <a:headEnd len="med" w="med" type="none"/>
                <a:tailEnd len="med" w="med" type="none"/>
              </a:ln>
            </p:spPr>
          </p:cxnSp>
        </p:grpSp>
        <p:sp>
          <p:nvSpPr>
            <p:cNvPr id="954" name="Google Shape;954;p101"/>
            <p:cNvSpPr txBox="1"/>
            <p:nvPr/>
          </p:nvSpPr>
          <p:spPr>
            <a:xfrm>
              <a:off x="1681540" y="3320060"/>
              <a:ext cx="4615800" cy="246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pydantic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BaseModel, Field</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langchain.chat_models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init_chat_model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class </a:t>
              </a:r>
              <a:r>
                <a:rPr lang="en-GB" sz="1000">
                  <a:solidFill>
                    <a:schemeClr val="dk1"/>
                  </a:solidFill>
                  <a:latin typeface="Consolas"/>
                  <a:ea typeface="Consolas"/>
                  <a:cs typeface="Consolas"/>
                  <a:sym typeface="Consolas"/>
                </a:rPr>
                <a:t>Ticket</a:t>
              </a:r>
              <a:r>
                <a:rPr lang="en-GB" sz="1000">
                  <a:solidFill>
                    <a:srgbClr val="080808"/>
                  </a:solidFill>
                  <a:latin typeface="Consolas"/>
                  <a:ea typeface="Consolas"/>
                  <a:cs typeface="Consolas"/>
                  <a:sym typeface="Consolas"/>
                </a:rPr>
                <a:t>(BaseModel):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category: </a:t>
              </a:r>
              <a:r>
                <a:rPr lang="en-GB" sz="1000">
                  <a:solidFill>
                    <a:srgbClr val="000080"/>
                  </a:solidFill>
                  <a:latin typeface="Consolas"/>
                  <a:ea typeface="Consolas"/>
                  <a:cs typeface="Consolas"/>
                  <a:sym typeface="Consolas"/>
                </a:rPr>
                <a:t>str </a:t>
              </a:r>
              <a:r>
                <a:rPr lang="en-GB" sz="1000">
                  <a:solidFill>
                    <a:srgbClr val="080808"/>
                  </a:solidFill>
                  <a:latin typeface="Consolas"/>
                  <a:ea typeface="Consolas"/>
                  <a:cs typeface="Consolas"/>
                  <a:sym typeface="Consolas"/>
                </a:rPr>
                <a:t>= Field(</a:t>
              </a:r>
              <a:r>
                <a:rPr lang="en-GB" sz="1000">
                  <a:solidFill>
                    <a:srgbClr val="660099"/>
                  </a:solidFill>
                  <a:latin typeface="Consolas"/>
                  <a:ea typeface="Consolas"/>
                  <a:cs typeface="Consolas"/>
                  <a:sym typeface="Consolas"/>
                </a:rPr>
                <a:t>description</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"billing, technical, or general"</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urgency: </a:t>
              </a:r>
              <a:r>
                <a:rPr lang="en-GB" sz="1000">
                  <a:solidFill>
                    <a:srgbClr val="000080"/>
                  </a:solidFill>
                  <a:latin typeface="Consolas"/>
                  <a:ea typeface="Consolas"/>
                  <a:cs typeface="Consolas"/>
                  <a:sym typeface="Consolas"/>
                </a:rPr>
                <a:t>int </a:t>
              </a:r>
              <a:r>
                <a:rPr lang="en-GB" sz="1000">
                  <a:solidFill>
                    <a:srgbClr val="080808"/>
                  </a:solidFill>
                  <a:latin typeface="Consolas"/>
                  <a:ea typeface="Consolas"/>
                  <a:cs typeface="Consolas"/>
                  <a:sym typeface="Consolas"/>
                </a:rPr>
                <a:t>= Field(</a:t>
              </a:r>
              <a:r>
                <a:rPr lang="en-GB" sz="1000">
                  <a:solidFill>
                    <a:srgbClr val="660099"/>
                  </a:solidFill>
                  <a:latin typeface="Consolas"/>
                  <a:ea typeface="Consolas"/>
                  <a:cs typeface="Consolas"/>
                  <a:sym typeface="Consolas"/>
                </a:rPr>
                <a:t>description</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"1-5, 5 is most urgent"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llm = </a:t>
              </a:r>
              <a:r>
                <a:rPr lang="en-GB" sz="1000">
                  <a:solidFill>
                    <a:srgbClr val="080808"/>
                  </a:solidFill>
                  <a:latin typeface="Consolas"/>
                  <a:ea typeface="Consolas"/>
                  <a:cs typeface="Consolas"/>
                  <a:sym typeface="Consolas"/>
                </a:rPr>
                <a:t>init_chat_model</a:t>
              </a:r>
              <a:r>
                <a:rPr lang="en-GB" sz="1000">
                  <a:solidFill>
                    <a:srgbClr val="080808"/>
                  </a:solidFill>
                  <a:latin typeface="Consolas"/>
                  <a:ea typeface="Consolas"/>
                  <a:cs typeface="Consolas"/>
                  <a:sym typeface="Consolas"/>
                </a:rPr>
                <a:t>(</a:t>
              </a:r>
              <a:r>
                <a:rPr lang="en-GB" sz="1000">
                  <a:solidFill>
                    <a:srgbClr val="660099"/>
                  </a:solidFill>
                  <a:latin typeface="Consolas"/>
                  <a:ea typeface="Consolas"/>
                  <a:cs typeface="Consolas"/>
                  <a:sym typeface="Consolas"/>
                </a:rPr>
                <a:t>model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"openai:Qwen/Qwen2.5-7B-Instruct"</a:t>
              </a: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base_url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"http://localhost:8001/v1"</a:t>
              </a: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api_key</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"EMPTY"</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structured = llm.with_structured_output(Ticket, </a:t>
              </a:r>
              <a:r>
                <a:rPr lang="en-GB" sz="1000">
                  <a:solidFill>
                    <a:srgbClr val="660099"/>
                  </a:solidFill>
                  <a:latin typeface="Consolas"/>
                  <a:ea typeface="Consolas"/>
                  <a:cs typeface="Consolas"/>
                  <a:sym typeface="Consolas"/>
                </a:rPr>
                <a:t>method</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"json_schema"</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0080"/>
                  </a:solidFill>
                  <a:latin typeface="Consolas"/>
                  <a:ea typeface="Consolas"/>
                  <a:cs typeface="Consolas"/>
                  <a:sym typeface="Consolas"/>
                </a:rPr>
                <a:t>print</a:t>
              </a:r>
              <a:r>
                <a:rPr lang="en-GB" sz="1000">
                  <a:solidFill>
                    <a:srgbClr val="080808"/>
                  </a:solidFill>
                  <a:latin typeface="Consolas"/>
                  <a:ea typeface="Consolas"/>
                  <a:cs typeface="Consolas"/>
                  <a:sym typeface="Consolas"/>
                </a:rPr>
                <a:t>(structured.invoke(</a:t>
              </a:r>
              <a:r>
                <a:rPr lang="en-GB" sz="1000">
                  <a:solidFill>
                    <a:srgbClr val="067D17"/>
                  </a:solidFill>
                  <a:latin typeface="Consolas"/>
                  <a:ea typeface="Consolas"/>
                  <a:cs typeface="Consolas"/>
                  <a:sym typeface="Consolas"/>
                </a:rPr>
                <a:t>"My invoice is wrong and I'm furious."</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033B3"/>
                </a:solidFill>
                <a:latin typeface="Consolas"/>
                <a:ea typeface="Consolas"/>
                <a:cs typeface="Consolas"/>
                <a:sym typeface="Consolas"/>
              </a:endParaRPr>
            </a:p>
          </p:txBody>
        </p:sp>
      </p:grpSp>
      <p:grpSp>
        <p:nvGrpSpPr>
          <p:cNvPr id="955" name="Google Shape;955;p101"/>
          <p:cNvGrpSpPr/>
          <p:nvPr/>
        </p:nvGrpSpPr>
        <p:grpSpPr>
          <a:xfrm>
            <a:off x="918475" y="1845418"/>
            <a:ext cx="448950" cy="109200"/>
            <a:chOff x="1769550" y="3049750"/>
            <a:chExt cx="448950" cy="109200"/>
          </a:xfrm>
        </p:grpSpPr>
        <p:sp>
          <p:nvSpPr>
            <p:cNvPr id="956" name="Google Shape;956;p101"/>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957" name="Google Shape;957;p101"/>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958" name="Google Shape;958;p101"/>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959" name="Google Shape;959;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102"/>
          <p:cNvSpPr txBox="1"/>
          <p:nvPr>
            <p:ph idx="1" type="body"/>
          </p:nvPr>
        </p:nvSpPr>
        <p:spPr>
          <a:xfrm>
            <a:off x="311700" y="1069550"/>
            <a:ext cx="8520600" cy="905100"/>
          </a:xfrm>
          <a:prstGeom prst="rect">
            <a:avLst/>
          </a:prstGeom>
        </p:spPr>
        <p:txBody>
          <a:bodyPr anchorCtr="0" anchor="t" bIns="91425" lIns="91425" spcFirstLastPara="1" rIns="91425" wrap="square" tIns="91425">
            <a:spAutoFit/>
          </a:bodyPr>
          <a:lstStyle/>
          <a:p>
            <a:pPr indent="-292100" lvl="0" marL="457200" rtl="0" algn="just">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a:t>
            </a:r>
            <a:r>
              <a:rPr b="1" lang="en-GB">
                <a:solidFill>
                  <a:srgbClr val="CE6948"/>
                </a:solidFill>
                <a:latin typeface="Encode Sans"/>
                <a:ea typeface="Encode Sans"/>
                <a:cs typeface="Encode Sans"/>
                <a:sym typeface="Encode Sans"/>
              </a:rPr>
              <a:t> Chain </a:t>
            </a:r>
            <a:r>
              <a:rPr lang="en-GB">
                <a:solidFill>
                  <a:schemeClr val="dk1"/>
                </a:solidFill>
                <a:latin typeface="Encode Sans"/>
                <a:ea typeface="Encode Sans"/>
                <a:cs typeface="Encode Sans"/>
                <a:sym typeface="Encode Sans"/>
              </a:rPr>
              <a:t>is a sequence of steps that links components like prompts, models, and parsers together.</a:t>
            </a:r>
            <a:endParaRPr>
              <a:solidFill>
                <a:schemeClr val="dk1"/>
              </a:solidFill>
              <a:latin typeface="Encode Sans"/>
              <a:ea typeface="Encode Sans"/>
              <a:cs typeface="Encode Sans"/>
              <a:sym typeface="Encode Sans"/>
            </a:endParaRPr>
          </a:p>
          <a:p>
            <a:pPr indent="-292100" lvl="0" marL="45720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It use Pipe Operator </a:t>
            </a:r>
            <a:r>
              <a:rPr b="1" lang="en-GB">
                <a:solidFill>
                  <a:srgbClr val="CE6948"/>
                </a:solidFill>
                <a:latin typeface="Encode Sans"/>
                <a:ea typeface="Encode Sans"/>
                <a:cs typeface="Encode Sans"/>
                <a:sym typeface="Encode Sans"/>
              </a:rPr>
              <a:t>“ | ” </a:t>
            </a:r>
            <a:r>
              <a:rPr lang="en-GB">
                <a:solidFill>
                  <a:schemeClr val="dk1"/>
                </a:solidFill>
                <a:latin typeface="Encode Sans"/>
                <a:ea typeface="Encode Sans"/>
                <a:cs typeface="Encode Sans"/>
                <a:sym typeface="Encode Sans"/>
              </a:rPr>
              <a:t>to chain runnables together </a:t>
            </a:r>
            <a:r>
              <a:rPr lang="en-GB">
                <a:solidFill>
                  <a:schemeClr val="dk1"/>
                </a:solidFill>
                <a:latin typeface="Encode Sans"/>
                <a:ea typeface="Encode Sans"/>
                <a:cs typeface="Encode Sans"/>
                <a:sym typeface="Encode Sans"/>
              </a:rPr>
              <a:t>sequentially and each step’s output becomes the next step input, left to right.</a:t>
            </a:r>
            <a:endParaRPr>
              <a:solidFill>
                <a:schemeClr val="dk1"/>
              </a:solidFill>
              <a:latin typeface="Encode Sans"/>
              <a:ea typeface="Encode Sans"/>
              <a:cs typeface="Encode Sans"/>
              <a:sym typeface="Encode Sans"/>
            </a:endParaRPr>
          </a:p>
        </p:txBody>
      </p:sp>
      <p:sp>
        <p:nvSpPr>
          <p:cNvPr id="965" name="Google Shape;965;p10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Chain &amp; Runnables </a:t>
            </a:r>
            <a:endParaRPr>
              <a:solidFill>
                <a:srgbClr val="CE6948"/>
              </a:solidFill>
            </a:endParaRPr>
          </a:p>
        </p:txBody>
      </p:sp>
      <p:sp>
        <p:nvSpPr>
          <p:cNvPr id="966" name="Google Shape;966;p10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967" name="Google Shape;967;p102"/>
          <p:cNvGrpSpPr/>
          <p:nvPr/>
        </p:nvGrpSpPr>
        <p:grpSpPr>
          <a:xfrm>
            <a:off x="786550" y="1970350"/>
            <a:ext cx="7649580" cy="2659800"/>
            <a:chOff x="1637650" y="2946085"/>
            <a:chExt cx="4659832" cy="2659800"/>
          </a:xfrm>
        </p:grpSpPr>
        <p:grpSp>
          <p:nvGrpSpPr>
            <p:cNvPr id="968" name="Google Shape;968;p102"/>
            <p:cNvGrpSpPr/>
            <p:nvPr/>
          </p:nvGrpSpPr>
          <p:grpSpPr>
            <a:xfrm>
              <a:off x="1637650" y="2946085"/>
              <a:ext cx="4659832" cy="2659800"/>
              <a:chOff x="1637698" y="2946085"/>
              <a:chExt cx="3891300" cy="2659800"/>
            </a:xfrm>
          </p:grpSpPr>
          <p:sp>
            <p:nvSpPr>
              <p:cNvPr id="969" name="Google Shape;969;p102"/>
              <p:cNvSpPr/>
              <p:nvPr/>
            </p:nvSpPr>
            <p:spPr>
              <a:xfrm>
                <a:off x="1639403" y="2946085"/>
                <a:ext cx="3889500" cy="2659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970" name="Google Shape;970;p102"/>
              <p:cNvCxnSpPr/>
              <p:nvPr/>
            </p:nvCxnSpPr>
            <p:spPr>
              <a:xfrm>
                <a:off x="1637698" y="3256224"/>
                <a:ext cx="3891300" cy="0"/>
              </a:xfrm>
              <a:prstGeom prst="straightConnector1">
                <a:avLst/>
              </a:prstGeom>
              <a:noFill/>
              <a:ln cap="flat" cmpd="sng" w="9525">
                <a:solidFill>
                  <a:schemeClr val="dk2"/>
                </a:solidFill>
                <a:prstDash val="solid"/>
                <a:round/>
                <a:headEnd len="med" w="med" type="none"/>
                <a:tailEnd len="med" w="med" type="none"/>
              </a:ln>
            </p:spPr>
          </p:cxnSp>
        </p:grpSp>
        <p:sp>
          <p:nvSpPr>
            <p:cNvPr id="971" name="Google Shape;971;p102"/>
            <p:cNvSpPr txBox="1"/>
            <p:nvPr/>
          </p:nvSpPr>
          <p:spPr>
            <a:xfrm>
              <a:off x="1681540" y="3320060"/>
              <a:ext cx="4615800" cy="210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langchain_core.prompts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ChatPromptTemplate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langchain_core.output_parsers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StrOutputParser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llm = init_chat_model(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model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"openai:Qwen/Qwen2.5-7B-Instruct"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base_url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"http://localhost:8000/v1"</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api_key</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"EMPTY"</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prompt = ChatPromptTemplate.from_template(</a:t>
              </a:r>
              <a:r>
                <a:rPr lang="en-GB" sz="1000">
                  <a:solidFill>
                    <a:srgbClr val="067D17"/>
                  </a:solidFill>
                  <a:latin typeface="Consolas"/>
                  <a:ea typeface="Consolas"/>
                  <a:cs typeface="Consolas"/>
                  <a:sym typeface="Consolas"/>
                </a:rPr>
                <a:t>"Answer in one sentence: {question}"</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chain = prompt | llm | StrOutputParser()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0080"/>
                  </a:solidFill>
                  <a:latin typeface="Consolas"/>
                  <a:ea typeface="Consolas"/>
                  <a:cs typeface="Consolas"/>
                  <a:sym typeface="Consolas"/>
                </a:rPr>
                <a:t>print</a:t>
              </a:r>
              <a:r>
                <a:rPr lang="en-GB" sz="1000">
                  <a:solidFill>
                    <a:srgbClr val="080808"/>
                  </a:solidFill>
                  <a:latin typeface="Consolas"/>
                  <a:ea typeface="Consolas"/>
                  <a:cs typeface="Consolas"/>
                  <a:sym typeface="Consolas"/>
                </a:rPr>
                <a:t>(chain.invoke({</a:t>
              </a:r>
              <a:r>
                <a:rPr lang="en-GB" sz="1000">
                  <a:solidFill>
                    <a:srgbClr val="067D17"/>
                  </a:solidFill>
                  <a:latin typeface="Consolas"/>
                  <a:ea typeface="Consolas"/>
                  <a:cs typeface="Consolas"/>
                  <a:sym typeface="Consolas"/>
                </a:rPr>
                <a:t>"question"</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"What does vLLM serve at /v1?"</a:t>
              </a:r>
              <a:r>
                <a:rPr lang="en-GB" sz="1000">
                  <a:solidFill>
                    <a:srgbClr val="080808"/>
                  </a:solidFill>
                  <a:latin typeface="Consolas"/>
                  <a:ea typeface="Consolas"/>
                  <a:cs typeface="Consolas"/>
                  <a:sym typeface="Consolas"/>
                </a:rPr>
                <a:t>}))</a:t>
              </a:r>
              <a:endParaRPr sz="1000">
                <a:solidFill>
                  <a:srgbClr val="0033B3"/>
                </a:solidFill>
                <a:latin typeface="Consolas"/>
                <a:ea typeface="Consolas"/>
                <a:cs typeface="Consolas"/>
                <a:sym typeface="Consolas"/>
              </a:endParaRPr>
            </a:p>
          </p:txBody>
        </p:sp>
      </p:grpSp>
      <p:grpSp>
        <p:nvGrpSpPr>
          <p:cNvPr id="972" name="Google Shape;972;p102"/>
          <p:cNvGrpSpPr/>
          <p:nvPr/>
        </p:nvGrpSpPr>
        <p:grpSpPr>
          <a:xfrm>
            <a:off x="918475" y="2074018"/>
            <a:ext cx="448950" cy="109200"/>
            <a:chOff x="1769550" y="3049750"/>
            <a:chExt cx="448950" cy="109200"/>
          </a:xfrm>
        </p:grpSpPr>
        <p:sp>
          <p:nvSpPr>
            <p:cNvPr id="973" name="Google Shape;973;p102"/>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974" name="Google Shape;974;p102"/>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975" name="Google Shape;975;p102"/>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976" name="Google Shape;976;p1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03"/>
          <p:cNvSpPr txBox="1"/>
          <p:nvPr>
            <p:ph idx="1" type="body"/>
          </p:nvPr>
        </p:nvSpPr>
        <p:spPr>
          <a:xfrm>
            <a:off x="311700" y="1069550"/>
            <a:ext cx="8520600" cy="1810200"/>
          </a:xfrm>
          <a:prstGeom prst="rect">
            <a:avLst/>
          </a:prstGeom>
        </p:spPr>
        <p:txBody>
          <a:bodyPr anchorCtr="0" anchor="t" bIns="91425" lIns="91425" spcFirstLastPara="1" rIns="91425" wrap="square" tIns="91425">
            <a:spAutoFit/>
          </a:bodyPr>
          <a:lstStyle/>
          <a:p>
            <a:pPr indent="-292100" lvl="0" marL="457200" marR="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Runnable</a:t>
            </a:r>
            <a:r>
              <a:rPr lang="en-GB">
                <a:solidFill>
                  <a:schemeClr val="dk1"/>
                </a:solidFill>
                <a:latin typeface="Encode Sans"/>
                <a:ea typeface="Encode Sans"/>
                <a:cs typeface="Encode Sans"/>
                <a:sym typeface="Encode Sans"/>
              </a:rPr>
              <a:t> is the base interface nearly every component implements, chat models, prompt templates, output parsers, all of them. </a:t>
            </a:r>
            <a:endParaRPr>
              <a:solidFill>
                <a:schemeClr val="dk1"/>
              </a:solidFill>
              <a:latin typeface="Encode Sans"/>
              <a:ea typeface="Encode Sans"/>
              <a:cs typeface="Encode Sans"/>
              <a:sym typeface="Encode Sans"/>
            </a:endParaRPr>
          </a:p>
          <a:p>
            <a:pPr indent="-206375" lvl="1" marL="57150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invoke(input):</a:t>
            </a:r>
            <a:r>
              <a:rPr lang="en-GB">
                <a:solidFill>
                  <a:schemeClr val="dk1"/>
                </a:solidFill>
                <a:latin typeface="Encode Sans"/>
                <a:ea typeface="Encode Sans"/>
                <a:cs typeface="Encode Sans"/>
                <a:sym typeface="Encode Sans"/>
              </a:rPr>
              <a:t> run once, return the full result</a:t>
            </a:r>
            <a:endParaRPr>
              <a:solidFill>
                <a:schemeClr val="dk1"/>
              </a:solidFill>
              <a:latin typeface="Encode Sans"/>
              <a:ea typeface="Encode Sans"/>
              <a:cs typeface="Encode Sans"/>
              <a:sym typeface="Encode Sans"/>
            </a:endParaRPr>
          </a:p>
          <a:p>
            <a:pPr indent="-206375" lvl="1" marL="57150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batch([inputs]):</a:t>
            </a:r>
            <a:r>
              <a:rPr lang="en-GB">
                <a:solidFill>
                  <a:schemeClr val="dk1"/>
                </a:solidFill>
                <a:latin typeface="Encode Sans"/>
                <a:ea typeface="Encode Sans"/>
                <a:cs typeface="Encode Sans"/>
                <a:sym typeface="Encode Sans"/>
              </a:rPr>
              <a:t> run several inputs, executed concurrently, return a list of results</a:t>
            </a:r>
            <a:endParaRPr>
              <a:solidFill>
                <a:schemeClr val="dk1"/>
              </a:solidFill>
              <a:latin typeface="Encode Sans"/>
              <a:ea typeface="Encode Sans"/>
              <a:cs typeface="Encode Sans"/>
              <a:sym typeface="Encode Sans"/>
            </a:endParaRPr>
          </a:p>
          <a:p>
            <a:pPr indent="-206375" lvl="1" marL="57150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s</a:t>
            </a:r>
            <a:r>
              <a:rPr b="1" lang="en-GB">
                <a:solidFill>
                  <a:srgbClr val="CE6948"/>
                </a:solidFill>
                <a:latin typeface="Encode Sans"/>
                <a:ea typeface="Encode Sans"/>
                <a:cs typeface="Encode Sans"/>
                <a:sym typeface="Encode Sans"/>
              </a:rPr>
              <a:t>tream(input):</a:t>
            </a:r>
            <a:r>
              <a:rPr lang="en-GB">
                <a:solidFill>
                  <a:schemeClr val="dk1"/>
                </a:solidFill>
                <a:latin typeface="Encode Sans"/>
                <a:ea typeface="Encode Sans"/>
                <a:cs typeface="Encode Sans"/>
                <a:sym typeface="Encode Sans"/>
              </a:rPr>
              <a:t> return results incrementally as they're produced, instead of waiting for the whole thing</a:t>
            </a:r>
            <a:endParaRPr>
              <a:solidFill>
                <a:schemeClr val="dk1"/>
              </a:solidFill>
              <a:latin typeface="Encode Sans"/>
              <a:ea typeface="Encode Sans"/>
              <a:cs typeface="Encode Sans"/>
              <a:sym typeface="Encode Sans"/>
            </a:endParaRPr>
          </a:p>
        </p:txBody>
      </p:sp>
      <p:sp>
        <p:nvSpPr>
          <p:cNvPr id="982" name="Google Shape;982;p103"/>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Chain &amp; Runnables (cont)</a:t>
            </a:r>
            <a:endParaRPr>
              <a:solidFill>
                <a:srgbClr val="CE6948"/>
              </a:solidFill>
            </a:endParaRPr>
          </a:p>
        </p:txBody>
      </p:sp>
      <p:sp>
        <p:nvSpPr>
          <p:cNvPr id="983" name="Google Shape;983;p103"/>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sp>
        <p:nvSpPr>
          <p:cNvPr id="984" name="Google Shape;984;p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104"/>
          <p:cNvSpPr txBox="1"/>
          <p:nvPr>
            <p:ph idx="1" type="body"/>
          </p:nvPr>
        </p:nvSpPr>
        <p:spPr>
          <a:xfrm>
            <a:off x="311700" y="1069550"/>
            <a:ext cx="8520600" cy="384900"/>
          </a:xfrm>
          <a:prstGeom prst="rect">
            <a:avLst/>
          </a:prstGeom>
        </p:spPr>
        <p:txBody>
          <a:bodyPr anchorCtr="0" anchor="t" bIns="91425" lIns="91425" spcFirstLastPara="1" rIns="91425" wrap="square" tIns="91425">
            <a:spAutoFit/>
          </a:bodyPr>
          <a:lstStyle/>
          <a:p>
            <a:pPr indent="-292100" lvl="0" marL="457200" marR="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Example:</a:t>
            </a:r>
            <a:endParaRPr>
              <a:solidFill>
                <a:schemeClr val="dk1"/>
              </a:solidFill>
              <a:latin typeface="Encode Sans"/>
              <a:ea typeface="Encode Sans"/>
              <a:cs typeface="Encode Sans"/>
              <a:sym typeface="Encode Sans"/>
            </a:endParaRPr>
          </a:p>
        </p:txBody>
      </p:sp>
      <p:sp>
        <p:nvSpPr>
          <p:cNvPr id="990" name="Google Shape;990;p10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Chain &amp; Runnables (cont) </a:t>
            </a:r>
            <a:endParaRPr>
              <a:solidFill>
                <a:srgbClr val="CE6948"/>
              </a:solidFill>
            </a:endParaRPr>
          </a:p>
        </p:txBody>
      </p:sp>
      <p:sp>
        <p:nvSpPr>
          <p:cNvPr id="991" name="Google Shape;991;p10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992" name="Google Shape;992;p104"/>
          <p:cNvGrpSpPr/>
          <p:nvPr/>
        </p:nvGrpSpPr>
        <p:grpSpPr>
          <a:xfrm>
            <a:off x="786550" y="1513150"/>
            <a:ext cx="7649580" cy="2659800"/>
            <a:chOff x="1637650" y="2946085"/>
            <a:chExt cx="4659832" cy="2659800"/>
          </a:xfrm>
        </p:grpSpPr>
        <p:grpSp>
          <p:nvGrpSpPr>
            <p:cNvPr id="993" name="Google Shape;993;p104"/>
            <p:cNvGrpSpPr/>
            <p:nvPr/>
          </p:nvGrpSpPr>
          <p:grpSpPr>
            <a:xfrm>
              <a:off x="1637650" y="2946085"/>
              <a:ext cx="4659832" cy="2659800"/>
              <a:chOff x="1637698" y="2946085"/>
              <a:chExt cx="3891300" cy="2659800"/>
            </a:xfrm>
          </p:grpSpPr>
          <p:sp>
            <p:nvSpPr>
              <p:cNvPr id="994" name="Google Shape;994;p104"/>
              <p:cNvSpPr/>
              <p:nvPr/>
            </p:nvSpPr>
            <p:spPr>
              <a:xfrm>
                <a:off x="1639403" y="2946085"/>
                <a:ext cx="3889500" cy="2659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995" name="Google Shape;995;p104"/>
              <p:cNvCxnSpPr/>
              <p:nvPr/>
            </p:nvCxnSpPr>
            <p:spPr>
              <a:xfrm>
                <a:off x="1637698" y="3256224"/>
                <a:ext cx="3891300" cy="0"/>
              </a:xfrm>
              <a:prstGeom prst="straightConnector1">
                <a:avLst/>
              </a:prstGeom>
              <a:noFill/>
              <a:ln cap="flat" cmpd="sng" w="9525">
                <a:solidFill>
                  <a:schemeClr val="dk2"/>
                </a:solidFill>
                <a:prstDash val="solid"/>
                <a:round/>
                <a:headEnd len="med" w="med" type="none"/>
                <a:tailEnd len="med" w="med" type="none"/>
              </a:ln>
            </p:spPr>
          </p:cxnSp>
        </p:grpSp>
        <p:sp>
          <p:nvSpPr>
            <p:cNvPr id="996" name="Google Shape;996;p104"/>
            <p:cNvSpPr txBox="1"/>
            <p:nvPr/>
          </p:nvSpPr>
          <p:spPr>
            <a:xfrm>
              <a:off x="1681540" y="3320060"/>
              <a:ext cx="4615800" cy="210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langchain.chat_models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init_chat_model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llm = init_chat_model(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model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"openai:Qwen/Qwen2.5-7B-Instruct"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base_url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"http://localhost:8000/v1"</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api_key</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"EMPTY"</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llm.invoke(</a:t>
              </a:r>
              <a:r>
                <a:rPr lang="en-GB" sz="1000">
                  <a:solidFill>
                    <a:srgbClr val="067D17"/>
                  </a:solidFill>
                  <a:latin typeface="Consolas"/>
                  <a:ea typeface="Consolas"/>
                  <a:cs typeface="Consolas"/>
                  <a:sym typeface="Consolas"/>
                </a:rPr>
                <a:t>"Say hi"</a:t>
              </a:r>
              <a:r>
                <a:rPr lang="en-GB" sz="1000">
                  <a:solidFill>
                    <a:srgbClr val="080808"/>
                  </a:solidFill>
                  <a:latin typeface="Consolas"/>
                  <a:ea typeface="Consolas"/>
                  <a:cs typeface="Consolas"/>
                  <a:sym typeface="Consolas"/>
                </a:rPr>
                <a:t>)                </a:t>
              </a:r>
              <a:r>
                <a:rPr i="1" lang="en-GB" sz="1000">
                  <a:solidFill>
                    <a:srgbClr val="8C8C8C"/>
                  </a:solidFill>
                  <a:latin typeface="Consolas"/>
                  <a:ea typeface="Consolas"/>
                  <a:cs typeface="Consolas"/>
                  <a:sym typeface="Consolas"/>
                </a:rPr>
                <a:t># one call, full result</a:t>
              </a:r>
              <a:endParaRPr i="1" sz="1000">
                <a:solidFill>
                  <a:srgbClr val="8C8C8C"/>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llm.batch([</a:t>
              </a:r>
              <a:r>
                <a:rPr lang="en-GB" sz="1000">
                  <a:solidFill>
                    <a:srgbClr val="067D17"/>
                  </a:solidFill>
                  <a:latin typeface="Consolas"/>
                  <a:ea typeface="Consolas"/>
                  <a:cs typeface="Consolas"/>
                  <a:sym typeface="Consolas"/>
                </a:rPr>
                <a:t>"Say hi"</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"Say bye"</a:t>
              </a:r>
              <a:r>
                <a:rPr lang="en-GB" sz="1000">
                  <a:solidFill>
                    <a:srgbClr val="080808"/>
                  </a:solidFill>
                  <a:latin typeface="Consolas"/>
                  <a:ea typeface="Consolas"/>
                  <a:cs typeface="Consolas"/>
                  <a:sym typeface="Consolas"/>
                </a:rPr>
                <a:t>])    </a:t>
              </a:r>
              <a:r>
                <a:rPr i="1" lang="en-GB" sz="1000">
                  <a:solidFill>
                    <a:srgbClr val="8C8C8C"/>
                  </a:solidFill>
                  <a:latin typeface="Consolas"/>
                  <a:ea typeface="Consolas"/>
                  <a:cs typeface="Consolas"/>
                  <a:sym typeface="Consolas"/>
                </a:rPr>
                <a:t># two calls, run concurrently</a:t>
              </a:r>
              <a:endParaRPr i="1" sz="1000">
                <a:solidFill>
                  <a:srgbClr val="8C8C8C"/>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for </a:t>
              </a:r>
              <a:r>
                <a:rPr lang="en-GB" sz="1000">
                  <a:solidFill>
                    <a:srgbClr val="080808"/>
                  </a:solidFill>
                  <a:latin typeface="Consolas"/>
                  <a:ea typeface="Consolas"/>
                  <a:cs typeface="Consolas"/>
                  <a:sym typeface="Consolas"/>
                </a:rPr>
                <a:t>chunk </a:t>
              </a:r>
              <a:r>
                <a:rPr lang="en-GB" sz="1000">
                  <a:solidFill>
                    <a:srgbClr val="0033B3"/>
                  </a:solidFill>
                  <a:latin typeface="Consolas"/>
                  <a:ea typeface="Consolas"/>
                  <a:cs typeface="Consolas"/>
                  <a:sym typeface="Consolas"/>
                </a:rPr>
                <a:t>in </a:t>
              </a:r>
              <a:r>
                <a:rPr lang="en-GB" sz="1000">
                  <a:solidFill>
                    <a:srgbClr val="080808"/>
                  </a:solidFill>
                  <a:latin typeface="Consolas"/>
                  <a:ea typeface="Consolas"/>
                  <a:cs typeface="Consolas"/>
                  <a:sym typeface="Consolas"/>
                </a:rPr>
                <a:t>llm.stream(</a:t>
              </a:r>
              <a:r>
                <a:rPr lang="en-GB" sz="1000">
                  <a:solidFill>
                    <a:srgbClr val="067D17"/>
                  </a:solidFill>
                  <a:latin typeface="Consolas"/>
                  <a:ea typeface="Consolas"/>
                  <a:cs typeface="Consolas"/>
                  <a:sym typeface="Consolas"/>
                </a:rPr>
                <a:t>"Say hi"</a:t>
              </a:r>
              <a:r>
                <a:rPr lang="en-GB" sz="1000">
                  <a:solidFill>
                    <a:srgbClr val="080808"/>
                  </a:solidFill>
                  <a:latin typeface="Consolas"/>
                  <a:ea typeface="Consolas"/>
                  <a:cs typeface="Consolas"/>
                  <a:sym typeface="Consolas"/>
                </a:rPr>
                <a:t>):  </a:t>
              </a:r>
              <a:r>
                <a:rPr i="1" lang="en-GB" sz="1000">
                  <a:solidFill>
                    <a:srgbClr val="8C8C8C"/>
                  </a:solidFill>
                  <a:latin typeface="Consolas"/>
                  <a:ea typeface="Consolas"/>
                  <a:cs typeface="Consolas"/>
                  <a:sym typeface="Consolas"/>
                </a:rPr>
                <a:t># incremental output, chunk by chunk</a:t>
              </a:r>
              <a:endParaRPr i="1" sz="1000">
                <a:solidFill>
                  <a:srgbClr val="8C8C8C"/>
                </a:solidFill>
                <a:latin typeface="Consolas"/>
                <a:ea typeface="Consolas"/>
                <a:cs typeface="Consolas"/>
                <a:sym typeface="Consolas"/>
              </a:endParaRPr>
            </a:p>
            <a:p>
              <a:pPr indent="0" lvl="0" marL="0" rtl="0" algn="l">
                <a:lnSpc>
                  <a:spcPct val="115000"/>
                </a:lnSpc>
                <a:spcBef>
                  <a:spcPts val="0"/>
                </a:spcBef>
                <a:spcAft>
                  <a:spcPts val="0"/>
                </a:spcAft>
                <a:buNone/>
              </a:pPr>
              <a:r>
                <a:rPr i="1" lang="en-GB" sz="1000">
                  <a:solidFill>
                    <a:srgbClr val="8C8C8C"/>
                  </a:solidFill>
                  <a:latin typeface="Consolas"/>
                  <a:ea typeface="Consolas"/>
                  <a:cs typeface="Consolas"/>
                  <a:sym typeface="Consolas"/>
                </a:rPr>
                <a:t>   </a:t>
              </a:r>
              <a:r>
                <a:rPr lang="en-GB" sz="1000">
                  <a:solidFill>
                    <a:srgbClr val="000080"/>
                  </a:solidFill>
                  <a:latin typeface="Consolas"/>
                  <a:ea typeface="Consolas"/>
                  <a:cs typeface="Consolas"/>
                  <a:sym typeface="Consolas"/>
                </a:rPr>
                <a:t>print</a:t>
              </a:r>
              <a:r>
                <a:rPr lang="en-GB" sz="1000">
                  <a:solidFill>
                    <a:srgbClr val="080808"/>
                  </a:solidFill>
                  <a:latin typeface="Consolas"/>
                  <a:ea typeface="Consolas"/>
                  <a:cs typeface="Consolas"/>
                  <a:sym typeface="Consolas"/>
                </a:rPr>
                <a:t>(chunk.content, </a:t>
              </a:r>
              <a:r>
                <a:rPr lang="en-GB" sz="1000">
                  <a:solidFill>
                    <a:srgbClr val="660099"/>
                  </a:solidFill>
                  <a:latin typeface="Consolas"/>
                  <a:ea typeface="Consolas"/>
                  <a:cs typeface="Consolas"/>
                  <a:sym typeface="Consolas"/>
                </a:rPr>
                <a:t>end</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a:t>
              </a:r>
              <a:r>
                <a:rPr lang="en-GB" sz="1000">
                  <a:solidFill>
                    <a:srgbClr val="080808"/>
                  </a:solidFill>
                  <a:latin typeface="Consolas"/>
                  <a:ea typeface="Consolas"/>
                  <a:cs typeface="Consolas"/>
                  <a:sym typeface="Consolas"/>
                </a:rPr>
                <a:t>)</a:t>
              </a:r>
              <a:endParaRPr sz="1000">
                <a:solidFill>
                  <a:srgbClr val="0033B3"/>
                </a:solidFill>
                <a:latin typeface="Consolas"/>
                <a:ea typeface="Consolas"/>
                <a:cs typeface="Consolas"/>
                <a:sym typeface="Consolas"/>
              </a:endParaRPr>
            </a:p>
          </p:txBody>
        </p:sp>
      </p:grpSp>
      <p:grpSp>
        <p:nvGrpSpPr>
          <p:cNvPr id="997" name="Google Shape;997;p104"/>
          <p:cNvGrpSpPr/>
          <p:nvPr/>
        </p:nvGrpSpPr>
        <p:grpSpPr>
          <a:xfrm>
            <a:off x="918475" y="1616818"/>
            <a:ext cx="448950" cy="109200"/>
            <a:chOff x="1769550" y="3049750"/>
            <a:chExt cx="448950" cy="109200"/>
          </a:xfrm>
        </p:grpSpPr>
        <p:sp>
          <p:nvSpPr>
            <p:cNvPr id="998" name="Google Shape;998;p104"/>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999" name="Google Shape;999;p104"/>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000" name="Google Shape;1000;p104"/>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001" name="Google Shape;1001;p1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105"/>
          <p:cNvSpPr txBox="1"/>
          <p:nvPr>
            <p:ph idx="1" type="body"/>
          </p:nvPr>
        </p:nvSpPr>
        <p:spPr>
          <a:xfrm>
            <a:off x="311700" y="1069550"/>
            <a:ext cx="8520600" cy="2458500"/>
          </a:xfrm>
          <a:prstGeom prst="rect">
            <a:avLst/>
          </a:prstGeom>
        </p:spPr>
        <p:txBody>
          <a:bodyPr anchorCtr="0" anchor="t" bIns="91425" lIns="91425" spcFirstLastPara="1" rIns="91425" wrap="square" tIns="91425">
            <a:spAutoFit/>
          </a:bodyPr>
          <a:lstStyle/>
          <a:p>
            <a:pPr indent="-292100" lvl="0" marL="457200" marR="0" rtl="0" algn="l">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There are many more </a:t>
            </a:r>
            <a:r>
              <a:rPr lang="en-GB">
                <a:solidFill>
                  <a:schemeClr val="dk1"/>
                </a:solidFill>
                <a:latin typeface="Encode Sans"/>
                <a:ea typeface="Encode Sans"/>
                <a:cs typeface="Encode Sans"/>
                <a:sym typeface="Encode Sans"/>
              </a:rPr>
              <a:t>types of </a:t>
            </a:r>
            <a:r>
              <a:rPr b="1" lang="en-GB">
                <a:solidFill>
                  <a:srgbClr val="CE6948"/>
                </a:solidFill>
                <a:latin typeface="Encode Sans"/>
                <a:ea typeface="Encode Sans"/>
                <a:cs typeface="Encode Sans"/>
                <a:sym typeface="Encode Sans"/>
              </a:rPr>
              <a:t>Runnable</a:t>
            </a:r>
            <a:r>
              <a:rPr lang="en-GB">
                <a:solidFill>
                  <a:schemeClr val="dk1"/>
                </a:solidFill>
                <a:latin typeface="Encode Sans"/>
                <a:ea typeface="Encode Sans"/>
                <a:cs typeface="Encode Sans"/>
                <a:sym typeface="Encode Sans"/>
              </a:rPr>
              <a:t> such as: </a:t>
            </a:r>
            <a:endParaRPr>
              <a:solidFill>
                <a:schemeClr val="dk1"/>
              </a:solidFill>
              <a:latin typeface="Encode Sans"/>
              <a:ea typeface="Encode Sans"/>
              <a:cs typeface="Encode Sans"/>
              <a:sym typeface="Encode Sans"/>
            </a:endParaRPr>
          </a:p>
          <a:p>
            <a:pPr indent="-206375" lvl="1" marL="571500" rtl="0" algn="l">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RunnableParallel</a:t>
            </a:r>
            <a:r>
              <a:rPr lang="en-GB">
                <a:solidFill>
                  <a:schemeClr val="dk1"/>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runs several Runnables on the same input at once and merges the results into a dict, instead of running them one after another.</a:t>
            </a:r>
            <a:endParaRPr>
              <a:solidFill>
                <a:schemeClr val="dk1"/>
              </a:solidFill>
              <a:latin typeface="Encode Sans"/>
              <a:ea typeface="Encode Sans"/>
              <a:cs typeface="Encode Sans"/>
              <a:sym typeface="Encode Sans"/>
            </a:endParaRPr>
          </a:p>
          <a:p>
            <a:pPr indent="-206375" lvl="1" marL="571500" rtl="0" algn="l">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RunnableLambda:</a:t>
            </a:r>
            <a:r>
              <a:rPr lang="en-GB">
                <a:solidFill>
                  <a:schemeClr val="dk1"/>
                </a:solidFill>
                <a:latin typeface="Encode Sans"/>
                <a:ea typeface="Encode Sans"/>
                <a:cs typeface="Encode Sans"/>
                <a:sym typeface="Encode Sans"/>
              </a:rPr>
              <a:t> wraps a plain Python function.</a:t>
            </a:r>
            <a:endParaRPr>
              <a:solidFill>
                <a:schemeClr val="dk1"/>
              </a:solidFill>
              <a:latin typeface="Encode Sans"/>
              <a:ea typeface="Encode Sans"/>
              <a:cs typeface="Encode Sans"/>
              <a:sym typeface="Encode Sans"/>
            </a:endParaRPr>
          </a:p>
          <a:p>
            <a:pPr indent="-206375" lvl="1" marL="571500" rtl="0" algn="l">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RunnablePassthrough</a:t>
            </a:r>
            <a:r>
              <a:rPr b="1" lang="en-GB">
                <a:solidFill>
                  <a:srgbClr val="CE6948"/>
                </a:solidFill>
                <a:latin typeface="Encode Sans"/>
                <a:ea typeface="Encode Sans"/>
                <a:cs typeface="Encode Sans"/>
                <a:sym typeface="Encode Sans"/>
              </a:rPr>
              <a:t>:</a:t>
            </a:r>
            <a:r>
              <a:rPr lang="en-GB">
                <a:solidFill>
                  <a:schemeClr val="dk1"/>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forwards the input through unchanged, useful when a later step needs the original input alongside something computed from it.</a:t>
            </a:r>
            <a:endParaRPr>
              <a:solidFill>
                <a:schemeClr val="dk1"/>
              </a:solidFill>
              <a:latin typeface="Encode Sans"/>
              <a:ea typeface="Encode Sans"/>
              <a:cs typeface="Encode Sans"/>
              <a:sym typeface="Encode Sans"/>
            </a:endParaRPr>
          </a:p>
          <a:p>
            <a:pPr indent="-206375" lvl="1" marL="571500" rtl="0" algn="l">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RunnableBranch: </a:t>
            </a:r>
            <a:r>
              <a:rPr lang="en-GB">
                <a:solidFill>
                  <a:schemeClr val="dk1"/>
                </a:solidFill>
                <a:latin typeface="Encode Sans"/>
                <a:ea typeface="Encode Sans"/>
                <a:cs typeface="Encode Sans"/>
                <a:sym typeface="Encode Sans"/>
              </a:rPr>
              <a:t>routes to a different Runnable depending on the input.</a:t>
            </a:r>
            <a:endParaRPr>
              <a:solidFill>
                <a:schemeClr val="dk1"/>
              </a:solidFill>
              <a:latin typeface="Encode Sans"/>
              <a:ea typeface="Encode Sans"/>
              <a:cs typeface="Encode Sans"/>
              <a:sym typeface="Encode Sans"/>
            </a:endParaRPr>
          </a:p>
        </p:txBody>
      </p:sp>
      <p:sp>
        <p:nvSpPr>
          <p:cNvPr id="1007" name="Google Shape;1007;p105"/>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Chain &amp; Runnables (cont) </a:t>
            </a:r>
            <a:endParaRPr>
              <a:solidFill>
                <a:srgbClr val="CE6948"/>
              </a:solidFill>
            </a:endParaRPr>
          </a:p>
        </p:txBody>
      </p:sp>
      <p:sp>
        <p:nvSpPr>
          <p:cNvPr id="1008" name="Google Shape;1008;p105"/>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sp>
        <p:nvSpPr>
          <p:cNvPr id="1009" name="Google Shape;1009;p1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106"/>
          <p:cNvSpPr txBox="1"/>
          <p:nvPr>
            <p:ph idx="1" type="body"/>
          </p:nvPr>
        </p:nvSpPr>
        <p:spPr>
          <a:xfrm>
            <a:off x="311700" y="1069550"/>
            <a:ext cx="8520600" cy="384900"/>
          </a:xfrm>
          <a:prstGeom prst="rect">
            <a:avLst/>
          </a:prstGeom>
        </p:spPr>
        <p:txBody>
          <a:bodyPr anchorCtr="0" anchor="t" bIns="91425" lIns="91425" spcFirstLastPara="1" rIns="91425" wrap="square" tIns="91425">
            <a:spAutoFit/>
          </a:bodyPr>
          <a:lstStyle/>
          <a:p>
            <a:pPr indent="-292100" lvl="0" marL="457200" marR="0" rtl="0" algn="l">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Example:</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RunnableParallel</a:t>
            </a:r>
            <a:endParaRPr>
              <a:solidFill>
                <a:schemeClr val="dk1"/>
              </a:solidFill>
              <a:latin typeface="Encode Sans"/>
              <a:ea typeface="Encode Sans"/>
              <a:cs typeface="Encode Sans"/>
              <a:sym typeface="Encode Sans"/>
            </a:endParaRPr>
          </a:p>
        </p:txBody>
      </p:sp>
      <p:sp>
        <p:nvSpPr>
          <p:cNvPr id="1015" name="Google Shape;1015;p106"/>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Chain &amp; Runnables (cont) </a:t>
            </a:r>
            <a:endParaRPr>
              <a:solidFill>
                <a:srgbClr val="CE6948"/>
              </a:solidFill>
            </a:endParaRPr>
          </a:p>
        </p:txBody>
      </p:sp>
      <p:sp>
        <p:nvSpPr>
          <p:cNvPr id="1016" name="Google Shape;1016;p106"/>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1017" name="Google Shape;1017;p106"/>
          <p:cNvGrpSpPr/>
          <p:nvPr/>
        </p:nvGrpSpPr>
        <p:grpSpPr>
          <a:xfrm>
            <a:off x="786550" y="1513150"/>
            <a:ext cx="7649580" cy="2659800"/>
            <a:chOff x="1637650" y="2946085"/>
            <a:chExt cx="4659832" cy="2659800"/>
          </a:xfrm>
        </p:grpSpPr>
        <p:grpSp>
          <p:nvGrpSpPr>
            <p:cNvPr id="1018" name="Google Shape;1018;p106"/>
            <p:cNvGrpSpPr/>
            <p:nvPr/>
          </p:nvGrpSpPr>
          <p:grpSpPr>
            <a:xfrm>
              <a:off x="1637650" y="2946085"/>
              <a:ext cx="4659832" cy="2659800"/>
              <a:chOff x="1637698" y="2946085"/>
              <a:chExt cx="3891300" cy="2659800"/>
            </a:xfrm>
          </p:grpSpPr>
          <p:sp>
            <p:nvSpPr>
              <p:cNvPr id="1019" name="Google Shape;1019;p106"/>
              <p:cNvSpPr/>
              <p:nvPr/>
            </p:nvSpPr>
            <p:spPr>
              <a:xfrm>
                <a:off x="1639403" y="2946085"/>
                <a:ext cx="3889500" cy="2659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020" name="Google Shape;1020;p106"/>
              <p:cNvCxnSpPr/>
              <p:nvPr/>
            </p:nvCxnSpPr>
            <p:spPr>
              <a:xfrm>
                <a:off x="1637698" y="3256224"/>
                <a:ext cx="3891300" cy="0"/>
              </a:xfrm>
              <a:prstGeom prst="straightConnector1">
                <a:avLst/>
              </a:prstGeom>
              <a:noFill/>
              <a:ln cap="flat" cmpd="sng" w="9525">
                <a:solidFill>
                  <a:schemeClr val="dk2"/>
                </a:solidFill>
                <a:prstDash val="solid"/>
                <a:round/>
                <a:headEnd len="med" w="med" type="none"/>
                <a:tailEnd len="med" w="med" type="none"/>
              </a:ln>
            </p:spPr>
          </p:cxnSp>
        </p:grpSp>
        <p:sp>
          <p:nvSpPr>
            <p:cNvPr id="1021" name="Google Shape;1021;p106"/>
            <p:cNvSpPr txBox="1"/>
            <p:nvPr/>
          </p:nvSpPr>
          <p:spPr>
            <a:xfrm>
              <a:off x="1681540" y="3320060"/>
              <a:ext cx="4615800" cy="228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langchain_core.prompts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ChatPromptTemplate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langchain_core.output_parsers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StrOutputParser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langchain_core.runnables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RunnableParallel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joke_chain = ChatPromptTemplate.from_template(</a:t>
              </a:r>
              <a:r>
                <a:rPr lang="en-GB" sz="1000">
                  <a:solidFill>
                    <a:srgbClr val="067D17"/>
                  </a:solidFill>
                  <a:latin typeface="Consolas"/>
                  <a:ea typeface="Consolas"/>
                  <a:cs typeface="Consolas"/>
                  <a:sym typeface="Consolas"/>
                </a:rPr>
                <a:t>"Tell me a short joke about {topic}"</a:t>
              </a:r>
              <a:r>
                <a:rPr lang="en-GB" sz="1000">
                  <a:solidFill>
                    <a:srgbClr val="080808"/>
                  </a:solidFill>
                  <a:latin typeface="Consolas"/>
                  <a:ea typeface="Consolas"/>
                  <a:cs typeface="Consolas"/>
                  <a:sym typeface="Consolas"/>
                </a:rPr>
                <a:t>) | llm | StrOutputParser()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poem_chain = ChatPromptTemplate.from_template(</a:t>
              </a:r>
              <a:r>
                <a:rPr lang="en-GB" sz="1000">
                  <a:solidFill>
                    <a:srgbClr val="067D17"/>
                  </a:solidFill>
                  <a:latin typeface="Consolas"/>
                  <a:ea typeface="Consolas"/>
                  <a:cs typeface="Consolas"/>
                  <a:sym typeface="Consolas"/>
                </a:rPr>
                <a:t>"Write a two-line poem about {topic}"</a:t>
              </a:r>
              <a:r>
                <a:rPr lang="en-GB" sz="1000">
                  <a:solidFill>
                    <a:srgbClr val="080808"/>
                  </a:solidFill>
                  <a:latin typeface="Consolas"/>
                  <a:ea typeface="Consolas"/>
                  <a:cs typeface="Consolas"/>
                  <a:sym typeface="Consolas"/>
                </a:rPr>
                <a:t>) | llm | StrOutputParser()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parallel = RunnableParallel(</a:t>
              </a:r>
              <a:r>
                <a:rPr lang="en-GB" sz="1000">
                  <a:solidFill>
                    <a:srgbClr val="660099"/>
                  </a:solidFill>
                  <a:latin typeface="Consolas"/>
                  <a:ea typeface="Consolas"/>
                  <a:cs typeface="Consolas"/>
                  <a:sym typeface="Consolas"/>
                </a:rPr>
                <a:t>joke</a:t>
              </a:r>
              <a:r>
                <a:rPr lang="en-GB" sz="1000">
                  <a:solidFill>
                    <a:srgbClr val="080808"/>
                  </a:solidFill>
                  <a:latin typeface="Consolas"/>
                  <a:ea typeface="Consolas"/>
                  <a:cs typeface="Consolas"/>
                  <a:sym typeface="Consolas"/>
                </a:rPr>
                <a:t>=joke_chain, </a:t>
              </a:r>
              <a:r>
                <a:rPr lang="en-GB" sz="1000">
                  <a:solidFill>
                    <a:srgbClr val="660099"/>
                  </a:solidFill>
                  <a:latin typeface="Consolas"/>
                  <a:ea typeface="Consolas"/>
                  <a:cs typeface="Consolas"/>
                  <a:sym typeface="Consolas"/>
                </a:rPr>
                <a:t>poem</a:t>
              </a:r>
              <a:r>
                <a:rPr lang="en-GB" sz="1000">
                  <a:solidFill>
                    <a:srgbClr val="080808"/>
                  </a:solidFill>
                  <a:latin typeface="Consolas"/>
                  <a:ea typeface="Consolas"/>
                  <a:cs typeface="Consolas"/>
                  <a:sym typeface="Consolas"/>
                </a:rPr>
                <a:t>=poem_chain)</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result = parallel.invoke({</a:t>
              </a:r>
              <a:r>
                <a:rPr lang="en-GB" sz="1000">
                  <a:solidFill>
                    <a:srgbClr val="067D17"/>
                  </a:solidFill>
                  <a:latin typeface="Consolas"/>
                  <a:ea typeface="Consolas"/>
                  <a:cs typeface="Consolas"/>
                  <a:sym typeface="Consolas"/>
                </a:rPr>
                <a:t>"topic"</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"bears"</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0080"/>
                  </a:solidFill>
                  <a:latin typeface="Consolas"/>
                  <a:ea typeface="Consolas"/>
                  <a:cs typeface="Consolas"/>
                  <a:sym typeface="Consolas"/>
                </a:rPr>
                <a:t>print</a:t>
              </a:r>
              <a:r>
                <a:rPr lang="en-GB" sz="1000">
                  <a:solidFill>
                    <a:srgbClr val="080808"/>
                  </a:solidFill>
                  <a:latin typeface="Consolas"/>
                  <a:ea typeface="Consolas"/>
                  <a:cs typeface="Consolas"/>
                  <a:sym typeface="Consolas"/>
                </a:rPr>
                <a:t>(result)  </a:t>
              </a:r>
              <a:r>
                <a:rPr i="1" lang="en-GB" sz="1000">
                  <a:solidFill>
                    <a:srgbClr val="8C8C8C"/>
                  </a:solidFill>
                  <a:latin typeface="Consolas"/>
                  <a:ea typeface="Consolas"/>
                  <a:cs typeface="Consolas"/>
                  <a:sym typeface="Consolas"/>
                </a:rPr>
                <a:t># {"joke": "...", "poem": "..."}, both generated concurrently</a:t>
              </a:r>
              <a:endParaRPr sz="1000">
                <a:solidFill>
                  <a:srgbClr val="0033B3"/>
                </a:solidFill>
                <a:latin typeface="Consolas"/>
                <a:ea typeface="Consolas"/>
                <a:cs typeface="Consolas"/>
                <a:sym typeface="Consolas"/>
              </a:endParaRPr>
            </a:p>
          </p:txBody>
        </p:sp>
      </p:grpSp>
      <p:grpSp>
        <p:nvGrpSpPr>
          <p:cNvPr id="1022" name="Google Shape;1022;p106"/>
          <p:cNvGrpSpPr/>
          <p:nvPr/>
        </p:nvGrpSpPr>
        <p:grpSpPr>
          <a:xfrm>
            <a:off x="918475" y="1616818"/>
            <a:ext cx="448950" cy="109200"/>
            <a:chOff x="1769550" y="3049750"/>
            <a:chExt cx="448950" cy="109200"/>
          </a:xfrm>
        </p:grpSpPr>
        <p:sp>
          <p:nvSpPr>
            <p:cNvPr id="1023" name="Google Shape;1023;p106"/>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024" name="Google Shape;1024;p106"/>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025" name="Google Shape;1025;p106"/>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026" name="Google Shape;1026;p1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grpSp>
        <p:nvGrpSpPr>
          <p:cNvPr id="1031" name="Google Shape;1031;p107"/>
          <p:cNvGrpSpPr/>
          <p:nvPr/>
        </p:nvGrpSpPr>
        <p:grpSpPr>
          <a:xfrm>
            <a:off x="786550" y="1513150"/>
            <a:ext cx="3864008" cy="1951675"/>
            <a:chOff x="1637650" y="2946085"/>
            <a:chExt cx="2353806" cy="1951675"/>
          </a:xfrm>
        </p:grpSpPr>
        <p:grpSp>
          <p:nvGrpSpPr>
            <p:cNvPr id="1032" name="Google Shape;1032;p107"/>
            <p:cNvGrpSpPr/>
            <p:nvPr/>
          </p:nvGrpSpPr>
          <p:grpSpPr>
            <a:xfrm>
              <a:off x="1637650" y="2946085"/>
              <a:ext cx="2353806" cy="1760700"/>
              <a:chOff x="1637698" y="2946085"/>
              <a:chExt cx="1965600" cy="1760700"/>
            </a:xfrm>
          </p:grpSpPr>
          <p:sp>
            <p:nvSpPr>
              <p:cNvPr id="1033" name="Google Shape;1033;p107"/>
              <p:cNvSpPr/>
              <p:nvPr/>
            </p:nvSpPr>
            <p:spPr>
              <a:xfrm>
                <a:off x="1638563" y="2946085"/>
                <a:ext cx="1964700" cy="17607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034" name="Google Shape;1034;p107"/>
              <p:cNvCxnSpPr/>
              <p:nvPr/>
            </p:nvCxnSpPr>
            <p:spPr>
              <a:xfrm>
                <a:off x="1637698" y="3256224"/>
                <a:ext cx="1965600" cy="0"/>
              </a:xfrm>
              <a:prstGeom prst="straightConnector1">
                <a:avLst/>
              </a:prstGeom>
              <a:noFill/>
              <a:ln cap="flat" cmpd="sng" w="9525">
                <a:solidFill>
                  <a:schemeClr val="dk2"/>
                </a:solidFill>
                <a:prstDash val="solid"/>
                <a:round/>
                <a:headEnd len="med" w="med" type="none"/>
                <a:tailEnd len="med" w="med" type="none"/>
              </a:ln>
            </p:spPr>
          </p:cxnSp>
        </p:grpSp>
        <p:sp>
          <p:nvSpPr>
            <p:cNvPr id="1035" name="Google Shape;1035;p107"/>
            <p:cNvSpPr txBox="1"/>
            <p:nvPr/>
          </p:nvSpPr>
          <p:spPr>
            <a:xfrm>
              <a:off x="1659820" y="3320060"/>
              <a:ext cx="2331600" cy="157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langchain_core.runnables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RunnableLambda</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def </a:t>
              </a:r>
              <a:r>
                <a:rPr lang="en-GB" sz="1000">
                  <a:solidFill>
                    <a:srgbClr val="00627A"/>
                  </a:solidFill>
                  <a:latin typeface="Consolas"/>
                  <a:ea typeface="Consolas"/>
                  <a:cs typeface="Consolas"/>
                  <a:sym typeface="Consolas"/>
                </a:rPr>
                <a:t>word_count</a:t>
              </a:r>
              <a:r>
                <a:rPr lang="en-GB" sz="1000">
                  <a:solidFill>
                    <a:srgbClr val="080808"/>
                  </a:solidFill>
                  <a:latin typeface="Consolas"/>
                  <a:ea typeface="Consolas"/>
                  <a:cs typeface="Consolas"/>
                  <a:sym typeface="Consolas"/>
                </a:rPr>
                <a:t>(</a:t>
              </a:r>
              <a:r>
                <a:rPr lang="en-GB" sz="1000">
                  <a:solidFill>
                    <a:schemeClr val="dk1"/>
                  </a:solidFill>
                  <a:latin typeface="Consolas"/>
                  <a:ea typeface="Consolas"/>
                  <a:cs typeface="Consolas"/>
                  <a:sym typeface="Consolas"/>
                </a:rPr>
                <a:t>text</a:t>
              </a:r>
              <a:r>
                <a:rPr lang="en-GB" sz="1000">
                  <a:solidFill>
                    <a:srgbClr val="080808"/>
                  </a:solidFill>
                  <a:latin typeface="Consolas"/>
                  <a:ea typeface="Consolas"/>
                  <a:cs typeface="Consolas"/>
                  <a:sym typeface="Consolas"/>
                </a:rPr>
                <a:t>: </a:t>
              </a:r>
              <a:r>
                <a:rPr lang="en-GB" sz="1000">
                  <a:solidFill>
                    <a:srgbClr val="000080"/>
                  </a:solidFill>
                  <a:latin typeface="Consolas"/>
                  <a:ea typeface="Consolas"/>
                  <a:cs typeface="Consolas"/>
                  <a:sym typeface="Consolas"/>
                </a:rPr>
                <a:t>str</a:t>
              </a:r>
              <a:r>
                <a:rPr lang="en-GB" sz="1000">
                  <a:solidFill>
                    <a:srgbClr val="080808"/>
                  </a:solidFill>
                  <a:latin typeface="Consolas"/>
                  <a:ea typeface="Consolas"/>
                  <a:cs typeface="Consolas"/>
                  <a:sym typeface="Consolas"/>
                </a:rPr>
                <a:t>) -&gt; </a:t>
              </a:r>
              <a:r>
                <a:rPr lang="en-GB" sz="1000">
                  <a:solidFill>
                    <a:srgbClr val="000080"/>
                  </a:solidFill>
                  <a:latin typeface="Consolas"/>
                  <a:ea typeface="Consolas"/>
                  <a:cs typeface="Consolas"/>
                  <a:sym typeface="Consolas"/>
                </a:rPr>
                <a:t>int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0033B3"/>
                  </a:solidFill>
                  <a:latin typeface="Consolas"/>
                  <a:ea typeface="Consolas"/>
                  <a:cs typeface="Consolas"/>
                  <a:sym typeface="Consolas"/>
                </a:rPr>
                <a:t>return </a:t>
              </a:r>
              <a:r>
                <a:rPr lang="en-GB" sz="1000">
                  <a:solidFill>
                    <a:srgbClr val="000080"/>
                  </a:solidFill>
                  <a:latin typeface="Consolas"/>
                  <a:ea typeface="Consolas"/>
                  <a:cs typeface="Consolas"/>
                  <a:sym typeface="Consolas"/>
                </a:rPr>
                <a:t>len</a:t>
              </a:r>
              <a:r>
                <a:rPr lang="en-GB" sz="1000">
                  <a:solidFill>
                    <a:srgbClr val="080808"/>
                  </a:solidFill>
                  <a:latin typeface="Consolas"/>
                  <a:ea typeface="Consolas"/>
                  <a:cs typeface="Consolas"/>
                  <a:sym typeface="Consolas"/>
                </a:rPr>
                <a:t>(</a:t>
              </a:r>
              <a:r>
                <a:rPr lang="en-GB" sz="1000">
                  <a:solidFill>
                    <a:schemeClr val="dk1"/>
                  </a:solidFill>
                  <a:latin typeface="Consolas"/>
                  <a:ea typeface="Consolas"/>
                  <a:cs typeface="Consolas"/>
                  <a:sym typeface="Consolas"/>
                </a:rPr>
                <a:t>text</a:t>
              </a:r>
              <a:r>
                <a:rPr lang="en-GB" sz="1000">
                  <a:solidFill>
                    <a:srgbClr val="080808"/>
                  </a:solidFill>
                  <a:latin typeface="Consolas"/>
                  <a:ea typeface="Consolas"/>
                  <a:cs typeface="Consolas"/>
                  <a:sym typeface="Consolas"/>
                </a:rPr>
                <a:t>.split())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counter = RunnableLambda(word_count)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counter.invoke(</a:t>
              </a:r>
              <a:r>
                <a:rPr lang="en-GB" sz="1000">
                  <a:solidFill>
                    <a:srgbClr val="067D17"/>
                  </a:solidFill>
                  <a:latin typeface="Consolas"/>
                  <a:ea typeface="Consolas"/>
                  <a:cs typeface="Consolas"/>
                  <a:sym typeface="Consolas"/>
                </a:rPr>
                <a:t>"how many words is this"</a:t>
              </a:r>
              <a:r>
                <a:rPr lang="en-GB" sz="1000">
                  <a:solidFill>
                    <a:srgbClr val="080808"/>
                  </a:solidFill>
                  <a:latin typeface="Consolas"/>
                  <a:ea typeface="Consolas"/>
                  <a:cs typeface="Consolas"/>
                  <a:sym typeface="Consolas"/>
                </a:rPr>
                <a:t>)  </a:t>
              </a:r>
              <a:r>
                <a:rPr i="1" lang="en-GB" sz="1000">
                  <a:solidFill>
                    <a:srgbClr val="8C8C8C"/>
                  </a:solidFill>
                  <a:latin typeface="Consolas"/>
                  <a:ea typeface="Consolas"/>
                  <a:cs typeface="Consolas"/>
                  <a:sym typeface="Consolas"/>
                </a:rPr>
                <a:t># 5</a:t>
              </a:r>
              <a:endParaRPr sz="1000">
                <a:solidFill>
                  <a:srgbClr val="0033B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033B3"/>
                </a:solidFill>
                <a:latin typeface="Consolas"/>
                <a:ea typeface="Consolas"/>
                <a:cs typeface="Consolas"/>
                <a:sym typeface="Consolas"/>
              </a:endParaRPr>
            </a:p>
          </p:txBody>
        </p:sp>
      </p:grpSp>
      <p:grpSp>
        <p:nvGrpSpPr>
          <p:cNvPr id="1036" name="Google Shape;1036;p107"/>
          <p:cNvGrpSpPr/>
          <p:nvPr/>
        </p:nvGrpSpPr>
        <p:grpSpPr>
          <a:xfrm>
            <a:off x="918475" y="1616818"/>
            <a:ext cx="448950" cy="109200"/>
            <a:chOff x="1769550" y="3049750"/>
            <a:chExt cx="448950" cy="109200"/>
          </a:xfrm>
        </p:grpSpPr>
        <p:sp>
          <p:nvSpPr>
            <p:cNvPr id="1037" name="Google Shape;1037;p107"/>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038" name="Google Shape;1038;p107"/>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039" name="Google Shape;1039;p107"/>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040" name="Google Shape;1040;p107"/>
          <p:cNvSpPr txBox="1"/>
          <p:nvPr>
            <p:ph idx="1" type="body"/>
          </p:nvPr>
        </p:nvSpPr>
        <p:spPr>
          <a:xfrm>
            <a:off x="311700" y="1069550"/>
            <a:ext cx="8520600" cy="384900"/>
          </a:xfrm>
          <a:prstGeom prst="rect">
            <a:avLst/>
          </a:prstGeom>
        </p:spPr>
        <p:txBody>
          <a:bodyPr anchorCtr="0" anchor="t" bIns="91425" lIns="91425" spcFirstLastPara="1" rIns="91425" wrap="square" tIns="91425">
            <a:spAutoFit/>
          </a:bodyPr>
          <a:lstStyle/>
          <a:p>
            <a:pPr indent="-292100" lvl="0" marL="457200" marR="0" rtl="0" algn="l">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Example:</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RunnableLamda</a:t>
            </a:r>
            <a:endParaRPr>
              <a:solidFill>
                <a:schemeClr val="dk1"/>
              </a:solidFill>
              <a:latin typeface="Encode Sans"/>
              <a:ea typeface="Encode Sans"/>
              <a:cs typeface="Encode Sans"/>
              <a:sym typeface="Encode Sans"/>
            </a:endParaRPr>
          </a:p>
        </p:txBody>
      </p:sp>
      <p:sp>
        <p:nvSpPr>
          <p:cNvPr id="1041" name="Google Shape;1041;p10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Chain &amp; Runnables (cont) </a:t>
            </a:r>
            <a:endParaRPr>
              <a:solidFill>
                <a:srgbClr val="CE6948"/>
              </a:solidFill>
            </a:endParaRPr>
          </a:p>
        </p:txBody>
      </p:sp>
      <p:sp>
        <p:nvSpPr>
          <p:cNvPr id="1042" name="Google Shape;1042;p10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sp>
        <p:nvSpPr>
          <p:cNvPr id="1043" name="Google Shape;1043;p1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08"/>
          <p:cNvSpPr txBox="1"/>
          <p:nvPr>
            <p:ph idx="1" type="body"/>
          </p:nvPr>
        </p:nvSpPr>
        <p:spPr>
          <a:xfrm>
            <a:off x="311700" y="1069550"/>
            <a:ext cx="8520600" cy="384900"/>
          </a:xfrm>
          <a:prstGeom prst="rect">
            <a:avLst/>
          </a:prstGeom>
        </p:spPr>
        <p:txBody>
          <a:bodyPr anchorCtr="0" anchor="t" bIns="91425" lIns="91425" spcFirstLastPara="1" rIns="91425" wrap="square" tIns="91425">
            <a:spAutoFit/>
          </a:bodyPr>
          <a:lstStyle/>
          <a:p>
            <a:pPr indent="-292100" lvl="0" marL="457200" marR="0" rtl="0" algn="l">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Example:</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RunnablePassThrough</a:t>
            </a:r>
            <a:endParaRPr>
              <a:solidFill>
                <a:schemeClr val="dk1"/>
              </a:solidFill>
              <a:latin typeface="Encode Sans"/>
              <a:ea typeface="Encode Sans"/>
              <a:cs typeface="Encode Sans"/>
              <a:sym typeface="Encode Sans"/>
            </a:endParaRPr>
          </a:p>
        </p:txBody>
      </p:sp>
      <p:sp>
        <p:nvSpPr>
          <p:cNvPr id="1049" name="Google Shape;1049;p108"/>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Chain &amp; Runnables (cont) </a:t>
            </a:r>
            <a:endParaRPr>
              <a:solidFill>
                <a:srgbClr val="CE6948"/>
              </a:solidFill>
            </a:endParaRPr>
          </a:p>
        </p:txBody>
      </p:sp>
      <p:sp>
        <p:nvSpPr>
          <p:cNvPr id="1050" name="Google Shape;1050;p108"/>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1051" name="Google Shape;1051;p108"/>
          <p:cNvGrpSpPr/>
          <p:nvPr/>
        </p:nvGrpSpPr>
        <p:grpSpPr>
          <a:xfrm>
            <a:off x="786550" y="1513150"/>
            <a:ext cx="5460488" cy="1720800"/>
            <a:chOff x="1637650" y="2946085"/>
            <a:chExt cx="3326321" cy="1720800"/>
          </a:xfrm>
        </p:grpSpPr>
        <p:grpSp>
          <p:nvGrpSpPr>
            <p:cNvPr id="1052" name="Google Shape;1052;p108"/>
            <p:cNvGrpSpPr/>
            <p:nvPr/>
          </p:nvGrpSpPr>
          <p:grpSpPr>
            <a:xfrm>
              <a:off x="1637650" y="2946085"/>
              <a:ext cx="3326321" cy="1720800"/>
              <a:chOff x="1637698" y="2946085"/>
              <a:chExt cx="2777721" cy="1720800"/>
            </a:xfrm>
          </p:grpSpPr>
          <p:sp>
            <p:nvSpPr>
              <p:cNvPr id="1053" name="Google Shape;1053;p108"/>
              <p:cNvSpPr/>
              <p:nvPr/>
            </p:nvSpPr>
            <p:spPr>
              <a:xfrm>
                <a:off x="1638919" y="2946085"/>
                <a:ext cx="2776500" cy="1720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054" name="Google Shape;1054;p108"/>
              <p:cNvCxnSpPr/>
              <p:nvPr/>
            </p:nvCxnSpPr>
            <p:spPr>
              <a:xfrm>
                <a:off x="1637698" y="3256224"/>
                <a:ext cx="2777700" cy="0"/>
              </a:xfrm>
              <a:prstGeom prst="straightConnector1">
                <a:avLst/>
              </a:prstGeom>
              <a:noFill/>
              <a:ln cap="flat" cmpd="sng" w="9525">
                <a:solidFill>
                  <a:schemeClr val="dk2"/>
                </a:solidFill>
                <a:prstDash val="solid"/>
                <a:round/>
                <a:headEnd len="med" w="med" type="none"/>
                <a:tailEnd len="med" w="med" type="none"/>
              </a:ln>
            </p:spPr>
          </p:cxnSp>
        </p:grpSp>
        <p:sp>
          <p:nvSpPr>
            <p:cNvPr id="1055" name="Google Shape;1055;p108"/>
            <p:cNvSpPr txBox="1"/>
            <p:nvPr/>
          </p:nvSpPr>
          <p:spPr>
            <a:xfrm>
              <a:off x="1668986" y="3293463"/>
              <a:ext cx="3294900" cy="122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langchain_core.runnables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RunnablePassthrough, RunnableLambda</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word_count = RunnableLambda(</a:t>
              </a:r>
              <a:r>
                <a:rPr lang="en-GB" sz="1000">
                  <a:solidFill>
                    <a:srgbClr val="0033B3"/>
                  </a:solidFill>
                  <a:latin typeface="Consolas"/>
                  <a:ea typeface="Consolas"/>
                  <a:cs typeface="Consolas"/>
                  <a:sym typeface="Consolas"/>
                </a:rPr>
                <a:t>lambda </a:t>
              </a:r>
              <a:r>
                <a:rPr lang="en-GB" sz="1000">
                  <a:solidFill>
                    <a:srgbClr val="080808"/>
                  </a:solidFill>
                  <a:latin typeface="Consolas"/>
                  <a:ea typeface="Consolas"/>
                  <a:cs typeface="Consolas"/>
                  <a:sym typeface="Consolas"/>
                </a:rPr>
                <a:t>x: </a:t>
              </a:r>
              <a:r>
                <a:rPr lang="en-GB" sz="1000">
                  <a:solidFill>
                    <a:srgbClr val="000080"/>
                  </a:solidFill>
                  <a:latin typeface="Consolas"/>
                  <a:ea typeface="Consolas"/>
                  <a:cs typeface="Consolas"/>
                  <a:sym typeface="Consolas"/>
                </a:rPr>
                <a:t>len</a:t>
              </a:r>
              <a:r>
                <a:rPr lang="en-GB" sz="1000">
                  <a:solidFill>
                    <a:srgbClr val="080808"/>
                  </a:solidFill>
                  <a:latin typeface="Consolas"/>
                  <a:ea typeface="Consolas"/>
                  <a:cs typeface="Consolas"/>
                  <a:sym typeface="Consolas"/>
                </a:rPr>
                <a:t>(x[</a:t>
              </a:r>
              <a:r>
                <a:rPr lang="en-GB" sz="1000">
                  <a:solidFill>
                    <a:srgbClr val="067D17"/>
                  </a:solidFill>
                  <a:latin typeface="Consolas"/>
                  <a:ea typeface="Consolas"/>
                  <a:cs typeface="Consolas"/>
                  <a:sym typeface="Consolas"/>
                </a:rPr>
                <a:t>"text"</a:t>
              </a:r>
              <a:r>
                <a:rPr lang="en-GB" sz="1000">
                  <a:solidFill>
                    <a:srgbClr val="080808"/>
                  </a:solidFill>
                  <a:latin typeface="Consolas"/>
                  <a:ea typeface="Consolas"/>
                  <a:cs typeface="Consolas"/>
                  <a:sym typeface="Consolas"/>
                </a:rPr>
                <a:t>].split()))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chain = RunnablePassthrough.assign(</a:t>
              </a:r>
              <a:r>
                <a:rPr lang="en-GB" sz="1000">
                  <a:solidFill>
                    <a:srgbClr val="660099"/>
                  </a:solidFill>
                  <a:latin typeface="Consolas"/>
                  <a:ea typeface="Consolas"/>
                  <a:cs typeface="Consolas"/>
                  <a:sym typeface="Consolas"/>
                </a:rPr>
                <a:t>word_count</a:t>
              </a:r>
              <a:r>
                <a:rPr lang="en-GB" sz="1000">
                  <a:solidFill>
                    <a:srgbClr val="080808"/>
                  </a:solidFill>
                  <a:latin typeface="Consolas"/>
                  <a:ea typeface="Consolas"/>
                  <a:cs typeface="Consolas"/>
                  <a:sym typeface="Consolas"/>
                </a:rPr>
                <a:t>=word_count)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0080"/>
                  </a:solidFill>
                  <a:latin typeface="Consolas"/>
                  <a:ea typeface="Consolas"/>
                  <a:cs typeface="Consolas"/>
                  <a:sym typeface="Consolas"/>
                </a:rPr>
                <a:t>print</a:t>
              </a:r>
              <a:r>
                <a:rPr lang="en-GB" sz="1000">
                  <a:solidFill>
                    <a:srgbClr val="080808"/>
                  </a:solidFill>
                  <a:latin typeface="Consolas"/>
                  <a:ea typeface="Consolas"/>
                  <a:cs typeface="Consolas"/>
                  <a:sym typeface="Consolas"/>
                </a:rPr>
                <a:t>(chain.invoke({</a:t>
              </a:r>
              <a:r>
                <a:rPr lang="en-GB" sz="1000">
                  <a:solidFill>
                    <a:srgbClr val="067D17"/>
                  </a:solidFill>
                  <a:latin typeface="Consolas"/>
                  <a:ea typeface="Consolas"/>
                  <a:cs typeface="Consolas"/>
                  <a:sym typeface="Consolas"/>
                </a:rPr>
                <a:t>"text"</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"how many words is this"</a:t>
              </a:r>
              <a:r>
                <a:rPr lang="en-GB" sz="1000">
                  <a:solidFill>
                    <a:srgbClr val="080808"/>
                  </a:solidFill>
                  <a:latin typeface="Consolas"/>
                  <a:ea typeface="Consolas"/>
                  <a:cs typeface="Consolas"/>
                  <a:sym typeface="Consolas"/>
                </a:rPr>
                <a:t>}))</a:t>
              </a:r>
              <a:endParaRPr sz="1000">
                <a:solidFill>
                  <a:srgbClr val="0033B3"/>
                </a:solidFill>
                <a:latin typeface="Consolas"/>
                <a:ea typeface="Consolas"/>
                <a:cs typeface="Consolas"/>
                <a:sym typeface="Consolas"/>
              </a:endParaRPr>
            </a:p>
          </p:txBody>
        </p:sp>
      </p:grpSp>
      <p:grpSp>
        <p:nvGrpSpPr>
          <p:cNvPr id="1056" name="Google Shape;1056;p108"/>
          <p:cNvGrpSpPr/>
          <p:nvPr/>
        </p:nvGrpSpPr>
        <p:grpSpPr>
          <a:xfrm>
            <a:off x="918475" y="1616818"/>
            <a:ext cx="448950" cy="109200"/>
            <a:chOff x="1769550" y="3049750"/>
            <a:chExt cx="448950" cy="109200"/>
          </a:xfrm>
        </p:grpSpPr>
        <p:sp>
          <p:nvSpPr>
            <p:cNvPr id="1057" name="Google Shape;1057;p108"/>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058" name="Google Shape;1058;p108"/>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059" name="Google Shape;1059;p108"/>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060" name="Google Shape;1060;p1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09"/>
          <p:cNvSpPr txBox="1"/>
          <p:nvPr>
            <p:ph idx="1" type="body"/>
          </p:nvPr>
        </p:nvSpPr>
        <p:spPr>
          <a:xfrm>
            <a:off x="311700" y="1069550"/>
            <a:ext cx="8520600" cy="384900"/>
          </a:xfrm>
          <a:prstGeom prst="rect">
            <a:avLst/>
          </a:prstGeom>
        </p:spPr>
        <p:txBody>
          <a:bodyPr anchorCtr="0" anchor="t" bIns="91425" lIns="91425" spcFirstLastPara="1" rIns="91425" wrap="square" tIns="91425">
            <a:spAutoFit/>
          </a:bodyPr>
          <a:lstStyle/>
          <a:p>
            <a:pPr indent="-292100" lvl="0" marL="457200" marR="0" rtl="0" algn="l">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Example:</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RunnableBranch</a:t>
            </a:r>
            <a:endParaRPr>
              <a:solidFill>
                <a:schemeClr val="dk1"/>
              </a:solidFill>
              <a:latin typeface="Encode Sans"/>
              <a:ea typeface="Encode Sans"/>
              <a:cs typeface="Encode Sans"/>
              <a:sym typeface="Encode Sans"/>
            </a:endParaRPr>
          </a:p>
        </p:txBody>
      </p:sp>
      <p:sp>
        <p:nvSpPr>
          <p:cNvPr id="1066" name="Google Shape;1066;p109"/>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Chain &amp; Runnables (cont) </a:t>
            </a:r>
            <a:endParaRPr>
              <a:solidFill>
                <a:srgbClr val="CE6948"/>
              </a:solidFill>
            </a:endParaRPr>
          </a:p>
        </p:txBody>
      </p:sp>
      <p:sp>
        <p:nvSpPr>
          <p:cNvPr id="1067" name="Google Shape;1067;p109"/>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1068" name="Google Shape;1068;p109"/>
          <p:cNvGrpSpPr/>
          <p:nvPr/>
        </p:nvGrpSpPr>
        <p:grpSpPr>
          <a:xfrm>
            <a:off x="786550" y="1513150"/>
            <a:ext cx="7883708" cy="3341100"/>
            <a:chOff x="1637650" y="2946085"/>
            <a:chExt cx="4802454" cy="3341100"/>
          </a:xfrm>
        </p:grpSpPr>
        <p:grpSp>
          <p:nvGrpSpPr>
            <p:cNvPr id="1069" name="Google Shape;1069;p109"/>
            <p:cNvGrpSpPr/>
            <p:nvPr/>
          </p:nvGrpSpPr>
          <p:grpSpPr>
            <a:xfrm>
              <a:off x="1637650" y="2946085"/>
              <a:ext cx="4802454" cy="3341100"/>
              <a:chOff x="1637698" y="2946085"/>
              <a:chExt cx="4010400" cy="3341100"/>
            </a:xfrm>
          </p:grpSpPr>
          <p:sp>
            <p:nvSpPr>
              <p:cNvPr id="1070" name="Google Shape;1070;p109"/>
              <p:cNvSpPr/>
              <p:nvPr/>
            </p:nvSpPr>
            <p:spPr>
              <a:xfrm>
                <a:off x="1639466" y="2946085"/>
                <a:ext cx="4008600" cy="33411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071" name="Google Shape;1071;p109"/>
              <p:cNvCxnSpPr/>
              <p:nvPr/>
            </p:nvCxnSpPr>
            <p:spPr>
              <a:xfrm>
                <a:off x="1637698" y="3256223"/>
                <a:ext cx="4010400" cy="0"/>
              </a:xfrm>
              <a:prstGeom prst="straightConnector1">
                <a:avLst/>
              </a:prstGeom>
              <a:noFill/>
              <a:ln cap="flat" cmpd="sng" w="9525">
                <a:solidFill>
                  <a:schemeClr val="dk2"/>
                </a:solidFill>
                <a:prstDash val="solid"/>
                <a:round/>
                <a:headEnd len="med" w="med" type="none"/>
                <a:tailEnd len="med" w="med" type="none"/>
              </a:ln>
            </p:spPr>
          </p:cxnSp>
        </p:grpSp>
        <p:sp>
          <p:nvSpPr>
            <p:cNvPr id="1072" name="Google Shape;1072;p109"/>
            <p:cNvSpPr txBox="1"/>
            <p:nvPr/>
          </p:nvSpPr>
          <p:spPr>
            <a:xfrm>
              <a:off x="1682891" y="3293463"/>
              <a:ext cx="4757100" cy="299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langchain_core.prompts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ChatPromptTemplate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langchain_core.output_parsers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StrOutputParser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langchain_core.runnables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RunnableBranch</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langchain.chat_models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init_chat_model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llm = init_chat_model(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model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"openai:Qwen/Qwen2.5-7B-Instruct"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base_url</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"http://localhost:8000/v1"</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660099"/>
                  </a:solidFill>
                  <a:latin typeface="Consolas"/>
                  <a:ea typeface="Consolas"/>
                  <a:cs typeface="Consolas"/>
                  <a:sym typeface="Consolas"/>
                </a:rPr>
                <a:t>api_key</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"EMPTY"</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billing_chain = ChatPromptTemplate.from_template(</a:t>
              </a:r>
              <a:r>
                <a:rPr lang="en-GB" sz="1000">
                  <a:solidFill>
                    <a:srgbClr val="067D17"/>
                  </a:solidFill>
                  <a:latin typeface="Consolas"/>
                  <a:ea typeface="Consolas"/>
                  <a:cs typeface="Consolas"/>
                  <a:sym typeface="Consolas"/>
                </a:rPr>
                <a:t>"Answer this billing question: {input}"</a:t>
              </a:r>
              <a:r>
                <a:rPr lang="en-GB" sz="1000">
                  <a:solidFill>
                    <a:srgbClr val="080808"/>
                  </a:solidFill>
                  <a:latin typeface="Consolas"/>
                  <a:ea typeface="Consolas"/>
                  <a:cs typeface="Consolas"/>
                  <a:sym typeface="Consolas"/>
                </a:rPr>
                <a:t>) | llm | StrOutputParser()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technical_chain = ChatPromptTemplate.from_template(</a:t>
              </a:r>
              <a:r>
                <a:rPr lang="en-GB" sz="1000">
                  <a:solidFill>
                    <a:srgbClr val="067D17"/>
                  </a:solidFill>
                  <a:latin typeface="Consolas"/>
                  <a:ea typeface="Consolas"/>
                  <a:cs typeface="Consolas"/>
                  <a:sym typeface="Consolas"/>
                </a:rPr>
                <a:t>"Answer this technical question: {input}"</a:t>
              </a:r>
              <a:r>
                <a:rPr lang="en-GB" sz="1000">
                  <a:solidFill>
                    <a:srgbClr val="080808"/>
                  </a:solidFill>
                  <a:latin typeface="Consolas"/>
                  <a:ea typeface="Consolas"/>
                  <a:cs typeface="Consolas"/>
                  <a:sym typeface="Consolas"/>
                </a:rPr>
                <a:t>) | llm | StrOutputParser()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general_chain = ChatPromptTemplate.from_template(</a:t>
              </a:r>
              <a:r>
                <a:rPr lang="en-GB" sz="1000">
                  <a:solidFill>
                    <a:srgbClr val="067D17"/>
                  </a:solidFill>
                  <a:latin typeface="Consolas"/>
                  <a:ea typeface="Consolas"/>
                  <a:cs typeface="Consolas"/>
                  <a:sym typeface="Consolas"/>
                </a:rPr>
                <a:t>"Answer this question: {input}"</a:t>
              </a:r>
              <a:r>
                <a:rPr lang="en-GB" sz="1000">
                  <a:solidFill>
                    <a:srgbClr val="080808"/>
                  </a:solidFill>
                  <a:latin typeface="Consolas"/>
                  <a:ea typeface="Consolas"/>
                  <a:cs typeface="Consolas"/>
                  <a:sym typeface="Consolas"/>
                </a:rPr>
                <a:t>) | llm | StrOutputParser()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033B3"/>
                </a:solidFill>
                <a:latin typeface="Consolas"/>
                <a:ea typeface="Consolas"/>
                <a:cs typeface="Consolas"/>
                <a:sym typeface="Consolas"/>
              </a:endParaRPr>
            </a:p>
          </p:txBody>
        </p:sp>
      </p:grpSp>
      <p:grpSp>
        <p:nvGrpSpPr>
          <p:cNvPr id="1073" name="Google Shape;1073;p109"/>
          <p:cNvGrpSpPr/>
          <p:nvPr/>
        </p:nvGrpSpPr>
        <p:grpSpPr>
          <a:xfrm>
            <a:off x="918475" y="1616818"/>
            <a:ext cx="448950" cy="109200"/>
            <a:chOff x="1769550" y="3049750"/>
            <a:chExt cx="448950" cy="109200"/>
          </a:xfrm>
        </p:grpSpPr>
        <p:sp>
          <p:nvSpPr>
            <p:cNvPr id="1074" name="Google Shape;1074;p109"/>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075" name="Google Shape;1075;p109"/>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076" name="Google Shape;1076;p109"/>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077" name="Google Shape;1077;p1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110"/>
          <p:cNvSpPr txBox="1"/>
          <p:nvPr>
            <p:ph idx="1" type="body"/>
          </p:nvPr>
        </p:nvSpPr>
        <p:spPr>
          <a:xfrm>
            <a:off x="311700" y="1069550"/>
            <a:ext cx="8520600" cy="384900"/>
          </a:xfrm>
          <a:prstGeom prst="rect">
            <a:avLst/>
          </a:prstGeom>
        </p:spPr>
        <p:txBody>
          <a:bodyPr anchorCtr="0" anchor="t" bIns="91425" lIns="91425" spcFirstLastPara="1" rIns="91425" wrap="square" tIns="91425">
            <a:spAutoFit/>
          </a:bodyPr>
          <a:lstStyle/>
          <a:p>
            <a:pPr indent="-292100" lvl="0" marL="457200" marR="0" rtl="0" algn="l">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Example:</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RunnableBranch</a:t>
            </a:r>
            <a:endParaRPr>
              <a:solidFill>
                <a:schemeClr val="dk1"/>
              </a:solidFill>
              <a:latin typeface="Encode Sans"/>
              <a:ea typeface="Encode Sans"/>
              <a:cs typeface="Encode Sans"/>
              <a:sym typeface="Encode Sans"/>
            </a:endParaRPr>
          </a:p>
        </p:txBody>
      </p:sp>
      <p:sp>
        <p:nvSpPr>
          <p:cNvPr id="1083" name="Google Shape;1083;p11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Chain &amp; Runnables (cont) </a:t>
            </a:r>
            <a:endParaRPr>
              <a:solidFill>
                <a:srgbClr val="CE6948"/>
              </a:solidFill>
            </a:endParaRPr>
          </a:p>
        </p:txBody>
      </p:sp>
      <p:sp>
        <p:nvSpPr>
          <p:cNvPr id="1084" name="Google Shape;1084;p11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pSp>
        <p:nvGrpSpPr>
          <p:cNvPr id="1085" name="Google Shape;1085;p110"/>
          <p:cNvGrpSpPr/>
          <p:nvPr/>
        </p:nvGrpSpPr>
        <p:grpSpPr>
          <a:xfrm>
            <a:off x="786550" y="1513150"/>
            <a:ext cx="7883708" cy="1720800"/>
            <a:chOff x="1637650" y="2946085"/>
            <a:chExt cx="4802454" cy="1720800"/>
          </a:xfrm>
        </p:grpSpPr>
        <p:grpSp>
          <p:nvGrpSpPr>
            <p:cNvPr id="1086" name="Google Shape;1086;p110"/>
            <p:cNvGrpSpPr/>
            <p:nvPr/>
          </p:nvGrpSpPr>
          <p:grpSpPr>
            <a:xfrm>
              <a:off x="1637650" y="2946085"/>
              <a:ext cx="4802454" cy="1720800"/>
              <a:chOff x="1637698" y="2946085"/>
              <a:chExt cx="4010400" cy="1720800"/>
            </a:xfrm>
          </p:grpSpPr>
          <p:sp>
            <p:nvSpPr>
              <p:cNvPr id="1087" name="Google Shape;1087;p110"/>
              <p:cNvSpPr/>
              <p:nvPr/>
            </p:nvSpPr>
            <p:spPr>
              <a:xfrm>
                <a:off x="1639461" y="2946085"/>
                <a:ext cx="4008600" cy="1720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088" name="Google Shape;1088;p110"/>
              <p:cNvCxnSpPr/>
              <p:nvPr/>
            </p:nvCxnSpPr>
            <p:spPr>
              <a:xfrm>
                <a:off x="1637698" y="3256223"/>
                <a:ext cx="4010400" cy="0"/>
              </a:xfrm>
              <a:prstGeom prst="straightConnector1">
                <a:avLst/>
              </a:prstGeom>
              <a:noFill/>
              <a:ln cap="flat" cmpd="sng" w="9525">
                <a:solidFill>
                  <a:schemeClr val="dk2"/>
                </a:solidFill>
                <a:prstDash val="solid"/>
                <a:round/>
                <a:headEnd len="med" w="med" type="none"/>
                <a:tailEnd len="med" w="med" type="none"/>
              </a:ln>
            </p:spPr>
          </p:cxnSp>
        </p:grpSp>
        <p:sp>
          <p:nvSpPr>
            <p:cNvPr id="1089" name="Google Shape;1089;p110"/>
            <p:cNvSpPr txBox="1"/>
            <p:nvPr/>
          </p:nvSpPr>
          <p:spPr>
            <a:xfrm>
              <a:off x="1682891" y="3293463"/>
              <a:ext cx="4757100" cy="122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router = RunnableBranch(</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0033B3"/>
                  </a:solidFill>
                  <a:latin typeface="Consolas"/>
                  <a:ea typeface="Consolas"/>
                  <a:cs typeface="Consolas"/>
                  <a:sym typeface="Consolas"/>
                </a:rPr>
                <a:t>lambda </a:t>
              </a:r>
              <a:r>
                <a:rPr lang="en-GB" sz="1000">
                  <a:solidFill>
                    <a:srgbClr val="080808"/>
                  </a:solidFill>
                  <a:latin typeface="Consolas"/>
                  <a:ea typeface="Consolas"/>
                  <a:cs typeface="Consolas"/>
                  <a:sym typeface="Consolas"/>
                </a:rPr>
                <a:t>x: </a:t>
              </a:r>
              <a:r>
                <a:rPr lang="en-GB" sz="1000">
                  <a:solidFill>
                    <a:srgbClr val="067D17"/>
                  </a:solidFill>
                  <a:latin typeface="Consolas"/>
                  <a:ea typeface="Consolas"/>
                  <a:cs typeface="Consolas"/>
                  <a:sym typeface="Consolas"/>
                </a:rPr>
                <a:t>"billing" </a:t>
              </a:r>
              <a:r>
                <a:rPr lang="en-GB" sz="1000">
                  <a:solidFill>
                    <a:srgbClr val="0033B3"/>
                  </a:solidFill>
                  <a:latin typeface="Consolas"/>
                  <a:ea typeface="Consolas"/>
                  <a:cs typeface="Consolas"/>
                  <a:sym typeface="Consolas"/>
                </a:rPr>
                <a:t>in </a:t>
              </a:r>
              <a:r>
                <a:rPr lang="en-GB" sz="1000">
                  <a:solidFill>
                    <a:srgbClr val="080808"/>
                  </a:solidFill>
                  <a:latin typeface="Consolas"/>
                  <a:ea typeface="Consolas"/>
                  <a:cs typeface="Consolas"/>
                  <a:sym typeface="Consolas"/>
                </a:rPr>
                <a:t>x[</a:t>
              </a:r>
              <a:r>
                <a:rPr lang="en-GB" sz="1000">
                  <a:solidFill>
                    <a:srgbClr val="067D17"/>
                  </a:solidFill>
                  <a:latin typeface="Consolas"/>
                  <a:ea typeface="Consolas"/>
                  <a:cs typeface="Consolas"/>
                  <a:sym typeface="Consolas"/>
                </a:rPr>
                <a:t>"input"</a:t>
              </a:r>
              <a:r>
                <a:rPr lang="en-GB" sz="1000">
                  <a:solidFill>
                    <a:srgbClr val="080808"/>
                  </a:solidFill>
                  <a:latin typeface="Consolas"/>
                  <a:ea typeface="Consolas"/>
                  <a:cs typeface="Consolas"/>
                  <a:sym typeface="Consolas"/>
                </a:rPr>
                <a:t>].lower(), billing_chain),</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a:t>
              </a:r>
              <a:r>
                <a:rPr lang="en-GB" sz="1000">
                  <a:solidFill>
                    <a:srgbClr val="0033B3"/>
                  </a:solidFill>
                  <a:latin typeface="Consolas"/>
                  <a:ea typeface="Consolas"/>
                  <a:cs typeface="Consolas"/>
                  <a:sym typeface="Consolas"/>
                </a:rPr>
                <a:t>lambda </a:t>
              </a:r>
              <a:r>
                <a:rPr lang="en-GB" sz="1000">
                  <a:solidFill>
                    <a:srgbClr val="080808"/>
                  </a:solidFill>
                  <a:latin typeface="Consolas"/>
                  <a:ea typeface="Consolas"/>
                  <a:cs typeface="Consolas"/>
                  <a:sym typeface="Consolas"/>
                </a:rPr>
                <a:t>x: </a:t>
              </a:r>
              <a:r>
                <a:rPr lang="en-GB" sz="1000">
                  <a:solidFill>
                    <a:srgbClr val="067D17"/>
                  </a:solidFill>
                  <a:latin typeface="Consolas"/>
                  <a:ea typeface="Consolas"/>
                  <a:cs typeface="Consolas"/>
                  <a:sym typeface="Consolas"/>
                </a:rPr>
                <a:t>"technical" </a:t>
              </a:r>
              <a:r>
                <a:rPr lang="en-GB" sz="1000">
                  <a:solidFill>
                    <a:srgbClr val="0033B3"/>
                  </a:solidFill>
                  <a:latin typeface="Consolas"/>
                  <a:ea typeface="Consolas"/>
                  <a:cs typeface="Consolas"/>
                  <a:sym typeface="Consolas"/>
                </a:rPr>
                <a:t>in </a:t>
              </a:r>
              <a:r>
                <a:rPr lang="en-GB" sz="1000">
                  <a:solidFill>
                    <a:srgbClr val="080808"/>
                  </a:solidFill>
                  <a:latin typeface="Consolas"/>
                  <a:ea typeface="Consolas"/>
                  <a:cs typeface="Consolas"/>
                  <a:sym typeface="Consolas"/>
                </a:rPr>
                <a:t>x[</a:t>
              </a:r>
              <a:r>
                <a:rPr lang="en-GB" sz="1000">
                  <a:solidFill>
                    <a:srgbClr val="067D17"/>
                  </a:solidFill>
                  <a:latin typeface="Consolas"/>
                  <a:ea typeface="Consolas"/>
                  <a:cs typeface="Consolas"/>
                  <a:sym typeface="Consolas"/>
                </a:rPr>
                <a:t>"input"</a:t>
              </a:r>
              <a:r>
                <a:rPr lang="en-GB" sz="1000">
                  <a:solidFill>
                    <a:srgbClr val="080808"/>
                  </a:solidFill>
                  <a:latin typeface="Consolas"/>
                  <a:ea typeface="Consolas"/>
                  <a:cs typeface="Consolas"/>
                  <a:sym typeface="Consolas"/>
                </a:rPr>
                <a:t>].lower(), technical_chain),</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   general_chain,  </a:t>
              </a:r>
              <a:r>
                <a:rPr i="1" lang="en-GB" sz="1000">
                  <a:solidFill>
                    <a:srgbClr val="8C8C8C"/>
                  </a:solidFill>
                  <a:latin typeface="Consolas"/>
                  <a:ea typeface="Consolas"/>
                  <a:cs typeface="Consolas"/>
                  <a:sym typeface="Consolas"/>
                </a:rPr>
                <a:t># default, runs if nothing above matched</a:t>
              </a:r>
              <a:endParaRPr i="1" sz="1000">
                <a:solidFill>
                  <a:srgbClr val="8C8C8C"/>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0080"/>
                  </a:solidFill>
                  <a:latin typeface="Consolas"/>
                  <a:ea typeface="Consolas"/>
                  <a:cs typeface="Consolas"/>
                  <a:sym typeface="Consolas"/>
                </a:rPr>
                <a:t>print</a:t>
              </a:r>
              <a:r>
                <a:rPr lang="en-GB" sz="1000">
                  <a:solidFill>
                    <a:srgbClr val="080808"/>
                  </a:solidFill>
                  <a:latin typeface="Consolas"/>
                  <a:ea typeface="Consolas"/>
                  <a:cs typeface="Consolas"/>
                  <a:sym typeface="Consolas"/>
                </a:rPr>
                <a:t>(router.invoke({</a:t>
              </a:r>
              <a:r>
                <a:rPr lang="en-GB" sz="1000">
                  <a:solidFill>
                    <a:srgbClr val="067D17"/>
                  </a:solidFill>
                  <a:latin typeface="Consolas"/>
                  <a:ea typeface="Consolas"/>
                  <a:cs typeface="Consolas"/>
                  <a:sym typeface="Consolas"/>
                </a:rPr>
                <a:t>"input"</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"My billing invoice is wrong"</a:t>
              </a:r>
              <a:r>
                <a:rPr lang="en-GB" sz="1000">
                  <a:solidFill>
                    <a:srgbClr val="080808"/>
                  </a:solidFill>
                  <a:latin typeface="Consolas"/>
                  <a:ea typeface="Consolas"/>
                  <a:cs typeface="Consolas"/>
                  <a:sym typeface="Consolas"/>
                </a:rPr>
                <a:t>}))  </a:t>
              </a:r>
              <a:r>
                <a:rPr i="1" lang="en-GB" sz="1000">
                  <a:solidFill>
                    <a:srgbClr val="8C8C8C"/>
                  </a:solidFill>
                  <a:latin typeface="Consolas"/>
                  <a:ea typeface="Consolas"/>
                  <a:cs typeface="Consolas"/>
                  <a:sym typeface="Consolas"/>
                </a:rPr>
                <a:t># routes to billing_chain</a:t>
              </a:r>
              <a:endParaRPr sz="1000">
                <a:solidFill>
                  <a:srgbClr val="0033B3"/>
                </a:solidFill>
                <a:latin typeface="Consolas"/>
                <a:ea typeface="Consolas"/>
                <a:cs typeface="Consolas"/>
                <a:sym typeface="Consolas"/>
              </a:endParaRPr>
            </a:p>
          </p:txBody>
        </p:sp>
      </p:grpSp>
      <p:grpSp>
        <p:nvGrpSpPr>
          <p:cNvPr id="1090" name="Google Shape;1090;p110"/>
          <p:cNvGrpSpPr/>
          <p:nvPr/>
        </p:nvGrpSpPr>
        <p:grpSpPr>
          <a:xfrm>
            <a:off x="918475" y="1616818"/>
            <a:ext cx="448950" cy="109200"/>
            <a:chOff x="1769550" y="3049750"/>
            <a:chExt cx="448950" cy="109200"/>
          </a:xfrm>
        </p:grpSpPr>
        <p:sp>
          <p:nvSpPr>
            <p:cNvPr id="1091" name="Google Shape;1091;p110"/>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092" name="Google Shape;1092;p110"/>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093" name="Google Shape;1093;p110"/>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094" name="Google Shape;1094;p1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11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Chain &amp; Runnables (cont) </a:t>
            </a:r>
            <a:endParaRPr>
              <a:solidFill>
                <a:srgbClr val="CE6948"/>
              </a:solidFill>
            </a:endParaRPr>
          </a:p>
        </p:txBody>
      </p:sp>
      <p:sp>
        <p:nvSpPr>
          <p:cNvPr id="1100" name="Google Shape;1100;p11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graphicFrame>
        <p:nvGraphicFramePr>
          <p:cNvPr id="1101" name="Google Shape;1101;p111"/>
          <p:cNvGraphicFramePr/>
          <p:nvPr/>
        </p:nvGraphicFramePr>
        <p:xfrm>
          <a:off x="1131138" y="1069887"/>
          <a:ext cx="3000000" cy="3000000"/>
        </p:xfrm>
        <a:graphic>
          <a:graphicData uri="http://schemas.openxmlformats.org/drawingml/2006/table">
            <a:tbl>
              <a:tblPr>
                <a:noFill/>
                <a:tableStyleId>{72E992ED-6B25-4E48-9C0A-EFB178C94E49}</a:tableStyleId>
              </a:tblPr>
              <a:tblGrid>
                <a:gridCol w="1639525"/>
                <a:gridCol w="2948275"/>
                <a:gridCol w="2293900"/>
              </a:tblGrid>
              <a:tr h="500625">
                <a:tc>
                  <a:txBody>
                    <a:bodyPr/>
                    <a:lstStyle/>
                    <a:p>
                      <a:pPr indent="0" lvl="0" marL="0" rtl="0" algn="l">
                        <a:spcBef>
                          <a:spcPts val="0"/>
                        </a:spcBef>
                        <a:spcAft>
                          <a:spcPts val="0"/>
                        </a:spcAft>
                        <a:buNone/>
                      </a:pPr>
                      <a:r>
                        <a:rPr b="1" lang="en-GB" sz="950">
                          <a:solidFill>
                            <a:srgbClr val="FFFFFF"/>
                          </a:solidFill>
                          <a:latin typeface="Encode Sans"/>
                          <a:ea typeface="Encode Sans"/>
                          <a:cs typeface="Encode Sans"/>
                          <a:sym typeface="Encode Sans"/>
                        </a:rPr>
                        <a:t>Type</a:t>
                      </a:r>
                      <a:endParaRPr sz="95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950">
                          <a:solidFill>
                            <a:srgbClr val="FFFFFF"/>
                          </a:solidFill>
                          <a:latin typeface="Encode Sans"/>
                          <a:ea typeface="Encode Sans"/>
                          <a:cs typeface="Encode Sans"/>
                          <a:sym typeface="Encode Sans"/>
                        </a:rPr>
                        <a:t>When to use it</a:t>
                      </a:r>
                      <a:endParaRPr b="1" sz="95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950">
                          <a:solidFill>
                            <a:srgbClr val="FFFFFF"/>
                          </a:solidFill>
                          <a:latin typeface="Encode Sans"/>
                          <a:ea typeface="Encode Sans"/>
                          <a:cs typeface="Encode Sans"/>
                          <a:sym typeface="Encode Sans"/>
                        </a:rPr>
                        <a:t>Example</a:t>
                      </a:r>
                      <a:endParaRPr b="1" sz="95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r>
              <a:tr h="500625">
                <a:tc>
                  <a:txBody>
                    <a:bodyPr/>
                    <a:lstStyle/>
                    <a:p>
                      <a:pPr indent="0" lvl="0" marL="0" rtl="0" algn="l">
                        <a:lnSpc>
                          <a:spcPct val="115000"/>
                        </a:lnSpc>
                        <a:spcBef>
                          <a:spcPts val="0"/>
                        </a:spcBef>
                        <a:spcAft>
                          <a:spcPts val="0"/>
                        </a:spcAft>
                        <a:buNone/>
                      </a:pPr>
                      <a:r>
                        <a:rPr b="1" lang="en-GB" sz="950">
                          <a:solidFill>
                            <a:srgbClr val="1F1F1F"/>
                          </a:solidFill>
                          <a:latin typeface="Encode Sans"/>
                          <a:ea typeface="Encode Sans"/>
                          <a:cs typeface="Encode Sans"/>
                          <a:sym typeface="Encode Sans"/>
                        </a:rPr>
                        <a:t>RunnableSequence</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The default, most chains are just this</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Format a prompt, call the model, parse the reply into JSON</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500625">
                <a:tc>
                  <a:txBody>
                    <a:bodyPr/>
                    <a:lstStyle/>
                    <a:p>
                      <a:pPr indent="0" lvl="0" marL="0" rtl="0" algn="l">
                        <a:lnSpc>
                          <a:spcPct val="115000"/>
                        </a:lnSpc>
                        <a:spcBef>
                          <a:spcPts val="0"/>
                        </a:spcBef>
                        <a:spcAft>
                          <a:spcPts val="0"/>
                        </a:spcAft>
                        <a:buNone/>
                      </a:pPr>
                      <a:r>
                        <a:rPr b="1" lang="en-GB" sz="950">
                          <a:solidFill>
                            <a:srgbClr val="1F1F1F"/>
                          </a:solidFill>
                          <a:latin typeface="Encode Sans"/>
                          <a:ea typeface="Encode Sans"/>
                          <a:cs typeface="Encode Sans"/>
                          <a:sym typeface="Encode Sans"/>
                        </a:rPr>
                        <a:t>RunnableParallel</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Two or more steps that don't depend on each other's output</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Generate a summary and a sentiment score from the same review at once</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500625">
                <a:tc>
                  <a:txBody>
                    <a:bodyPr/>
                    <a:lstStyle/>
                    <a:p>
                      <a:pPr indent="0" lvl="0" marL="0" rtl="0" algn="l">
                        <a:lnSpc>
                          <a:spcPct val="115000"/>
                        </a:lnSpc>
                        <a:spcBef>
                          <a:spcPts val="0"/>
                        </a:spcBef>
                        <a:spcAft>
                          <a:spcPts val="0"/>
                        </a:spcAft>
                        <a:buNone/>
                      </a:pPr>
                      <a:r>
                        <a:rPr b="1" lang="en-GB" sz="950">
                          <a:solidFill>
                            <a:srgbClr val="1F1F1F"/>
                          </a:solidFill>
                          <a:latin typeface="Encode Sans"/>
                          <a:ea typeface="Encode Sans"/>
                          <a:cs typeface="Encode Sans"/>
                          <a:sym typeface="Encode Sans"/>
                        </a:rPr>
                        <a:t>RunnablePassthrough</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A later step needs the original input alongside something computed from it</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Keep the original support ticket while adding a computed urgency score</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500625">
                <a:tc>
                  <a:txBody>
                    <a:bodyPr/>
                    <a:lstStyle/>
                    <a:p>
                      <a:pPr indent="0" lvl="0" marL="0" rtl="0" algn="l">
                        <a:lnSpc>
                          <a:spcPct val="115000"/>
                        </a:lnSpc>
                        <a:spcBef>
                          <a:spcPts val="0"/>
                        </a:spcBef>
                        <a:spcAft>
                          <a:spcPts val="0"/>
                        </a:spcAft>
                        <a:buNone/>
                      </a:pPr>
                      <a:r>
                        <a:rPr b="1" lang="en-GB" sz="950">
                          <a:solidFill>
                            <a:srgbClr val="1F1F1F"/>
                          </a:solidFill>
                          <a:latin typeface="Encode Sans"/>
                          <a:ea typeface="Encode Sans"/>
                          <a:cs typeface="Encode Sans"/>
                          <a:sym typeface="Encode Sans"/>
                        </a:rPr>
                        <a:t>RunnableLambda</a:t>
                      </a:r>
                      <a:endParaRPr b="1"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Custom logic that isn't a model, prompt, or parser</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Word-count or </a:t>
                      </a:r>
                      <a:r>
                        <a:rPr lang="en-GB" sz="950">
                          <a:solidFill>
                            <a:srgbClr val="1F1F1F"/>
                          </a:solidFill>
                          <a:latin typeface="Encode Sans"/>
                          <a:ea typeface="Encode Sans"/>
                          <a:cs typeface="Encode Sans"/>
                          <a:sym typeface="Encode Sans"/>
                        </a:rPr>
                        <a:t>profanity-check </a:t>
                      </a:r>
                      <a:r>
                        <a:rPr lang="en-GB" sz="950">
                          <a:solidFill>
                            <a:srgbClr val="1F1F1F"/>
                          </a:solidFill>
                          <a:latin typeface="Encode Sans"/>
                          <a:ea typeface="Encode Sans"/>
                          <a:cs typeface="Encode Sans"/>
                          <a:sym typeface="Encode Sans"/>
                        </a:rPr>
                        <a:t>a message before it reaches the model, Logging, Reshaping, etc.</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500625">
                <a:tc>
                  <a:txBody>
                    <a:bodyPr/>
                    <a:lstStyle/>
                    <a:p>
                      <a:pPr indent="0" lvl="0" marL="0" rtl="0" algn="l">
                        <a:lnSpc>
                          <a:spcPct val="115000"/>
                        </a:lnSpc>
                        <a:spcBef>
                          <a:spcPts val="0"/>
                        </a:spcBef>
                        <a:spcAft>
                          <a:spcPts val="0"/>
                        </a:spcAft>
                        <a:buNone/>
                      </a:pPr>
                      <a:r>
                        <a:rPr b="1" lang="en-GB" sz="950">
                          <a:solidFill>
                            <a:srgbClr val="1F1F1F"/>
                          </a:solidFill>
                          <a:latin typeface="Encode Sans"/>
                          <a:ea typeface="Encode Sans"/>
                          <a:cs typeface="Encode Sans"/>
                          <a:sym typeface="Encode Sans"/>
                        </a:rPr>
                        <a:t>RunnableBranch</a:t>
                      </a:r>
                      <a:endParaRPr b="1"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The next step depends on what the input actually is, not just a transformation of it</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Route a support ticket to a billing chain or a technical chain based on keywords</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bl>
          </a:graphicData>
        </a:graphic>
      </p:graphicFrame>
      <p:sp>
        <p:nvSpPr>
          <p:cNvPr id="1102" name="Google Shape;1102;p1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12"/>
          <p:cNvSpPr txBox="1"/>
          <p:nvPr>
            <p:ph idx="1" type="body"/>
          </p:nvPr>
        </p:nvSpPr>
        <p:spPr>
          <a:xfrm>
            <a:off x="311700" y="1069550"/>
            <a:ext cx="3925200" cy="2465700"/>
          </a:xfrm>
          <a:prstGeom prst="rect">
            <a:avLst/>
          </a:prstGeom>
        </p:spPr>
        <p:txBody>
          <a:bodyPr anchorCtr="0" anchor="t" bIns="91425" lIns="91425" spcFirstLastPara="1" rIns="91425" wrap="square" tIns="91425">
            <a:spAutoFit/>
          </a:bodyPr>
          <a:lstStyle/>
          <a:p>
            <a:pPr indent="-292100" lvl="0" marL="457200" marR="0" rtl="0" algn="l">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This code builds a workflow for </a:t>
            </a:r>
            <a:r>
              <a:rPr b="1" lang="en-GB">
                <a:solidFill>
                  <a:srgbClr val="CE6948"/>
                </a:solidFill>
                <a:latin typeface="Encode Sans"/>
                <a:ea typeface="Encode Sans"/>
                <a:cs typeface="Encode Sans"/>
                <a:sym typeface="Encode Sans"/>
              </a:rPr>
              <a:t>Customer Sentimental Analysis and Reply</a:t>
            </a:r>
            <a:r>
              <a:rPr lang="en-GB">
                <a:solidFill>
                  <a:schemeClr val="dk1"/>
                </a:solidFill>
                <a:latin typeface="Encode Sans"/>
                <a:ea typeface="Encode Sans"/>
                <a:cs typeface="Encode Sans"/>
                <a:sym typeface="Encode Sans"/>
              </a:rPr>
              <a:t> that:</a:t>
            </a:r>
            <a:endParaRPr>
              <a:solidFill>
                <a:schemeClr val="dk1"/>
              </a:solidFill>
              <a:latin typeface="Encode Sans"/>
              <a:ea typeface="Encode Sans"/>
              <a:cs typeface="Encode Sans"/>
              <a:sym typeface="Encode Sans"/>
            </a:endParaRPr>
          </a:p>
          <a:p>
            <a:pPr indent="-206375" lvl="1" marL="571500" marR="0" rtl="0" algn="l">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takes in a customer review</a:t>
            </a:r>
            <a:endParaRPr>
              <a:solidFill>
                <a:schemeClr val="dk1"/>
              </a:solidFill>
              <a:latin typeface="Encode Sans"/>
              <a:ea typeface="Encode Sans"/>
              <a:cs typeface="Encode Sans"/>
              <a:sym typeface="Encode Sans"/>
            </a:endParaRPr>
          </a:p>
          <a:p>
            <a:pPr indent="-206375" lvl="1" marL="571500" marR="0" rtl="0" algn="l">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analyzes it into structured fields (sentiment, main issue)</a:t>
            </a:r>
            <a:endParaRPr>
              <a:solidFill>
                <a:schemeClr val="dk1"/>
              </a:solidFill>
              <a:latin typeface="Encode Sans"/>
              <a:ea typeface="Encode Sans"/>
              <a:cs typeface="Encode Sans"/>
              <a:sym typeface="Encode Sans"/>
            </a:endParaRPr>
          </a:p>
          <a:p>
            <a:pPr indent="-206375" lvl="1" marL="571500" marR="0" rtl="0" algn="l">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drafts a short, empathetic reply informed by that analysis</a:t>
            </a:r>
            <a:endParaRPr>
              <a:solidFill>
                <a:schemeClr val="dk1"/>
              </a:solidFill>
              <a:latin typeface="Encode Sans"/>
              <a:ea typeface="Encode Sans"/>
              <a:cs typeface="Encode Sans"/>
              <a:sym typeface="Encode Sans"/>
            </a:endParaRPr>
          </a:p>
          <a:p>
            <a:pPr indent="-206375" lvl="1" marL="571500" marR="0" rtl="0" algn="l">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prints the final reply</a:t>
            </a:r>
            <a:endParaRPr>
              <a:solidFill>
                <a:schemeClr val="dk1"/>
              </a:solidFill>
              <a:latin typeface="Encode Sans"/>
              <a:ea typeface="Encode Sans"/>
              <a:cs typeface="Encode Sans"/>
              <a:sym typeface="Encode Sans"/>
            </a:endParaRPr>
          </a:p>
          <a:p>
            <a:pPr indent="-292100" lvl="0" marL="457200" marR="0" rtl="0" algn="l">
              <a:lnSpc>
                <a:spcPct val="130000"/>
              </a:lnSpc>
              <a:spcBef>
                <a:spcPts val="0"/>
              </a:spcBef>
              <a:spcAft>
                <a:spcPts val="0"/>
              </a:spcAft>
              <a:buClr>
                <a:srgbClr val="D97757"/>
              </a:buClr>
              <a:buSzPts val="1000"/>
              <a:buFont typeface="Encode Sans"/>
              <a:buChar char="●"/>
            </a:pPr>
            <a:r>
              <a:rPr lang="en-GB" u="sng">
                <a:solidFill>
                  <a:schemeClr val="hlink"/>
                </a:solidFill>
                <a:latin typeface="Encode Sans"/>
                <a:ea typeface="Encode Sans"/>
                <a:cs typeface="Encode Sans"/>
                <a:sym typeface="Encode Sans"/>
                <a:hlinkClick r:id="rId3"/>
              </a:rPr>
              <a:t>Github Link</a:t>
            </a:r>
            <a:endParaRPr>
              <a:solidFill>
                <a:schemeClr val="dk1"/>
              </a:solidFill>
              <a:latin typeface="Encode Sans"/>
              <a:ea typeface="Encode Sans"/>
              <a:cs typeface="Encode Sans"/>
              <a:sym typeface="Encode Sans"/>
            </a:endParaRPr>
          </a:p>
        </p:txBody>
      </p:sp>
      <p:sp>
        <p:nvSpPr>
          <p:cNvPr id="1108" name="Google Shape;1108;p11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Putting Everything Together</a:t>
            </a:r>
            <a:endParaRPr>
              <a:solidFill>
                <a:srgbClr val="CE6948"/>
              </a:solidFill>
            </a:endParaRPr>
          </a:p>
        </p:txBody>
      </p:sp>
      <p:sp>
        <p:nvSpPr>
          <p:cNvPr id="1109" name="Google Shape;1109;p11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LangChain</a:t>
            </a:r>
            <a:endParaRPr/>
          </a:p>
        </p:txBody>
      </p:sp>
      <p:pic>
        <p:nvPicPr>
          <p:cNvPr id="1110" name="Google Shape;1110;p112"/>
          <p:cNvPicPr preferRelativeResize="0"/>
          <p:nvPr/>
        </p:nvPicPr>
        <p:blipFill>
          <a:blip r:embed="rId4">
            <a:alphaModFix/>
          </a:blip>
          <a:stretch>
            <a:fillRect/>
          </a:stretch>
        </p:blipFill>
        <p:spPr>
          <a:xfrm>
            <a:off x="4425850" y="1184500"/>
            <a:ext cx="4569651" cy="3424999"/>
          </a:xfrm>
          <a:prstGeom prst="rect">
            <a:avLst/>
          </a:prstGeom>
          <a:noFill/>
          <a:ln>
            <a:noFill/>
          </a:ln>
        </p:spPr>
      </p:pic>
      <p:sp>
        <p:nvSpPr>
          <p:cNvPr id="1111" name="Google Shape;1111;p1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113"/>
          <p:cNvSpPr txBox="1"/>
          <p:nvPr>
            <p:ph idx="1" type="body"/>
          </p:nvPr>
        </p:nvSpPr>
        <p:spPr>
          <a:xfrm>
            <a:off x="311700" y="1069550"/>
            <a:ext cx="8520600" cy="1681800"/>
          </a:xfrm>
          <a:prstGeom prst="rect">
            <a:avLst/>
          </a:prstGeom>
        </p:spPr>
        <p:txBody>
          <a:bodyPr anchorCtr="0" anchor="t" bIns="91425" lIns="91425" spcFirstLastPara="1" rIns="91425" wrap="square" tIns="91425">
            <a:spAutoFit/>
          </a:bodyPr>
          <a:lstStyle/>
          <a:p>
            <a:pPr indent="-292100" lvl="0" marL="457200" marR="0" rtl="0" algn="l">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LangGraph </a:t>
            </a:r>
            <a:r>
              <a:rPr lang="en-GB">
                <a:solidFill>
                  <a:schemeClr val="dk1"/>
                </a:solidFill>
                <a:latin typeface="Encode Sans"/>
                <a:ea typeface="Encode Sans"/>
                <a:cs typeface="Encode Sans"/>
                <a:sym typeface="Encode Sans"/>
              </a:rPr>
              <a:t>is a low-level orchestration framework for building stateful, long-running agents and workflows, built by LangChain Inc.</a:t>
            </a:r>
            <a:endParaRPr>
              <a:solidFill>
                <a:schemeClr val="dk1"/>
              </a:solidFill>
              <a:latin typeface="Encode Sans"/>
              <a:ea typeface="Encode Sans"/>
              <a:cs typeface="Encode Sans"/>
              <a:sym typeface="Encode Sans"/>
            </a:endParaRPr>
          </a:p>
          <a:p>
            <a:pPr indent="-292100" lvl="0" marL="457200" marR="0" rtl="0" algn="l">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Why LangGraph?</a:t>
            </a:r>
            <a:endParaRPr b="1">
              <a:solidFill>
                <a:srgbClr val="CE6948"/>
              </a:solidFill>
              <a:latin typeface="Encode Sans"/>
              <a:ea typeface="Encode Sans"/>
              <a:cs typeface="Encode Sans"/>
              <a:sym typeface="Encode Sans"/>
            </a:endParaRPr>
          </a:p>
          <a:p>
            <a:pPr indent="-206375" lvl="1" marL="571500" marR="0" rtl="0" algn="l">
              <a:lnSpc>
                <a:spcPct val="130000"/>
              </a:lnSpc>
              <a:spcBef>
                <a:spcPts val="100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LangGraph </a:t>
            </a:r>
            <a:r>
              <a:rPr lang="en-GB">
                <a:solidFill>
                  <a:schemeClr val="dk1"/>
                </a:solidFill>
                <a:latin typeface="Encode Sans"/>
                <a:ea typeface="Encode Sans"/>
                <a:cs typeface="Encode Sans"/>
                <a:sym typeface="Encode Sans"/>
              </a:rPr>
              <a:t>add </a:t>
            </a:r>
            <a:r>
              <a:rPr b="1" lang="en-GB">
                <a:solidFill>
                  <a:srgbClr val="CE6948"/>
                </a:solidFill>
                <a:latin typeface="Encode Sans"/>
                <a:ea typeface="Encode Sans"/>
                <a:cs typeface="Encode Sans"/>
                <a:sym typeface="Encode Sans"/>
              </a:rPr>
              <a:t>cycles</a:t>
            </a:r>
            <a:r>
              <a:rPr lang="en-GB">
                <a:solidFill>
                  <a:schemeClr val="dk1"/>
                </a:solidFill>
                <a:latin typeface="Encode Sans"/>
                <a:ea typeface="Encode Sans"/>
                <a:cs typeface="Encode Sans"/>
                <a:sym typeface="Encode Sans"/>
              </a:rPr>
              <a:t> (a node can loop back to an earlier node) and </a:t>
            </a:r>
            <a:r>
              <a:rPr b="1" lang="en-GB">
                <a:solidFill>
                  <a:srgbClr val="CE6948"/>
                </a:solidFill>
                <a:latin typeface="Encode Sans"/>
                <a:ea typeface="Encode Sans"/>
                <a:cs typeface="Encode Sans"/>
                <a:sym typeface="Encode Sans"/>
              </a:rPr>
              <a:t>persistence</a:t>
            </a:r>
            <a:r>
              <a:rPr lang="en-GB">
                <a:solidFill>
                  <a:schemeClr val="dk1"/>
                </a:solidFill>
                <a:latin typeface="Encode Sans"/>
                <a:ea typeface="Encode Sans"/>
                <a:cs typeface="Encode Sans"/>
                <a:sym typeface="Encode Sans"/>
              </a:rPr>
              <a:t> (state survives across separate calls, not just within one) that LangChain does not have.</a:t>
            </a:r>
            <a:endParaRPr>
              <a:solidFill>
                <a:schemeClr val="dk1"/>
              </a:solidFill>
              <a:latin typeface="Encode Sans"/>
              <a:ea typeface="Encode Sans"/>
              <a:cs typeface="Encode Sans"/>
              <a:sym typeface="Encode Sans"/>
            </a:endParaRPr>
          </a:p>
        </p:txBody>
      </p:sp>
      <p:sp>
        <p:nvSpPr>
          <p:cNvPr id="1117" name="Google Shape;1117;p113"/>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LangGraph</a:t>
            </a:r>
            <a:endParaRPr>
              <a:solidFill>
                <a:srgbClr val="CE6948"/>
              </a:solidFill>
            </a:endParaRPr>
          </a:p>
        </p:txBody>
      </p:sp>
      <p:sp>
        <p:nvSpPr>
          <p:cNvPr id="1118" name="Google Shape;1118;p113"/>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pic>
        <p:nvPicPr>
          <p:cNvPr id="1119" name="Google Shape;1119;p113"/>
          <p:cNvPicPr preferRelativeResize="0"/>
          <p:nvPr/>
        </p:nvPicPr>
        <p:blipFill rotWithShape="1">
          <a:blip r:embed="rId3">
            <a:alphaModFix/>
          </a:blip>
          <a:srcRect b="9565" l="0" r="2771" t="4958"/>
          <a:stretch/>
        </p:blipFill>
        <p:spPr>
          <a:xfrm>
            <a:off x="2791175" y="2751350"/>
            <a:ext cx="3561649" cy="2086876"/>
          </a:xfrm>
          <a:prstGeom prst="rect">
            <a:avLst/>
          </a:prstGeom>
          <a:noFill/>
          <a:ln>
            <a:noFill/>
          </a:ln>
        </p:spPr>
      </p:pic>
      <p:sp>
        <p:nvSpPr>
          <p:cNvPr id="1120" name="Google Shape;1120;p1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14"/>
          <p:cNvSpPr txBox="1"/>
          <p:nvPr>
            <p:ph idx="1" type="body"/>
          </p:nvPr>
        </p:nvSpPr>
        <p:spPr>
          <a:xfrm>
            <a:off x="311700" y="1069550"/>
            <a:ext cx="8520600" cy="3246300"/>
          </a:xfrm>
          <a:prstGeom prst="rect">
            <a:avLst/>
          </a:prstGeom>
        </p:spPr>
        <p:txBody>
          <a:bodyPr anchorCtr="0" anchor="t" bIns="91425" lIns="91425" spcFirstLastPara="1" rIns="91425" wrap="square" tIns="91425">
            <a:spAutoFit/>
          </a:bodyPr>
          <a:lstStyle/>
          <a:p>
            <a:pPr indent="-292100" lvl="0" marL="457200" marR="0" rtl="0" algn="l">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Every LangGraph application is built from the same handful of pieces, wired together into a graph and then compiled into something runnable.</a:t>
            </a:r>
            <a:endParaRPr>
              <a:solidFill>
                <a:schemeClr val="dk1"/>
              </a:solidFill>
              <a:latin typeface="Encode Sans"/>
              <a:ea typeface="Encode Sans"/>
              <a:cs typeface="Encode Sans"/>
              <a:sym typeface="Encode Sans"/>
            </a:endParaRPr>
          </a:p>
          <a:p>
            <a:pPr indent="-206375" lvl="1" marL="571500" marR="0" rtl="0" algn="l">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State:</a:t>
            </a:r>
            <a:r>
              <a:rPr lang="en-GB">
                <a:solidFill>
                  <a:schemeClr val="dk1"/>
                </a:solidFill>
                <a:latin typeface="Encode Sans"/>
                <a:ea typeface="Encode Sans"/>
                <a:cs typeface="Encode Sans"/>
                <a:sym typeface="Encode Sans"/>
              </a:rPr>
              <a:t> A shared data structure, typically a TypedDict, representing the current snapshot of the application. Every node reads from it and returns updates to it.</a:t>
            </a:r>
            <a:endParaRPr>
              <a:solidFill>
                <a:schemeClr val="dk1"/>
              </a:solidFill>
              <a:latin typeface="Encode Sans"/>
              <a:ea typeface="Encode Sans"/>
              <a:cs typeface="Encode Sans"/>
              <a:sym typeface="Encode Sans"/>
            </a:endParaRPr>
          </a:p>
          <a:p>
            <a:pPr indent="-206375" lvl="1" marL="571500" marR="0" rtl="0" algn="l">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Nodes:</a:t>
            </a:r>
            <a:r>
              <a:rPr lang="en-GB">
                <a:solidFill>
                  <a:schemeClr val="dk1"/>
                </a:solidFill>
                <a:latin typeface="Encode Sans"/>
                <a:ea typeface="Encode Sans"/>
                <a:cs typeface="Encode Sans"/>
                <a:sym typeface="Encode Sans"/>
              </a:rPr>
              <a:t> Plain Python functions that receive the current state and return a partial update. Nodes do the work.</a:t>
            </a:r>
            <a:endParaRPr>
              <a:solidFill>
                <a:schemeClr val="dk1"/>
              </a:solidFill>
              <a:latin typeface="Encode Sans"/>
              <a:ea typeface="Encode Sans"/>
              <a:cs typeface="Encode Sans"/>
              <a:sym typeface="Encode Sans"/>
            </a:endParaRPr>
          </a:p>
          <a:p>
            <a:pPr indent="-206375" lvl="1" marL="571500" marR="0" rtl="0" algn="l">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Edges:</a:t>
            </a:r>
            <a:r>
              <a:rPr lang="en-GB">
                <a:solidFill>
                  <a:schemeClr val="dk1"/>
                </a:solidFill>
                <a:latin typeface="Encode Sans"/>
                <a:ea typeface="Encode Sans"/>
                <a:cs typeface="Encode Sans"/>
                <a:sym typeface="Encode Sans"/>
              </a:rPr>
              <a:t> Connections between nodes that determine what runs next, either fixed or conditional on the current state. Edges decide what happens next.</a:t>
            </a:r>
            <a:endParaRPr>
              <a:solidFill>
                <a:schemeClr val="dk1"/>
              </a:solidFill>
              <a:latin typeface="Encode Sans"/>
              <a:ea typeface="Encode Sans"/>
              <a:cs typeface="Encode Sans"/>
              <a:sym typeface="Encode Sans"/>
            </a:endParaRPr>
          </a:p>
          <a:p>
            <a:pPr indent="-206375" lvl="1" marL="571500" marR="0" rtl="0" algn="l">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Compiled Graph:</a:t>
            </a:r>
            <a:r>
              <a:rPr lang="en-GB">
                <a:solidFill>
                  <a:schemeClr val="dk1"/>
                </a:solidFill>
                <a:latin typeface="Encode Sans"/>
                <a:ea typeface="Encode Sans"/>
                <a:cs typeface="Encode Sans"/>
                <a:sym typeface="Encode Sans"/>
              </a:rPr>
              <a:t> What builder.compile() produces, the actual runnable object, with the same invoke / stream / ainvoke shape as every Runnable from the LangChain lesson.</a:t>
            </a:r>
            <a:endParaRPr>
              <a:solidFill>
                <a:schemeClr val="dk1"/>
              </a:solidFill>
              <a:latin typeface="Encode Sans"/>
              <a:ea typeface="Encode Sans"/>
              <a:cs typeface="Encode Sans"/>
              <a:sym typeface="Encode Sans"/>
            </a:endParaRPr>
          </a:p>
          <a:p>
            <a:pPr indent="-206375" lvl="1" marL="571500" rtl="0" algn="l">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Checkpointer:</a:t>
            </a:r>
            <a:r>
              <a:rPr lang="en-GB">
                <a:solidFill>
                  <a:schemeClr val="dk1"/>
                </a:solidFill>
                <a:latin typeface="Encode Sans"/>
                <a:ea typeface="Encode Sans"/>
                <a:cs typeface="Encode Sans"/>
                <a:sym typeface="Encode Sans"/>
              </a:rPr>
              <a:t> Persists the graph's state after every step, keyed by a thread_id, so a conversation or workflow can pause and resume exactly where it left off.</a:t>
            </a:r>
            <a:endParaRPr>
              <a:solidFill>
                <a:schemeClr val="dk1"/>
              </a:solidFill>
              <a:latin typeface="Encode Sans"/>
              <a:ea typeface="Encode Sans"/>
              <a:cs typeface="Encode Sans"/>
              <a:sym typeface="Encode Sans"/>
            </a:endParaRPr>
          </a:p>
        </p:txBody>
      </p:sp>
      <p:sp>
        <p:nvSpPr>
          <p:cNvPr id="1126" name="Google Shape;1126;p11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Key Components</a:t>
            </a:r>
            <a:endParaRPr>
              <a:solidFill>
                <a:srgbClr val="CE6948"/>
              </a:solidFill>
            </a:endParaRPr>
          </a:p>
        </p:txBody>
      </p:sp>
      <p:sp>
        <p:nvSpPr>
          <p:cNvPr id="1127" name="Google Shape;1127;p11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sp>
        <p:nvSpPr>
          <p:cNvPr id="1128" name="Google Shape;1128;p1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115"/>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Required Package</a:t>
            </a:r>
            <a:endParaRPr>
              <a:solidFill>
                <a:srgbClr val="CE6948"/>
              </a:solidFill>
            </a:endParaRPr>
          </a:p>
        </p:txBody>
      </p:sp>
      <p:sp>
        <p:nvSpPr>
          <p:cNvPr id="1134" name="Google Shape;1134;p115"/>
          <p:cNvSpPr txBox="1"/>
          <p:nvPr>
            <p:ph idx="1" type="body"/>
          </p:nvPr>
        </p:nvSpPr>
        <p:spPr>
          <a:xfrm>
            <a:off x="311700" y="1069550"/>
            <a:ext cx="8520600" cy="20703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1000"/>
              </a:spcBef>
              <a:spcAft>
                <a:spcPts val="0"/>
              </a:spcAft>
              <a:buClr>
                <a:srgbClr val="CE6948"/>
              </a:buClr>
              <a:buSzPts val="1000"/>
              <a:buFont typeface="Encode Sans"/>
              <a:buChar char="●"/>
            </a:pPr>
            <a:r>
              <a:rPr lang="en-GB">
                <a:solidFill>
                  <a:schemeClr val="dk1"/>
                </a:solidFill>
                <a:latin typeface="Encode Sans"/>
                <a:ea typeface="Encode Sans"/>
                <a:cs typeface="Encode Sans"/>
                <a:sym typeface="Encode Sans"/>
              </a:rPr>
              <a:t>These are the minimum package you need to install to get your LangChain working</a:t>
            </a:r>
            <a:endParaRPr>
              <a:solidFill>
                <a:schemeClr val="dk1"/>
              </a:solidFill>
              <a:latin typeface="Encode Sans"/>
              <a:ea typeface="Encode Sans"/>
              <a:cs typeface="Encode Sans"/>
              <a:sym typeface="Encode Sans"/>
            </a:endParaRPr>
          </a:p>
          <a:p>
            <a:pPr indent="0" lvl="0" marL="0" marR="0" rtl="0" algn="just">
              <a:lnSpc>
                <a:spcPct val="130000"/>
              </a:lnSpc>
              <a:spcBef>
                <a:spcPts val="1000"/>
              </a:spcBef>
              <a:spcAft>
                <a:spcPts val="0"/>
              </a:spcAft>
              <a:buNone/>
            </a:pPr>
            <a:r>
              <a:t/>
            </a:r>
            <a:endParaRPr>
              <a:solidFill>
                <a:schemeClr val="dk1"/>
              </a:solidFill>
              <a:latin typeface="Encode Sans"/>
              <a:ea typeface="Encode Sans"/>
              <a:cs typeface="Encode Sans"/>
              <a:sym typeface="Encode Sans"/>
            </a:endParaRPr>
          </a:p>
          <a:p>
            <a:pPr indent="0" lvl="0" marL="0" marR="0" rtl="0" algn="just">
              <a:lnSpc>
                <a:spcPct val="130000"/>
              </a:lnSpc>
              <a:spcBef>
                <a:spcPts val="1000"/>
              </a:spcBef>
              <a:spcAft>
                <a:spcPts val="0"/>
              </a:spcAft>
              <a:buNone/>
            </a:pPr>
            <a:r>
              <a:t/>
            </a:r>
            <a:endParaRPr>
              <a:solidFill>
                <a:schemeClr val="dk1"/>
              </a:solidFill>
              <a:latin typeface="Encode Sans"/>
              <a:ea typeface="Encode Sans"/>
              <a:cs typeface="Encode Sans"/>
              <a:sym typeface="Encode Sans"/>
            </a:endParaRPr>
          </a:p>
          <a:p>
            <a:pPr indent="0" lvl="0" marL="0" marR="0" rtl="0" algn="just">
              <a:lnSpc>
                <a:spcPct val="130000"/>
              </a:lnSpc>
              <a:spcBef>
                <a:spcPts val="1000"/>
              </a:spcBef>
              <a:spcAft>
                <a:spcPts val="0"/>
              </a:spcAft>
              <a:buNone/>
            </a:pPr>
            <a:r>
              <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langgraph:</a:t>
            </a:r>
            <a:r>
              <a:rPr lang="en-GB">
                <a:solidFill>
                  <a:schemeClr val="dk1"/>
                </a:solidFill>
                <a:latin typeface="Encode Sans"/>
                <a:ea typeface="Encode Sans"/>
                <a:cs typeface="Encode Sans"/>
                <a:sym typeface="Encode Sans"/>
              </a:rPr>
              <a:t> the orchestration framework itself, containing </a:t>
            </a:r>
            <a:r>
              <a:rPr b="1" lang="en-GB">
                <a:solidFill>
                  <a:srgbClr val="CE6948"/>
                </a:solidFill>
                <a:latin typeface="Encode Sans"/>
                <a:ea typeface="Encode Sans"/>
                <a:cs typeface="Encode Sans"/>
                <a:sym typeface="Encode Sans"/>
              </a:rPr>
              <a:t>StateGraph</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MessagesState</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add_messages</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START/END</a:t>
            </a:r>
            <a:r>
              <a:rPr lang="en-GB">
                <a:solidFill>
                  <a:schemeClr val="dk1"/>
                </a:solidFill>
                <a:latin typeface="Encode Sans"/>
                <a:ea typeface="Encode Sans"/>
                <a:cs typeface="Encode Sans"/>
                <a:sym typeface="Encode Sans"/>
              </a:rPr>
              <a:t>, plus</a:t>
            </a:r>
            <a:r>
              <a:rPr b="1" lang="en-GB">
                <a:solidFill>
                  <a:srgbClr val="CE6948"/>
                </a:solidFill>
                <a:latin typeface="Encode Sans"/>
                <a:ea typeface="Encode Sans"/>
                <a:cs typeface="Encode Sans"/>
                <a:sym typeface="Encode Sans"/>
              </a:rPr>
              <a:t> langgraph.checkpoint,</a:t>
            </a:r>
            <a:r>
              <a:rPr lang="en-GB">
                <a:solidFill>
                  <a:schemeClr val="dk1"/>
                </a:solidFill>
                <a:latin typeface="Encode Sans"/>
                <a:ea typeface="Encode Sans"/>
                <a:cs typeface="Encode Sans"/>
                <a:sym typeface="Encode Sans"/>
              </a:rPr>
              <a:t> etc.</a:t>
            </a:r>
            <a:endParaRPr>
              <a:solidFill>
                <a:schemeClr val="dk1"/>
              </a:solidFill>
              <a:latin typeface="Encode Sans"/>
              <a:ea typeface="Encode Sans"/>
              <a:cs typeface="Encode Sans"/>
              <a:sym typeface="Encode Sans"/>
            </a:endParaRPr>
          </a:p>
        </p:txBody>
      </p:sp>
      <p:sp>
        <p:nvSpPr>
          <p:cNvPr id="1135" name="Google Shape;1135;p115"/>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pSp>
        <p:nvGrpSpPr>
          <p:cNvPr id="1136" name="Google Shape;1136;p115"/>
          <p:cNvGrpSpPr/>
          <p:nvPr/>
        </p:nvGrpSpPr>
        <p:grpSpPr>
          <a:xfrm>
            <a:off x="865425" y="1548125"/>
            <a:ext cx="4324715" cy="829500"/>
            <a:chOff x="1637650" y="2946107"/>
            <a:chExt cx="2634451" cy="829500"/>
          </a:xfrm>
        </p:grpSpPr>
        <p:grpSp>
          <p:nvGrpSpPr>
            <p:cNvPr id="1137" name="Google Shape;1137;p115"/>
            <p:cNvGrpSpPr/>
            <p:nvPr/>
          </p:nvGrpSpPr>
          <p:grpSpPr>
            <a:xfrm>
              <a:off x="1637650" y="2946107"/>
              <a:ext cx="2634451" cy="829500"/>
              <a:chOff x="1637698" y="2946107"/>
              <a:chExt cx="2199959" cy="829500"/>
            </a:xfrm>
          </p:grpSpPr>
          <p:sp>
            <p:nvSpPr>
              <p:cNvPr id="1138" name="Google Shape;1138;p115"/>
              <p:cNvSpPr/>
              <p:nvPr/>
            </p:nvSpPr>
            <p:spPr>
              <a:xfrm>
                <a:off x="1638657" y="2946107"/>
                <a:ext cx="2199000" cy="8295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139" name="Google Shape;1139;p115"/>
              <p:cNvCxnSpPr/>
              <p:nvPr/>
            </p:nvCxnSpPr>
            <p:spPr>
              <a:xfrm>
                <a:off x="1637698" y="3256235"/>
                <a:ext cx="2199300" cy="0"/>
              </a:xfrm>
              <a:prstGeom prst="straightConnector1">
                <a:avLst/>
              </a:prstGeom>
              <a:noFill/>
              <a:ln cap="flat" cmpd="sng" w="9525">
                <a:solidFill>
                  <a:schemeClr val="dk2"/>
                </a:solidFill>
                <a:prstDash val="solid"/>
                <a:round/>
                <a:headEnd len="med" w="med" type="none"/>
                <a:tailEnd len="med" w="med" type="none"/>
              </a:ln>
            </p:spPr>
          </p:cxnSp>
        </p:grpSp>
        <p:sp>
          <p:nvSpPr>
            <p:cNvPr id="1140" name="Google Shape;1140;p115"/>
            <p:cNvSpPr txBox="1"/>
            <p:nvPr/>
          </p:nvSpPr>
          <p:spPr>
            <a:xfrm>
              <a:off x="1687335" y="3320082"/>
              <a:ext cx="24699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pip install langgraph langchain langchain-openai</a:t>
              </a:r>
              <a:endParaRPr sz="1000">
                <a:solidFill>
                  <a:srgbClr val="0033B3"/>
                </a:solidFill>
                <a:latin typeface="Consolas"/>
                <a:ea typeface="Consolas"/>
                <a:cs typeface="Consolas"/>
                <a:sym typeface="Consolas"/>
              </a:endParaRPr>
            </a:p>
          </p:txBody>
        </p:sp>
      </p:grpSp>
      <p:grpSp>
        <p:nvGrpSpPr>
          <p:cNvPr id="1141" name="Google Shape;1141;p115"/>
          <p:cNvGrpSpPr/>
          <p:nvPr/>
        </p:nvGrpSpPr>
        <p:grpSpPr>
          <a:xfrm>
            <a:off x="997350" y="1651771"/>
            <a:ext cx="448950" cy="109200"/>
            <a:chOff x="1769550" y="3049750"/>
            <a:chExt cx="448950" cy="109200"/>
          </a:xfrm>
        </p:grpSpPr>
        <p:sp>
          <p:nvSpPr>
            <p:cNvPr id="1142" name="Google Shape;1142;p115"/>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143" name="Google Shape;1143;p115"/>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144" name="Google Shape;1144;p115"/>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145" name="Google Shape;1145;p1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16"/>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Initializing a Graph</a:t>
            </a:r>
            <a:endParaRPr>
              <a:solidFill>
                <a:srgbClr val="CE6948"/>
              </a:solidFill>
            </a:endParaRPr>
          </a:p>
        </p:txBody>
      </p:sp>
      <p:sp>
        <p:nvSpPr>
          <p:cNvPr id="1151" name="Google Shape;1151;p116"/>
          <p:cNvSpPr txBox="1"/>
          <p:nvPr>
            <p:ph idx="1" type="body"/>
          </p:nvPr>
        </p:nvSpPr>
        <p:spPr>
          <a:xfrm>
            <a:off x="311700" y="1069550"/>
            <a:ext cx="8520600" cy="6450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1000"/>
              </a:spcBef>
              <a:spcAft>
                <a:spcPts val="1000"/>
              </a:spcAft>
              <a:buClr>
                <a:srgbClr val="CE6948"/>
              </a:buClr>
              <a:buSzPts val="1000"/>
              <a:buFont typeface="Encode Sans"/>
              <a:buChar char="●"/>
            </a:pPr>
            <a:r>
              <a:rPr b="1" lang="en-GB">
                <a:solidFill>
                  <a:srgbClr val="CE6948"/>
                </a:solidFill>
                <a:latin typeface="Encode Sans"/>
                <a:ea typeface="Encode Sans"/>
                <a:cs typeface="Encode Sans"/>
                <a:sym typeface="Encode Sans"/>
              </a:rPr>
              <a:t>StateGraph(State)</a:t>
            </a:r>
            <a:r>
              <a:rPr lang="en-GB">
                <a:solidFill>
                  <a:schemeClr val="dk1"/>
                </a:solidFill>
                <a:latin typeface="Encode Sans"/>
                <a:ea typeface="Encode Sans"/>
                <a:cs typeface="Encode Sans"/>
                <a:sym typeface="Encode Sans"/>
              </a:rPr>
              <a:t> is where a graph starts, pass it your state schema, and it returns a builder, an object you assemble nodes and edges onto before anything can run.</a:t>
            </a:r>
            <a:endParaRPr>
              <a:solidFill>
                <a:schemeClr val="dk1"/>
              </a:solidFill>
              <a:latin typeface="Encode Sans"/>
              <a:ea typeface="Encode Sans"/>
              <a:cs typeface="Encode Sans"/>
              <a:sym typeface="Encode Sans"/>
            </a:endParaRPr>
          </a:p>
        </p:txBody>
      </p:sp>
      <p:sp>
        <p:nvSpPr>
          <p:cNvPr id="1152" name="Google Shape;1152;p116"/>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pSp>
        <p:nvGrpSpPr>
          <p:cNvPr id="1153" name="Google Shape;1153;p116"/>
          <p:cNvGrpSpPr/>
          <p:nvPr/>
        </p:nvGrpSpPr>
        <p:grpSpPr>
          <a:xfrm>
            <a:off x="865425" y="1776725"/>
            <a:ext cx="4324704" cy="2128800"/>
            <a:chOff x="1637650" y="2946107"/>
            <a:chExt cx="2634445" cy="2128800"/>
          </a:xfrm>
        </p:grpSpPr>
        <p:grpSp>
          <p:nvGrpSpPr>
            <p:cNvPr id="1154" name="Google Shape;1154;p116"/>
            <p:cNvGrpSpPr/>
            <p:nvPr/>
          </p:nvGrpSpPr>
          <p:grpSpPr>
            <a:xfrm>
              <a:off x="1637650" y="2946107"/>
              <a:ext cx="2634445" cy="2128800"/>
              <a:chOff x="1637698" y="2946107"/>
              <a:chExt cx="2199954" cy="2128800"/>
            </a:xfrm>
          </p:grpSpPr>
          <p:sp>
            <p:nvSpPr>
              <p:cNvPr id="1155" name="Google Shape;1155;p116"/>
              <p:cNvSpPr/>
              <p:nvPr/>
            </p:nvSpPr>
            <p:spPr>
              <a:xfrm>
                <a:off x="1638652" y="2946107"/>
                <a:ext cx="2199000" cy="2128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156" name="Google Shape;1156;p116"/>
              <p:cNvCxnSpPr/>
              <p:nvPr/>
            </p:nvCxnSpPr>
            <p:spPr>
              <a:xfrm>
                <a:off x="1637698" y="3256235"/>
                <a:ext cx="2199300" cy="0"/>
              </a:xfrm>
              <a:prstGeom prst="straightConnector1">
                <a:avLst/>
              </a:prstGeom>
              <a:noFill/>
              <a:ln cap="flat" cmpd="sng" w="9525">
                <a:solidFill>
                  <a:schemeClr val="dk2"/>
                </a:solidFill>
                <a:prstDash val="solid"/>
                <a:round/>
                <a:headEnd len="med" w="med" type="none"/>
                <a:tailEnd len="med" w="med" type="none"/>
              </a:ln>
            </p:spPr>
          </p:cxnSp>
        </p:grpSp>
        <p:sp>
          <p:nvSpPr>
            <p:cNvPr id="1157" name="Google Shape;1157;p116"/>
            <p:cNvSpPr txBox="1"/>
            <p:nvPr/>
          </p:nvSpPr>
          <p:spPr>
            <a:xfrm>
              <a:off x="1687335" y="3320082"/>
              <a:ext cx="2469900" cy="175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langgraph.graph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StateGraph</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typing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TypedDict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class </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(TypedDict):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name: </a:t>
              </a:r>
              <a:r>
                <a:rPr lang="en-GB" sz="1000">
                  <a:solidFill>
                    <a:schemeClr val="dk1"/>
                  </a:solidFill>
                  <a:latin typeface="Consolas"/>
                  <a:ea typeface="Consolas"/>
                  <a:cs typeface="Consolas"/>
                  <a:sym typeface="Consolas"/>
                </a:rPr>
                <a:t>str</a:t>
              </a:r>
              <a:endParaRPr sz="10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chemeClr val="dk1"/>
                  </a:solidFill>
                  <a:latin typeface="Consolas"/>
                  <a:ea typeface="Consolas"/>
                  <a:cs typeface="Consolas"/>
                  <a:sym typeface="Consolas"/>
                </a:rPr>
                <a:t>   </a:t>
              </a:r>
              <a:r>
                <a:rPr lang="en-GB" sz="1000">
                  <a:solidFill>
                    <a:srgbClr val="080808"/>
                  </a:solidFill>
                  <a:latin typeface="Consolas"/>
                  <a:ea typeface="Consolas"/>
                  <a:cs typeface="Consolas"/>
                  <a:sym typeface="Consolas"/>
                </a:rPr>
                <a:t>greeting: </a:t>
              </a:r>
              <a:r>
                <a:rPr lang="en-GB" sz="1000">
                  <a:solidFill>
                    <a:schemeClr val="dk1"/>
                  </a:solidFill>
                  <a:latin typeface="Consolas"/>
                  <a:ea typeface="Consolas"/>
                  <a:cs typeface="Consolas"/>
                  <a:sym typeface="Consolas"/>
                </a:rPr>
                <a:t>str</a:t>
              </a:r>
              <a:endParaRPr sz="10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builder = StateGraph(State)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033B3"/>
                </a:solidFill>
                <a:latin typeface="Consolas"/>
                <a:ea typeface="Consolas"/>
                <a:cs typeface="Consolas"/>
                <a:sym typeface="Consolas"/>
              </a:endParaRPr>
            </a:p>
          </p:txBody>
        </p:sp>
      </p:grpSp>
      <p:grpSp>
        <p:nvGrpSpPr>
          <p:cNvPr id="1158" name="Google Shape;1158;p116"/>
          <p:cNvGrpSpPr/>
          <p:nvPr/>
        </p:nvGrpSpPr>
        <p:grpSpPr>
          <a:xfrm>
            <a:off x="997350" y="1880371"/>
            <a:ext cx="448950" cy="109200"/>
            <a:chOff x="1769550" y="3049750"/>
            <a:chExt cx="448950" cy="109200"/>
          </a:xfrm>
        </p:grpSpPr>
        <p:sp>
          <p:nvSpPr>
            <p:cNvPr id="1159" name="Google Shape;1159;p116"/>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160" name="Google Shape;1160;p116"/>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161" name="Google Shape;1161;p116"/>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162" name="Google Shape;1162;p1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11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Nodes &amp; Edges</a:t>
            </a:r>
            <a:endParaRPr>
              <a:solidFill>
                <a:srgbClr val="CE6948"/>
              </a:solidFill>
            </a:endParaRPr>
          </a:p>
        </p:txBody>
      </p:sp>
      <p:sp>
        <p:nvSpPr>
          <p:cNvPr id="1168" name="Google Shape;1168;p117"/>
          <p:cNvSpPr txBox="1"/>
          <p:nvPr>
            <p:ph idx="1" type="body"/>
          </p:nvPr>
        </p:nvSpPr>
        <p:spPr>
          <a:xfrm>
            <a:off x="311700" y="1069550"/>
            <a:ext cx="8520600" cy="3849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1000"/>
              </a:spcBef>
              <a:spcAft>
                <a:spcPts val="1000"/>
              </a:spcAft>
              <a:buClr>
                <a:srgbClr val="CE6948"/>
              </a:buClr>
              <a:buSzPts val="1000"/>
              <a:buFont typeface="Encode Sans"/>
              <a:buChar char="●"/>
            </a:pPr>
            <a:r>
              <a:rPr lang="en-GB">
                <a:solidFill>
                  <a:schemeClr val="dk1"/>
                </a:solidFill>
                <a:latin typeface="Encode Sans"/>
                <a:ea typeface="Encode Sans"/>
                <a:cs typeface="Encode Sans"/>
                <a:sym typeface="Encode Sans"/>
              </a:rPr>
              <a:t>A </a:t>
            </a:r>
            <a:r>
              <a:rPr b="1" lang="en-GB">
                <a:solidFill>
                  <a:srgbClr val="CE6948"/>
                </a:solidFill>
                <a:latin typeface="Encode Sans"/>
                <a:ea typeface="Encode Sans"/>
                <a:cs typeface="Encode Sans"/>
                <a:sym typeface="Encode Sans"/>
              </a:rPr>
              <a:t>node</a:t>
            </a:r>
            <a:r>
              <a:rPr lang="en-GB">
                <a:solidFill>
                  <a:schemeClr val="dk1"/>
                </a:solidFill>
                <a:latin typeface="Encode Sans"/>
                <a:ea typeface="Encode Sans"/>
                <a:cs typeface="Encode Sans"/>
                <a:sym typeface="Encode Sans"/>
              </a:rPr>
              <a:t> is a plain Python function. It takes the current state and returns a update.</a:t>
            </a:r>
            <a:endParaRPr>
              <a:solidFill>
                <a:schemeClr val="dk1"/>
              </a:solidFill>
              <a:latin typeface="Encode Sans"/>
              <a:ea typeface="Encode Sans"/>
              <a:cs typeface="Encode Sans"/>
              <a:sym typeface="Encode Sans"/>
            </a:endParaRPr>
          </a:p>
        </p:txBody>
      </p:sp>
      <p:sp>
        <p:nvSpPr>
          <p:cNvPr id="1169" name="Google Shape;1169;p11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pSp>
        <p:nvGrpSpPr>
          <p:cNvPr id="1170" name="Google Shape;1170;p117"/>
          <p:cNvGrpSpPr/>
          <p:nvPr/>
        </p:nvGrpSpPr>
        <p:grpSpPr>
          <a:xfrm>
            <a:off x="408230" y="1448710"/>
            <a:ext cx="4339457" cy="3181298"/>
            <a:chOff x="1637650" y="2946106"/>
            <a:chExt cx="2643432" cy="3595500"/>
          </a:xfrm>
        </p:grpSpPr>
        <p:grpSp>
          <p:nvGrpSpPr>
            <p:cNvPr id="1171" name="Google Shape;1171;p117"/>
            <p:cNvGrpSpPr/>
            <p:nvPr/>
          </p:nvGrpSpPr>
          <p:grpSpPr>
            <a:xfrm>
              <a:off x="1637650" y="2946106"/>
              <a:ext cx="2643432" cy="3595500"/>
              <a:chOff x="1637698" y="2946106"/>
              <a:chExt cx="2207459" cy="3595500"/>
            </a:xfrm>
          </p:grpSpPr>
          <p:sp>
            <p:nvSpPr>
              <p:cNvPr id="1172" name="Google Shape;1172;p117"/>
              <p:cNvSpPr/>
              <p:nvPr/>
            </p:nvSpPr>
            <p:spPr>
              <a:xfrm>
                <a:off x="1638657" y="2946106"/>
                <a:ext cx="2206500" cy="35955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173" name="Google Shape;1173;p117"/>
              <p:cNvCxnSpPr/>
              <p:nvPr/>
            </p:nvCxnSpPr>
            <p:spPr>
              <a:xfrm>
                <a:off x="1637698" y="3256235"/>
                <a:ext cx="2206500" cy="0"/>
              </a:xfrm>
              <a:prstGeom prst="straightConnector1">
                <a:avLst/>
              </a:prstGeom>
              <a:noFill/>
              <a:ln cap="flat" cmpd="sng" w="9525">
                <a:solidFill>
                  <a:schemeClr val="dk2"/>
                </a:solidFill>
                <a:prstDash val="solid"/>
                <a:round/>
                <a:headEnd len="med" w="med" type="none"/>
                <a:tailEnd len="med" w="med" type="none"/>
              </a:ln>
            </p:spPr>
          </p:cxnSp>
        </p:grpSp>
        <p:sp>
          <p:nvSpPr>
            <p:cNvPr id="1174" name="Google Shape;1174;p117"/>
            <p:cNvSpPr txBox="1"/>
            <p:nvPr/>
          </p:nvSpPr>
          <p:spPr>
            <a:xfrm>
              <a:off x="1687506" y="3320081"/>
              <a:ext cx="2478000" cy="318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typing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TypedDict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langgraph.graph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StateGraph, START, END</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class </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(TypedDict):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name: </a:t>
              </a:r>
              <a:r>
                <a:rPr lang="en-GB" sz="1000">
                  <a:solidFill>
                    <a:schemeClr val="dk1"/>
                  </a:solidFill>
                  <a:latin typeface="Consolas"/>
                  <a:ea typeface="Consolas"/>
                  <a:cs typeface="Consolas"/>
                  <a:sym typeface="Consolas"/>
                </a:rPr>
                <a:t>str</a:t>
              </a:r>
              <a:endParaRPr sz="10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chemeClr val="dk1"/>
                  </a:solidFill>
                  <a:latin typeface="Consolas"/>
                  <a:ea typeface="Consolas"/>
                  <a:cs typeface="Consolas"/>
                  <a:sym typeface="Consolas"/>
                </a:rPr>
                <a:t>   </a:t>
              </a:r>
              <a:r>
                <a:rPr lang="en-GB" sz="1000">
                  <a:solidFill>
                    <a:srgbClr val="080808"/>
                  </a:solidFill>
                  <a:latin typeface="Consolas"/>
                  <a:ea typeface="Consolas"/>
                  <a:cs typeface="Consolas"/>
                  <a:sym typeface="Consolas"/>
                </a:rPr>
                <a:t>greeting: </a:t>
              </a:r>
              <a:r>
                <a:rPr lang="en-GB" sz="1000">
                  <a:solidFill>
                    <a:schemeClr val="dk1"/>
                  </a:solidFill>
                  <a:latin typeface="Consolas"/>
                  <a:ea typeface="Consolas"/>
                  <a:cs typeface="Consolas"/>
                  <a:sym typeface="Consolas"/>
                </a:rPr>
                <a:t>str</a:t>
              </a:r>
              <a:endParaRPr sz="10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def </a:t>
              </a:r>
              <a:r>
                <a:rPr lang="en-GB" sz="1000">
                  <a:solidFill>
                    <a:srgbClr val="00627A"/>
                  </a:solidFill>
                  <a:latin typeface="Consolas"/>
                  <a:ea typeface="Consolas"/>
                  <a:cs typeface="Consolas"/>
                  <a:sym typeface="Consolas"/>
                </a:rPr>
                <a:t>greet</a:t>
              </a:r>
              <a:r>
                <a:rPr lang="en-GB" sz="1000">
                  <a:solidFill>
                    <a:srgbClr val="080808"/>
                  </a:solidFill>
                  <a:latin typeface="Consolas"/>
                  <a:ea typeface="Consolas"/>
                  <a:cs typeface="Consolas"/>
                  <a:sym typeface="Consolas"/>
                </a:rPr>
                <a:t>(</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 </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 -&gt; </a:t>
              </a:r>
              <a:r>
                <a:rPr lang="en-GB" sz="1000">
                  <a:solidFill>
                    <a:schemeClr val="dk1"/>
                  </a:solidFill>
                  <a:latin typeface="Consolas"/>
                  <a:ea typeface="Consolas"/>
                  <a:cs typeface="Consolas"/>
                  <a:sym typeface="Consolas"/>
                </a:rPr>
                <a:t>dict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0033B3"/>
                  </a:solidFill>
                  <a:latin typeface="Consolas"/>
                  <a:ea typeface="Consolas"/>
                  <a:cs typeface="Consolas"/>
                  <a:sym typeface="Consolas"/>
                </a:rPr>
                <a:t>return </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"greeting"</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f"Hello, </a:t>
              </a:r>
              <a:r>
                <a:rPr lang="en-GB" sz="1000">
                  <a:solidFill>
                    <a:srgbClr val="0037A6"/>
                  </a:solidFill>
                  <a:latin typeface="Consolas"/>
                  <a:ea typeface="Consolas"/>
                  <a:cs typeface="Consolas"/>
                  <a:sym typeface="Consolas"/>
                </a:rPr>
                <a:t>{</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'name'</a:t>
              </a:r>
              <a:r>
                <a:rPr lang="en-GB" sz="1000">
                  <a:solidFill>
                    <a:srgbClr val="080808"/>
                  </a:solidFill>
                  <a:latin typeface="Consolas"/>
                  <a:ea typeface="Consolas"/>
                  <a:cs typeface="Consolas"/>
                  <a:sym typeface="Consolas"/>
                </a:rPr>
                <a:t>]</a:t>
              </a:r>
              <a:r>
                <a:rPr lang="en-GB" sz="1000">
                  <a:solidFill>
                    <a:srgbClr val="0037A6"/>
                  </a:solidFill>
                  <a:latin typeface="Consolas"/>
                  <a:ea typeface="Consolas"/>
                  <a:cs typeface="Consolas"/>
                  <a:sym typeface="Consolas"/>
                </a:rPr>
                <a:t>}</a:t>
              </a:r>
              <a:r>
                <a:rPr lang="en-GB" sz="1000">
                  <a:solidFill>
                    <a:srgbClr val="067D17"/>
                  </a:solidFill>
                  <a:latin typeface="Consolas"/>
                  <a:ea typeface="Consolas"/>
                  <a:cs typeface="Consolas"/>
                  <a:sym typeface="Consolas"/>
                </a:rPr>
                <a: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builder = StateGraph(State)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builder.add_node(</a:t>
              </a:r>
              <a:r>
                <a:rPr lang="en-GB" sz="1000">
                  <a:solidFill>
                    <a:srgbClr val="067D17"/>
                  </a:solidFill>
                  <a:latin typeface="Consolas"/>
                  <a:ea typeface="Consolas"/>
                  <a:cs typeface="Consolas"/>
                  <a:sym typeface="Consolas"/>
                </a:rPr>
                <a:t>"greet"</a:t>
              </a:r>
              <a:r>
                <a:rPr lang="en-GB" sz="1000">
                  <a:solidFill>
                    <a:srgbClr val="080808"/>
                  </a:solidFill>
                  <a:latin typeface="Consolas"/>
                  <a:ea typeface="Consolas"/>
                  <a:cs typeface="Consolas"/>
                  <a:sym typeface="Consolas"/>
                </a:rPr>
                <a:t>, greet)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builder.add_edge(START, </a:t>
              </a:r>
              <a:r>
                <a:rPr lang="en-GB" sz="1000">
                  <a:solidFill>
                    <a:srgbClr val="067D17"/>
                  </a:solidFill>
                  <a:latin typeface="Consolas"/>
                  <a:ea typeface="Consolas"/>
                  <a:cs typeface="Consolas"/>
                  <a:sym typeface="Consolas"/>
                </a:rPr>
                <a:t>"greet"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builder.add_edge(</a:t>
              </a:r>
              <a:r>
                <a:rPr lang="en-GB" sz="1000">
                  <a:solidFill>
                    <a:srgbClr val="067D17"/>
                  </a:solidFill>
                  <a:latin typeface="Consolas"/>
                  <a:ea typeface="Consolas"/>
                  <a:cs typeface="Consolas"/>
                  <a:sym typeface="Consolas"/>
                </a:rPr>
                <a:t>"greet"</a:t>
              </a:r>
              <a:r>
                <a:rPr lang="en-GB" sz="1000">
                  <a:solidFill>
                    <a:srgbClr val="080808"/>
                  </a:solidFill>
                  <a:latin typeface="Consolas"/>
                  <a:ea typeface="Consolas"/>
                  <a:cs typeface="Consolas"/>
                  <a:sym typeface="Consolas"/>
                </a:rPr>
                <a:t>, END)</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033B3"/>
                </a:solidFill>
                <a:latin typeface="Consolas"/>
                <a:ea typeface="Consolas"/>
                <a:cs typeface="Consolas"/>
                <a:sym typeface="Consolas"/>
              </a:endParaRPr>
            </a:p>
          </p:txBody>
        </p:sp>
      </p:grpSp>
      <p:grpSp>
        <p:nvGrpSpPr>
          <p:cNvPr id="1175" name="Google Shape;1175;p117"/>
          <p:cNvGrpSpPr/>
          <p:nvPr/>
        </p:nvGrpSpPr>
        <p:grpSpPr>
          <a:xfrm>
            <a:off x="540150" y="1552297"/>
            <a:ext cx="448950" cy="109200"/>
            <a:chOff x="1769550" y="3049750"/>
            <a:chExt cx="448950" cy="109200"/>
          </a:xfrm>
        </p:grpSpPr>
        <p:sp>
          <p:nvSpPr>
            <p:cNvPr id="1176" name="Google Shape;1176;p117"/>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177" name="Google Shape;1177;p117"/>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178" name="Google Shape;1178;p117"/>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179" name="Google Shape;1179;p117"/>
          <p:cNvSpPr txBox="1"/>
          <p:nvPr>
            <p:ph idx="1" type="body"/>
          </p:nvPr>
        </p:nvSpPr>
        <p:spPr>
          <a:xfrm>
            <a:off x="4812250" y="1552300"/>
            <a:ext cx="3915300" cy="939000"/>
          </a:xfrm>
          <a:prstGeom prst="rect">
            <a:avLst/>
          </a:prstGeom>
        </p:spPr>
        <p:txBody>
          <a:bodyPr anchorCtr="0" anchor="t" bIns="91425" lIns="91425" spcFirstLastPara="1" rIns="91425" wrap="square" tIns="91425">
            <a:spAutoFit/>
          </a:bodyPr>
          <a:lstStyle/>
          <a:p>
            <a:pPr indent="-187325" lvl="1" marL="180000" rtl="0" algn="l">
              <a:lnSpc>
                <a:spcPct val="130000"/>
              </a:lnSpc>
              <a:spcBef>
                <a:spcPts val="0"/>
              </a:spcBef>
              <a:spcAft>
                <a:spcPts val="0"/>
              </a:spcAft>
              <a:buClr>
                <a:srgbClr val="D97757"/>
              </a:buClr>
              <a:buSzPts val="700"/>
              <a:buFont typeface="Encode Sans"/>
              <a:buChar char="○"/>
            </a:pPr>
            <a:r>
              <a:rPr lang="en-GB" sz="1000">
                <a:solidFill>
                  <a:schemeClr val="dk1"/>
                </a:solidFill>
                <a:latin typeface="Encode Sans"/>
                <a:ea typeface="Encode Sans"/>
                <a:cs typeface="Encode Sans"/>
                <a:sym typeface="Encode Sans"/>
              </a:rPr>
              <a:t>a </a:t>
            </a:r>
            <a:r>
              <a:rPr b="1" lang="en-GB" sz="1000">
                <a:solidFill>
                  <a:srgbClr val="CE6948"/>
                </a:solidFill>
                <a:latin typeface="Encode Sans"/>
                <a:ea typeface="Encode Sans"/>
                <a:cs typeface="Encode Sans"/>
                <a:sym typeface="Encode Sans"/>
              </a:rPr>
              <a:t>node</a:t>
            </a:r>
            <a:r>
              <a:rPr lang="en-GB" sz="1000">
                <a:solidFill>
                  <a:schemeClr val="dk1"/>
                </a:solidFill>
                <a:latin typeface="Encode Sans"/>
                <a:ea typeface="Encode Sans"/>
                <a:cs typeface="Encode Sans"/>
                <a:sym typeface="Encode Sans"/>
              </a:rPr>
              <a:t> returns only the keys it changes</a:t>
            </a:r>
            <a:endParaRPr sz="1000">
              <a:solidFill>
                <a:schemeClr val="dk1"/>
              </a:solidFill>
              <a:latin typeface="Encode Sans"/>
              <a:ea typeface="Encode Sans"/>
              <a:cs typeface="Encode Sans"/>
              <a:sym typeface="Encode Sans"/>
            </a:endParaRPr>
          </a:p>
          <a:p>
            <a:pPr indent="-187325" lvl="1" marL="180000" rtl="0" algn="l">
              <a:lnSpc>
                <a:spcPct val="130000"/>
              </a:lnSpc>
              <a:spcBef>
                <a:spcPts val="0"/>
              </a:spcBef>
              <a:spcAft>
                <a:spcPts val="0"/>
              </a:spcAft>
              <a:buClr>
                <a:srgbClr val="D97757"/>
              </a:buClr>
              <a:buSzPts val="700"/>
              <a:buFont typeface="Encode Sans"/>
              <a:buChar char="○"/>
            </a:pPr>
            <a:r>
              <a:rPr b="1" lang="en-GB" sz="1000">
                <a:solidFill>
                  <a:srgbClr val="CE6948"/>
                </a:solidFill>
                <a:latin typeface="Encode Sans"/>
                <a:ea typeface="Encode Sans"/>
                <a:cs typeface="Encode Sans"/>
                <a:sym typeface="Encode Sans"/>
              </a:rPr>
              <a:t>START</a:t>
            </a:r>
            <a:r>
              <a:rPr lang="en-GB" sz="1000">
                <a:solidFill>
                  <a:schemeClr val="dk1"/>
                </a:solidFill>
                <a:latin typeface="Encode Sans"/>
                <a:ea typeface="Encode Sans"/>
                <a:cs typeface="Encode Sans"/>
                <a:sym typeface="Encode Sans"/>
              </a:rPr>
              <a:t> and </a:t>
            </a:r>
            <a:r>
              <a:rPr b="1" lang="en-GB" sz="1000">
                <a:solidFill>
                  <a:srgbClr val="CE6948"/>
                </a:solidFill>
                <a:latin typeface="Encode Sans"/>
                <a:ea typeface="Encode Sans"/>
                <a:cs typeface="Encode Sans"/>
                <a:sym typeface="Encode Sans"/>
              </a:rPr>
              <a:t>END</a:t>
            </a:r>
            <a:r>
              <a:rPr lang="en-GB" sz="1000">
                <a:solidFill>
                  <a:schemeClr val="dk1"/>
                </a:solidFill>
                <a:latin typeface="Encode Sans"/>
                <a:ea typeface="Encode Sans"/>
                <a:cs typeface="Encode Sans"/>
                <a:sym typeface="Encode Sans"/>
              </a:rPr>
              <a:t> are built-in</a:t>
            </a:r>
            <a:endParaRPr sz="1000">
              <a:solidFill>
                <a:schemeClr val="dk1"/>
              </a:solidFill>
              <a:latin typeface="Encode Sans"/>
              <a:ea typeface="Encode Sans"/>
              <a:cs typeface="Encode Sans"/>
              <a:sym typeface="Encode Sans"/>
            </a:endParaRPr>
          </a:p>
          <a:p>
            <a:pPr indent="-187325" lvl="1" marL="180000" rtl="0" algn="l">
              <a:lnSpc>
                <a:spcPct val="130000"/>
              </a:lnSpc>
              <a:spcBef>
                <a:spcPts val="0"/>
              </a:spcBef>
              <a:spcAft>
                <a:spcPts val="0"/>
              </a:spcAft>
              <a:buClr>
                <a:srgbClr val="D97757"/>
              </a:buClr>
              <a:buSzPts val="700"/>
              <a:buFont typeface="Encode Sans"/>
              <a:buChar char="○"/>
            </a:pPr>
            <a:r>
              <a:rPr b="1" lang="en-GB" sz="1000">
                <a:solidFill>
                  <a:srgbClr val="CE6948"/>
                </a:solidFill>
                <a:latin typeface="Encode Sans"/>
                <a:ea typeface="Encode Sans"/>
                <a:cs typeface="Encode Sans"/>
                <a:sym typeface="Encode Sans"/>
              </a:rPr>
              <a:t>add_edge(START, "greet") </a:t>
            </a:r>
            <a:r>
              <a:rPr lang="en-GB" sz="1000">
                <a:solidFill>
                  <a:schemeClr val="dk1"/>
                </a:solidFill>
                <a:latin typeface="Encode Sans"/>
                <a:ea typeface="Encode Sans"/>
                <a:cs typeface="Encode Sans"/>
                <a:sym typeface="Encode Sans"/>
              </a:rPr>
              <a:t>marks where a run begins</a:t>
            </a:r>
            <a:endParaRPr sz="1000">
              <a:solidFill>
                <a:schemeClr val="dk1"/>
              </a:solidFill>
              <a:latin typeface="Encode Sans"/>
              <a:ea typeface="Encode Sans"/>
              <a:cs typeface="Encode Sans"/>
              <a:sym typeface="Encode Sans"/>
            </a:endParaRPr>
          </a:p>
          <a:p>
            <a:pPr indent="-187325" lvl="1" marL="180000" rtl="0" algn="l">
              <a:lnSpc>
                <a:spcPct val="130000"/>
              </a:lnSpc>
              <a:spcBef>
                <a:spcPts val="0"/>
              </a:spcBef>
              <a:spcAft>
                <a:spcPts val="0"/>
              </a:spcAft>
              <a:buClr>
                <a:srgbClr val="D97757"/>
              </a:buClr>
              <a:buSzPts val="700"/>
              <a:buFont typeface="Encode Sans"/>
              <a:buChar char="○"/>
            </a:pPr>
            <a:r>
              <a:rPr b="1" lang="en-GB" sz="1000">
                <a:solidFill>
                  <a:srgbClr val="CE6948"/>
                </a:solidFill>
                <a:latin typeface="Encode Sans"/>
                <a:ea typeface="Encode Sans"/>
                <a:cs typeface="Encode Sans"/>
                <a:sym typeface="Encode Sans"/>
              </a:rPr>
              <a:t>add_edge("greet", END)</a:t>
            </a:r>
            <a:r>
              <a:rPr lang="en-GB" sz="1000">
                <a:solidFill>
                  <a:schemeClr val="dk1"/>
                </a:solidFill>
                <a:latin typeface="Encode Sans"/>
                <a:ea typeface="Encode Sans"/>
                <a:cs typeface="Encode Sans"/>
                <a:sym typeface="Encode Sans"/>
              </a:rPr>
              <a:t> marks where it stops</a:t>
            </a:r>
            <a:endParaRPr sz="1000">
              <a:solidFill>
                <a:schemeClr val="dk1"/>
              </a:solidFill>
              <a:latin typeface="Encode Sans"/>
              <a:ea typeface="Encode Sans"/>
              <a:cs typeface="Encode Sans"/>
              <a:sym typeface="Encode Sans"/>
            </a:endParaRPr>
          </a:p>
        </p:txBody>
      </p:sp>
      <p:pic>
        <p:nvPicPr>
          <p:cNvPr id="1180" name="Google Shape;1180;p117"/>
          <p:cNvPicPr preferRelativeResize="0"/>
          <p:nvPr/>
        </p:nvPicPr>
        <p:blipFill>
          <a:blip r:embed="rId3">
            <a:alphaModFix/>
          </a:blip>
          <a:stretch>
            <a:fillRect/>
          </a:stretch>
        </p:blipFill>
        <p:spPr>
          <a:xfrm>
            <a:off x="6186038" y="2491300"/>
            <a:ext cx="1167725" cy="2476051"/>
          </a:xfrm>
          <a:prstGeom prst="rect">
            <a:avLst/>
          </a:prstGeom>
          <a:noFill/>
          <a:ln>
            <a:noFill/>
          </a:ln>
        </p:spPr>
      </p:pic>
      <p:sp>
        <p:nvSpPr>
          <p:cNvPr id="1181" name="Google Shape;1181;p1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118"/>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Nodes &amp; Edges</a:t>
            </a:r>
            <a:endParaRPr>
              <a:solidFill>
                <a:srgbClr val="CE6948"/>
              </a:solidFill>
            </a:endParaRPr>
          </a:p>
        </p:txBody>
      </p:sp>
      <p:sp>
        <p:nvSpPr>
          <p:cNvPr id="1187" name="Google Shape;1187;p118"/>
          <p:cNvSpPr txBox="1"/>
          <p:nvPr>
            <p:ph idx="1" type="body"/>
          </p:nvPr>
        </p:nvSpPr>
        <p:spPr>
          <a:xfrm>
            <a:off x="311700" y="1069550"/>
            <a:ext cx="8520600" cy="9051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Conditional Edges</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1000"/>
              </a:spcAft>
              <a:buClr>
                <a:srgbClr val="D97757"/>
              </a:buClr>
              <a:buSzPts val="1000"/>
              <a:buFont typeface="Encode Sans"/>
              <a:buChar char="○"/>
            </a:pPr>
            <a:r>
              <a:rPr lang="en-GB">
                <a:solidFill>
                  <a:schemeClr val="dk1"/>
                </a:solidFill>
                <a:latin typeface="Encode Sans"/>
                <a:ea typeface="Encode Sans"/>
                <a:cs typeface="Encode Sans"/>
                <a:sym typeface="Encode Sans"/>
              </a:rPr>
              <a:t>Unlike a normal edge ( </a:t>
            </a:r>
            <a:r>
              <a:rPr b="1" lang="en-GB">
                <a:solidFill>
                  <a:srgbClr val="CE6948"/>
                </a:solidFill>
                <a:latin typeface="Encode Sans"/>
                <a:ea typeface="Encode Sans"/>
                <a:cs typeface="Encode Sans"/>
                <a:sym typeface="Encode Sans"/>
              </a:rPr>
              <a:t>add_edge()</a:t>
            </a:r>
            <a:r>
              <a:rPr lang="en-GB">
                <a:solidFill>
                  <a:schemeClr val="dk1"/>
                </a:solidFill>
                <a:latin typeface="Encode Sans"/>
                <a:ea typeface="Encode Sans"/>
                <a:cs typeface="Encode Sans"/>
                <a:sym typeface="Encode Sans"/>
              </a:rPr>
              <a:t> ), A conditional edge asks a routing function what the state actually contains, then decides, more than one node could run next depending on the input.</a:t>
            </a:r>
            <a:endParaRPr>
              <a:solidFill>
                <a:schemeClr val="dk1"/>
              </a:solidFill>
              <a:latin typeface="Encode Sans"/>
              <a:ea typeface="Encode Sans"/>
              <a:cs typeface="Encode Sans"/>
              <a:sym typeface="Encode Sans"/>
            </a:endParaRPr>
          </a:p>
        </p:txBody>
      </p:sp>
      <p:sp>
        <p:nvSpPr>
          <p:cNvPr id="1188" name="Google Shape;1188;p118"/>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pSp>
        <p:nvGrpSpPr>
          <p:cNvPr id="1189" name="Google Shape;1189;p118"/>
          <p:cNvGrpSpPr/>
          <p:nvPr/>
        </p:nvGrpSpPr>
        <p:grpSpPr>
          <a:xfrm>
            <a:off x="323286" y="1953950"/>
            <a:ext cx="5732444" cy="3013681"/>
            <a:chOff x="1637650" y="2946096"/>
            <a:chExt cx="3491986" cy="3013681"/>
          </a:xfrm>
        </p:grpSpPr>
        <p:grpSp>
          <p:nvGrpSpPr>
            <p:cNvPr id="1190" name="Google Shape;1190;p118"/>
            <p:cNvGrpSpPr/>
            <p:nvPr/>
          </p:nvGrpSpPr>
          <p:grpSpPr>
            <a:xfrm>
              <a:off x="1637650" y="2946096"/>
              <a:ext cx="3491986" cy="2985900"/>
              <a:chOff x="1637698" y="2946096"/>
              <a:chExt cx="2916063" cy="2985900"/>
            </a:xfrm>
          </p:grpSpPr>
          <p:sp>
            <p:nvSpPr>
              <p:cNvPr id="1191" name="Google Shape;1191;p118"/>
              <p:cNvSpPr/>
              <p:nvPr/>
            </p:nvSpPr>
            <p:spPr>
              <a:xfrm>
                <a:off x="1638962" y="2946096"/>
                <a:ext cx="2914800" cy="29859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192" name="Google Shape;1192;p118"/>
              <p:cNvCxnSpPr/>
              <p:nvPr/>
            </p:nvCxnSpPr>
            <p:spPr>
              <a:xfrm>
                <a:off x="1637698" y="3256225"/>
                <a:ext cx="2915100" cy="0"/>
              </a:xfrm>
              <a:prstGeom prst="straightConnector1">
                <a:avLst/>
              </a:prstGeom>
              <a:noFill/>
              <a:ln cap="flat" cmpd="sng" w="9525">
                <a:solidFill>
                  <a:schemeClr val="dk2"/>
                </a:solidFill>
                <a:prstDash val="solid"/>
                <a:round/>
                <a:headEnd len="med" w="med" type="none"/>
                <a:tailEnd len="med" w="med" type="none"/>
              </a:ln>
            </p:spPr>
          </p:cxnSp>
        </p:grpSp>
        <p:sp>
          <p:nvSpPr>
            <p:cNvPr id="1193" name="Google Shape;1193;p118"/>
            <p:cNvSpPr txBox="1"/>
            <p:nvPr/>
          </p:nvSpPr>
          <p:spPr>
            <a:xfrm>
              <a:off x="1703512" y="3320076"/>
              <a:ext cx="3273900" cy="263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def </a:t>
              </a:r>
              <a:r>
                <a:rPr lang="en-GB" sz="1000">
                  <a:solidFill>
                    <a:srgbClr val="00627A"/>
                  </a:solidFill>
                  <a:latin typeface="Consolas"/>
                  <a:ea typeface="Consolas"/>
                  <a:cs typeface="Consolas"/>
                  <a:sym typeface="Consolas"/>
                </a:rPr>
                <a:t>route</a:t>
              </a:r>
              <a:r>
                <a:rPr lang="en-GB" sz="1000">
                  <a:solidFill>
                    <a:srgbClr val="080808"/>
                  </a:solidFill>
                  <a:latin typeface="Consolas"/>
                  <a:ea typeface="Consolas"/>
                  <a:cs typeface="Consolas"/>
                  <a:sym typeface="Consolas"/>
                </a:rPr>
                <a:t>(</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 </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 -&gt; </a:t>
              </a:r>
              <a:r>
                <a:rPr lang="en-GB" sz="1000">
                  <a:solidFill>
                    <a:schemeClr val="dk1"/>
                  </a:solidFill>
                  <a:latin typeface="Consolas"/>
                  <a:ea typeface="Consolas"/>
                  <a:cs typeface="Consolas"/>
                  <a:sym typeface="Consolas"/>
                </a:rPr>
                <a:t>Literal["billing", "general"]</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0033B3"/>
                  </a:solidFill>
                  <a:latin typeface="Consolas"/>
                  <a:ea typeface="Consolas"/>
                  <a:cs typeface="Consolas"/>
                  <a:sym typeface="Consolas"/>
                </a:rPr>
                <a:t>return </a:t>
              </a:r>
              <a:r>
                <a:rPr lang="en-GB" sz="1000">
                  <a:solidFill>
                    <a:srgbClr val="067D17"/>
                  </a:solidFill>
                  <a:latin typeface="Consolas"/>
                  <a:ea typeface="Consolas"/>
                  <a:cs typeface="Consolas"/>
                  <a:sym typeface="Consolas"/>
                </a:rPr>
                <a:t>"billing" </a:t>
              </a:r>
              <a:r>
                <a:rPr lang="en-GB" sz="1000">
                  <a:solidFill>
                    <a:srgbClr val="0033B3"/>
                  </a:solidFill>
                  <a:latin typeface="Consolas"/>
                  <a:ea typeface="Consolas"/>
                  <a:cs typeface="Consolas"/>
                  <a:sym typeface="Consolas"/>
                </a:rPr>
                <a:t>if </a:t>
              </a:r>
              <a:r>
                <a:rPr lang="en-GB" sz="1000">
                  <a:solidFill>
                    <a:srgbClr val="067D17"/>
                  </a:solidFill>
                  <a:latin typeface="Consolas"/>
                  <a:ea typeface="Consolas"/>
                  <a:cs typeface="Consolas"/>
                  <a:sym typeface="Consolas"/>
                </a:rPr>
                <a:t>"billing" </a:t>
              </a:r>
              <a:r>
                <a:rPr lang="en-GB" sz="1000">
                  <a:solidFill>
                    <a:srgbClr val="0033B3"/>
                  </a:solidFill>
                  <a:latin typeface="Consolas"/>
                  <a:ea typeface="Consolas"/>
                  <a:cs typeface="Consolas"/>
                  <a:sym typeface="Consolas"/>
                </a:rPr>
                <a:t>in </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"ticket"</a:t>
              </a:r>
              <a:r>
                <a:rPr lang="en-GB" sz="1000">
                  <a:solidFill>
                    <a:srgbClr val="080808"/>
                  </a:solidFill>
                  <a:latin typeface="Consolas"/>
                  <a:ea typeface="Consolas"/>
                  <a:cs typeface="Consolas"/>
                  <a:sym typeface="Consolas"/>
                </a:rPr>
                <a:t>].lower() </a:t>
              </a:r>
              <a:r>
                <a:rPr lang="en-GB" sz="1000">
                  <a:solidFill>
                    <a:srgbClr val="0033B3"/>
                  </a:solidFill>
                  <a:latin typeface="Consolas"/>
                  <a:ea typeface="Consolas"/>
                  <a:cs typeface="Consolas"/>
                  <a:sym typeface="Consolas"/>
                </a:rPr>
                <a:t>else </a:t>
              </a:r>
              <a:r>
                <a:rPr lang="en-GB" sz="1000">
                  <a:solidFill>
                    <a:srgbClr val="067D17"/>
                  </a:solidFill>
                  <a:latin typeface="Consolas"/>
                  <a:ea typeface="Consolas"/>
                  <a:cs typeface="Consolas"/>
                  <a:sym typeface="Consolas"/>
                </a:rPr>
                <a:t>"general"</a:t>
              </a:r>
              <a:endParaRPr sz="1000">
                <a:solidFill>
                  <a:srgbClr val="067D17"/>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67D17"/>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def </a:t>
              </a:r>
              <a:r>
                <a:rPr lang="en-GB" sz="1000">
                  <a:solidFill>
                    <a:srgbClr val="00627A"/>
                  </a:solidFill>
                  <a:latin typeface="Consolas"/>
                  <a:ea typeface="Consolas"/>
                  <a:cs typeface="Consolas"/>
                  <a:sym typeface="Consolas"/>
                </a:rPr>
                <a:t>billing</a:t>
              </a:r>
              <a:r>
                <a:rPr lang="en-GB" sz="1000">
                  <a:solidFill>
                    <a:srgbClr val="080808"/>
                  </a:solidFill>
                  <a:latin typeface="Consolas"/>
                  <a:ea typeface="Consolas"/>
                  <a:cs typeface="Consolas"/>
                  <a:sym typeface="Consolas"/>
                </a:rPr>
                <a:t>(</a:t>
              </a:r>
              <a:r>
                <a:rPr lang="en-GB" sz="1000">
                  <a:solidFill>
                    <a:srgbClr val="808080"/>
                  </a:solidFill>
                  <a:latin typeface="Consolas"/>
                  <a:ea typeface="Consolas"/>
                  <a:cs typeface="Consolas"/>
                  <a:sym typeface="Consolas"/>
                </a:rPr>
                <a:t>state: State</a:t>
              </a:r>
              <a:r>
                <a:rPr lang="en-GB" sz="1000">
                  <a:solidFill>
                    <a:srgbClr val="080808"/>
                  </a:solidFill>
                  <a:latin typeface="Consolas"/>
                  <a:ea typeface="Consolas"/>
                  <a:cs typeface="Consolas"/>
                  <a:sym typeface="Consolas"/>
                </a:rPr>
                <a:t>) -&gt; </a:t>
              </a:r>
              <a:r>
                <a:rPr lang="en-GB" sz="1000">
                  <a:solidFill>
                    <a:schemeClr val="dk1"/>
                  </a:solidFill>
                  <a:latin typeface="Consolas"/>
                  <a:ea typeface="Consolas"/>
                  <a:cs typeface="Consolas"/>
                  <a:sym typeface="Consolas"/>
                </a:rPr>
                <a:t>dict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0033B3"/>
                  </a:solidFill>
                  <a:latin typeface="Consolas"/>
                  <a:ea typeface="Consolas"/>
                  <a:cs typeface="Consolas"/>
                  <a:sym typeface="Consolas"/>
                </a:rPr>
                <a:t>return </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"ticket"</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"Routed to billing"</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def </a:t>
              </a:r>
              <a:r>
                <a:rPr lang="en-GB" sz="1000">
                  <a:solidFill>
                    <a:srgbClr val="00627A"/>
                  </a:solidFill>
                  <a:latin typeface="Consolas"/>
                  <a:ea typeface="Consolas"/>
                  <a:cs typeface="Consolas"/>
                  <a:sym typeface="Consolas"/>
                </a:rPr>
                <a:t>general</a:t>
              </a:r>
              <a:r>
                <a:rPr lang="en-GB" sz="1000">
                  <a:solidFill>
                    <a:srgbClr val="080808"/>
                  </a:solidFill>
                  <a:latin typeface="Consolas"/>
                  <a:ea typeface="Consolas"/>
                  <a:cs typeface="Consolas"/>
                  <a:sym typeface="Consolas"/>
                </a:rPr>
                <a:t>(</a:t>
              </a:r>
              <a:r>
                <a:rPr lang="en-GB" sz="1000">
                  <a:solidFill>
                    <a:srgbClr val="808080"/>
                  </a:solidFill>
                  <a:latin typeface="Consolas"/>
                  <a:ea typeface="Consolas"/>
                  <a:cs typeface="Consolas"/>
                  <a:sym typeface="Consolas"/>
                </a:rPr>
                <a:t>state: State</a:t>
              </a:r>
              <a:r>
                <a:rPr lang="en-GB" sz="1000">
                  <a:solidFill>
                    <a:srgbClr val="080808"/>
                  </a:solidFill>
                  <a:latin typeface="Consolas"/>
                  <a:ea typeface="Consolas"/>
                  <a:cs typeface="Consolas"/>
                  <a:sym typeface="Consolas"/>
                </a:rPr>
                <a:t>) -&gt; </a:t>
              </a:r>
              <a:r>
                <a:rPr lang="en-GB" sz="1000">
                  <a:solidFill>
                    <a:schemeClr val="dk1"/>
                  </a:solidFill>
                  <a:latin typeface="Consolas"/>
                  <a:ea typeface="Consolas"/>
                  <a:cs typeface="Consolas"/>
                  <a:sym typeface="Consolas"/>
                </a:rPr>
                <a:t>dict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rgbClr val="0033B3"/>
                  </a:solidFill>
                  <a:latin typeface="Consolas"/>
                  <a:ea typeface="Consolas"/>
                  <a:cs typeface="Consolas"/>
                  <a:sym typeface="Consolas"/>
                </a:rPr>
                <a:t>return </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"ticket"</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"Routed to general"</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builder = StateGraph(State)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builder.add_node(</a:t>
              </a:r>
              <a:r>
                <a:rPr lang="en-GB" sz="1000">
                  <a:solidFill>
                    <a:srgbClr val="067D17"/>
                  </a:solidFill>
                  <a:latin typeface="Consolas"/>
                  <a:ea typeface="Consolas"/>
                  <a:cs typeface="Consolas"/>
                  <a:sym typeface="Consolas"/>
                </a:rPr>
                <a:t>"billing"</a:t>
              </a:r>
              <a:r>
                <a:rPr lang="en-GB" sz="1000">
                  <a:solidFill>
                    <a:srgbClr val="080808"/>
                  </a:solidFill>
                  <a:latin typeface="Consolas"/>
                  <a:ea typeface="Consolas"/>
                  <a:cs typeface="Consolas"/>
                  <a:sym typeface="Consolas"/>
                </a:rPr>
                <a:t>, billing)</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builder.add_node(</a:t>
              </a:r>
              <a:r>
                <a:rPr lang="en-GB" sz="1000">
                  <a:solidFill>
                    <a:srgbClr val="067D17"/>
                  </a:solidFill>
                  <a:latin typeface="Consolas"/>
                  <a:ea typeface="Consolas"/>
                  <a:cs typeface="Consolas"/>
                  <a:sym typeface="Consolas"/>
                </a:rPr>
                <a:t>"general"</a:t>
              </a:r>
              <a:r>
                <a:rPr lang="en-GB" sz="1000">
                  <a:solidFill>
                    <a:srgbClr val="080808"/>
                  </a:solidFill>
                  <a:latin typeface="Consolas"/>
                  <a:ea typeface="Consolas"/>
                  <a:cs typeface="Consolas"/>
                  <a:sym typeface="Consolas"/>
                </a:rPr>
                <a:t>, general)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highlight>
                    <a:srgbClr val="FFE599"/>
                  </a:highlight>
                  <a:latin typeface="Consolas"/>
                  <a:ea typeface="Consolas"/>
                  <a:cs typeface="Consolas"/>
                  <a:sym typeface="Consolas"/>
                </a:rPr>
                <a:t>builder.add_conditional_edges(START, route, [</a:t>
              </a:r>
              <a:r>
                <a:rPr lang="en-GB" sz="1000">
                  <a:solidFill>
                    <a:srgbClr val="067D17"/>
                  </a:solidFill>
                  <a:highlight>
                    <a:srgbClr val="FFE599"/>
                  </a:highlight>
                  <a:latin typeface="Consolas"/>
                  <a:ea typeface="Consolas"/>
                  <a:cs typeface="Consolas"/>
                  <a:sym typeface="Consolas"/>
                </a:rPr>
                <a:t>"billing"</a:t>
              </a:r>
              <a:r>
                <a:rPr lang="en-GB" sz="1000">
                  <a:solidFill>
                    <a:srgbClr val="080808"/>
                  </a:solidFill>
                  <a:highlight>
                    <a:srgbClr val="FFE599"/>
                  </a:highlight>
                  <a:latin typeface="Consolas"/>
                  <a:ea typeface="Consolas"/>
                  <a:cs typeface="Consolas"/>
                  <a:sym typeface="Consolas"/>
                </a:rPr>
                <a:t>, </a:t>
              </a:r>
              <a:r>
                <a:rPr lang="en-GB" sz="1000">
                  <a:solidFill>
                    <a:srgbClr val="067D17"/>
                  </a:solidFill>
                  <a:highlight>
                    <a:srgbClr val="FFE599"/>
                  </a:highlight>
                  <a:latin typeface="Consolas"/>
                  <a:ea typeface="Consolas"/>
                  <a:cs typeface="Consolas"/>
                  <a:sym typeface="Consolas"/>
                </a:rPr>
                <a:t>"general"</a:t>
              </a:r>
              <a:r>
                <a:rPr lang="en-GB" sz="1000">
                  <a:solidFill>
                    <a:srgbClr val="080808"/>
                  </a:solidFill>
                  <a:highlight>
                    <a:srgbClr val="FFE599"/>
                  </a:highlight>
                  <a:latin typeface="Consolas"/>
                  <a:ea typeface="Consolas"/>
                  <a:cs typeface="Consolas"/>
                  <a:sym typeface="Consolas"/>
                </a:rPr>
                <a:t>])</a:t>
              </a:r>
              <a:endParaRPr sz="1000">
                <a:solidFill>
                  <a:srgbClr val="080808"/>
                </a:solidFill>
                <a:highlight>
                  <a:srgbClr val="FFE599"/>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builder.add_edge(</a:t>
              </a:r>
              <a:r>
                <a:rPr lang="en-GB" sz="1000">
                  <a:solidFill>
                    <a:srgbClr val="067D17"/>
                  </a:solidFill>
                  <a:latin typeface="Consolas"/>
                  <a:ea typeface="Consolas"/>
                  <a:cs typeface="Consolas"/>
                  <a:sym typeface="Consolas"/>
                </a:rPr>
                <a:t>"billing"</a:t>
              </a:r>
              <a:r>
                <a:rPr lang="en-GB" sz="1000">
                  <a:solidFill>
                    <a:srgbClr val="080808"/>
                  </a:solidFill>
                  <a:latin typeface="Consolas"/>
                  <a:ea typeface="Consolas"/>
                  <a:cs typeface="Consolas"/>
                  <a:sym typeface="Consolas"/>
                </a:rPr>
                <a:t>, END)</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builder.add_edge(</a:t>
              </a:r>
              <a:r>
                <a:rPr lang="en-GB" sz="1000">
                  <a:solidFill>
                    <a:srgbClr val="067D17"/>
                  </a:solidFill>
                  <a:latin typeface="Consolas"/>
                  <a:ea typeface="Consolas"/>
                  <a:cs typeface="Consolas"/>
                  <a:sym typeface="Consolas"/>
                </a:rPr>
                <a:t>"general"</a:t>
              </a:r>
              <a:r>
                <a:rPr lang="en-GB" sz="1000">
                  <a:solidFill>
                    <a:srgbClr val="080808"/>
                  </a:solidFill>
                  <a:latin typeface="Consolas"/>
                  <a:ea typeface="Consolas"/>
                  <a:cs typeface="Consolas"/>
                  <a:sym typeface="Consolas"/>
                </a:rPr>
                <a:t>, END)</a:t>
              </a:r>
              <a:endParaRPr sz="1000">
                <a:solidFill>
                  <a:srgbClr val="0033B3"/>
                </a:solidFill>
                <a:latin typeface="Consolas"/>
                <a:ea typeface="Consolas"/>
                <a:cs typeface="Consolas"/>
                <a:sym typeface="Consolas"/>
              </a:endParaRPr>
            </a:p>
          </p:txBody>
        </p:sp>
      </p:grpSp>
      <p:grpSp>
        <p:nvGrpSpPr>
          <p:cNvPr id="1194" name="Google Shape;1194;p118"/>
          <p:cNvGrpSpPr/>
          <p:nvPr/>
        </p:nvGrpSpPr>
        <p:grpSpPr>
          <a:xfrm>
            <a:off x="455211" y="2057607"/>
            <a:ext cx="448950" cy="109200"/>
            <a:chOff x="1769550" y="3049750"/>
            <a:chExt cx="448950" cy="109200"/>
          </a:xfrm>
        </p:grpSpPr>
        <p:sp>
          <p:nvSpPr>
            <p:cNvPr id="1195" name="Google Shape;1195;p118"/>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196" name="Google Shape;1196;p118"/>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197" name="Google Shape;1197;p118"/>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pic>
        <p:nvPicPr>
          <p:cNvPr id="1198" name="Google Shape;1198;p118"/>
          <p:cNvPicPr preferRelativeResize="0"/>
          <p:nvPr/>
        </p:nvPicPr>
        <p:blipFill>
          <a:blip r:embed="rId3">
            <a:alphaModFix/>
          </a:blip>
          <a:stretch>
            <a:fillRect/>
          </a:stretch>
        </p:blipFill>
        <p:spPr>
          <a:xfrm>
            <a:off x="6460900" y="1953950"/>
            <a:ext cx="1971218" cy="3013675"/>
          </a:xfrm>
          <a:prstGeom prst="rect">
            <a:avLst/>
          </a:prstGeom>
          <a:noFill/>
          <a:ln>
            <a:noFill/>
          </a:ln>
        </p:spPr>
      </p:pic>
      <p:sp>
        <p:nvSpPr>
          <p:cNvPr id="1199" name="Google Shape;1199;p1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119"/>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Nodes &amp; Edges</a:t>
            </a:r>
            <a:endParaRPr>
              <a:solidFill>
                <a:srgbClr val="CE6948"/>
              </a:solidFill>
            </a:endParaRPr>
          </a:p>
        </p:txBody>
      </p:sp>
      <p:sp>
        <p:nvSpPr>
          <p:cNvPr id="1205" name="Google Shape;1205;p119"/>
          <p:cNvSpPr txBox="1"/>
          <p:nvPr>
            <p:ph idx="1" type="body"/>
          </p:nvPr>
        </p:nvSpPr>
        <p:spPr>
          <a:xfrm>
            <a:off x="311700" y="1069550"/>
            <a:ext cx="8520600" cy="9051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Conditional Edges</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1000"/>
              </a:spcAft>
              <a:buClr>
                <a:srgbClr val="D97757"/>
              </a:buClr>
              <a:buSzPts val="1000"/>
              <a:buFont typeface="Encode Sans"/>
              <a:buChar char="○"/>
            </a:pPr>
            <a:r>
              <a:rPr b="1" lang="en-GB">
                <a:solidFill>
                  <a:srgbClr val="CE6948"/>
                </a:solidFill>
                <a:latin typeface="Encode Sans"/>
                <a:ea typeface="Encode Sans"/>
                <a:cs typeface="Encode Sans"/>
                <a:sym typeface="Encode Sans"/>
              </a:rPr>
              <a:t>Command</a:t>
            </a:r>
            <a:r>
              <a:rPr lang="en-GB">
                <a:solidFill>
                  <a:schemeClr val="dk1"/>
                </a:solidFill>
                <a:latin typeface="Encode Sans"/>
                <a:ea typeface="Encode Sans"/>
                <a:cs typeface="Encode Sans"/>
                <a:sym typeface="Encode Sans"/>
              </a:rPr>
              <a:t> is a newer alternative, it lets a node return a state update and the next node to route to in one return value, instead of a separate node plus a separate routing function.</a:t>
            </a:r>
            <a:endParaRPr>
              <a:solidFill>
                <a:schemeClr val="dk1"/>
              </a:solidFill>
              <a:latin typeface="Encode Sans"/>
              <a:ea typeface="Encode Sans"/>
              <a:cs typeface="Encode Sans"/>
              <a:sym typeface="Encode Sans"/>
            </a:endParaRPr>
          </a:p>
        </p:txBody>
      </p:sp>
      <p:sp>
        <p:nvSpPr>
          <p:cNvPr id="1206" name="Google Shape;1206;p119"/>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pSp>
        <p:nvGrpSpPr>
          <p:cNvPr id="1207" name="Google Shape;1207;p119"/>
          <p:cNvGrpSpPr/>
          <p:nvPr/>
        </p:nvGrpSpPr>
        <p:grpSpPr>
          <a:xfrm>
            <a:off x="551874" y="2030150"/>
            <a:ext cx="6444584" cy="1988700"/>
            <a:chOff x="1637642" y="2946096"/>
            <a:chExt cx="3925794" cy="1988700"/>
          </a:xfrm>
        </p:grpSpPr>
        <p:grpSp>
          <p:nvGrpSpPr>
            <p:cNvPr id="1208" name="Google Shape;1208;p119"/>
            <p:cNvGrpSpPr/>
            <p:nvPr/>
          </p:nvGrpSpPr>
          <p:grpSpPr>
            <a:xfrm>
              <a:off x="1637642" y="2946096"/>
              <a:ext cx="3925794" cy="1988700"/>
              <a:chOff x="1637692" y="2946096"/>
              <a:chExt cx="3278325" cy="1988700"/>
            </a:xfrm>
          </p:grpSpPr>
          <p:sp>
            <p:nvSpPr>
              <p:cNvPr id="1209" name="Google Shape;1209;p119"/>
              <p:cNvSpPr/>
              <p:nvPr/>
            </p:nvSpPr>
            <p:spPr>
              <a:xfrm>
                <a:off x="1639117" y="2946096"/>
                <a:ext cx="3276900" cy="19887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210" name="Google Shape;1210;p119"/>
              <p:cNvCxnSpPr/>
              <p:nvPr/>
            </p:nvCxnSpPr>
            <p:spPr>
              <a:xfrm>
                <a:off x="1637692" y="3256225"/>
                <a:ext cx="3277200" cy="0"/>
              </a:xfrm>
              <a:prstGeom prst="straightConnector1">
                <a:avLst/>
              </a:prstGeom>
              <a:noFill/>
              <a:ln cap="flat" cmpd="sng" w="9525">
                <a:solidFill>
                  <a:schemeClr val="dk2"/>
                </a:solidFill>
                <a:prstDash val="solid"/>
                <a:round/>
                <a:headEnd len="med" w="med" type="none"/>
                <a:tailEnd len="med" w="med" type="none"/>
              </a:ln>
            </p:spPr>
          </p:cxnSp>
        </p:grpSp>
        <p:sp>
          <p:nvSpPr>
            <p:cNvPr id="1211" name="Google Shape;1211;p119"/>
            <p:cNvSpPr txBox="1"/>
            <p:nvPr/>
          </p:nvSpPr>
          <p:spPr>
            <a:xfrm>
              <a:off x="1711685" y="3320076"/>
              <a:ext cx="3680700" cy="157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highlight>
                    <a:srgbClr val="FFFFFF"/>
                  </a:highlight>
                  <a:latin typeface="Consolas"/>
                  <a:ea typeface="Consolas"/>
                  <a:cs typeface="Consolas"/>
                  <a:sym typeface="Consolas"/>
                </a:rPr>
                <a:t>from </a:t>
              </a:r>
              <a:r>
                <a:rPr lang="en-GB" sz="1000">
                  <a:solidFill>
                    <a:srgbClr val="080808"/>
                  </a:solidFill>
                  <a:highlight>
                    <a:srgbClr val="FFFFFF"/>
                  </a:highlight>
                  <a:latin typeface="Consolas"/>
                  <a:ea typeface="Consolas"/>
                  <a:cs typeface="Consolas"/>
                  <a:sym typeface="Consolas"/>
                </a:rPr>
                <a:t>typing </a:t>
              </a:r>
              <a:r>
                <a:rPr lang="en-GB" sz="1000">
                  <a:solidFill>
                    <a:srgbClr val="0033B3"/>
                  </a:solidFill>
                  <a:highlight>
                    <a:srgbClr val="FFFFFF"/>
                  </a:highlight>
                  <a:latin typeface="Consolas"/>
                  <a:ea typeface="Consolas"/>
                  <a:cs typeface="Consolas"/>
                  <a:sym typeface="Consolas"/>
                </a:rPr>
                <a:t>import </a:t>
              </a:r>
              <a:r>
                <a:rPr lang="en-GB" sz="1000">
                  <a:solidFill>
                    <a:srgbClr val="080808"/>
                  </a:solidFill>
                  <a:highlight>
                    <a:srgbClr val="FFFFFF"/>
                  </a:highlight>
                  <a:latin typeface="Consolas"/>
                  <a:ea typeface="Consolas"/>
                  <a:cs typeface="Consolas"/>
                  <a:sym typeface="Consolas"/>
                </a:rPr>
                <a:t>Literal</a:t>
              </a:r>
              <a:endParaRPr sz="1000">
                <a:solidFill>
                  <a:srgbClr val="080808"/>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highlight>
                    <a:srgbClr val="FFFFFF"/>
                  </a:highlight>
                  <a:latin typeface="Consolas"/>
                  <a:ea typeface="Consolas"/>
                  <a:cs typeface="Consolas"/>
                  <a:sym typeface="Consolas"/>
                </a:rPr>
                <a:t>from </a:t>
              </a:r>
              <a:r>
                <a:rPr lang="en-GB" sz="1000">
                  <a:solidFill>
                    <a:srgbClr val="080808"/>
                  </a:solidFill>
                  <a:highlight>
                    <a:srgbClr val="FFFFFF"/>
                  </a:highlight>
                  <a:latin typeface="Consolas"/>
                  <a:ea typeface="Consolas"/>
                  <a:cs typeface="Consolas"/>
                  <a:sym typeface="Consolas"/>
                </a:rPr>
                <a:t>langgraph.types </a:t>
              </a:r>
              <a:r>
                <a:rPr lang="en-GB" sz="1000">
                  <a:solidFill>
                    <a:srgbClr val="0033B3"/>
                  </a:solidFill>
                  <a:highlight>
                    <a:srgbClr val="FFFFFF"/>
                  </a:highlight>
                  <a:latin typeface="Consolas"/>
                  <a:ea typeface="Consolas"/>
                  <a:cs typeface="Consolas"/>
                  <a:sym typeface="Consolas"/>
                </a:rPr>
                <a:t>import </a:t>
              </a:r>
              <a:r>
                <a:rPr lang="en-GB" sz="1000">
                  <a:solidFill>
                    <a:srgbClr val="080808"/>
                  </a:solidFill>
                  <a:highlight>
                    <a:srgbClr val="FFFFFF"/>
                  </a:highlight>
                  <a:latin typeface="Consolas"/>
                  <a:ea typeface="Consolas"/>
                  <a:cs typeface="Consolas"/>
                  <a:sym typeface="Consolas"/>
                </a:rPr>
                <a:t>Command</a:t>
              </a:r>
              <a:endParaRPr sz="1000">
                <a:solidFill>
                  <a:srgbClr val="080808"/>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highlight>
                    <a:srgbClr val="FFFFFF"/>
                  </a:highlight>
                  <a:latin typeface="Consolas"/>
                  <a:ea typeface="Consolas"/>
                  <a:cs typeface="Consolas"/>
                  <a:sym typeface="Consolas"/>
                </a:rPr>
                <a:t>def </a:t>
              </a:r>
              <a:r>
                <a:rPr lang="en-GB" sz="1000">
                  <a:solidFill>
                    <a:srgbClr val="00627A"/>
                  </a:solidFill>
                  <a:highlight>
                    <a:srgbClr val="FFFFFF"/>
                  </a:highlight>
                  <a:latin typeface="Consolas"/>
                  <a:ea typeface="Consolas"/>
                  <a:cs typeface="Consolas"/>
                  <a:sym typeface="Consolas"/>
                </a:rPr>
                <a:t>classify_and_route</a:t>
              </a:r>
              <a:r>
                <a:rPr lang="en-GB" sz="1000">
                  <a:solidFill>
                    <a:srgbClr val="080808"/>
                  </a:solidFill>
                  <a:highlight>
                    <a:srgbClr val="FFFFFF"/>
                  </a:highlight>
                  <a:latin typeface="Consolas"/>
                  <a:ea typeface="Consolas"/>
                  <a:cs typeface="Consolas"/>
                  <a:sym typeface="Consolas"/>
                </a:rPr>
                <a:t>(</a:t>
              </a:r>
              <a:r>
                <a:rPr lang="en-GB" sz="1000">
                  <a:solidFill>
                    <a:schemeClr val="dk1"/>
                  </a:solidFill>
                  <a:highlight>
                    <a:srgbClr val="FFFFFF"/>
                  </a:highlight>
                  <a:latin typeface="Consolas"/>
                  <a:ea typeface="Consolas"/>
                  <a:cs typeface="Consolas"/>
                  <a:sym typeface="Consolas"/>
                </a:rPr>
                <a:t>state</a:t>
              </a:r>
              <a:r>
                <a:rPr lang="en-GB" sz="1000">
                  <a:solidFill>
                    <a:srgbClr val="080808"/>
                  </a:solidFill>
                  <a:highlight>
                    <a:srgbClr val="FFFFFF"/>
                  </a:highlight>
                  <a:latin typeface="Consolas"/>
                  <a:ea typeface="Consolas"/>
                  <a:cs typeface="Consolas"/>
                  <a:sym typeface="Consolas"/>
                </a:rPr>
                <a:t>: </a:t>
              </a:r>
              <a:r>
                <a:rPr lang="en-GB" sz="1000">
                  <a:solidFill>
                    <a:schemeClr val="dk1"/>
                  </a:solidFill>
                  <a:highlight>
                    <a:srgbClr val="FFFFFF"/>
                  </a:highlight>
                  <a:latin typeface="Consolas"/>
                  <a:ea typeface="Consolas"/>
                  <a:cs typeface="Consolas"/>
                  <a:sym typeface="Consolas"/>
                </a:rPr>
                <a:t>State</a:t>
              </a:r>
              <a:r>
                <a:rPr lang="en-GB" sz="1000">
                  <a:solidFill>
                    <a:srgbClr val="080808"/>
                  </a:solidFill>
                  <a:highlight>
                    <a:srgbClr val="FFFFFF"/>
                  </a:highlight>
                  <a:latin typeface="Consolas"/>
                  <a:ea typeface="Consolas"/>
                  <a:cs typeface="Consolas"/>
                  <a:sym typeface="Consolas"/>
                </a:rPr>
                <a:t>) -&gt; </a:t>
              </a:r>
              <a:r>
                <a:rPr lang="en-GB" sz="1000">
                  <a:solidFill>
                    <a:schemeClr val="dk1"/>
                  </a:solidFill>
                  <a:highlight>
                    <a:srgbClr val="FFFFFF"/>
                  </a:highlight>
                  <a:latin typeface="Consolas"/>
                  <a:ea typeface="Consolas"/>
                  <a:cs typeface="Consolas"/>
                  <a:sym typeface="Consolas"/>
                </a:rPr>
                <a:t>Command[Literal["billing", "general"]]</a:t>
              </a:r>
              <a:r>
                <a:rPr lang="en-GB" sz="1000">
                  <a:solidFill>
                    <a:srgbClr val="080808"/>
                  </a:solidFill>
                  <a:highlight>
                    <a:srgbClr val="FFFFFF"/>
                  </a:highlight>
                  <a:latin typeface="Consolas"/>
                  <a:ea typeface="Consolas"/>
                  <a:cs typeface="Consolas"/>
                  <a:sym typeface="Consolas"/>
                </a:rPr>
                <a:t>:</a:t>
              </a:r>
              <a:endParaRPr sz="1000">
                <a:solidFill>
                  <a:srgbClr val="080808"/>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highlight>
                    <a:srgbClr val="FFFFFF"/>
                  </a:highlight>
                  <a:latin typeface="Consolas"/>
                  <a:ea typeface="Consolas"/>
                  <a:cs typeface="Consolas"/>
                  <a:sym typeface="Consolas"/>
                </a:rPr>
                <a:t>   </a:t>
              </a:r>
              <a:r>
                <a:rPr lang="en-GB" sz="1000">
                  <a:solidFill>
                    <a:schemeClr val="dk1"/>
                  </a:solidFill>
                  <a:highlight>
                    <a:srgbClr val="FFFFFF"/>
                  </a:highlight>
                  <a:latin typeface="Consolas"/>
                  <a:ea typeface="Consolas"/>
                  <a:cs typeface="Consolas"/>
                  <a:sym typeface="Consolas"/>
                </a:rPr>
                <a:t>text </a:t>
              </a:r>
              <a:r>
                <a:rPr lang="en-GB" sz="1000">
                  <a:solidFill>
                    <a:srgbClr val="080808"/>
                  </a:solidFill>
                  <a:highlight>
                    <a:srgbClr val="FFFFFF"/>
                  </a:highlight>
                  <a:latin typeface="Consolas"/>
                  <a:ea typeface="Consolas"/>
                  <a:cs typeface="Consolas"/>
                  <a:sym typeface="Consolas"/>
                </a:rPr>
                <a:t>= </a:t>
              </a:r>
              <a:r>
                <a:rPr lang="en-GB" sz="1000">
                  <a:solidFill>
                    <a:schemeClr val="dk1"/>
                  </a:solidFill>
                  <a:highlight>
                    <a:srgbClr val="FFFFFF"/>
                  </a:highlight>
                  <a:latin typeface="Consolas"/>
                  <a:ea typeface="Consolas"/>
                  <a:cs typeface="Consolas"/>
                  <a:sym typeface="Consolas"/>
                </a:rPr>
                <a:t>state</a:t>
              </a:r>
              <a:r>
                <a:rPr lang="en-GB" sz="1000">
                  <a:solidFill>
                    <a:srgbClr val="080808"/>
                  </a:solidFill>
                  <a:highlight>
                    <a:srgbClr val="FFFFFF"/>
                  </a:highlight>
                  <a:latin typeface="Consolas"/>
                  <a:ea typeface="Consolas"/>
                  <a:cs typeface="Consolas"/>
                  <a:sym typeface="Consolas"/>
                </a:rPr>
                <a:t>[</a:t>
              </a:r>
              <a:r>
                <a:rPr lang="en-GB" sz="1000">
                  <a:solidFill>
                    <a:srgbClr val="067D17"/>
                  </a:solidFill>
                  <a:highlight>
                    <a:srgbClr val="FFFFFF"/>
                  </a:highlight>
                  <a:latin typeface="Consolas"/>
                  <a:ea typeface="Consolas"/>
                  <a:cs typeface="Consolas"/>
                  <a:sym typeface="Consolas"/>
                </a:rPr>
                <a:t>"ticket"</a:t>
              </a:r>
              <a:r>
                <a:rPr lang="en-GB" sz="1000">
                  <a:solidFill>
                    <a:srgbClr val="080808"/>
                  </a:solidFill>
                  <a:highlight>
                    <a:srgbClr val="FFFFFF"/>
                  </a:highlight>
                  <a:latin typeface="Consolas"/>
                  <a:ea typeface="Consolas"/>
                  <a:cs typeface="Consolas"/>
                  <a:sym typeface="Consolas"/>
                </a:rPr>
                <a:t>].lower()</a:t>
              </a:r>
              <a:endParaRPr sz="1000">
                <a:solidFill>
                  <a:srgbClr val="080808"/>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highlight>
                    <a:srgbClr val="FFFFFF"/>
                  </a:highlight>
                  <a:latin typeface="Consolas"/>
                  <a:ea typeface="Consolas"/>
                  <a:cs typeface="Consolas"/>
                  <a:sym typeface="Consolas"/>
                </a:rPr>
                <a:t>   </a:t>
              </a:r>
              <a:r>
                <a:rPr lang="en-GB" sz="1000">
                  <a:solidFill>
                    <a:srgbClr val="0033B3"/>
                  </a:solidFill>
                  <a:highlight>
                    <a:srgbClr val="FFFFFF"/>
                  </a:highlight>
                  <a:latin typeface="Consolas"/>
                  <a:ea typeface="Consolas"/>
                  <a:cs typeface="Consolas"/>
                  <a:sym typeface="Consolas"/>
                </a:rPr>
                <a:t>if </a:t>
              </a:r>
              <a:r>
                <a:rPr lang="en-GB" sz="1000">
                  <a:solidFill>
                    <a:srgbClr val="067D17"/>
                  </a:solidFill>
                  <a:highlight>
                    <a:srgbClr val="FFFFFF"/>
                  </a:highlight>
                  <a:latin typeface="Consolas"/>
                  <a:ea typeface="Consolas"/>
                  <a:cs typeface="Consolas"/>
                  <a:sym typeface="Consolas"/>
                </a:rPr>
                <a:t>"billing" </a:t>
              </a:r>
              <a:r>
                <a:rPr lang="en-GB" sz="1000">
                  <a:solidFill>
                    <a:srgbClr val="0033B3"/>
                  </a:solidFill>
                  <a:highlight>
                    <a:srgbClr val="FFFFFF"/>
                  </a:highlight>
                  <a:latin typeface="Consolas"/>
                  <a:ea typeface="Consolas"/>
                  <a:cs typeface="Consolas"/>
                  <a:sym typeface="Consolas"/>
                </a:rPr>
                <a:t>in </a:t>
              </a:r>
              <a:r>
                <a:rPr lang="en-GB" sz="1000">
                  <a:solidFill>
                    <a:schemeClr val="dk1"/>
                  </a:solidFill>
                  <a:highlight>
                    <a:srgbClr val="FFFFFF"/>
                  </a:highlight>
                  <a:latin typeface="Consolas"/>
                  <a:ea typeface="Consolas"/>
                  <a:cs typeface="Consolas"/>
                  <a:sym typeface="Consolas"/>
                </a:rPr>
                <a:t>text</a:t>
              </a:r>
              <a:r>
                <a:rPr lang="en-GB" sz="1000">
                  <a:solidFill>
                    <a:srgbClr val="080808"/>
                  </a:solidFill>
                  <a:highlight>
                    <a:srgbClr val="FFFFFF"/>
                  </a:highlight>
                  <a:latin typeface="Consolas"/>
                  <a:ea typeface="Consolas"/>
                  <a:cs typeface="Consolas"/>
                  <a:sym typeface="Consolas"/>
                </a:rPr>
                <a:t>:</a:t>
              </a:r>
              <a:endParaRPr sz="1000">
                <a:solidFill>
                  <a:srgbClr val="080808"/>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highlight>
                    <a:srgbClr val="FFFFFF"/>
                  </a:highlight>
                  <a:latin typeface="Consolas"/>
                  <a:ea typeface="Consolas"/>
                  <a:cs typeface="Consolas"/>
                  <a:sym typeface="Consolas"/>
                </a:rPr>
                <a:t>       </a:t>
              </a:r>
              <a:r>
                <a:rPr lang="en-GB" sz="1000">
                  <a:solidFill>
                    <a:srgbClr val="0033B3"/>
                  </a:solidFill>
                  <a:highlight>
                    <a:srgbClr val="FFFFFF"/>
                  </a:highlight>
                  <a:latin typeface="Consolas"/>
                  <a:ea typeface="Consolas"/>
                  <a:cs typeface="Consolas"/>
                  <a:sym typeface="Consolas"/>
                </a:rPr>
                <a:t>return </a:t>
              </a:r>
              <a:r>
                <a:rPr lang="en-GB" sz="1000">
                  <a:solidFill>
                    <a:srgbClr val="080808"/>
                  </a:solidFill>
                  <a:highlight>
                    <a:srgbClr val="FFFFFF"/>
                  </a:highlight>
                  <a:latin typeface="Consolas"/>
                  <a:ea typeface="Consolas"/>
                  <a:cs typeface="Consolas"/>
                  <a:sym typeface="Consolas"/>
                </a:rPr>
                <a:t>Command(</a:t>
              </a:r>
              <a:r>
                <a:rPr lang="en-GB" sz="1000">
                  <a:solidFill>
                    <a:srgbClr val="660099"/>
                  </a:solidFill>
                  <a:highlight>
                    <a:srgbClr val="FFFFFF"/>
                  </a:highlight>
                  <a:latin typeface="Consolas"/>
                  <a:ea typeface="Consolas"/>
                  <a:cs typeface="Consolas"/>
                  <a:sym typeface="Consolas"/>
                </a:rPr>
                <a:t>update</a:t>
              </a:r>
              <a:r>
                <a:rPr lang="en-GB" sz="1000">
                  <a:solidFill>
                    <a:srgbClr val="080808"/>
                  </a:solidFill>
                  <a:highlight>
                    <a:srgbClr val="FFFFFF"/>
                  </a:highlight>
                  <a:latin typeface="Consolas"/>
                  <a:ea typeface="Consolas"/>
                  <a:cs typeface="Consolas"/>
                  <a:sym typeface="Consolas"/>
                </a:rPr>
                <a:t>={</a:t>
              </a:r>
              <a:r>
                <a:rPr lang="en-GB" sz="1000">
                  <a:solidFill>
                    <a:srgbClr val="067D17"/>
                  </a:solidFill>
                  <a:highlight>
                    <a:srgbClr val="FFFFFF"/>
                  </a:highlight>
                  <a:latin typeface="Consolas"/>
                  <a:ea typeface="Consolas"/>
                  <a:cs typeface="Consolas"/>
                  <a:sym typeface="Consolas"/>
                </a:rPr>
                <a:t>"ticket"</a:t>
              </a:r>
              <a:r>
                <a:rPr lang="en-GB" sz="1000">
                  <a:solidFill>
                    <a:srgbClr val="080808"/>
                  </a:solidFill>
                  <a:highlight>
                    <a:srgbClr val="FFFFFF"/>
                  </a:highlight>
                  <a:latin typeface="Consolas"/>
                  <a:ea typeface="Consolas"/>
                  <a:cs typeface="Consolas"/>
                  <a:sym typeface="Consolas"/>
                </a:rPr>
                <a:t>: </a:t>
              </a:r>
              <a:r>
                <a:rPr lang="en-GB" sz="1000">
                  <a:solidFill>
                    <a:srgbClr val="067D17"/>
                  </a:solidFill>
                  <a:highlight>
                    <a:srgbClr val="FFFFFF"/>
                  </a:highlight>
                  <a:latin typeface="Consolas"/>
                  <a:ea typeface="Consolas"/>
                  <a:cs typeface="Consolas"/>
                  <a:sym typeface="Consolas"/>
                </a:rPr>
                <a:t>"Routed to billing"</a:t>
              </a:r>
              <a:r>
                <a:rPr lang="en-GB" sz="1000">
                  <a:solidFill>
                    <a:srgbClr val="080808"/>
                  </a:solidFill>
                  <a:highlight>
                    <a:srgbClr val="FFFFFF"/>
                  </a:highlight>
                  <a:latin typeface="Consolas"/>
                  <a:ea typeface="Consolas"/>
                  <a:cs typeface="Consolas"/>
                  <a:sym typeface="Consolas"/>
                </a:rPr>
                <a:t>}, </a:t>
              </a:r>
              <a:r>
                <a:rPr lang="en-GB" sz="1000">
                  <a:solidFill>
                    <a:srgbClr val="660099"/>
                  </a:solidFill>
                  <a:highlight>
                    <a:srgbClr val="FFFFFF"/>
                  </a:highlight>
                  <a:latin typeface="Consolas"/>
                  <a:ea typeface="Consolas"/>
                  <a:cs typeface="Consolas"/>
                  <a:sym typeface="Consolas"/>
                </a:rPr>
                <a:t>goto</a:t>
              </a:r>
              <a:r>
                <a:rPr lang="en-GB" sz="1000">
                  <a:solidFill>
                    <a:srgbClr val="080808"/>
                  </a:solidFill>
                  <a:highlight>
                    <a:srgbClr val="FFFFFF"/>
                  </a:highlight>
                  <a:latin typeface="Consolas"/>
                  <a:ea typeface="Consolas"/>
                  <a:cs typeface="Consolas"/>
                  <a:sym typeface="Consolas"/>
                </a:rPr>
                <a:t>=</a:t>
              </a:r>
              <a:r>
                <a:rPr lang="en-GB" sz="1000">
                  <a:solidFill>
                    <a:srgbClr val="067D17"/>
                  </a:solidFill>
                  <a:highlight>
                    <a:srgbClr val="FFFFFF"/>
                  </a:highlight>
                  <a:latin typeface="Consolas"/>
                  <a:ea typeface="Consolas"/>
                  <a:cs typeface="Consolas"/>
                  <a:sym typeface="Consolas"/>
                </a:rPr>
                <a:t>"billing"</a:t>
              </a:r>
              <a:r>
                <a:rPr lang="en-GB" sz="1000">
                  <a:solidFill>
                    <a:srgbClr val="080808"/>
                  </a:solidFill>
                  <a:highlight>
                    <a:srgbClr val="FFFFFF"/>
                  </a:highlight>
                  <a:latin typeface="Consolas"/>
                  <a:ea typeface="Consolas"/>
                  <a:cs typeface="Consolas"/>
                  <a:sym typeface="Consolas"/>
                </a:rPr>
                <a:t>)</a:t>
              </a:r>
              <a:endParaRPr sz="1000">
                <a:solidFill>
                  <a:srgbClr val="080808"/>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highlight>
                    <a:srgbClr val="FFFFFF"/>
                  </a:highlight>
                  <a:latin typeface="Consolas"/>
                  <a:ea typeface="Consolas"/>
                  <a:cs typeface="Consolas"/>
                  <a:sym typeface="Consolas"/>
                </a:rPr>
                <a:t>   </a:t>
              </a:r>
              <a:r>
                <a:rPr lang="en-GB" sz="1000">
                  <a:solidFill>
                    <a:srgbClr val="0033B3"/>
                  </a:solidFill>
                  <a:highlight>
                    <a:srgbClr val="FFFFFF"/>
                  </a:highlight>
                  <a:latin typeface="Consolas"/>
                  <a:ea typeface="Consolas"/>
                  <a:cs typeface="Consolas"/>
                  <a:sym typeface="Consolas"/>
                </a:rPr>
                <a:t>return </a:t>
              </a:r>
              <a:r>
                <a:rPr lang="en-GB" sz="1000">
                  <a:solidFill>
                    <a:srgbClr val="080808"/>
                  </a:solidFill>
                  <a:highlight>
                    <a:srgbClr val="FFFFFF"/>
                  </a:highlight>
                  <a:latin typeface="Consolas"/>
                  <a:ea typeface="Consolas"/>
                  <a:cs typeface="Consolas"/>
                  <a:sym typeface="Consolas"/>
                </a:rPr>
                <a:t>Command(</a:t>
              </a:r>
              <a:r>
                <a:rPr lang="en-GB" sz="1000">
                  <a:solidFill>
                    <a:srgbClr val="660099"/>
                  </a:solidFill>
                  <a:highlight>
                    <a:srgbClr val="FFFFFF"/>
                  </a:highlight>
                  <a:latin typeface="Consolas"/>
                  <a:ea typeface="Consolas"/>
                  <a:cs typeface="Consolas"/>
                  <a:sym typeface="Consolas"/>
                </a:rPr>
                <a:t>update</a:t>
              </a:r>
              <a:r>
                <a:rPr lang="en-GB" sz="1000">
                  <a:solidFill>
                    <a:srgbClr val="080808"/>
                  </a:solidFill>
                  <a:highlight>
                    <a:srgbClr val="FFFFFF"/>
                  </a:highlight>
                  <a:latin typeface="Consolas"/>
                  <a:ea typeface="Consolas"/>
                  <a:cs typeface="Consolas"/>
                  <a:sym typeface="Consolas"/>
                </a:rPr>
                <a:t>={</a:t>
              </a:r>
              <a:r>
                <a:rPr lang="en-GB" sz="1000">
                  <a:solidFill>
                    <a:srgbClr val="067D17"/>
                  </a:solidFill>
                  <a:highlight>
                    <a:srgbClr val="FFFFFF"/>
                  </a:highlight>
                  <a:latin typeface="Consolas"/>
                  <a:ea typeface="Consolas"/>
                  <a:cs typeface="Consolas"/>
                  <a:sym typeface="Consolas"/>
                </a:rPr>
                <a:t>"ticket"</a:t>
              </a:r>
              <a:r>
                <a:rPr lang="en-GB" sz="1000">
                  <a:solidFill>
                    <a:srgbClr val="080808"/>
                  </a:solidFill>
                  <a:highlight>
                    <a:srgbClr val="FFFFFF"/>
                  </a:highlight>
                  <a:latin typeface="Consolas"/>
                  <a:ea typeface="Consolas"/>
                  <a:cs typeface="Consolas"/>
                  <a:sym typeface="Consolas"/>
                </a:rPr>
                <a:t>: </a:t>
              </a:r>
              <a:r>
                <a:rPr lang="en-GB" sz="1000">
                  <a:solidFill>
                    <a:srgbClr val="067D17"/>
                  </a:solidFill>
                  <a:highlight>
                    <a:srgbClr val="FFFFFF"/>
                  </a:highlight>
                  <a:latin typeface="Consolas"/>
                  <a:ea typeface="Consolas"/>
                  <a:cs typeface="Consolas"/>
                  <a:sym typeface="Consolas"/>
                </a:rPr>
                <a:t>"Routed to general"</a:t>
              </a:r>
              <a:r>
                <a:rPr lang="en-GB" sz="1000">
                  <a:solidFill>
                    <a:srgbClr val="080808"/>
                  </a:solidFill>
                  <a:highlight>
                    <a:srgbClr val="FFFFFF"/>
                  </a:highlight>
                  <a:latin typeface="Consolas"/>
                  <a:ea typeface="Consolas"/>
                  <a:cs typeface="Consolas"/>
                  <a:sym typeface="Consolas"/>
                </a:rPr>
                <a:t>}, </a:t>
              </a:r>
              <a:r>
                <a:rPr lang="en-GB" sz="1000">
                  <a:solidFill>
                    <a:srgbClr val="660099"/>
                  </a:solidFill>
                  <a:highlight>
                    <a:srgbClr val="FFFFFF"/>
                  </a:highlight>
                  <a:latin typeface="Consolas"/>
                  <a:ea typeface="Consolas"/>
                  <a:cs typeface="Consolas"/>
                  <a:sym typeface="Consolas"/>
                </a:rPr>
                <a:t>goto</a:t>
              </a:r>
              <a:r>
                <a:rPr lang="en-GB" sz="1000">
                  <a:solidFill>
                    <a:srgbClr val="080808"/>
                  </a:solidFill>
                  <a:highlight>
                    <a:srgbClr val="FFFFFF"/>
                  </a:highlight>
                  <a:latin typeface="Consolas"/>
                  <a:ea typeface="Consolas"/>
                  <a:cs typeface="Consolas"/>
                  <a:sym typeface="Consolas"/>
                </a:rPr>
                <a:t>=</a:t>
              </a:r>
              <a:r>
                <a:rPr lang="en-GB" sz="1000">
                  <a:solidFill>
                    <a:srgbClr val="067D17"/>
                  </a:solidFill>
                  <a:highlight>
                    <a:srgbClr val="FFFFFF"/>
                  </a:highlight>
                  <a:latin typeface="Consolas"/>
                  <a:ea typeface="Consolas"/>
                  <a:cs typeface="Consolas"/>
                  <a:sym typeface="Consolas"/>
                </a:rPr>
                <a:t>"general"</a:t>
              </a:r>
              <a:r>
                <a:rPr lang="en-GB" sz="1000">
                  <a:solidFill>
                    <a:srgbClr val="080808"/>
                  </a:solidFill>
                  <a:highlight>
                    <a:srgbClr val="FFFFFF"/>
                  </a:highlight>
                  <a:latin typeface="Consolas"/>
                  <a:ea typeface="Consolas"/>
                  <a:cs typeface="Consolas"/>
                  <a:sym typeface="Consolas"/>
                </a:rPr>
                <a:t>)</a:t>
              </a:r>
              <a:endParaRPr sz="1000">
                <a:solidFill>
                  <a:srgbClr val="0033B3"/>
                </a:solidFill>
                <a:latin typeface="Consolas"/>
                <a:ea typeface="Consolas"/>
                <a:cs typeface="Consolas"/>
                <a:sym typeface="Consolas"/>
              </a:endParaRPr>
            </a:p>
          </p:txBody>
        </p:sp>
      </p:grpSp>
      <p:grpSp>
        <p:nvGrpSpPr>
          <p:cNvPr id="1212" name="Google Shape;1212;p119"/>
          <p:cNvGrpSpPr/>
          <p:nvPr/>
        </p:nvGrpSpPr>
        <p:grpSpPr>
          <a:xfrm>
            <a:off x="683811" y="2133807"/>
            <a:ext cx="448950" cy="109200"/>
            <a:chOff x="1769550" y="3049750"/>
            <a:chExt cx="448950" cy="109200"/>
          </a:xfrm>
        </p:grpSpPr>
        <p:sp>
          <p:nvSpPr>
            <p:cNvPr id="1213" name="Google Shape;1213;p119"/>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214" name="Google Shape;1214;p119"/>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215" name="Google Shape;1215;p119"/>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216" name="Google Shape;1216;p1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12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States</a:t>
            </a:r>
            <a:endParaRPr>
              <a:solidFill>
                <a:srgbClr val="CE6948"/>
              </a:solidFill>
            </a:endParaRPr>
          </a:p>
        </p:txBody>
      </p:sp>
      <p:sp>
        <p:nvSpPr>
          <p:cNvPr id="1222" name="Google Shape;1222;p120"/>
          <p:cNvSpPr txBox="1"/>
          <p:nvPr>
            <p:ph idx="1" type="body"/>
          </p:nvPr>
        </p:nvSpPr>
        <p:spPr>
          <a:xfrm>
            <a:off x="311700" y="1069550"/>
            <a:ext cx="8520600" cy="27225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chemeClr val="dk1"/>
              </a:buClr>
              <a:buSzPts val="1000"/>
              <a:buFont typeface="Encode Sans"/>
              <a:buChar char="●"/>
            </a:pPr>
            <a:r>
              <a:rPr lang="en-GB">
                <a:solidFill>
                  <a:schemeClr val="dk1"/>
                </a:solidFill>
                <a:latin typeface="Encode Sans"/>
                <a:ea typeface="Encode Sans"/>
                <a:cs typeface="Encode Sans"/>
                <a:sym typeface="Encode Sans"/>
              </a:rPr>
              <a:t>Every node so far has read from and written to state, the shared data structure that flows through the whole graph, defined once when </a:t>
            </a:r>
            <a:r>
              <a:rPr b="1" lang="en-GB">
                <a:solidFill>
                  <a:srgbClr val="CE6948"/>
                </a:solidFill>
                <a:latin typeface="Encode Sans"/>
                <a:ea typeface="Encode Sans"/>
                <a:cs typeface="Encode Sans"/>
                <a:sym typeface="Encode Sans"/>
              </a:rPr>
              <a:t>StateGraph(...)</a:t>
            </a:r>
            <a:r>
              <a:rPr lang="en-GB">
                <a:solidFill>
                  <a:schemeClr val="dk1"/>
                </a:solidFill>
                <a:latin typeface="Encode Sans"/>
                <a:ea typeface="Encode Sans"/>
                <a:cs typeface="Encode Sans"/>
                <a:sym typeface="Encode Sans"/>
              </a:rPr>
              <a:t> is created, and touched by every node and edge along the way. There are 2 types that we can use based on use cases such as</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MessgesState </a:t>
            </a:r>
            <a:r>
              <a:rPr lang="en-GB">
                <a:solidFill>
                  <a:schemeClr val="dk1"/>
                </a:solidFill>
                <a:latin typeface="Encode Sans"/>
                <a:ea typeface="Encode Sans"/>
                <a:cs typeface="Encode Sans"/>
                <a:sym typeface="Encode Sans"/>
              </a:rPr>
              <a:t>is a built-in state from LangGraph. It uses for holding a conversation, a growing back-and-forth between a user and the model. it's just a </a:t>
            </a:r>
            <a:r>
              <a:rPr b="1" lang="en-GB">
                <a:solidFill>
                  <a:srgbClr val="CE6948"/>
                </a:solidFill>
                <a:latin typeface="Encode Sans"/>
                <a:ea typeface="Encode Sans"/>
                <a:cs typeface="Encode Sans"/>
                <a:sym typeface="Encode Sans"/>
              </a:rPr>
              <a:t>TypedDict</a:t>
            </a:r>
            <a:r>
              <a:rPr lang="en-GB">
                <a:solidFill>
                  <a:schemeClr val="dk1"/>
                </a:solidFill>
                <a:latin typeface="Encode Sans"/>
                <a:ea typeface="Encode Sans"/>
                <a:cs typeface="Encode Sans"/>
                <a:sym typeface="Encode Sans"/>
              </a:rPr>
              <a:t> with one field, </a:t>
            </a:r>
            <a:r>
              <a:rPr b="1" lang="en-GB">
                <a:solidFill>
                  <a:srgbClr val="CE6948"/>
                </a:solidFill>
                <a:latin typeface="Encode Sans"/>
                <a:ea typeface="Encode Sans"/>
                <a:cs typeface="Encode Sans"/>
                <a:sym typeface="Encode Sans"/>
              </a:rPr>
              <a:t>messages</a:t>
            </a:r>
            <a:r>
              <a:rPr lang="en-GB">
                <a:solidFill>
                  <a:schemeClr val="dk1"/>
                </a:solidFill>
                <a:latin typeface="Encode Sans"/>
                <a:ea typeface="Encode Sans"/>
                <a:cs typeface="Encode Sans"/>
                <a:sym typeface="Encode Sans"/>
              </a:rPr>
              <a:t>, pre-wired with logic that appends new messages</a:t>
            </a:r>
            <a:r>
              <a:rPr b="1" lang="en-GB">
                <a:solidFill>
                  <a:srgbClr val="CE6948"/>
                </a:solidFill>
                <a:latin typeface="Encode Sans"/>
                <a:ea typeface="Encode Sans"/>
                <a:cs typeface="Encode Sans"/>
                <a:sym typeface="Encode Sans"/>
              </a:rPr>
              <a:t> (add_messages)</a:t>
            </a:r>
            <a:r>
              <a:rPr lang="en-GB">
                <a:solidFill>
                  <a:schemeClr val="dk1"/>
                </a:solidFill>
                <a:latin typeface="Encode Sans"/>
                <a:ea typeface="Encode Sans"/>
                <a:cs typeface="Encode Sans"/>
                <a:sym typeface="Encode Sans"/>
              </a:rPr>
              <a:t> instead of overwriting the old ones.</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1000"/>
              </a:spcBef>
              <a:spcAft>
                <a:spcPts val="1000"/>
              </a:spcAft>
              <a:buClr>
                <a:srgbClr val="D97757"/>
              </a:buClr>
              <a:buSzPts val="1000"/>
              <a:buFont typeface="Encode Sans"/>
              <a:buChar char="○"/>
            </a:pPr>
            <a:r>
              <a:rPr b="1" lang="en-GB">
                <a:solidFill>
                  <a:srgbClr val="CE6948"/>
                </a:solidFill>
                <a:latin typeface="Encode Sans"/>
                <a:ea typeface="Encode Sans"/>
                <a:cs typeface="Encode Sans"/>
                <a:sym typeface="Encode Sans"/>
              </a:rPr>
              <a:t>Custom Schema State </a:t>
            </a:r>
            <a:r>
              <a:rPr lang="en-GB">
                <a:solidFill>
                  <a:schemeClr val="dk1"/>
                </a:solidFill>
                <a:latin typeface="Encode Sans"/>
                <a:ea typeface="Encode Sans"/>
                <a:cs typeface="Encode Sans"/>
                <a:sym typeface="Encode Sans"/>
              </a:rPr>
              <a:t>is a state you define yourself, instead of using LangGraph's built-in MessagesState. It's used whenever your graph's state isn't a conversation, or needs more than one, whatever fields your actual workflow needs to track, a ticket string, a retry count, a user ID.</a:t>
            </a:r>
            <a:endParaRPr>
              <a:solidFill>
                <a:schemeClr val="dk1"/>
              </a:solidFill>
              <a:latin typeface="Encode Sans"/>
              <a:ea typeface="Encode Sans"/>
              <a:cs typeface="Encode Sans"/>
              <a:sym typeface="Encode Sans"/>
            </a:endParaRPr>
          </a:p>
        </p:txBody>
      </p:sp>
      <p:sp>
        <p:nvSpPr>
          <p:cNvPr id="1223" name="Google Shape;1223;p12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sp>
        <p:nvSpPr>
          <p:cNvPr id="1224" name="Google Shape;1224;p1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2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States</a:t>
            </a:r>
            <a:endParaRPr>
              <a:solidFill>
                <a:srgbClr val="CE6948"/>
              </a:solidFill>
            </a:endParaRPr>
          </a:p>
        </p:txBody>
      </p:sp>
      <p:sp>
        <p:nvSpPr>
          <p:cNvPr id="1230" name="Google Shape;1230;p121"/>
          <p:cNvSpPr txBox="1"/>
          <p:nvPr>
            <p:ph idx="1" type="body"/>
          </p:nvPr>
        </p:nvSpPr>
        <p:spPr>
          <a:xfrm>
            <a:off x="311700" y="1069550"/>
            <a:ext cx="8520600" cy="23304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MessagesState </a:t>
            </a:r>
            <a:r>
              <a:rPr lang="en-GB">
                <a:solidFill>
                  <a:schemeClr val="dk1"/>
                </a:solidFill>
                <a:latin typeface="Encode Sans"/>
                <a:ea typeface="Encode Sans"/>
                <a:cs typeface="Encode Sans"/>
                <a:sym typeface="Encode Sans"/>
              </a:rPr>
              <a:t>use when:</a:t>
            </a:r>
            <a:endParaRPr b="1">
              <a:solidFill>
                <a:srgbClr val="CE6948"/>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 customer support chatbot, where every reply has to account for everything the customer already said, not just their latest messag</a:t>
            </a:r>
            <a:r>
              <a:rPr lang="en-GB">
                <a:solidFill>
                  <a:schemeClr val="dk1"/>
                </a:solidFill>
                <a:latin typeface="Encode Sans"/>
                <a:ea typeface="Encode Sans"/>
                <a:cs typeface="Encode Sans"/>
                <a:sym typeface="Encode Sans"/>
              </a:rPr>
              <a:t>e</a:t>
            </a:r>
            <a:endParaRPr b="1">
              <a:solidFill>
                <a:srgbClr val="CE6948"/>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 coding assistant that needs to remember which file or function you were just discussing three turns ago</a:t>
            </a:r>
            <a:endParaRPr b="1">
              <a:solidFill>
                <a:srgbClr val="CE6948"/>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Any multi-turn Q&amp;A where a follow-up ("what about the second one?") only makes sense next to the messages before it</a:t>
            </a:r>
            <a:endParaRPr b="1">
              <a:solidFill>
                <a:srgbClr val="CE6948"/>
              </a:solidFill>
              <a:latin typeface="Encode Sans"/>
              <a:ea typeface="Encode Sans"/>
              <a:cs typeface="Encode Sans"/>
              <a:sym typeface="Encode Sans"/>
            </a:endParaRPr>
          </a:p>
          <a:p>
            <a:pPr indent="0" lvl="0" marL="0" marR="0" rtl="0" algn="just">
              <a:lnSpc>
                <a:spcPct val="130000"/>
              </a:lnSpc>
              <a:spcBef>
                <a:spcPts val="0"/>
              </a:spcBef>
              <a:spcAft>
                <a:spcPts val="1000"/>
              </a:spcAft>
              <a:buNone/>
            </a:pPr>
            <a:r>
              <a:t/>
            </a:r>
            <a:endParaRPr>
              <a:solidFill>
                <a:schemeClr val="dk1"/>
              </a:solidFill>
              <a:latin typeface="Encode Sans"/>
              <a:ea typeface="Encode Sans"/>
              <a:cs typeface="Encode Sans"/>
              <a:sym typeface="Encode Sans"/>
            </a:endParaRPr>
          </a:p>
        </p:txBody>
      </p:sp>
      <p:sp>
        <p:nvSpPr>
          <p:cNvPr id="1231" name="Google Shape;1231;p12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sp>
        <p:nvSpPr>
          <p:cNvPr id="1232" name="Google Shape;1232;p1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2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States</a:t>
            </a:r>
            <a:endParaRPr>
              <a:solidFill>
                <a:srgbClr val="CE6948"/>
              </a:solidFill>
            </a:endParaRPr>
          </a:p>
        </p:txBody>
      </p:sp>
      <p:sp>
        <p:nvSpPr>
          <p:cNvPr id="1238" name="Google Shape;1238;p122"/>
          <p:cNvSpPr txBox="1"/>
          <p:nvPr>
            <p:ph idx="1" type="body"/>
          </p:nvPr>
        </p:nvSpPr>
        <p:spPr>
          <a:xfrm>
            <a:off x="311700" y="1069550"/>
            <a:ext cx="8520600" cy="3849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Example: </a:t>
            </a:r>
            <a:r>
              <a:rPr b="1" lang="en-GB">
                <a:solidFill>
                  <a:srgbClr val="CE6948"/>
                </a:solidFill>
                <a:latin typeface="Encode Sans"/>
                <a:ea typeface="Encode Sans"/>
                <a:cs typeface="Encode Sans"/>
                <a:sym typeface="Encode Sans"/>
              </a:rPr>
              <a:t>MessagesState</a:t>
            </a:r>
            <a:endParaRPr>
              <a:solidFill>
                <a:schemeClr val="dk1"/>
              </a:solidFill>
              <a:latin typeface="Encode Sans"/>
              <a:ea typeface="Encode Sans"/>
              <a:cs typeface="Encode Sans"/>
              <a:sym typeface="Encode Sans"/>
            </a:endParaRPr>
          </a:p>
        </p:txBody>
      </p:sp>
      <p:sp>
        <p:nvSpPr>
          <p:cNvPr id="1239" name="Google Shape;1239;p12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pSp>
        <p:nvGrpSpPr>
          <p:cNvPr id="1240" name="Google Shape;1240;p122"/>
          <p:cNvGrpSpPr/>
          <p:nvPr/>
        </p:nvGrpSpPr>
        <p:grpSpPr>
          <a:xfrm>
            <a:off x="628075" y="1496750"/>
            <a:ext cx="7691238" cy="2482800"/>
            <a:chOff x="1637643" y="2946096"/>
            <a:chExt cx="4685208" cy="2482800"/>
          </a:xfrm>
        </p:grpSpPr>
        <p:grpSp>
          <p:nvGrpSpPr>
            <p:cNvPr id="1241" name="Google Shape;1241;p122"/>
            <p:cNvGrpSpPr/>
            <p:nvPr/>
          </p:nvGrpSpPr>
          <p:grpSpPr>
            <a:xfrm>
              <a:off x="1637643" y="2946096"/>
              <a:ext cx="4685208" cy="2482800"/>
              <a:chOff x="1637693" y="2946096"/>
              <a:chExt cx="3912491" cy="2482800"/>
            </a:xfrm>
          </p:grpSpPr>
          <p:sp>
            <p:nvSpPr>
              <p:cNvPr id="1242" name="Google Shape;1242;p122"/>
              <p:cNvSpPr/>
              <p:nvPr/>
            </p:nvSpPr>
            <p:spPr>
              <a:xfrm>
                <a:off x="1639384" y="2946096"/>
                <a:ext cx="3910800" cy="24828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243" name="Google Shape;1243;p122"/>
              <p:cNvCxnSpPr/>
              <p:nvPr/>
            </p:nvCxnSpPr>
            <p:spPr>
              <a:xfrm>
                <a:off x="1637693" y="3256224"/>
                <a:ext cx="3911400" cy="0"/>
              </a:xfrm>
              <a:prstGeom prst="straightConnector1">
                <a:avLst/>
              </a:prstGeom>
              <a:noFill/>
              <a:ln cap="flat" cmpd="sng" w="9525">
                <a:solidFill>
                  <a:schemeClr val="dk2"/>
                </a:solidFill>
                <a:prstDash val="solid"/>
                <a:round/>
                <a:headEnd len="med" w="med" type="none"/>
                <a:tailEnd len="med" w="med" type="none"/>
              </a:ln>
            </p:spPr>
          </p:cxnSp>
        </p:grpSp>
        <p:sp>
          <p:nvSpPr>
            <p:cNvPr id="1244" name="Google Shape;1244;p122"/>
            <p:cNvSpPr txBox="1"/>
            <p:nvPr/>
          </p:nvSpPr>
          <p:spPr>
            <a:xfrm>
              <a:off x="1726013" y="3320075"/>
              <a:ext cx="4392900" cy="210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langgraph.graph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MessagesState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langchain.chat_models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init_chat_model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langgraph.graph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StateGraph</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llm = init_chat_model(...)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builder = StateGraph(MessagesState)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def </a:t>
              </a:r>
              <a:r>
                <a:rPr lang="en-GB" sz="1000">
                  <a:solidFill>
                    <a:srgbClr val="00627A"/>
                  </a:solidFill>
                  <a:latin typeface="Consolas"/>
                  <a:ea typeface="Consolas"/>
                  <a:cs typeface="Consolas"/>
                  <a:sym typeface="Consolas"/>
                </a:rPr>
                <a:t>chat_node</a:t>
              </a:r>
              <a:r>
                <a:rPr lang="en-GB" sz="1000">
                  <a:solidFill>
                    <a:srgbClr val="080808"/>
                  </a:solidFill>
                  <a:latin typeface="Consolas"/>
                  <a:ea typeface="Consolas"/>
                  <a:cs typeface="Consolas"/>
                  <a:sym typeface="Consolas"/>
                </a:rPr>
                <a:t>(</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 </a:t>
              </a:r>
              <a:r>
                <a:rPr lang="en-GB" sz="1000">
                  <a:solidFill>
                    <a:schemeClr val="dk1"/>
                  </a:solidFill>
                  <a:latin typeface="Consolas"/>
                  <a:ea typeface="Consolas"/>
                  <a:cs typeface="Consolas"/>
                  <a:sym typeface="Consolas"/>
                </a:rPr>
                <a:t>MessagesState</a:t>
              </a:r>
              <a:r>
                <a:rPr lang="en-GB" sz="1000">
                  <a:solidFill>
                    <a:srgbClr val="080808"/>
                  </a:solidFill>
                  <a:latin typeface="Consolas"/>
                  <a:ea typeface="Consolas"/>
                  <a:cs typeface="Consolas"/>
                  <a:sym typeface="Consolas"/>
                </a:rPr>
                <a:t>) -&gt; </a:t>
              </a:r>
              <a:r>
                <a:rPr lang="en-GB" sz="1000">
                  <a:solidFill>
                    <a:schemeClr val="dk1"/>
                  </a:solidFill>
                  <a:latin typeface="Consolas"/>
                  <a:ea typeface="Consolas"/>
                  <a:cs typeface="Consolas"/>
                  <a:sym typeface="Consolas"/>
                </a:rPr>
                <a:t>dict</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a:t>
              </a:r>
              <a:r>
                <a:rPr lang="en-GB" sz="1000">
                  <a:solidFill>
                    <a:schemeClr val="dk1"/>
                  </a:solidFill>
                  <a:latin typeface="Consolas"/>
                  <a:ea typeface="Consolas"/>
                  <a:cs typeface="Consolas"/>
                  <a:sym typeface="Consolas"/>
                </a:rPr>
                <a:t>response </a:t>
              </a:r>
              <a:r>
                <a:rPr lang="en-GB" sz="1000">
                  <a:solidFill>
                    <a:srgbClr val="080808"/>
                  </a:solidFill>
                  <a:latin typeface="Consolas"/>
                  <a:ea typeface="Consolas"/>
                  <a:cs typeface="Consolas"/>
                  <a:sym typeface="Consolas"/>
                </a:rPr>
                <a:t>= llm.invoke(</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"messages"</a:t>
              </a:r>
              <a:r>
                <a:rPr lang="en-GB" sz="1000">
                  <a:solidFill>
                    <a:srgbClr val="080808"/>
                  </a:solidFill>
                  <a:latin typeface="Consolas"/>
                  <a:ea typeface="Consolas"/>
                  <a:cs typeface="Consolas"/>
                  <a:sym typeface="Consolas"/>
                </a:rPr>
                <a:t>])  </a:t>
              </a:r>
              <a:r>
                <a:rPr i="1" lang="en-GB" sz="1000">
                  <a:solidFill>
                    <a:srgbClr val="8C8C8C"/>
                  </a:solidFill>
                  <a:latin typeface="Consolas"/>
                  <a:ea typeface="Consolas"/>
                  <a:cs typeface="Consolas"/>
                  <a:sym typeface="Consolas"/>
                </a:rPr>
                <a:t># state["messages"] is the conversation so far</a:t>
              </a:r>
              <a:endParaRPr i="1" sz="1000">
                <a:solidFill>
                  <a:srgbClr val="8C8C8C"/>
                </a:solidFill>
                <a:latin typeface="Consolas"/>
                <a:ea typeface="Consolas"/>
                <a:cs typeface="Consolas"/>
                <a:sym typeface="Consolas"/>
              </a:endParaRPr>
            </a:p>
            <a:p>
              <a:pPr indent="0" lvl="0" marL="0" rtl="0" algn="l">
                <a:lnSpc>
                  <a:spcPct val="115000"/>
                </a:lnSpc>
                <a:spcBef>
                  <a:spcPts val="0"/>
                </a:spcBef>
                <a:spcAft>
                  <a:spcPts val="0"/>
                </a:spcAft>
                <a:buNone/>
              </a:pPr>
              <a:r>
                <a:rPr i="1" lang="en-GB" sz="1000">
                  <a:solidFill>
                    <a:srgbClr val="8C8C8C"/>
                  </a:solidFill>
                  <a:latin typeface="Consolas"/>
                  <a:ea typeface="Consolas"/>
                  <a:cs typeface="Consolas"/>
                  <a:sym typeface="Consolas"/>
                </a:rPr>
                <a:t>   </a:t>
              </a:r>
              <a:r>
                <a:rPr lang="en-GB" sz="1000">
                  <a:solidFill>
                    <a:srgbClr val="0033B3"/>
                  </a:solidFill>
                  <a:latin typeface="Consolas"/>
                  <a:ea typeface="Consolas"/>
                  <a:cs typeface="Consolas"/>
                  <a:sym typeface="Consolas"/>
                </a:rPr>
                <a:t>return </a:t>
              </a:r>
              <a:r>
                <a:rPr lang="en-GB" sz="1000">
                  <a:solidFill>
                    <a:srgbClr val="080808"/>
                  </a:solidFill>
                  <a:latin typeface="Consolas"/>
                  <a:ea typeface="Consolas"/>
                  <a:cs typeface="Consolas"/>
                  <a:sym typeface="Consolas"/>
                </a:rPr>
                <a:t>{</a:t>
              </a:r>
              <a:r>
                <a:rPr lang="en-GB" sz="1000">
                  <a:solidFill>
                    <a:srgbClr val="067D17"/>
                  </a:solidFill>
                  <a:latin typeface="Consolas"/>
                  <a:ea typeface="Consolas"/>
                  <a:cs typeface="Consolas"/>
                  <a:sym typeface="Consolas"/>
                </a:rPr>
                <a:t>"messages"</a:t>
              </a:r>
              <a:r>
                <a:rPr lang="en-GB" sz="1000">
                  <a:solidFill>
                    <a:srgbClr val="080808"/>
                  </a:solidFill>
                  <a:latin typeface="Consolas"/>
                  <a:ea typeface="Consolas"/>
                  <a:cs typeface="Consolas"/>
                  <a:sym typeface="Consolas"/>
                </a:rPr>
                <a:t>: [</a:t>
              </a:r>
              <a:r>
                <a:rPr lang="en-GB" sz="1000">
                  <a:solidFill>
                    <a:schemeClr val="dk1"/>
                  </a:solidFill>
                  <a:latin typeface="Consolas"/>
                  <a:ea typeface="Consolas"/>
                  <a:cs typeface="Consolas"/>
                  <a:sym typeface="Consolas"/>
                </a:rPr>
                <a:t>response</a:t>
              </a:r>
              <a:r>
                <a:rPr lang="en-GB" sz="1000">
                  <a:solidFill>
                    <a:srgbClr val="080808"/>
                  </a:solidFill>
                  <a:latin typeface="Consolas"/>
                  <a:ea typeface="Consolas"/>
                  <a:cs typeface="Consolas"/>
                  <a:sym typeface="Consolas"/>
                </a:rPr>
                <a:t>]}            </a:t>
              </a:r>
              <a:r>
                <a:rPr i="1" lang="en-GB" sz="1000">
                  <a:solidFill>
                    <a:srgbClr val="8C8C8C"/>
                  </a:solidFill>
                  <a:latin typeface="Consolas"/>
                  <a:ea typeface="Consolas"/>
                  <a:cs typeface="Consolas"/>
                  <a:sym typeface="Consolas"/>
                </a:rPr>
                <a:t># append only the new reply, not the whole list</a:t>
              </a:r>
              <a:endParaRPr sz="1000">
                <a:solidFill>
                  <a:srgbClr val="0033B3"/>
                </a:solidFill>
                <a:latin typeface="Consolas"/>
                <a:ea typeface="Consolas"/>
                <a:cs typeface="Consolas"/>
                <a:sym typeface="Consolas"/>
              </a:endParaRPr>
            </a:p>
          </p:txBody>
        </p:sp>
      </p:grpSp>
      <p:grpSp>
        <p:nvGrpSpPr>
          <p:cNvPr id="1245" name="Google Shape;1245;p122"/>
          <p:cNvGrpSpPr/>
          <p:nvPr/>
        </p:nvGrpSpPr>
        <p:grpSpPr>
          <a:xfrm>
            <a:off x="760011" y="1600407"/>
            <a:ext cx="448950" cy="109200"/>
            <a:chOff x="1769550" y="3049750"/>
            <a:chExt cx="448950" cy="109200"/>
          </a:xfrm>
        </p:grpSpPr>
        <p:sp>
          <p:nvSpPr>
            <p:cNvPr id="1246" name="Google Shape;1246;p122"/>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247" name="Google Shape;1247;p122"/>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248" name="Google Shape;1248;p122"/>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249" name="Google Shape;1249;p1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123"/>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States</a:t>
            </a:r>
            <a:endParaRPr>
              <a:solidFill>
                <a:srgbClr val="CE6948"/>
              </a:solidFill>
            </a:endParaRPr>
          </a:p>
        </p:txBody>
      </p:sp>
      <p:sp>
        <p:nvSpPr>
          <p:cNvPr id="1255" name="Google Shape;1255;p123"/>
          <p:cNvSpPr txBox="1"/>
          <p:nvPr>
            <p:ph idx="1" type="body"/>
          </p:nvPr>
        </p:nvSpPr>
        <p:spPr>
          <a:xfrm>
            <a:off x="311700" y="1069550"/>
            <a:ext cx="8520600" cy="11652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Custom Schema State </a:t>
            </a:r>
            <a:r>
              <a:rPr lang="en-GB">
                <a:solidFill>
                  <a:schemeClr val="dk1"/>
                </a:solidFill>
                <a:latin typeface="Encode Sans"/>
                <a:ea typeface="Encode Sans"/>
                <a:cs typeface="Encode Sans"/>
                <a:sym typeface="Encode Sans"/>
              </a:rPr>
              <a:t>you can custom it using </a:t>
            </a:r>
            <a:r>
              <a:rPr b="1" lang="en-GB">
                <a:solidFill>
                  <a:srgbClr val="CE6948"/>
                </a:solidFill>
                <a:latin typeface="Encode Sans"/>
                <a:ea typeface="Encode Sans"/>
                <a:cs typeface="Encode Sans"/>
                <a:sym typeface="Encode Sans"/>
              </a:rPr>
              <a:t>@dataclass</a:t>
            </a:r>
            <a:r>
              <a:rPr lang="en-GB">
                <a:solidFill>
                  <a:schemeClr val="dk1"/>
                </a:solidFill>
                <a:latin typeface="Encode Sans"/>
                <a:ea typeface="Encode Sans"/>
                <a:cs typeface="Encode Sans"/>
                <a:sym typeface="Encode Sans"/>
              </a:rPr>
              <a:t> and </a:t>
            </a:r>
            <a:r>
              <a:rPr b="1" lang="en-GB">
                <a:solidFill>
                  <a:srgbClr val="CE6948"/>
                </a:solidFill>
                <a:latin typeface="Encode Sans"/>
                <a:ea typeface="Encode Sans"/>
                <a:cs typeface="Encode Sans"/>
                <a:sym typeface="Encode Sans"/>
              </a:rPr>
              <a:t>Pydantic BaseModel </a:t>
            </a:r>
            <a:r>
              <a:rPr lang="en-GB">
                <a:solidFill>
                  <a:schemeClr val="dk1"/>
                </a:solidFill>
                <a:latin typeface="Encode Sans"/>
                <a:ea typeface="Encode Sans"/>
                <a:cs typeface="Encode Sans"/>
                <a:sym typeface="Encode Sans"/>
              </a:rPr>
              <a:t>where</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@dataclass</a:t>
            </a:r>
            <a:r>
              <a:rPr lang="en-GB">
                <a:solidFill>
                  <a:schemeClr val="dk1"/>
                </a:solidFill>
                <a:latin typeface="Encode Sans"/>
                <a:ea typeface="Encode Sans"/>
                <a:cs typeface="Encode Sans"/>
                <a:sym typeface="Encode Sans"/>
              </a:rPr>
              <a:t> behaves like </a:t>
            </a:r>
            <a:r>
              <a:rPr b="1" lang="en-GB">
                <a:solidFill>
                  <a:srgbClr val="CE6948"/>
                </a:solidFill>
                <a:latin typeface="Encode Sans"/>
                <a:ea typeface="Encode Sans"/>
                <a:cs typeface="Encode Sans"/>
                <a:sym typeface="Encode Sans"/>
              </a:rPr>
              <a:t>TypedDict</a:t>
            </a:r>
            <a:r>
              <a:rPr lang="en-GB">
                <a:solidFill>
                  <a:schemeClr val="dk1"/>
                </a:solidFill>
                <a:latin typeface="Encode Sans"/>
                <a:ea typeface="Encode Sans"/>
                <a:cs typeface="Encode Sans"/>
                <a:sym typeface="Encode Sans"/>
              </a:rPr>
              <a:t> but supports default field values</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Pydantic BaseModel</a:t>
            </a:r>
            <a:r>
              <a:rPr lang="en-GB">
                <a:solidFill>
                  <a:schemeClr val="dk1"/>
                </a:solidFill>
                <a:latin typeface="Encode Sans"/>
                <a:ea typeface="Encode Sans"/>
                <a:cs typeface="Encode Sans"/>
                <a:sym typeface="Encode Sans"/>
              </a:rPr>
              <a:t> checks incoming data live and automatically fixes minor type mismatches (for example, converting "123" to the number 123). This extra safety costs more processing time.</a:t>
            </a:r>
            <a:endParaRPr>
              <a:solidFill>
                <a:schemeClr val="dk1"/>
              </a:solidFill>
              <a:latin typeface="Encode Sans"/>
              <a:ea typeface="Encode Sans"/>
              <a:cs typeface="Encode Sans"/>
              <a:sym typeface="Encode Sans"/>
            </a:endParaRPr>
          </a:p>
        </p:txBody>
      </p:sp>
      <p:sp>
        <p:nvSpPr>
          <p:cNvPr id="1256" name="Google Shape;1256;p123"/>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pSp>
        <p:nvGrpSpPr>
          <p:cNvPr id="1257" name="Google Shape;1257;p123"/>
          <p:cNvGrpSpPr/>
          <p:nvPr/>
        </p:nvGrpSpPr>
        <p:grpSpPr>
          <a:xfrm>
            <a:off x="399475" y="2487350"/>
            <a:ext cx="3753581" cy="1821300"/>
            <a:chOff x="1637643" y="2946096"/>
            <a:chExt cx="2286538" cy="1821300"/>
          </a:xfrm>
        </p:grpSpPr>
        <p:grpSp>
          <p:nvGrpSpPr>
            <p:cNvPr id="1258" name="Google Shape;1258;p123"/>
            <p:cNvGrpSpPr/>
            <p:nvPr/>
          </p:nvGrpSpPr>
          <p:grpSpPr>
            <a:xfrm>
              <a:off x="1637643" y="2946096"/>
              <a:ext cx="2286538" cy="1821300"/>
              <a:chOff x="1637693" y="2946096"/>
              <a:chExt cx="1909427" cy="1821300"/>
            </a:xfrm>
          </p:grpSpPr>
          <p:sp>
            <p:nvSpPr>
              <p:cNvPr id="1259" name="Google Shape;1259;p123"/>
              <p:cNvSpPr/>
              <p:nvPr/>
            </p:nvSpPr>
            <p:spPr>
              <a:xfrm>
                <a:off x="1638519" y="2946096"/>
                <a:ext cx="1908600" cy="18213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260" name="Google Shape;1260;p123"/>
              <p:cNvCxnSpPr/>
              <p:nvPr/>
            </p:nvCxnSpPr>
            <p:spPr>
              <a:xfrm>
                <a:off x="1637693" y="3256224"/>
                <a:ext cx="1908900" cy="0"/>
              </a:xfrm>
              <a:prstGeom prst="straightConnector1">
                <a:avLst/>
              </a:prstGeom>
              <a:noFill/>
              <a:ln cap="flat" cmpd="sng" w="9525">
                <a:solidFill>
                  <a:schemeClr val="dk2"/>
                </a:solidFill>
                <a:prstDash val="solid"/>
                <a:round/>
                <a:headEnd len="med" w="med" type="none"/>
                <a:tailEnd len="med" w="med" type="none"/>
              </a:ln>
            </p:spPr>
          </p:cxnSp>
        </p:grpSp>
        <p:sp>
          <p:nvSpPr>
            <p:cNvPr id="1261" name="Google Shape;1261;p123"/>
            <p:cNvSpPr txBox="1"/>
            <p:nvPr/>
          </p:nvSpPr>
          <p:spPr>
            <a:xfrm>
              <a:off x="1680772" y="3320075"/>
              <a:ext cx="2144100" cy="122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dataclasses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dataclass</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9E880D"/>
                  </a:solidFill>
                  <a:latin typeface="Consolas"/>
                  <a:ea typeface="Consolas"/>
                  <a:cs typeface="Consolas"/>
                  <a:sym typeface="Consolas"/>
                </a:rPr>
                <a:t>@dataclass</a:t>
              </a:r>
              <a:endParaRPr sz="1000">
                <a:solidFill>
                  <a:srgbClr val="9E880D"/>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class </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name: </a:t>
              </a:r>
              <a:r>
                <a:rPr lang="en-GB" sz="1000">
                  <a:solidFill>
                    <a:schemeClr val="dk1"/>
                  </a:solidFill>
                  <a:latin typeface="Consolas"/>
                  <a:ea typeface="Consolas"/>
                  <a:cs typeface="Consolas"/>
                  <a:sym typeface="Consolas"/>
                </a:rPr>
                <a:t>str</a:t>
              </a:r>
              <a:endParaRPr sz="10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chemeClr val="dk1"/>
                  </a:solidFill>
                  <a:latin typeface="Consolas"/>
                  <a:ea typeface="Consolas"/>
                  <a:cs typeface="Consolas"/>
                  <a:sym typeface="Consolas"/>
                </a:rPr>
                <a:t>   </a:t>
              </a:r>
              <a:r>
                <a:rPr lang="en-GB" sz="1000">
                  <a:solidFill>
                    <a:srgbClr val="080808"/>
                  </a:solidFill>
                  <a:latin typeface="Consolas"/>
                  <a:ea typeface="Consolas"/>
                  <a:cs typeface="Consolas"/>
                  <a:sym typeface="Consolas"/>
                </a:rPr>
                <a:t>greeting: </a:t>
              </a:r>
              <a:r>
                <a:rPr lang="en-GB" sz="1000">
                  <a:solidFill>
                    <a:schemeClr val="dk1"/>
                  </a:solidFill>
                  <a:latin typeface="Consolas"/>
                  <a:ea typeface="Consolas"/>
                  <a:cs typeface="Consolas"/>
                  <a:sym typeface="Consolas"/>
                </a:rPr>
                <a:t>str </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 </a:t>
              </a:r>
              <a:r>
                <a:rPr i="1" lang="en-GB" sz="1000">
                  <a:solidFill>
                    <a:srgbClr val="8C8C8C"/>
                  </a:solidFill>
                  <a:latin typeface="Consolas"/>
                  <a:ea typeface="Consolas"/>
                  <a:cs typeface="Consolas"/>
                  <a:sym typeface="Consolas"/>
                </a:rPr>
                <a:t>#supports default values</a:t>
              </a:r>
              <a:endParaRPr sz="1000">
                <a:solidFill>
                  <a:srgbClr val="0033B3"/>
                </a:solidFill>
                <a:latin typeface="Consolas"/>
                <a:ea typeface="Consolas"/>
                <a:cs typeface="Consolas"/>
                <a:sym typeface="Consolas"/>
              </a:endParaRPr>
            </a:p>
          </p:txBody>
        </p:sp>
      </p:grpSp>
      <p:grpSp>
        <p:nvGrpSpPr>
          <p:cNvPr id="1262" name="Google Shape;1262;p123"/>
          <p:cNvGrpSpPr/>
          <p:nvPr/>
        </p:nvGrpSpPr>
        <p:grpSpPr>
          <a:xfrm>
            <a:off x="531411" y="2591007"/>
            <a:ext cx="448950" cy="109200"/>
            <a:chOff x="1769550" y="3049750"/>
            <a:chExt cx="448950" cy="109200"/>
          </a:xfrm>
        </p:grpSpPr>
        <p:sp>
          <p:nvSpPr>
            <p:cNvPr id="1263" name="Google Shape;1263;p123"/>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264" name="Google Shape;1264;p123"/>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265" name="Google Shape;1265;p123"/>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grpSp>
        <p:nvGrpSpPr>
          <p:cNvPr id="1266" name="Google Shape;1266;p123"/>
          <p:cNvGrpSpPr/>
          <p:nvPr/>
        </p:nvGrpSpPr>
        <p:grpSpPr>
          <a:xfrm>
            <a:off x="4820000" y="2487350"/>
            <a:ext cx="3753581" cy="1821300"/>
            <a:chOff x="1637643" y="2946096"/>
            <a:chExt cx="2286538" cy="1821300"/>
          </a:xfrm>
        </p:grpSpPr>
        <p:grpSp>
          <p:nvGrpSpPr>
            <p:cNvPr id="1267" name="Google Shape;1267;p123"/>
            <p:cNvGrpSpPr/>
            <p:nvPr/>
          </p:nvGrpSpPr>
          <p:grpSpPr>
            <a:xfrm>
              <a:off x="1637643" y="2946096"/>
              <a:ext cx="2286538" cy="1821300"/>
              <a:chOff x="1637693" y="2946096"/>
              <a:chExt cx="1909427" cy="1821300"/>
            </a:xfrm>
          </p:grpSpPr>
          <p:sp>
            <p:nvSpPr>
              <p:cNvPr id="1268" name="Google Shape;1268;p123"/>
              <p:cNvSpPr/>
              <p:nvPr/>
            </p:nvSpPr>
            <p:spPr>
              <a:xfrm>
                <a:off x="1638519" y="2946096"/>
                <a:ext cx="1908600" cy="18213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269" name="Google Shape;1269;p123"/>
              <p:cNvCxnSpPr/>
              <p:nvPr/>
            </p:nvCxnSpPr>
            <p:spPr>
              <a:xfrm>
                <a:off x="1637693" y="3256224"/>
                <a:ext cx="1908900" cy="0"/>
              </a:xfrm>
              <a:prstGeom prst="straightConnector1">
                <a:avLst/>
              </a:prstGeom>
              <a:noFill/>
              <a:ln cap="flat" cmpd="sng" w="9525">
                <a:solidFill>
                  <a:schemeClr val="dk2"/>
                </a:solidFill>
                <a:prstDash val="solid"/>
                <a:round/>
                <a:headEnd len="med" w="med" type="none"/>
                <a:tailEnd len="med" w="med" type="none"/>
              </a:ln>
            </p:spPr>
          </p:cxnSp>
        </p:grpSp>
        <p:sp>
          <p:nvSpPr>
            <p:cNvPr id="1270" name="Google Shape;1270;p123"/>
            <p:cNvSpPr txBox="1"/>
            <p:nvPr/>
          </p:nvSpPr>
          <p:spPr>
            <a:xfrm>
              <a:off x="1680772" y="3320075"/>
              <a:ext cx="2144100" cy="122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pydantic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BaseModel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033B3"/>
                  </a:solidFill>
                  <a:latin typeface="Consolas"/>
                  <a:ea typeface="Consolas"/>
                  <a:cs typeface="Consolas"/>
                  <a:sym typeface="Consolas"/>
                </a:rPr>
                <a:t>class </a:t>
              </a:r>
              <a:r>
                <a:rPr lang="en-GB" sz="1000">
                  <a:solidFill>
                    <a:schemeClr val="dk1"/>
                  </a:solidFill>
                  <a:latin typeface="Consolas"/>
                  <a:ea typeface="Consolas"/>
                  <a:cs typeface="Consolas"/>
                  <a:sym typeface="Consolas"/>
                </a:rPr>
                <a:t>State</a:t>
              </a:r>
              <a:r>
                <a:rPr lang="en-GB" sz="1000">
                  <a:solidFill>
                    <a:srgbClr val="080808"/>
                  </a:solidFill>
                  <a:latin typeface="Consolas"/>
                  <a:ea typeface="Consolas"/>
                  <a:cs typeface="Consolas"/>
                  <a:sym typeface="Consolas"/>
                </a:rPr>
                <a:t>(BaseModel):</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GB" sz="1000">
                  <a:solidFill>
                    <a:srgbClr val="080808"/>
                  </a:solidFill>
                  <a:latin typeface="Consolas"/>
                  <a:ea typeface="Consolas"/>
                  <a:cs typeface="Consolas"/>
                  <a:sym typeface="Consolas"/>
                </a:rPr>
                <a:t>   name: </a:t>
              </a:r>
              <a:r>
                <a:rPr lang="en-GB" sz="1000">
                  <a:solidFill>
                    <a:schemeClr val="dk1"/>
                  </a:solidFill>
                  <a:latin typeface="Consolas"/>
                  <a:ea typeface="Consolas"/>
                  <a:cs typeface="Consolas"/>
                  <a:sym typeface="Consolas"/>
                </a:rPr>
                <a:t>str</a:t>
              </a:r>
              <a:endParaRPr sz="10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chemeClr val="dk1"/>
                  </a:solidFill>
                  <a:latin typeface="Consolas"/>
                  <a:ea typeface="Consolas"/>
                  <a:cs typeface="Consolas"/>
                  <a:sym typeface="Consolas"/>
                </a:rPr>
                <a:t>   </a:t>
              </a:r>
              <a:r>
                <a:rPr lang="en-GB" sz="1000">
                  <a:solidFill>
                    <a:srgbClr val="080808"/>
                  </a:solidFill>
                  <a:latin typeface="Consolas"/>
                  <a:ea typeface="Consolas"/>
                  <a:cs typeface="Consolas"/>
                  <a:sym typeface="Consolas"/>
                </a:rPr>
                <a:t>age: </a:t>
              </a:r>
              <a:r>
                <a:rPr lang="en-GB" sz="1000">
                  <a:solidFill>
                    <a:schemeClr val="dk1"/>
                  </a:solidFill>
                  <a:latin typeface="Consolas"/>
                  <a:ea typeface="Consolas"/>
                  <a:cs typeface="Consolas"/>
                  <a:sym typeface="Consolas"/>
                </a:rPr>
                <a:t>int </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0  </a:t>
              </a:r>
              <a:r>
                <a:rPr i="1" lang="en-GB" sz="1000">
                  <a:solidFill>
                    <a:srgbClr val="8C8C8C"/>
                  </a:solidFill>
                  <a:latin typeface="Consolas"/>
                  <a:ea typeface="Consolas"/>
                  <a:cs typeface="Consolas"/>
                  <a:sym typeface="Consolas"/>
                </a:rPr>
                <a:t># adds real runtime validation </a:t>
              </a:r>
              <a:endParaRPr i="1" sz="1000">
                <a:solidFill>
                  <a:srgbClr val="8C8C8C"/>
                </a:solidFill>
                <a:latin typeface="Consolas"/>
                <a:ea typeface="Consolas"/>
                <a:cs typeface="Consolas"/>
                <a:sym typeface="Consolas"/>
              </a:endParaRPr>
            </a:p>
            <a:p>
              <a:pPr indent="457200" lvl="0" marL="914400" rtl="0" algn="l">
                <a:lnSpc>
                  <a:spcPct val="115000"/>
                </a:lnSpc>
                <a:spcBef>
                  <a:spcPts val="0"/>
                </a:spcBef>
                <a:spcAft>
                  <a:spcPts val="0"/>
                </a:spcAft>
                <a:buNone/>
              </a:pPr>
              <a:r>
                <a:rPr i="1" lang="en-GB" sz="1000">
                  <a:solidFill>
                    <a:srgbClr val="8C8C8C"/>
                  </a:solidFill>
                  <a:latin typeface="Consolas"/>
                  <a:ea typeface="Consolas"/>
                  <a:cs typeface="Consolas"/>
                  <a:sym typeface="Consolas"/>
                </a:rPr>
                <a:t>on top of the default</a:t>
              </a:r>
              <a:endParaRPr sz="1000">
                <a:solidFill>
                  <a:srgbClr val="0033B3"/>
                </a:solidFill>
                <a:latin typeface="Consolas"/>
                <a:ea typeface="Consolas"/>
                <a:cs typeface="Consolas"/>
                <a:sym typeface="Consolas"/>
              </a:endParaRPr>
            </a:p>
          </p:txBody>
        </p:sp>
      </p:grpSp>
      <p:grpSp>
        <p:nvGrpSpPr>
          <p:cNvPr id="1271" name="Google Shape;1271;p123"/>
          <p:cNvGrpSpPr/>
          <p:nvPr/>
        </p:nvGrpSpPr>
        <p:grpSpPr>
          <a:xfrm>
            <a:off x="4951936" y="2591007"/>
            <a:ext cx="448950" cy="109200"/>
            <a:chOff x="1769550" y="3049750"/>
            <a:chExt cx="448950" cy="109200"/>
          </a:xfrm>
        </p:grpSpPr>
        <p:sp>
          <p:nvSpPr>
            <p:cNvPr id="1272" name="Google Shape;1272;p123"/>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273" name="Google Shape;1273;p123"/>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274" name="Google Shape;1274;p123"/>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275" name="Google Shape;1275;p1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12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StateGraph Assembly, Compilation &amp; Invocation</a:t>
            </a:r>
            <a:endParaRPr>
              <a:solidFill>
                <a:srgbClr val="CE6948"/>
              </a:solidFill>
            </a:endParaRPr>
          </a:p>
        </p:txBody>
      </p:sp>
      <p:sp>
        <p:nvSpPr>
          <p:cNvPr id="1281" name="Google Shape;1281;p124"/>
          <p:cNvSpPr txBox="1"/>
          <p:nvPr>
            <p:ph idx="1" type="body"/>
          </p:nvPr>
        </p:nvSpPr>
        <p:spPr>
          <a:xfrm>
            <a:off x="311700" y="1069550"/>
            <a:ext cx="8520600" cy="20703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After we have known its main component. It is time for us to </a:t>
            </a:r>
            <a:r>
              <a:rPr b="1" lang="en-GB">
                <a:solidFill>
                  <a:srgbClr val="CE6948"/>
                </a:solidFill>
                <a:latin typeface="Encode Sans"/>
                <a:ea typeface="Encode Sans"/>
                <a:cs typeface="Encode Sans"/>
                <a:sym typeface="Encode Sans"/>
              </a:rPr>
              <a:t>compile</a:t>
            </a:r>
            <a:r>
              <a:rPr lang="en-GB">
                <a:solidFill>
                  <a:schemeClr val="dk1"/>
                </a:solidFill>
                <a:latin typeface="Encode Sans"/>
                <a:ea typeface="Encode Sans"/>
                <a:cs typeface="Encode Sans"/>
                <a:sym typeface="Encode Sans"/>
              </a:rPr>
              <a:t> and</a:t>
            </a:r>
            <a:r>
              <a:rPr b="1" lang="en-GB">
                <a:solidFill>
                  <a:srgbClr val="CE6948"/>
                </a:solidFill>
                <a:latin typeface="Encode Sans"/>
                <a:ea typeface="Encode Sans"/>
                <a:cs typeface="Encode Sans"/>
                <a:sym typeface="Encode Sans"/>
              </a:rPr>
              <a:t> run</a:t>
            </a:r>
            <a:r>
              <a:rPr lang="en-GB">
                <a:solidFill>
                  <a:schemeClr val="dk1"/>
                </a:solidFill>
                <a:latin typeface="Encode Sans"/>
                <a:ea typeface="Encode Sans"/>
                <a:cs typeface="Encode Sans"/>
                <a:sym typeface="Encode Sans"/>
              </a:rPr>
              <a:t> the graph flow (invoke).</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.compile()</a:t>
            </a:r>
            <a:r>
              <a:rPr lang="en-GB">
                <a:solidFill>
                  <a:schemeClr val="dk1"/>
                </a:solidFill>
                <a:latin typeface="Encode Sans"/>
                <a:ea typeface="Encode Sans"/>
                <a:cs typeface="Encode Sans"/>
                <a:sym typeface="Encode Sans"/>
              </a:rPr>
              <a:t>, runs a few structural checks (no orphaned nodes, every path reaches END, and so on) and returns a </a:t>
            </a:r>
            <a:r>
              <a:rPr b="1" lang="en-GB">
                <a:solidFill>
                  <a:srgbClr val="CE6948"/>
                </a:solidFill>
                <a:latin typeface="Encode Sans"/>
                <a:ea typeface="Encode Sans"/>
                <a:cs typeface="Encode Sans"/>
                <a:sym typeface="Encode Sans"/>
              </a:rPr>
              <a:t>CompiledStateGraph</a:t>
            </a:r>
            <a:endParaRPr b="1">
              <a:solidFill>
                <a:srgbClr val="CE6948"/>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CE6948"/>
              </a:buClr>
              <a:buSzPts val="1000"/>
              <a:buFont typeface="Encode Sans"/>
              <a:buChar char="○"/>
            </a:pPr>
            <a:r>
              <a:rPr lang="en-GB">
                <a:solidFill>
                  <a:schemeClr val="dk1"/>
                </a:solidFill>
                <a:latin typeface="Encode Sans"/>
                <a:ea typeface="Encode Sans"/>
                <a:cs typeface="Encode Sans"/>
                <a:sym typeface="Encode Sans"/>
              </a:rPr>
              <a:t>the compiled graph exposes the </a:t>
            </a:r>
            <a:r>
              <a:rPr b="1" lang="en-GB">
                <a:solidFill>
                  <a:srgbClr val="CE6948"/>
                </a:solidFill>
                <a:latin typeface="Encode Sans"/>
                <a:ea typeface="Encode Sans"/>
                <a:cs typeface="Encode Sans"/>
                <a:sym typeface="Encode Sans"/>
              </a:rPr>
              <a:t>invoke / stream ( ainvoke / astream is the async version)</a:t>
            </a:r>
            <a:endParaRPr b="1">
              <a:solidFill>
                <a:srgbClr val="CE6948"/>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.stream() </a:t>
            </a:r>
            <a:r>
              <a:rPr lang="en-GB">
                <a:solidFill>
                  <a:schemeClr val="dk1"/>
                </a:solidFill>
                <a:latin typeface="Encode Sans"/>
                <a:ea typeface="Encode Sans"/>
                <a:cs typeface="Encode Sans"/>
                <a:sym typeface="Encode Sans"/>
              </a:rPr>
              <a:t>on a graph yields one update per super-step by default, not token-by-token like a</a:t>
            </a:r>
            <a:r>
              <a:rPr b="1" lang="en-GB">
                <a:solidFill>
                  <a:srgbClr val="CE6948"/>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model's own</a:t>
            </a:r>
            <a:r>
              <a:rPr b="1" lang="en-GB">
                <a:solidFill>
                  <a:srgbClr val="CE6948"/>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.stream(),</a:t>
            </a:r>
            <a:r>
              <a:rPr b="1" lang="en-GB">
                <a:solidFill>
                  <a:srgbClr val="CE6948"/>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useful for watching which node just ran rather than watching text arrive.</a:t>
            </a:r>
            <a:endParaRPr>
              <a:solidFill>
                <a:schemeClr val="dk1"/>
              </a:solidFill>
              <a:latin typeface="Encode Sans"/>
              <a:ea typeface="Encode Sans"/>
              <a:cs typeface="Encode Sans"/>
              <a:sym typeface="Encode Sans"/>
            </a:endParaRPr>
          </a:p>
        </p:txBody>
      </p:sp>
      <p:sp>
        <p:nvSpPr>
          <p:cNvPr id="1282" name="Google Shape;1282;p124"/>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pSp>
        <p:nvGrpSpPr>
          <p:cNvPr id="1283" name="Google Shape;1283;p124"/>
          <p:cNvGrpSpPr/>
          <p:nvPr/>
        </p:nvGrpSpPr>
        <p:grpSpPr>
          <a:xfrm>
            <a:off x="704275" y="3325550"/>
            <a:ext cx="4486962" cy="1220700"/>
            <a:chOff x="1637643" y="2946096"/>
            <a:chExt cx="2733286" cy="1220700"/>
          </a:xfrm>
        </p:grpSpPr>
        <p:grpSp>
          <p:nvGrpSpPr>
            <p:cNvPr id="1284" name="Google Shape;1284;p124"/>
            <p:cNvGrpSpPr/>
            <p:nvPr/>
          </p:nvGrpSpPr>
          <p:grpSpPr>
            <a:xfrm>
              <a:off x="1637643" y="2946096"/>
              <a:ext cx="2733286" cy="1220700"/>
              <a:chOff x="1637693" y="2946096"/>
              <a:chExt cx="2282493" cy="1220700"/>
            </a:xfrm>
          </p:grpSpPr>
          <p:sp>
            <p:nvSpPr>
              <p:cNvPr id="1285" name="Google Shape;1285;p124"/>
              <p:cNvSpPr/>
              <p:nvPr/>
            </p:nvSpPr>
            <p:spPr>
              <a:xfrm>
                <a:off x="1638686" y="2946096"/>
                <a:ext cx="2281500" cy="12207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286" name="Google Shape;1286;p124"/>
              <p:cNvCxnSpPr/>
              <p:nvPr/>
            </p:nvCxnSpPr>
            <p:spPr>
              <a:xfrm>
                <a:off x="1637693" y="3256224"/>
                <a:ext cx="2282100" cy="0"/>
              </a:xfrm>
              <a:prstGeom prst="straightConnector1">
                <a:avLst/>
              </a:prstGeom>
              <a:noFill/>
              <a:ln cap="flat" cmpd="sng" w="9525">
                <a:solidFill>
                  <a:schemeClr val="dk2"/>
                </a:solidFill>
                <a:prstDash val="solid"/>
                <a:round/>
                <a:headEnd len="med" w="med" type="none"/>
                <a:tailEnd len="med" w="med" type="none"/>
              </a:ln>
            </p:spPr>
          </p:cxnSp>
        </p:grpSp>
        <p:sp>
          <p:nvSpPr>
            <p:cNvPr id="1287" name="Google Shape;1287;p124"/>
            <p:cNvSpPr txBox="1"/>
            <p:nvPr/>
          </p:nvSpPr>
          <p:spPr>
            <a:xfrm>
              <a:off x="1689201" y="3320075"/>
              <a:ext cx="2562900" cy="69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graph = builder.compile()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0080"/>
                  </a:solidFill>
                  <a:latin typeface="Consolas"/>
                  <a:ea typeface="Consolas"/>
                  <a:cs typeface="Consolas"/>
                  <a:sym typeface="Consolas"/>
                </a:rPr>
                <a:t>print</a:t>
              </a:r>
              <a:r>
                <a:rPr lang="en-GB" sz="1000">
                  <a:solidFill>
                    <a:srgbClr val="080808"/>
                  </a:solidFill>
                  <a:latin typeface="Consolas"/>
                  <a:ea typeface="Consolas"/>
                  <a:cs typeface="Consolas"/>
                  <a:sym typeface="Consolas"/>
                </a:rPr>
                <a:t>(graph.invoke({</a:t>
              </a:r>
              <a:r>
                <a:rPr lang="en-GB" sz="1000">
                  <a:solidFill>
                    <a:srgbClr val="067D17"/>
                  </a:solidFill>
                  <a:latin typeface="Consolas"/>
                  <a:ea typeface="Consolas"/>
                  <a:cs typeface="Consolas"/>
                  <a:sym typeface="Consolas"/>
                </a:rPr>
                <a:t>"messages"</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"human"</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"Hello"</a:t>
              </a:r>
              <a:r>
                <a:rPr lang="en-GB" sz="1000">
                  <a:solidFill>
                    <a:srgbClr val="080808"/>
                  </a:solidFill>
                  <a:latin typeface="Consolas"/>
                  <a:ea typeface="Consolas"/>
                  <a:cs typeface="Consolas"/>
                  <a:sym typeface="Consolas"/>
                </a:rPr>
                <a:t>)]}))</a:t>
              </a:r>
              <a:endParaRPr sz="1000">
                <a:solidFill>
                  <a:srgbClr val="0033B3"/>
                </a:solidFill>
                <a:latin typeface="Consolas"/>
                <a:ea typeface="Consolas"/>
                <a:cs typeface="Consolas"/>
                <a:sym typeface="Consolas"/>
              </a:endParaRPr>
            </a:p>
          </p:txBody>
        </p:sp>
      </p:grpSp>
      <p:grpSp>
        <p:nvGrpSpPr>
          <p:cNvPr id="1288" name="Google Shape;1288;p124"/>
          <p:cNvGrpSpPr/>
          <p:nvPr/>
        </p:nvGrpSpPr>
        <p:grpSpPr>
          <a:xfrm>
            <a:off x="836211" y="3429207"/>
            <a:ext cx="448950" cy="109200"/>
            <a:chOff x="1769550" y="3049750"/>
            <a:chExt cx="448950" cy="109200"/>
          </a:xfrm>
        </p:grpSpPr>
        <p:sp>
          <p:nvSpPr>
            <p:cNvPr id="1289" name="Google Shape;1289;p124"/>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290" name="Google Shape;1290;p124"/>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291" name="Google Shape;1291;p124"/>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sp>
        <p:nvSpPr>
          <p:cNvPr id="1292" name="Google Shape;1292;p1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125"/>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Memory &amp; Checkpointing</a:t>
            </a:r>
            <a:endParaRPr>
              <a:solidFill>
                <a:srgbClr val="CE6948"/>
              </a:solidFill>
            </a:endParaRPr>
          </a:p>
        </p:txBody>
      </p:sp>
      <p:sp>
        <p:nvSpPr>
          <p:cNvPr id="1298" name="Google Shape;1298;p125"/>
          <p:cNvSpPr txBox="1"/>
          <p:nvPr>
            <p:ph idx="1" type="body"/>
          </p:nvPr>
        </p:nvSpPr>
        <p:spPr>
          <a:xfrm>
            <a:off x="311700" y="1069550"/>
            <a:ext cx="8520600" cy="19419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Without memory, nothing carries over between calls, each</a:t>
            </a:r>
            <a:r>
              <a:rPr b="1" lang="en-GB">
                <a:solidFill>
                  <a:srgbClr val="CE6948"/>
                </a:solidFill>
                <a:latin typeface="Encode Sans"/>
                <a:ea typeface="Encode Sans"/>
                <a:cs typeface="Encode Sans"/>
                <a:sym typeface="Encode Sans"/>
              </a:rPr>
              <a:t> graph.invoke()</a:t>
            </a:r>
            <a:r>
              <a:rPr lang="en-GB">
                <a:solidFill>
                  <a:schemeClr val="dk1"/>
                </a:solidFill>
                <a:latin typeface="Encode Sans"/>
                <a:ea typeface="Encode Sans"/>
                <a:cs typeface="Encode Sans"/>
                <a:sym typeface="Encode Sans"/>
              </a:rPr>
              <a:t> starts from zero. LangGraph has 2 types of memory as below:</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Short-term memory:</a:t>
            </a:r>
            <a:r>
              <a:rPr lang="en-GB">
                <a:solidFill>
                  <a:schemeClr val="dk1"/>
                </a:solidFill>
                <a:latin typeface="Encode Sans"/>
                <a:ea typeface="Encode Sans"/>
                <a:cs typeface="Encode Sans"/>
                <a:sym typeface="Encode Sans"/>
              </a:rPr>
              <a:t> everything that happened within one thread, one ongoing conversation. Scoped to a single </a:t>
            </a:r>
            <a:r>
              <a:rPr b="1" lang="en-GB">
                <a:solidFill>
                  <a:srgbClr val="CE6948"/>
                </a:solidFill>
                <a:latin typeface="Encode Sans"/>
                <a:ea typeface="Encode Sans"/>
                <a:cs typeface="Encode Sans"/>
                <a:sym typeface="Encode Sans"/>
              </a:rPr>
              <a:t>thread_id</a:t>
            </a:r>
            <a:r>
              <a:rPr lang="en-GB">
                <a:solidFill>
                  <a:schemeClr val="dk1"/>
                </a:solidFill>
                <a:latin typeface="Encode Sans"/>
                <a:ea typeface="Encode Sans"/>
                <a:cs typeface="Encode Sans"/>
                <a:sym typeface="Encode Sans"/>
              </a:rPr>
              <a:t>.</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100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Long-term memory:</a:t>
            </a:r>
            <a:r>
              <a:rPr lang="en-GB">
                <a:solidFill>
                  <a:schemeClr val="dk1"/>
                </a:solidFill>
                <a:latin typeface="Encode Sans"/>
                <a:ea typeface="Encode Sans"/>
                <a:cs typeface="Encode Sans"/>
                <a:sym typeface="Encode Sans"/>
              </a:rPr>
              <a:t> information that follows a user, or an account, or whatever key you choose, across separate threads, conversations that have nothing to do with each other but should still share context.</a:t>
            </a:r>
            <a:endParaRPr>
              <a:solidFill>
                <a:schemeClr val="dk1"/>
              </a:solidFill>
              <a:latin typeface="Encode Sans"/>
              <a:ea typeface="Encode Sans"/>
              <a:cs typeface="Encode Sans"/>
              <a:sym typeface="Encode Sans"/>
            </a:endParaRPr>
          </a:p>
        </p:txBody>
      </p:sp>
      <p:sp>
        <p:nvSpPr>
          <p:cNvPr id="1299" name="Google Shape;1299;p125"/>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pic>
        <p:nvPicPr>
          <p:cNvPr id="1300" name="Google Shape;1300;p125"/>
          <p:cNvPicPr preferRelativeResize="0"/>
          <p:nvPr/>
        </p:nvPicPr>
        <p:blipFill>
          <a:blip r:embed="rId3">
            <a:alphaModFix/>
          </a:blip>
          <a:stretch>
            <a:fillRect/>
          </a:stretch>
        </p:blipFill>
        <p:spPr>
          <a:xfrm>
            <a:off x="3198487" y="3011450"/>
            <a:ext cx="3124188" cy="2035375"/>
          </a:xfrm>
          <a:prstGeom prst="rect">
            <a:avLst/>
          </a:prstGeom>
          <a:noFill/>
          <a:ln>
            <a:noFill/>
          </a:ln>
        </p:spPr>
      </p:pic>
      <p:sp>
        <p:nvSpPr>
          <p:cNvPr id="1301" name="Google Shape;1301;p1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126"/>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Memory &amp; Checkpointing</a:t>
            </a:r>
            <a:endParaRPr>
              <a:solidFill>
                <a:srgbClr val="CE6948"/>
              </a:solidFill>
            </a:endParaRPr>
          </a:p>
        </p:txBody>
      </p:sp>
      <p:sp>
        <p:nvSpPr>
          <p:cNvPr id="1307" name="Google Shape;1307;p126"/>
          <p:cNvSpPr txBox="1"/>
          <p:nvPr>
            <p:ph idx="1" type="body"/>
          </p:nvPr>
        </p:nvSpPr>
        <p:spPr>
          <a:xfrm>
            <a:off x="311700" y="1069550"/>
            <a:ext cx="8520600" cy="9051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Checkpointer </a:t>
            </a:r>
            <a:r>
              <a:rPr lang="en-GB">
                <a:solidFill>
                  <a:schemeClr val="dk1"/>
                </a:solidFill>
                <a:latin typeface="Encode Sans"/>
                <a:ea typeface="Encode Sans"/>
                <a:cs typeface="Encode Sans"/>
                <a:sym typeface="Encode Sans"/>
              </a:rPr>
              <a:t>handles the short-term memory using</a:t>
            </a:r>
            <a:r>
              <a:rPr b="1" lang="en-GB">
                <a:solidFill>
                  <a:srgbClr val="CE6948"/>
                </a:solidFill>
                <a:latin typeface="Encode Sans"/>
                <a:ea typeface="Encode Sans"/>
                <a:cs typeface="Encode Sans"/>
                <a:sym typeface="Encode Sans"/>
              </a:rPr>
              <a:t> InMemorySaver()</a:t>
            </a:r>
            <a:r>
              <a:rPr lang="en-GB">
                <a:solidFill>
                  <a:schemeClr val="dk1"/>
                </a:solidFill>
                <a:latin typeface="Encode Sans"/>
                <a:ea typeface="Encode Sans"/>
                <a:cs typeface="Encode Sans"/>
                <a:sym typeface="Encode Sans"/>
              </a:rPr>
              <a:t>, it stores checkpoints in a Python dict in RAM.</a:t>
            </a:r>
            <a:r>
              <a:rPr b="1" lang="en-GB">
                <a:solidFill>
                  <a:srgbClr val="CE6948"/>
                </a:solidFill>
                <a:latin typeface="Encode Sans"/>
                <a:ea typeface="Encode Sans"/>
                <a:cs typeface="Encode Sans"/>
                <a:sym typeface="Encode Sans"/>
              </a:rPr>
              <a:t> thread_id</a:t>
            </a:r>
            <a:r>
              <a:rPr lang="en-GB">
                <a:solidFill>
                  <a:schemeClr val="dk1"/>
                </a:solidFill>
                <a:latin typeface="Encode Sans"/>
                <a:ea typeface="Encode Sans"/>
                <a:cs typeface="Encode Sans"/>
                <a:sym typeface="Encode Sans"/>
              </a:rPr>
              <a:t> is the key that scopes this, two calls with the same</a:t>
            </a:r>
            <a:r>
              <a:rPr b="1" lang="en-GB">
                <a:solidFill>
                  <a:srgbClr val="CE6948"/>
                </a:solidFill>
                <a:latin typeface="Encode Sans"/>
                <a:ea typeface="Encode Sans"/>
                <a:cs typeface="Encode Sans"/>
                <a:sym typeface="Encode Sans"/>
              </a:rPr>
              <a:t> thread_id</a:t>
            </a:r>
            <a:r>
              <a:rPr lang="en-GB">
                <a:solidFill>
                  <a:schemeClr val="dk1"/>
                </a:solidFill>
                <a:latin typeface="Encode Sans"/>
                <a:ea typeface="Encode Sans"/>
                <a:cs typeface="Encode Sans"/>
                <a:sym typeface="Encode Sans"/>
              </a:rPr>
              <a:t> share history, a different </a:t>
            </a:r>
            <a:r>
              <a:rPr b="1" lang="en-GB">
                <a:solidFill>
                  <a:srgbClr val="CE6948"/>
                </a:solidFill>
                <a:latin typeface="Encode Sans"/>
                <a:ea typeface="Encode Sans"/>
                <a:cs typeface="Encode Sans"/>
                <a:sym typeface="Encode Sans"/>
              </a:rPr>
              <a:t>thread_id</a:t>
            </a:r>
            <a:r>
              <a:rPr lang="en-GB">
                <a:solidFill>
                  <a:schemeClr val="dk1"/>
                </a:solidFill>
                <a:latin typeface="Encode Sans"/>
                <a:ea typeface="Encode Sans"/>
                <a:cs typeface="Encode Sans"/>
                <a:sym typeface="Encode Sans"/>
              </a:rPr>
              <a:t> starts a brand new, empty conversation on the same compiled graph.</a:t>
            </a:r>
            <a:endParaRPr b="1">
              <a:solidFill>
                <a:srgbClr val="CE6948"/>
              </a:solidFill>
              <a:latin typeface="Encode Sans"/>
              <a:ea typeface="Encode Sans"/>
              <a:cs typeface="Encode Sans"/>
              <a:sym typeface="Encode Sans"/>
            </a:endParaRPr>
          </a:p>
        </p:txBody>
      </p:sp>
      <p:sp>
        <p:nvSpPr>
          <p:cNvPr id="1308" name="Google Shape;1308;p126"/>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pSp>
        <p:nvGrpSpPr>
          <p:cNvPr id="1309" name="Google Shape;1309;p126"/>
          <p:cNvGrpSpPr/>
          <p:nvPr/>
        </p:nvGrpSpPr>
        <p:grpSpPr>
          <a:xfrm>
            <a:off x="704275" y="2015682"/>
            <a:ext cx="7159088" cy="2878500"/>
            <a:chOff x="704275" y="3325550"/>
            <a:chExt cx="7159088" cy="2878500"/>
          </a:xfrm>
        </p:grpSpPr>
        <p:grpSp>
          <p:nvGrpSpPr>
            <p:cNvPr id="1310" name="Google Shape;1310;p126"/>
            <p:cNvGrpSpPr/>
            <p:nvPr/>
          </p:nvGrpSpPr>
          <p:grpSpPr>
            <a:xfrm>
              <a:off x="704275" y="3325550"/>
              <a:ext cx="7159088" cy="2878500"/>
              <a:chOff x="1637643" y="2946096"/>
              <a:chExt cx="4361043" cy="2878500"/>
            </a:xfrm>
          </p:grpSpPr>
          <p:grpSp>
            <p:nvGrpSpPr>
              <p:cNvPr id="1311" name="Google Shape;1311;p126"/>
              <p:cNvGrpSpPr/>
              <p:nvPr/>
            </p:nvGrpSpPr>
            <p:grpSpPr>
              <a:xfrm>
                <a:off x="1637643" y="2946096"/>
                <a:ext cx="4361043" cy="2878500"/>
                <a:chOff x="1637693" y="2946096"/>
                <a:chExt cx="3641790" cy="2878500"/>
              </a:xfrm>
            </p:grpSpPr>
            <p:sp>
              <p:nvSpPr>
                <p:cNvPr id="1312" name="Google Shape;1312;p126"/>
                <p:cNvSpPr/>
                <p:nvPr/>
              </p:nvSpPr>
              <p:spPr>
                <a:xfrm>
                  <a:off x="1639282" y="2946096"/>
                  <a:ext cx="3640200" cy="28785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313" name="Google Shape;1313;p126"/>
                <p:cNvCxnSpPr/>
                <p:nvPr/>
              </p:nvCxnSpPr>
              <p:spPr>
                <a:xfrm>
                  <a:off x="1637693" y="3256223"/>
                  <a:ext cx="3641400" cy="0"/>
                </a:xfrm>
                <a:prstGeom prst="straightConnector1">
                  <a:avLst/>
                </a:prstGeom>
                <a:noFill/>
                <a:ln cap="flat" cmpd="sng" w="9525">
                  <a:solidFill>
                    <a:schemeClr val="dk2"/>
                  </a:solidFill>
                  <a:prstDash val="solid"/>
                  <a:round/>
                  <a:headEnd len="med" w="med" type="none"/>
                  <a:tailEnd len="med" w="med" type="none"/>
                </a:ln>
              </p:spPr>
            </p:cxnSp>
          </p:grpSp>
          <p:sp>
            <p:nvSpPr>
              <p:cNvPr id="1314" name="Google Shape;1314;p126"/>
              <p:cNvSpPr txBox="1"/>
              <p:nvPr/>
            </p:nvSpPr>
            <p:spPr>
              <a:xfrm>
                <a:off x="1719908" y="3320075"/>
                <a:ext cx="4089300" cy="246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langgraph.checkpoint.memory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InMemorySaver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langgraph.graph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StateGraph</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builder = StateGraph(State)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checkpointer = InMemorySaver()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graph = builder.compile(</a:t>
                </a:r>
                <a:r>
                  <a:rPr lang="en-GB" sz="1000">
                    <a:solidFill>
                      <a:srgbClr val="660099"/>
                    </a:solidFill>
                    <a:latin typeface="Consolas"/>
                    <a:ea typeface="Consolas"/>
                    <a:cs typeface="Consolas"/>
                    <a:sym typeface="Consolas"/>
                  </a:rPr>
                  <a:t>checkpointer</a:t>
                </a:r>
                <a:r>
                  <a:rPr lang="en-GB" sz="1000">
                    <a:solidFill>
                      <a:srgbClr val="080808"/>
                    </a:solidFill>
                    <a:latin typeface="Consolas"/>
                    <a:ea typeface="Consolas"/>
                    <a:cs typeface="Consolas"/>
                    <a:sym typeface="Consolas"/>
                  </a:rPr>
                  <a:t>=checkpointer)</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config = {</a:t>
                </a:r>
                <a:r>
                  <a:rPr lang="en-GB" sz="1000">
                    <a:solidFill>
                      <a:srgbClr val="067D17"/>
                    </a:solidFill>
                    <a:latin typeface="Consolas"/>
                    <a:ea typeface="Consolas"/>
                    <a:cs typeface="Consolas"/>
                    <a:sym typeface="Consolas"/>
                  </a:rPr>
                  <a:t>"configurable"</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"thread_id"</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"conversation-1"</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graph.invoke({</a:t>
                </a:r>
                <a:r>
                  <a:rPr lang="en-GB" sz="1000">
                    <a:solidFill>
                      <a:srgbClr val="067D17"/>
                    </a:solidFill>
                    <a:latin typeface="Consolas"/>
                    <a:ea typeface="Consolas"/>
                    <a:cs typeface="Consolas"/>
                    <a:sym typeface="Consolas"/>
                  </a:rPr>
                  <a:t>"messages"</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"human"</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"My name is Ada."</a:t>
                </a:r>
                <a:r>
                  <a:rPr lang="en-GB" sz="1000">
                    <a:solidFill>
                      <a:srgbClr val="080808"/>
                    </a:solidFill>
                    <a:latin typeface="Consolas"/>
                    <a:ea typeface="Consolas"/>
                    <a:cs typeface="Consolas"/>
                    <a:sym typeface="Consolas"/>
                  </a:rPr>
                  <a:t>)]}, config)</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result = graph.invoke({</a:t>
                </a:r>
                <a:r>
                  <a:rPr lang="en-GB" sz="1000">
                    <a:solidFill>
                      <a:srgbClr val="067D17"/>
                    </a:solidFill>
                    <a:latin typeface="Consolas"/>
                    <a:ea typeface="Consolas"/>
                    <a:cs typeface="Consolas"/>
                    <a:sym typeface="Consolas"/>
                  </a:rPr>
                  <a:t>"messages"</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"human"</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"What's my name?"</a:t>
                </a:r>
                <a:r>
                  <a:rPr lang="en-GB" sz="1000">
                    <a:solidFill>
                      <a:srgbClr val="080808"/>
                    </a:solidFill>
                    <a:latin typeface="Consolas"/>
                    <a:ea typeface="Consolas"/>
                    <a:cs typeface="Consolas"/>
                    <a:sym typeface="Consolas"/>
                  </a:rPr>
                  <a:t>)]}, config)</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0080"/>
                    </a:solidFill>
                    <a:latin typeface="Consolas"/>
                    <a:ea typeface="Consolas"/>
                    <a:cs typeface="Consolas"/>
                    <a:sym typeface="Consolas"/>
                  </a:rPr>
                  <a:t>print</a:t>
                </a:r>
                <a:r>
                  <a:rPr lang="en-GB" sz="1000">
                    <a:solidFill>
                      <a:srgbClr val="080808"/>
                    </a:solidFill>
                    <a:latin typeface="Consolas"/>
                    <a:ea typeface="Consolas"/>
                    <a:cs typeface="Consolas"/>
                    <a:sym typeface="Consolas"/>
                  </a:rPr>
                  <a:t>(result[</a:t>
                </a:r>
                <a:r>
                  <a:rPr lang="en-GB" sz="1000">
                    <a:solidFill>
                      <a:srgbClr val="067D17"/>
                    </a:solidFill>
                    <a:latin typeface="Consolas"/>
                    <a:ea typeface="Consolas"/>
                    <a:cs typeface="Consolas"/>
                    <a:sym typeface="Consolas"/>
                  </a:rPr>
                  <a:t>"messages"</a:t>
                </a:r>
                <a:r>
                  <a:rPr lang="en-GB" sz="1000">
                    <a:solidFill>
                      <a:srgbClr val="080808"/>
                    </a:solidFill>
                    <a:latin typeface="Consolas"/>
                    <a:ea typeface="Consolas"/>
                    <a:cs typeface="Consolas"/>
                    <a:sym typeface="Consolas"/>
                  </a:rPr>
                  <a:t>][-</a:t>
                </a:r>
                <a:r>
                  <a:rPr lang="en-GB" sz="1000">
                    <a:solidFill>
                      <a:srgbClr val="1750EB"/>
                    </a:solidFill>
                    <a:latin typeface="Consolas"/>
                    <a:ea typeface="Consolas"/>
                    <a:cs typeface="Consolas"/>
                    <a:sym typeface="Consolas"/>
                  </a:rPr>
                  <a:t>1</a:t>
                </a:r>
                <a:r>
                  <a:rPr lang="en-GB" sz="1000">
                    <a:solidFill>
                      <a:srgbClr val="080808"/>
                    </a:solidFill>
                    <a:latin typeface="Consolas"/>
                    <a:ea typeface="Consolas"/>
                    <a:cs typeface="Consolas"/>
                    <a:sym typeface="Consolas"/>
                  </a:rPr>
                  <a:t>].content)</a:t>
                </a:r>
                <a:endParaRPr sz="1000">
                  <a:solidFill>
                    <a:srgbClr val="0033B3"/>
                  </a:solidFill>
                  <a:latin typeface="Consolas"/>
                  <a:ea typeface="Consolas"/>
                  <a:cs typeface="Consolas"/>
                  <a:sym typeface="Consolas"/>
                </a:endParaRPr>
              </a:p>
            </p:txBody>
          </p:sp>
        </p:grpSp>
        <p:grpSp>
          <p:nvGrpSpPr>
            <p:cNvPr id="1315" name="Google Shape;1315;p126"/>
            <p:cNvGrpSpPr/>
            <p:nvPr/>
          </p:nvGrpSpPr>
          <p:grpSpPr>
            <a:xfrm>
              <a:off x="836211" y="3429207"/>
              <a:ext cx="448950" cy="109200"/>
              <a:chOff x="1769550" y="3049750"/>
              <a:chExt cx="448950" cy="109200"/>
            </a:xfrm>
          </p:grpSpPr>
          <p:sp>
            <p:nvSpPr>
              <p:cNvPr id="1316" name="Google Shape;1316;p126"/>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317" name="Google Shape;1317;p126"/>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318" name="Google Shape;1318;p126"/>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grpSp>
      <p:sp>
        <p:nvSpPr>
          <p:cNvPr id="1319" name="Google Shape;1319;p1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sp>
        <p:nvSpPr>
          <p:cNvPr id="1324" name="Google Shape;1324;p127"/>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Memory &amp; Checkpointing</a:t>
            </a:r>
            <a:endParaRPr>
              <a:solidFill>
                <a:srgbClr val="CE6948"/>
              </a:solidFill>
            </a:endParaRPr>
          </a:p>
        </p:txBody>
      </p:sp>
      <p:sp>
        <p:nvSpPr>
          <p:cNvPr id="1325" name="Google Shape;1325;p127"/>
          <p:cNvSpPr txBox="1"/>
          <p:nvPr>
            <p:ph idx="1" type="body"/>
          </p:nvPr>
        </p:nvSpPr>
        <p:spPr>
          <a:xfrm>
            <a:off x="311700" y="1069550"/>
            <a:ext cx="8520600" cy="32463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Core Usage of </a:t>
            </a:r>
            <a:r>
              <a:rPr b="1" lang="en-GB">
                <a:solidFill>
                  <a:srgbClr val="CE6948"/>
                </a:solidFill>
                <a:latin typeface="Encode Sans"/>
                <a:ea typeface="Encode Sans"/>
                <a:cs typeface="Encode Sans"/>
                <a:sym typeface="Encode Sans"/>
              </a:rPr>
              <a:t>Checkpointer</a:t>
            </a:r>
            <a:endParaRPr b="1">
              <a:solidFill>
                <a:srgbClr val="CE6948"/>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chemeClr val="dk1"/>
              </a:buClr>
              <a:buSzPts val="1000"/>
              <a:buFont typeface="Encode Sans"/>
              <a:buChar char="○"/>
            </a:pPr>
            <a:r>
              <a:rPr b="1" lang="en-GB">
                <a:solidFill>
                  <a:srgbClr val="CE6948"/>
                </a:solidFill>
                <a:latin typeface="Encode Sans"/>
                <a:ea typeface="Encode Sans"/>
                <a:cs typeface="Encode Sans"/>
                <a:sym typeface="Encode Sans"/>
              </a:rPr>
              <a:t>Short-term memory:</a:t>
            </a:r>
            <a:r>
              <a:rPr lang="en-GB">
                <a:solidFill>
                  <a:schemeClr val="dk1"/>
                </a:solidFill>
                <a:latin typeface="Encode Sans"/>
                <a:ea typeface="Encode Sans"/>
                <a:cs typeface="Encode Sans"/>
                <a:sym typeface="Encode Sans"/>
              </a:rPr>
              <a:t> pass the same thread_id, get the same conversation back.</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chemeClr val="dk1"/>
              </a:buClr>
              <a:buSzPts val="1000"/>
              <a:buFont typeface="Encode Sans"/>
              <a:buChar char="○"/>
            </a:pPr>
            <a:r>
              <a:rPr b="1" lang="en-GB">
                <a:solidFill>
                  <a:srgbClr val="CE6948"/>
                </a:solidFill>
                <a:latin typeface="Encode Sans"/>
                <a:ea typeface="Encode Sans"/>
                <a:cs typeface="Encode Sans"/>
                <a:sym typeface="Encode Sans"/>
              </a:rPr>
              <a:t>Human-in-the-loop,</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pause and resume:</a:t>
            </a:r>
            <a:r>
              <a:rPr lang="en-GB">
                <a:solidFill>
                  <a:schemeClr val="dk1"/>
                </a:solidFill>
                <a:latin typeface="Encode Sans"/>
                <a:ea typeface="Encode Sans"/>
                <a:cs typeface="Encode Sans"/>
                <a:sym typeface="Encode Sans"/>
              </a:rPr>
              <a:t> </a:t>
            </a:r>
            <a:r>
              <a:rPr b="1" lang="en-GB">
                <a:solidFill>
                  <a:srgbClr val="CE6948"/>
                </a:solidFill>
                <a:latin typeface="Encode Sans"/>
                <a:ea typeface="Encode Sans"/>
                <a:cs typeface="Encode Sans"/>
                <a:sym typeface="Encode Sans"/>
              </a:rPr>
              <a:t>interrupt()</a:t>
            </a:r>
            <a:r>
              <a:rPr lang="en-GB">
                <a:solidFill>
                  <a:schemeClr val="dk1"/>
                </a:solidFill>
                <a:latin typeface="Encode Sans"/>
                <a:ea typeface="Encode Sans"/>
                <a:cs typeface="Encode Sans"/>
                <a:sym typeface="Encode Sans"/>
              </a:rPr>
              <a:t> pauses a node mid-run and waits for outside input, checkpointing is what makes the pause survivable, state has to persist while nothing is happening. Resuming happens via Command(resume=...), same thread_id, later call.</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chemeClr val="dk1"/>
              </a:buClr>
              <a:buSzPts val="1000"/>
              <a:buFont typeface="Encode Sans"/>
              <a:buChar char="○"/>
            </a:pPr>
            <a:r>
              <a:rPr b="1" lang="en-GB">
                <a:solidFill>
                  <a:srgbClr val="CE6948"/>
                </a:solidFill>
                <a:latin typeface="Encode Sans"/>
                <a:ea typeface="Encode Sans"/>
                <a:cs typeface="Encode Sans"/>
                <a:sym typeface="Encode Sans"/>
              </a:rPr>
              <a:t>Time travel and forking:</a:t>
            </a:r>
            <a:r>
              <a:rPr lang="en-GB">
                <a:solidFill>
                  <a:schemeClr val="dk1"/>
                </a:solidFill>
                <a:latin typeface="Encode Sans"/>
                <a:ea typeface="Encode Sans"/>
                <a:cs typeface="Encode Sans"/>
                <a:sym typeface="Encode Sans"/>
              </a:rPr>
              <a:t> every checkpoint is inspectable and replayable. get_state_history() lists past checkpoints for a thread, update_state() writes a modified value into one of them, creating a new checkpoint, invoking from that checkpoint's config replays or forks from that exact point instead of the start.</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chemeClr val="dk1"/>
              </a:buClr>
              <a:buSzPts val="1000"/>
              <a:buFont typeface="Encode Sans"/>
              <a:buChar char="○"/>
            </a:pPr>
            <a:r>
              <a:rPr b="1" lang="en-GB">
                <a:solidFill>
                  <a:srgbClr val="CE6948"/>
                </a:solidFill>
                <a:latin typeface="Encode Sans"/>
                <a:ea typeface="Encode Sans"/>
                <a:cs typeface="Encode Sans"/>
                <a:sym typeface="Encode Sans"/>
              </a:rPr>
              <a:t>Fault tolerance:</a:t>
            </a:r>
            <a:r>
              <a:rPr lang="en-GB">
                <a:solidFill>
                  <a:schemeClr val="dk1"/>
                </a:solidFill>
                <a:latin typeface="Encode Sans"/>
                <a:ea typeface="Encode Sans"/>
                <a:cs typeface="Encode Sans"/>
                <a:sym typeface="Encode Sans"/>
              </a:rPr>
              <a:t> if a node fails partway, a network timeout, a crash, resuming with the same thread_id picks up from the last successfully completed step, not the beginning. No re-running (and re-paying for) work that already finished.</a:t>
            </a:r>
            <a:r>
              <a:rPr lang="en-GB">
                <a:solidFill>
                  <a:schemeClr val="dk1"/>
                </a:solidFill>
                <a:latin typeface="Encode Sans"/>
                <a:ea typeface="Encode Sans"/>
                <a:cs typeface="Encode Sans"/>
                <a:sym typeface="Encode Sans"/>
              </a:rPr>
              <a:t> </a:t>
            </a:r>
            <a:endParaRPr>
              <a:solidFill>
                <a:schemeClr val="dk1"/>
              </a:solidFill>
              <a:latin typeface="Encode Sans"/>
              <a:ea typeface="Encode Sans"/>
              <a:cs typeface="Encode Sans"/>
              <a:sym typeface="Encode Sans"/>
            </a:endParaRPr>
          </a:p>
        </p:txBody>
      </p:sp>
      <p:sp>
        <p:nvSpPr>
          <p:cNvPr id="1326" name="Google Shape;1326;p127"/>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sp>
        <p:nvSpPr>
          <p:cNvPr id="1327" name="Google Shape;1327;p1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128"/>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Memory &amp; Checkpointing</a:t>
            </a:r>
            <a:endParaRPr>
              <a:solidFill>
                <a:srgbClr val="CE6948"/>
              </a:solidFill>
            </a:endParaRPr>
          </a:p>
        </p:txBody>
      </p:sp>
      <p:sp>
        <p:nvSpPr>
          <p:cNvPr id="1333" name="Google Shape;1333;p128"/>
          <p:cNvSpPr txBox="1"/>
          <p:nvPr>
            <p:ph idx="1" type="body"/>
          </p:nvPr>
        </p:nvSpPr>
        <p:spPr>
          <a:xfrm>
            <a:off x="311700" y="1069550"/>
            <a:ext cx="8709300" cy="40266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Store</a:t>
            </a:r>
            <a:r>
              <a:rPr b="1" lang="en-GB">
                <a:solidFill>
                  <a:srgbClr val="CE6948"/>
                </a:solidFill>
                <a:latin typeface="Encode Sans"/>
                <a:ea typeface="Encode Sans"/>
                <a:cs typeface="Encode Sans"/>
                <a:sym typeface="Encode Sans"/>
              </a:rPr>
              <a:t> </a:t>
            </a:r>
            <a:r>
              <a:rPr lang="en-GB">
                <a:solidFill>
                  <a:schemeClr val="dk1"/>
                </a:solidFill>
                <a:latin typeface="Encode Sans"/>
                <a:ea typeface="Encode Sans"/>
                <a:cs typeface="Encode Sans"/>
                <a:sym typeface="Encode Sans"/>
              </a:rPr>
              <a:t>handles long-term memory </a:t>
            </a:r>
            <a:r>
              <a:rPr lang="en-GB">
                <a:solidFill>
                  <a:schemeClr val="dk1"/>
                </a:solidFill>
                <a:latin typeface="Encode Sans"/>
                <a:ea typeface="Encode Sans"/>
                <a:cs typeface="Encode Sans"/>
                <a:sym typeface="Encode Sans"/>
              </a:rPr>
              <a:t>using</a:t>
            </a:r>
            <a:r>
              <a:rPr b="1" lang="en-GB">
                <a:solidFill>
                  <a:srgbClr val="CE6948"/>
                </a:solidFill>
                <a:latin typeface="Encode Sans"/>
                <a:ea typeface="Encode Sans"/>
                <a:cs typeface="Encode Sans"/>
                <a:sym typeface="Encode Sans"/>
              </a:rPr>
              <a:t> InMemoryStore()</a:t>
            </a:r>
            <a:endParaRPr b="1">
              <a:solidFill>
                <a:srgbClr val="CE6948"/>
              </a:solidFill>
              <a:latin typeface="Encode Sans"/>
              <a:ea typeface="Encode Sans"/>
              <a:cs typeface="Encode Sans"/>
              <a:sym typeface="Encode Sans"/>
            </a:endParaRPr>
          </a:p>
          <a:p>
            <a:pPr indent="0" lvl="0" marL="45720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45720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45720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45720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45720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45720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45720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45720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45720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45720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namespace</a:t>
            </a:r>
            <a:r>
              <a:rPr lang="en-GB">
                <a:solidFill>
                  <a:schemeClr val="dk1"/>
                </a:solidFill>
                <a:latin typeface="Encode Sans"/>
                <a:ea typeface="Encode Sans"/>
                <a:cs typeface="Encode Sans"/>
                <a:sym typeface="Encode Sans"/>
              </a:rPr>
              <a:t> scopes an entry to one specific thing, under</a:t>
            </a:r>
            <a:r>
              <a:rPr b="1" lang="en-GB">
                <a:solidFill>
                  <a:srgbClr val="CE6948"/>
                </a:solidFill>
                <a:latin typeface="Encode Sans"/>
                <a:ea typeface="Encode Sans"/>
                <a:cs typeface="Encode Sans"/>
                <a:sym typeface="Encode Sans"/>
              </a:rPr>
              <a:t> ("users", "user_123")</a:t>
            </a:r>
            <a:r>
              <a:rPr lang="en-GB">
                <a:solidFill>
                  <a:schemeClr val="dk1"/>
                </a:solidFill>
                <a:latin typeface="Encode Sans"/>
                <a:ea typeface="Encode Sans"/>
                <a:cs typeface="Encode Sans"/>
                <a:sym typeface="Encode Sans"/>
              </a:rPr>
              <a:t> belongs to that one user</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key</a:t>
            </a:r>
            <a:r>
              <a:rPr lang="en-GB">
                <a:solidFill>
                  <a:schemeClr val="dk1"/>
                </a:solidFill>
                <a:latin typeface="Encode Sans"/>
                <a:ea typeface="Encode Sans"/>
                <a:cs typeface="Encode Sans"/>
                <a:sym typeface="Encode Sans"/>
              </a:rPr>
              <a:t> names one entry inside that folder, </a:t>
            </a:r>
            <a:r>
              <a:rPr b="1" lang="en-GB">
                <a:solidFill>
                  <a:srgbClr val="CE6948"/>
                </a:solidFill>
                <a:latin typeface="Encode Sans"/>
                <a:ea typeface="Encode Sans"/>
                <a:cs typeface="Encode Sans"/>
                <a:sym typeface="Encode Sans"/>
              </a:rPr>
              <a:t>value</a:t>
            </a:r>
            <a:r>
              <a:rPr lang="en-GB">
                <a:solidFill>
                  <a:schemeClr val="dk1"/>
                </a:solidFill>
                <a:latin typeface="Encode Sans"/>
                <a:ea typeface="Encode Sans"/>
                <a:cs typeface="Encode Sans"/>
                <a:sym typeface="Encode Sans"/>
              </a:rPr>
              <a:t> is the actual data, any JSON-serializable dict</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 node reads and writes the store the way it reads and writes state, just through a separate store parameter instead</a:t>
            </a:r>
            <a:endParaRPr>
              <a:solidFill>
                <a:schemeClr val="dk1"/>
              </a:solidFill>
              <a:latin typeface="Encode Sans"/>
              <a:ea typeface="Encode Sans"/>
              <a:cs typeface="Encode Sans"/>
              <a:sym typeface="Encode Sans"/>
            </a:endParaRPr>
          </a:p>
        </p:txBody>
      </p:sp>
      <p:sp>
        <p:nvSpPr>
          <p:cNvPr id="1334" name="Google Shape;1334;p128"/>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pSp>
        <p:nvGrpSpPr>
          <p:cNvPr id="1335" name="Google Shape;1335;p128"/>
          <p:cNvGrpSpPr/>
          <p:nvPr/>
        </p:nvGrpSpPr>
        <p:grpSpPr>
          <a:xfrm>
            <a:off x="704275" y="1482276"/>
            <a:ext cx="7159088" cy="2398500"/>
            <a:chOff x="704275" y="3325544"/>
            <a:chExt cx="7159088" cy="2398500"/>
          </a:xfrm>
        </p:grpSpPr>
        <p:grpSp>
          <p:nvGrpSpPr>
            <p:cNvPr id="1336" name="Google Shape;1336;p128"/>
            <p:cNvGrpSpPr/>
            <p:nvPr/>
          </p:nvGrpSpPr>
          <p:grpSpPr>
            <a:xfrm>
              <a:off x="704275" y="3325544"/>
              <a:ext cx="7159088" cy="2398500"/>
              <a:chOff x="1637643" y="2946090"/>
              <a:chExt cx="4361043" cy="2398500"/>
            </a:xfrm>
          </p:grpSpPr>
          <p:grpSp>
            <p:nvGrpSpPr>
              <p:cNvPr id="1337" name="Google Shape;1337;p128"/>
              <p:cNvGrpSpPr/>
              <p:nvPr/>
            </p:nvGrpSpPr>
            <p:grpSpPr>
              <a:xfrm>
                <a:off x="1637643" y="2946090"/>
                <a:ext cx="4361043" cy="2398500"/>
                <a:chOff x="1637693" y="2946090"/>
                <a:chExt cx="3641790" cy="2398500"/>
              </a:xfrm>
            </p:grpSpPr>
            <p:sp>
              <p:nvSpPr>
                <p:cNvPr id="1338" name="Google Shape;1338;p128"/>
                <p:cNvSpPr/>
                <p:nvPr/>
              </p:nvSpPr>
              <p:spPr>
                <a:xfrm>
                  <a:off x="1639282" y="2946090"/>
                  <a:ext cx="3640200" cy="23985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339" name="Google Shape;1339;p128"/>
                <p:cNvCxnSpPr/>
                <p:nvPr/>
              </p:nvCxnSpPr>
              <p:spPr>
                <a:xfrm>
                  <a:off x="1637693" y="3256223"/>
                  <a:ext cx="3641400" cy="0"/>
                </a:xfrm>
                <a:prstGeom prst="straightConnector1">
                  <a:avLst/>
                </a:prstGeom>
                <a:noFill/>
                <a:ln cap="flat" cmpd="sng" w="9525">
                  <a:solidFill>
                    <a:schemeClr val="dk2"/>
                  </a:solidFill>
                  <a:prstDash val="solid"/>
                  <a:round/>
                  <a:headEnd len="med" w="med" type="none"/>
                  <a:tailEnd len="med" w="med" type="none"/>
                </a:ln>
              </p:spPr>
            </p:cxnSp>
          </p:grpSp>
          <p:sp>
            <p:nvSpPr>
              <p:cNvPr id="1340" name="Google Shape;1340;p128"/>
              <p:cNvSpPr txBox="1"/>
              <p:nvPr/>
            </p:nvSpPr>
            <p:spPr>
              <a:xfrm>
                <a:off x="1719908" y="3320075"/>
                <a:ext cx="4089300" cy="193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langgraph.graph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StateGraph</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033B3"/>
                    </a:solidFill>
                    <a:latin typeface="Consolas"/>
                    <a:ea typeface="Consolas"/>
                    <a:cs typeface="Consolas"/>
                    <a:sym typeface="Consolas"/>
                  </a:rPr>
                  <a:t>from </a:t>
                </a:r>
                <a:r>
                  <a:rPr lang="en-GB" sz="1000">
                    <a:solidFill>
                      <a:srgbClr val="080808"/>
                    </a:solidFill>
                    <a:latin typeface="Consolas"/>
                    <a:ea typeface="Consolas"/>
                    <a:cs typeface="Consolas"/>
                    <a:sym typeface="Consolas"/>
                  </a:rPr>
                  <a:t>langgraph.store.memory </a:t>
                </a:r>
                <a:r>
                  <a:rPr lang="en-GB" sz="1000">
                    <a:solidFill>
                      <a:srgbClr val="0033B3"/>
                    </a:solidFill>
                    <a:latin typeface="Consolas"/>
                    <a:ea typeface="Consolas"/>
                    <a:cs typeface="Consolas"/>
                    <a:sym typeface="Consolas"/>
                  </a:rPr>
                  <a:t>import </a:t>
                </a:r>
                <a:r>
                  <a:rPr lang="en-GB" sz="1000">
                    <a:solidFill>
                      <a:srgbClr val="080808"/>
                    </a:solidFill>
                    <a:latin typeface="Consolas"/>
                    <a:ea typeface="Consolas"/>
                    <a:cs typeface="Consolas"/>
                    <a:sym typeface="Consolas"/>
                  </a:rPr>
                  <a:t>InMemoryStore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store = InMemoryStore()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i="1" lang="en-GB" sz="1000">
                    <a:solidFill>
                      <a:srgbClr val="8C8C8C"/>
                    </a:solidFill>
                    <a:latin typeface="Consolas"/>
                    <a:ea typeface="Consolas"/>
                    <a:cs typeface="Consolas"/>
                    <a:sym typeface="Consolas"/>
                  </a:rPr>
                  <a:t># namespace scopes this entry to one user, key and value are yours to define</a:t>
                </a:r>
                <a:endParaRPr i="1" sz="1000">
                  <a:solidFill>
                    <a:srgbClr val="8C8C8C"/>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store.put((</a:t>
                </a:r>
                <a:r>
                  <a:rPr lang="en-GB" sz="1000">
                    <a:solidFill>
                      <a:srgbClr val="067D17"/>
                    </a:solidFill>
                    <a:latin typeface="Consolas"/>
                    <a:ea typeface="Consolas"/>
                    <a:cs typeface="Consolas"/>
                    <a:sym typeface="Consolas"/>
                  </a:rPr>
                  <a:t>"users"</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"user_123"</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"preferences"</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"favorite_color"</a:t>
                </a:r>
                <a:r>
                  <a:rPr lang="en-GB" sz="1000">
                    <a:solidFill>
                      <a:srgbClr val="080808"/>
                    </a:solidFill>
                    <a:latin typeface="Consolas"/>
                    <a:ea typeface="Consolas"/>
                    <a:cs typeface="Consolas"/>
                    <a:sym typeface="Consolas"/>
                  </a:rPr>
                  <a:t>: </a:t>
                </a:r>
                <a:r>
                  <a:rPr lang="en-GB" sz="1000">
                    <a:solidFill>
                      <a:srgbClr val="067D17"/>
                    </a:solidFill>
                    <a:latin typeface="Consolas"/>
                    <a:ea typeface="Consolas"/>
                    <a:cs typeface="Consolas"/>
                    <a:sym typeface="Consolas"/>
                  </a:rPr>
                  <a:t>"blue"</a:t>
                </a:r>
                <a:r>
                  <a:rPr lang="en-GB" sz="1000">
                    <a:solidFill>
                      <a:srgbClr val="080808"/>
                    </a:solidFill>
                    <a:latin typeface="Consolas"/>
                    <a:ea typeface="Consolas"/>
                    <a:cs typeface="Consolas"/>
                    <a:sym typeface="Consolas"/>
                  </a:rPr>
                  <a:t>})</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builder = StateGraph(State)</a:t>
                </a:r>
                <a:endParaRPr sz="1000">
                  <a:solidFill>
                    <a:srgbClr val="080808"/>
                  </a:solidFill>
                  <a:latin typeface="Consolas"/>
                  <a:ea typeface="Consolas"/>
                  <a:cs typeface="Consolas"/>
                  <a:sym typeface="Consolas"/>
                </a:endParaRPr>
              </a:p>
              <a:p>
                <a:pPr indent="0" lvl="0" marL="0" rtl="0" algn="l">
                  <a:lnSpc>
                    <a:spcPct val="115000"/>
                  </a:lnSpc>
                  <a:spcBef>
                    <a:spcPts val="0"/>
                  </a:spcBef>
                  <a:spcAft>
                    <a:spcPts val="0"/>
                  </a:spcAft>
                  <a:buNone/>
                </a:pPr>
                <a:r>
                  <a:rPr lang="en-GB" sz="1000">
                    <a:solidFill>
                      <a:srgbClr val="080808"/>
                    </a:solidFill>
                    <a:latin typeface="Consolas"/>
                    <a:ea typeface="Consolas"/>
                    <a:cs typeface="Consolas"/>
                    <a:sym typeface="Consolas"/>
                  </a:rPr>
                  <a:t>graph = builder.compile(</a:t>
                </a:r>
                <a:r>
                  <a:rPr lang="en-GB" sz="1000">
                    <a:solidFill>
                      <a:srgbClr val="660099"/>
                    </a:solidFill>
                    <a:latin typeface="Consolas"/>
                    <a:ea typeface="Consolas"/>
                    <a:cs typeface="Consolas"/>
                    <a:sym typeface="Consolas"/>
                  </a:rPr>
                  <a:t>store</a:t>
                </a:r>
                <a:r>
                  <a:rPr lang="en-GB" sz="1000">
                    <a:solidFill>
                      <a:srgbClr val="080808"/>
                    </a:solidFill>
                    <a:latin typeface="Consolas"/>
                    <a:ea typeface="Consolas"/>
                    <a:cs typeface="Consolas"/>
                    <a:sym typeface="Consolas"/>
                  </a:rPr>
                  <a:t>=store)</a:t>
                </a:r>
                <a:endParaRPr sz="1000">
                  <a:solidFill>
                    <a:srgbClr val="0033B3"/>
                  </a:solidFill>
                  <a:latin typeface="Consolas"/>
                  <a:ea typeface="Consolas"/>
                  <a:cs typeface="Consolas"/>
                  <a:sym typeface="Consolas"/>
                </a:endParaRPr>
              </a:p>
            </p:txBody>
          </p:sp>
        </p:grpSp>
        <p:grpSp>
          <p:nvGrpSpPr>
            <p:cNvPr id="1341" name="Google Shape;1341;p128"/>
            <p:cNvGrpSpPr/>
            <p:nvPr/>
          </p:nvGrpSpPr>
          <p:grpSpPr>
            <a:xfrm>
              <a:off x="836211" y="3429207"/>
              <a:ext cx="448950" cy="109200"/>
              <a:chOff x="1769550" y="3049750"/>
              <a:chExt cx="448950" cy="109200"/>
            </a:xfrm>
          </p:grpSpPr>
          <p:sp>
            <p:nvSpPr>
              <p:cNvPr id="1342" name="Google Shape;1342;p128"/>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343" name="Google Shape;1343;p128"/>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344" name="Google Shape;1344;p128"/>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grpSp>
      <p:sp>
        <p:nvSpPr>
          <p:cNvPr id="1345" name="Google Shape;1345;p1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129"/>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Memory &amp; Checkpointing</a:t>
            </a:r>
            <a:endParaRPr>
              <a:solidFill>
                <a:srgbClr val="CE6948"/>
              </a:solidFill>
            </a:endParaRPr>
          </a:p>
        </p:txBody>
      </p:sp>
      <p:sp>
        <p:nvSpPr>
          <p:cNvPr id="1351" name="Google Shape;1351;p129"/>
          <p:cNvSpPr txBox="1"/>
          <p:nvPr>
            <p:ph idx="1" type="body"/>
          </p:nvPr>
        </p:nvSpPr>
        <p:spPr>
          <a:xfrm>
            <a:off x="311700" y="1069550"/>
            <a:ext cx="8709300" cy="22056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Core Usage of </a:t>
            </a:r>
            <a:r>
              <a:rPr b="1" lang="en-GB">
                <a:solidFill>
                  <a:srgbClr val="CE6948"/>
                </a:solidFill>
                <a:latin typeface="Encode Sans"/>
                <a:ea typeface="Encode Sans"/>
                <a:cs typeface="Encode Sans"/>
                <a:sym typeface="Encode Sans"/>
              </a:rPr>
              <a:t>Store</a:t>
            </a:r>
            <a:endParaRPr b="1">
              <a:solidFill>
                <a:srgbClr val="CE6948"/>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Personalization:</a:t>
            </a:r>
            <a:r>
              <a:rPr lang="en-GB">
                <a:solidFill>
                  <a:schemeClr val="dk1"/>
                </a:solidFill>
                <a:latin typeface="Encode Sans"/>
                <a:ea typeface="Encode Sans"/>
                <a:cs typeface="Encode Sans"/>
                <a:sym typeface="Encode Sans"/>
              </a:rPr>
              <a:t> a user's preferences, remembered once, available in every future conversation with them, not just the one where they mentioned it.</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Cross-session facts:</a:t>
            </a:r>
            <a:r>
              <a:rPr lang="en-GB">
                <a:solidFill>
                  <a:schemeClr val="dk1"/>
                </a:solidFill>
                <a:latin typeface="Encode Sans"/>
                <a:ea typeface="Encode Sans"/>
                <a:cs typeface="Encode Sans"/>
                <a:sym typeface="Encode Sans"/>
              </a:rPr>
              <a:t> something learned in one conversation, a stated goal, a dietary restriction, still known in a completely separate, later one with no thread in common.</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chemeClr val="dk1"/>
              </a:buClr>
              <a:buSzPts val="1000"/>
              <a:buFont typeface="Encode Sans"/>
              <a:buChar char="○"/>
            </a:pPr>
            <a:r>
              <a:rPr b="1" lang="en-GB">
                <a:solidFill>
                  <a:srgbClr val="CE6948"/>
                </a:solidFill>
                <a:latin typeface="Encode Sans"/>
                <a:ea typeface="Encode Sans"/>
                <a:cs typeface="Encode Sans"/>
                <a:sym typeface="Encode Sans"/>
              </a:rPr>
              <a:t>Semantic search over memories:</a:t>
            </a:r>
            <a:r>
              <a:rPr lang="en-GB">
                <a:solidFill>
                  <a:schemeClr val="dk1"/>
                </a:solidFill>
                <a:latin typeface="Encode Sans"/>
                <a:ea typeface="Encode Sans"/>
                <a:cs typeface="Encode Sans"/>
                <a:sym typeface="Encode Sans"/>
              </a:rPr>
              <a:t> store.search(namespace, query="dietary restrictions") finds relevant entries by meaning, not exact key, useful once a user's namespace holds many unrelated facts and you don't know which key has what you need.</a:t>
            </a:r>
            <a:endParaRPr>
              <a:solidFill>
                <a:schemeClr val="dk1"/>
              </a:solidFill>
              <a:latin typeface="Encode Sans"/>
              <a:ea typeface="Encode Sans"/>
              <a:cs typeface="Encode Sans"/>
              <a:sym typeface="Encode Sans"/>
            </a:endParaRPr>
          </a:p>
        </p:txBody>
      </p:sp>
      <p:sp>
        <p:nvSpPr>
          <p:cNvPr id="1352" name="Google Shape;1352;p129"/>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sp>
        <p:nvSpPr>
          <p:cNvPr id="1353" name="Google Shape;1353;p1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130"/>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Memory &amp; Checkpointing</a:t>
            </a:r>
            <a:endParaRPr>
              <a:solidFill>
                <a:srgbClr val="CE6948"/>
              </a:solidFill>
            </a:endParaRPr>
          </a:p>
        </p:txBody>
      </p:sp>
      <p:sp>
        <p:nvSpPr>
          <p:cNvPr id="1359" name="Google Shape;1359;p130"/>
          <p:cNvSpPr txBox="1"/>
          <p:nvPr>
            <p:ph idx="1" type="body"/>
          </p:nvPr>
        </p:nvSpPr>
        <p:spPr>
          <a:xfrm>
            <a:off x="311700" y="1069550"/>
            <a:ext cx="8709300" cy="29862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D97757"/>
              </a:buClr>
              <a:buSzPts val="1000"/>
              <a:buFont typeface="Encode Sans"/>
              <a:buChar char="●"/>
            </a:pPr>
            <a:r>
              <a:rPr b="1" lang="en-GB">
                <a:solidFill>
                  <a:srgbClr val="CE6948"/>
                </a:solidFill>
                <a:latin typeface="Encode Sans"/>
                <a:ea typeface="Encode Sans"/>
                <a:cs typeface="Encode Sans"/>
                <a:sym typeface="Encode Sans"/>
              </a:rPr>
              <a:t>Checkpointer and Store</a:t>
            </a:r>
            <a:endParaRPr b="1">
              <a:solidFill>
                <a:srgbClr val="CE6948"/>
              </a:solidFill>
              <a:latin typeface="Encode Sans"/>
              <a:ea typeface="Encode Sans"/>
              <a:cs typeface="Encode Sans"/>
              <a:sym typeface="Encode Sans"/>
            </a:endParaRPr>
          </a:p>
          <a:p>
            <a:pPr indent="0" lvl="0" marL="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0" lvl="0" marL="0" marR="0" rtl="0" algn="just">
              <a:lnSpc>
                <a:spcPct val="130000"/>
              </a:lnSpc>
              <a:spcBef>
                <a:spcPts val="0"/>
              </a:spcBef>
              <a:spcAft>
                <a:spcPts val="0"/>
              </a:spcAft>
              <a:buNone/>
            </a:pPr>
            <a:r>
              <a:t/>
            </a:r>
            <a:endParaRPr b="1">
              <a:solidFill>
                <a:srgbClr val="CE6948"/>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Note: InMemorySaver</a:t>
            </a:r>
            <a:r>
              <a:rPr lang="en-GB">
                <a:solidFill>
                  <a:schemeClr val="dk1"/>
                </a:solidFill>
                <a:latin typeface="Encode Sans"/>
                <a:ea typeface="Encode Sans"/>
                <a:cs typeface="Encode Sans"/>
                <a:sym typeface="Encode Sans"/>
              </a:rPr>
              <a:t> and </a:t>
            </a:r>
            <a:r>
              <a:rPr b="1" lang="en-GB">
                <a:solidFill>
                  <a:srgbClr val="CE6948"/>
                </a:solidFill>
                <a:latin typeface="Encode Sans"/>
                <a:ea typeface="Encode Sans"/>
                <a:cs typeface="Encode Sans"/>
                <a:sym typeface="Encode Sans"/>
              </a:rPr>
              <a:t>InMemoryStore</a:t>
            </a:r>
            <a:r>
              <a:rPr lang="en-GB">
                <a:solidFill>
                  <a:schemeClr val="dk1"/>
                </a:solidFill>
                <a:latin typeface="Encode Sans"/>
                <a:ea typeface="Encode Sans"/>
                <a:cs typeface="Encode Sans"/>
                <a:sym typeface="Encode Sans"/>
              </a:rPr>
              <a:t>, are both lost the moment the process exits, fine for development, not for anything real.</a:t>
            </a:r>
            <a:endParaRPr>
              <a:solidFill>
                <a:schemeClr val="dk1"/>
              </a:solidFill>
              <a:latin typeface="Encode Sans"/>
              <a:ea typeface="Encode Sans"/>
              <a:cs typeface="Encode Sans"/>
              <a:sym typeface="Encode Sans"/>
            </a:endParaRPr>
          </a:p>
        </p:txBody>
      </p:sp>
      <p:sp>
        <p:nvSpPr>
          <p:cNvPr id="1360" name="Google Shape;1360;p130"/>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aphicFrame>
        <p:nvGraphicFramePr>
          <p:cNvPr id="1361" name="Google Shape;1361;p130"/>
          <p:cNvGraphicFramePr/>
          <p:nvPr/>
        </p:nvGraphicFramePr>
        <p:xfrm>
          <a:off x="541550" y="1558887"/>
          <a:ext cx="3000000" cy="3000000"/>
        </p:xfrm>
        <a:graphic>
          <a:graphicData uri="http://schemas.openxmlformats.org/drawingml/2006/table">
            <a:tbl>
              <a:tblPr>
                <a:noFill/>
                <a:tableStyleId>{72E992ED-6B25-4E48-9C0A-EFB178C94E49}</a:tableStyleId>
              </a:tblPr>
              <a:tblGrid>
                <a:gridCol w="1612175"/>
                <a:gridCol w="1612175"/>
                <a:gridCol w="1612175"/>
                <a:gridCol w="1612175"/>
                <a:gridCol w="1612175"/>
              </a:tblGrid>
              <a:tr h="500625">
                <a:tc>
                  <a:txBody>
                    <a:bodyPr/>
                    <a:lstStyle/>
                    <a:p>
                      <a:pPr indent="0" lvl="0" marL="0" rtl="0" algn="l">
                        <a:spcBef>
                          <a:spcPts val="0"/>
                        </a:spcBef>
                        <a:spcAft>
                          <a:spcPts val="0"/>
                        </a:spcAft>
                        <a:buNone/>
                      </a:pPr>
                      <a:r>
                        <a:t/>
                      </a:r>
                      <a:endParaRPr sz="95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950">
                          <a:solidFill>
                            <a:srgbClr val="FFFFFF"/>
                          </a:solidFill>
                          <a:latin typeface="Encode Sans"/>
                          <a:ea typeface="Encode Sans"/>
                          <a:cs typeface="Encode Sans"/>
                          <a:sym typeface="Encode Sans"/>
                        </a:rPr>
                        <a:t>Memory type</a:t>
                      </a:r>
                      <a:endParaRPr b="1" sz="95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950">
                          <a:solidFill>
                            <a:srgbClr val="FFFFFF"/>
                          </a:solidFill>
                          <a:latin typeface="Encode Sans"/>
                          <a:ea typeface="Encode Sans"/>
                          <a:cs typeface="Encode Sans"/>
                          <a:sym typeface="Encode Sans"/>
                        </a:rPr>
                        <a:t>When to use it</a:t>
                      </a:r>
                      <a:endParaRPr b="1" sz="95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950">
                          <a:solidFill>
                            <a:srgbClr val="FFFFFF"/>
                          </a:solidFill>
                          <a:latin typeface="Encode Sans"/>
                          <a:ea typeface="Encode Sans"/>
                          <a:cs typeface="Encode Sans"/>
                          <a:sym typeface="Encode Sans"/>
                        </a:rPr>
                        <a:t>Real-world example</a:t>
                      </a:r>
                      <a:endParaRPr b="1" sz="95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b="1" lang="en-GB" sz="950">
                          <a:solidFill>
                            <a:srgbClr val="FFFFFF"/>
                          </a:solidFill>
                          <a:latin typeface="Encode Sans"/>
                          <a:ea typeface="Encode Sans"/>
                          <a:cs typeface="Encode Sans"/>
                          <a:sym typeface="Encode Sans"/>
                        </a:rPr>
                        <a:t>Durable alternatives</a:t>
                      </a:r>
                      <a:endParaRPr b="1" sz="950">
                        <a:solidFill>
                          <a:srgbClr val="FFFFF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solidFill>
                      <a:srgbClr val="999999"/>
                    </a:solidFill>
                  </a:tcPr>
                </a:tc>
              </a:tr>
              <a:tr h="500625">
                <a:tc>
                  <a:txBody>
                    <a:bodyPr/>
                    <a:lstStyle/>
                    <a:p>
                      <a:pPr indent="0" lvl="0" marL="0" rtl="0" algn="l">
                        <a:lnSpc>
                          <a:spcPct val="115000"/>
                        </a:lnSpc>
                        <a:spcBef>
                          <a:spcPts val="0"/>
                        </a:spcBef>
                        <a:spcAft>
                          <a:spcPts val="0"/>
                        </a:spcAft>
                        <a:buNone/>
                      </a:pPr>
                      <a:r>
                        <a:rPr b="1" lang="en-GB" sz="950">
                          <a:solidFill>
                            <a:srgbClr val="1F1F1F"/>
                          </a:solidFill>
                          <a:latin typeface="Encode Sans"/>
                          <a:ea typeface="Encode Sans"/>
                          <a:cs typeface="Encode Sans"/>
                          <a:sym typeface="Encode Sans"/>
                        </a:rPr>
                        <a:t>Checkpointer</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Short-term (one thread)</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Keeping track of one ongoing chat</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A chatbot recalling what you said two messages ago</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SqliteSaver, </a:t>
                      </a:r>
                      <a:endParaRPr sz="950">
                        <a:solidFill>
                          <a:srgbClr val="1F1F1F"/>
                        </a:solidFill>
                        <a:latin typeface="Encode Sans"/>
                        <a:ea typeface="Encode Sans"/>
                        <a:cs typeface="Encode Sans"/>
                        <a:sym typeface="Encode Sans"/>
                      </a:endParaRPr>
                    </a:p>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PostgresSaver</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r h="500625">
                <a:tc>
                  <a:txBody>
                    <a:bodyPr/>
                    <a:lstStyle/>
                    <a:p>
                      <a:pPr indent="0" lvl="0" marL="0" rtl="0" algn="l">
                        <a:lnSpc>
                          <a:spcPct val="115000"/>
                        </a:lnSpc>
                        <a:spcBef>
                          <a:spcPts val="0"/>
                        </a:spcBef>
                        <a:spcAft>
                          <a:spcPts val="0"/>
                        </a:spcAft>
                        <a:buNone/>
                      </a:pPr>
                      <a:r>
                        <a:rPr b="1" lang="en-GB" sz="950">
                          <a:solidFill>
                            <a:srgbClr val="1F1F1F"/>
                          </a:solidFill>
                          <a:latin typeface="Encode Sans"/>
                          <a:ea typeface="Encode Sans"/>
                          <a:cs typeface="Encode Sans"/>
                          <a:sym typeface="Encode Sans"/>
                        </a:rPr>
                        <a:t>Store</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Long-term (across threads)</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Remembering something across separate chats</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Remembering a user's favorite color the next time they open a brand new chat, days later</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950">
                          <a:solidFill>
                            <a:srgbClr val="1F1F1F"/>
                          </a:solidFill>
                          <a:latin typeface="Encode Sans"/>
                          <a:ea typeface="Encode Sans"/>
                          <a:cs typeface="Encode Sans"/>
                          <a:sym typeface="Encode Sans"/>
                        </a:rPr>
                        <a:t>SqliteStore,</a:t>
                      </a:r>
                      <a:br>
                        <a:rPr lang="en-GB" sz="950">
                          <a:solidFill>
                            <a:srgbClr val="1F1F1F"/>
                          </a:solidFill>
                          <a:latin typeface="Encode Sans"/>
                          <a:ea typeface="Encode Sans"/>
                          <a:cs typeface="Encode Sans"/>
                          <a:sym typeface="Encode Sans"/>
                        </a:rPr>
                      </a:br>
                      <a:r>
                        <a:rPr lang="en-GB" sz="950">
                          <a:solidFill>
                            <a:srgbClr val="1F1F1F"/>
                          </a:solidFill>
                          <a:latin typeface="Encode Sans"/>
                          <a:ea typeface="Encode Sans"/>
                          <a:cs typeface="Encode Sans"/>
                          <a:sym typeface="Encode Sans"/>
                        </a:rPr>
                        <a:t>PostgresStore</a:t>
                      </a:r>
                      <a:endParaRPr sz="950">
                        <a:solidFill>
                          <a:srgbClr val="1F1F1F"/>
                        </a:solidFill>
                        <a:latin typeface="Encode Sans"/>
                        <a:ea typeface="Encode Sans"/>
                        <a:cs typeface="Encode Sans"/>
                        <a:sym typeface="Encode Sans"/>
                      </a:endParaRPr>
                    </a:p>
                  </a:txBody>
                  <a:tcPr marT="36000" marB="36000" marR="36000" marL="36000" anchor="ctr">
                    <a:lnL cap="flat" cmpd="sng" w="11900">
                      <a:solidFill>
                        <a:srgbClr val="C4C7C5"/>
                      </a:solidFill>
                      <a:prstDash val="solid"/>
                      <a:round/>
                      <a:headEnd len="sm" w="sm" type="none"/>
                      <a:tailEnd len="sm" w="sm" type="none"/>
                    </a:lnL>
                    <a:lnR cap="flat" cmpd="sng" w="11900">
                      <a:solidFill>
                        <a:srgbClr val="C4C7C5"/>
                      </a:solidFill>
                      <a:prstDash val="solid"/>
                      <a:round/>
                      <a:headEnd len="sm" w="sm" type="none"/>
                      <a:tailEnd len="sm" w="sm" type="none"/>
                    </a:lnR>
                    <a:lnT cap="flat" cmpd="sng" w="11900">
                      <a:solidFill>
                        <a:srgbClr val="C4C7C5"/>
                      </a:solidFill>
                      <a:prstDash val="solid"/>
                      <a:round/>
                      <a:headEnd len="sm" w="sm" type="none"/>
                      <a:tailEnd len="sm" w="sm" type="none"/>
                    </a:lnT>
                    <a:lnB cap="flat" cmpd="sng" w="11900">
                      <a:solidFill>
                        <a:srgbClr val="C4C7C5"/>
                      </a:solidFill>
                      <a:prstDash val="solid"/>
                      <a:round/>
                      <a:headEnd len="sm" w="sm" type="none"/>
                      <a:tailEnd len="sm" w="sm" type="none"/>
                    </a:lnB>
                  </a:tcPr>
                </a:tc>
              </a:tr>
            </a:tbl>
          </a:graphicData>
        </a:graphic>
      </p:graphicFrame>
      <p:sp>
        <p:nvSpPr>
          <p:cNvPr id="1362" name="Google Shape;1362;p1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131"/>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Graph Visualization</a:t>
            </a:r>
            <a:endParaRPr>
              <a:solidFill>
                <a:srgbClr val="CE6948"/>
              </a:solidFill>
            </a:endParaRPr>
          </a:p>
        </p:txBody>
      </p:sp>
      <p:sp>
        <p:nvSpPr>
          <p:cNvPr id="1368" name="Google Shape;1368;p131"/>
          <p:cNvSpPr txBox="1"/>
          <p:nvPr>
            <p:ph idx="1" type="body"/>
          </p:nvPr>
        </p:nvSpPr>
        <p:spPr>
          <a:xfrm>
            <a:off x="311700" y="1069550"/>
            <a:ext cx="8709300" cy="19455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After the graph has been fully build we can visualize it using:</a:t>
            </a:r>
            <a:endParaRPr b="1">
              <a:solidFill>
                <a:srgbClr val="CE6948"/>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.get_graph()</a:t>
            </a:r>
            <a:r>
              <a:rPr lang="en-GB">
                <a:solidFill>
                  <a:schemeClr val="dk1"/>
                </a:solidFill>
                <a:latin typeface="Encode Sans"/>
                <a:ea typeface="Encode Sans"/>
                <a:cs typeface="Encode Sans"/>
                <a:sym typeface="Encode Sans"/>
              </a:rPr>
              <a:t> looks at the graph's structure only, it doesn't run anything</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.draw_mermaid()</a:t>
            </a:r>
            <a:r>
              <a:rPr lang="en-GB">
                <a:solidFill>
                  <a:schemeClr val="dk1"/>
                </a:solidFill>
                <a:latin typeface="Encode Sans"/>
                <a:ea typeface="Encode Sans"/>
                <a:cs typeface="Encode Sans"/>
                <a:sym typeface="Encode Sans"/>
              </a:rPr>
              <a:t> turns that structure into Mermaid diagram text, paste it into mermaid.live to see it drawn, no notebook needed</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.draw_mermaid_png()</a:t>
            </a:r>
            <a:r>
              <a:rPr lang="en-GB">
                <a:solidFill>
                  <a:schemeClr val="dk1"/>
                </a:solidFill>
                <a:latin typeface="Encode Sans"/>
                <a:ea typeface="Encode Sans"/>
                <a:cs typeface="Encode Sans"/>
                <a:sym typeface="Encode Sans"/>
              </a:rPr>
              <a:t> does the same thing but returns an actual image instead of text, use </a:t>
            </a:r>
            <a:r>
              <a:rPr b="1" lang="en-GB">
                <a:solidFill>
                  <a:srgbClr val="CE6948"/>
                </a:solidFill>
                <a:latin typeface="Encode Sans"/>
                <a:ea typeface="Encode Sans"/>
                <a:cs typeface="Encode Sans"/>
                <a:sym typeface="Encode Sans"/>
              </a:rPr>
              <a:t>display(Image(graph.get_graph().draw_mermaid_png()))</a:t>
            </a:r>
            <a:r>
              <a:rPr lang="en-GB">
                <a:solidFill>
                  <a:schemeClr val="dk1"/>
                </a:solidFill>
                <a:latin typeface="Encode Sans"/>
                <a:ea typeface="Encode Sans"/>
                <a:cs typeface="Encode Sans"/>
                <a:sym typeface="Encode Sans"/>
              </a:rPr>
              <a:t> inside a Jupyter notebook to see it inline</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CE6948"/>
              </a:buClr>
              <a:buSzPts val="1000"/>
              <a:buFont typeface="Encode Sans"/>
              <a:buChar char="○"/>
            </a:pPr>
            <a:r>
              <a:rPr b="1" lang="en-GB">
                <a:solidFill>
                  <a:srgbClr val="CE6948"/>
                </a:solidFill>
                <a:latin typeface="Encode Sans"/>
                <a:ea typeface="Encode Sans"/>
                <a:cs typeface="Encode Sans"/>
                <a:sym typeface="Encode Sans"/>
              </a:rPr>
              <a:t>xray=True on get_graph()</a:t>
            </a:r>
            <a:r>
              <a:rPr lang="en-GB">
                <a:solidFill>
                  <a:schemeClr val="dk1"/>
                </a:solidFill>
                <a:latin typeface="Encode Sans"/>
                <a:ea typeface="Encode Sans"/>
                <a:cs typeface="Encode Sans"/>
                <a:sym typeface="Encode Sans"/>
              </a:rPr>
              <a:t> only matters once a graph contains another graph nested inside it (a subgraph),</a:t>
            </a:r>
            <a:endParaRPr>
              <a:solidFill>
                <a:schemeClr val="dk1"/>
              </a:solidFill>
              <a:latin typeface="Encode Sans"/>
              <a:ea typeface="Encode Sans"/>
              <a:cs typeface="Encode Sans"/>
              <a:sym typeface="Encode Sans"/>
            </a:endParaRPr>
          </a:p>
        </p:txBody>
      </p:sp>
      <p:sp>
        <p:nvSpPr>
          <p:cNvPr id="1369" name="Google Shape;1369;p131"/>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grpSp>
        <p:nvGrpSpPr>
          <p:cNvPr id="1370" name="Google Shape;1370;p131"/>
          <p:cNvGrpSpPr/>
          <p:nvPr/>
        </p:nvGrpSpPr>
        <p:grpSpPr>
          <a:xfrm>
            <a:off x="1009075" y="3234875"/>
            <a:ext cx="3390149" cy="780000"/>
            <a:chOff x="704275" y="3325543"/>
            <a:chExt cx="3390149" cy="780000"/>
          </a:xfrm>
        </p:grpSpPr>
        <p:grpSp>
          <p:nvGrpSpPr>
            <p:cNvPr id="1371" name="Google Shape;1371;p131"/>
            <p:cNvGrpSpPr/>
            <p:nvPr/>
          </p:nvGrpSpPr>
          <p:grpSpPr>
            <a:xfrm>
              <a:off x="704275" y="3325543"/>
              <a:ext cx="3390149" cy="780000"/>
              <a:chOff x="1637643" y="2946089"/>
              <a:chExt cx="2065149" cy="780000"/>
            </a:xfrm>
          </p:grpSpPr>
          <p:grpSp>
            <p:nvGrpSpPr>
              <p:cNvPr id="1372" name="Google Shape;1372;p131"/>
              <p:cNvGrpSpPr/>
              <p:nvPr/>
            </p:nvGrpSpPr>
            <p:grpSpPr>
              <a:xfrm>
                <a:off x="1637643" y="2946089"/>
                <a:ext cx="2065149" cy="780000"/>
                <a:chOff x="1637693" y="2946089"/>
                <a:chExt cx="1724550" cy="780000"/>
              </a:xfrm>
            </p:grpSpPr>
            <p:sp>
              <p:nvSpPr>
                <p:cNvPr id="1373" name="Google Shape;1373;p131"/>
                <p:cNvSpPr/>
                <p:nvPr/>
              </p:nvSpPr>
              <p:spPr>
                <a:xfrm>
                  <a:off x="1638443" y="2946089"/>
                  <a:ext cx="1723800" cy="780000"/>
                </a:xfrm>
                <a:prstGeom prst="roundRect">
                  <a:avLst>
                    <a:gd fmla="val 3795"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cxnSp>
              <p:nvCxnSpPr>
                <p:cNvPr id="1374" name="Google Shape;1374;p131"/>
                <p:cNvCxnSpPr/>
                <p:nvPr/>
              </p:nvCxnSpPr>
              <p:spPr>
                <a:xfrm>
                  <a:off x="1637693" y="3256223"/>
                  <a:ext cx="1724400" cy="0"/>
                </a:xfrm>
                <a:prstGeom prst="straightConnector1">
                  <a:avLst/>
                </a:prstGeom>
                <a:noFill/>
                <a:ln cap="flat" cmpd="sng" w="9525">
                  <a:solidFill>
                    <a:schemeClr val="dk2"/>
                  </a:solidFill>
                  <a:prstDash val="solid"/>
                  <a:round/>
                  <a:headEnd len="med" w="med" type="none"/>
                  <a:tailEnd len="med" w="med" type="none"/>
                </a:ln>
              </p:spPr>
            </p:cxnSp>
          </p:grpSp>
          <p:sp>
            <p:nvSpPr>
              <p:cNvPr id="1375" name="Google Shape;1375;p131"/>
              <p:cNvSpPr txBox="1"/>
              <p:nvPr/>
            </p:nvSpPr>
            <p:spPr>
              <a:xfrm>
                <a:off x="1676601" y="3320074"/>
                <a:ext cx="19365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0080"/>
                    </a:solidFill>
                    <a:latin typeface="Consolas"/>
                    <a:ea typeface="Consolas"/>
                    <a:cs typeface="Consolas"/>
                    <a:sym typeface="Consolas"/>
                  </a:rPr>
                  <a:t>print</a:t>
                </a:r>
                <a:r>
                  <a:rPr lang="en-GB" sz="1000">
                    <a:solidFill>
                      <a:srgbClr val="080808"/>
                    </a:solidFill>
                    <a:latin typeface="Consolas"/>
                    <a:ea typeface="Consolas"/>
                    <a:cs typeface="Consolas"/>
                    <a:sym typeface="Consolas"/>
                  </a:rPr>
                  <a:t>(graph.get_graph().draw_mermaid())</a:t>
                </a:r>
                <a:endParaRPr sz="1000">
                  <a:solidFill>
                    <a:srgbClr val="0033B3"/>
                  </a:solidFill>
                  <a:latin typeface="Consolas"/>
                  <a:ea typeface="Consolas"/>
                  <a:cs typeface="Consolas"/>
                  <a:sym typeface="Consolas"/>
                </a:endParaRPr>
              </a:p>
            </p:txBody>
          </p:sp>
        </p:grpSp>
        <p:grpSp>
          <p:nvGrpSpPr>
            <p:cNvPr id="1376" name="Google Shape;1376;p131"/>
            <p:cNvGrpSpPr/>
            <p:nvPr/>
          </p:nvGrpSpPr>
          <p:grpSpPr>
            <a:xfrm>
              <a:off x="836211" y="3429207"/>
              <a:ext cx="448950" cy="109200"/>
              <a:chOff x="1769550" y="3049750"/>
              <a:chExt cx="448950" cy="109200"/>
            </a:xfrm>
          </p:grpSpPr>
          <p:sp>
            <p:nvSpPr>
              <p:cNvPr id="1377" name="Google Shape;1377;p131"/>
              <p:cNvSpPr/>
              <p:nvPr/>
            </p:nvSpPr>
            <p:spPr>
              <a:xfrm>
                <a:off x="1769550" y="3049750"/>
                <a:ext cx="109200" cy="109200"/>
              </a:xfrm>
              <a:prstGeom prst="ellipse">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Google Sans Flex"/>
                    <a:ea typeface="Google Sans Flex"/>
                    <a:cs typeface="Google Sans Flex"/>
                    <a:sym typeface="Google Sans Flex"/>
                  </a:rPr>
                  <a:t>   </a:t>
                </a:r>
                <a:endParaRPr>
                  <a:latin typeface="Google Sans Flex"/>
                  <a:ea typeface="Google Sans Flex"/>
                  <a:cs typeface="Google Sans Flex"/>
                  <a:sym typeface="Google Sans Flex"/>
                </a:endParaRPr>
              </a:p>
            </p:txBody>
          </p:sp>
          <p:sp>
            <p:nvSpPr>
              <p:cNvPr id="1378" name="Google Shape;1378;p131"/>
              <p:cNvSpPr/>
              <p:nvPr/>
            </p:nvSpPr>
            <p:spPr>
              <a:xfrm>
                <a:off x="1939425" y="3049750"/>
                <a:ext cx="109200" cy="109200"/>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379" name="Google Shape;1379;p131"/>
              <p:cNvSpPr/>
              <p:nvPr/>
            </p:nvSpPr>
            <p:spPr>
              <a:xfrm>
                <a:off x="2109300" y="3049750"/>
                <a:ext cx="109200" cy="1092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grpSp>
      </p:grpSp>
      <p:sp>
        <p:nvSpPr>
          <p:cNvPr id="1380" name="Google Shape;1380;p1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132"/>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Putting Everything Together</a:t>
            </a:r>
            <a:endParaRPr>
              <a:solidFill>
                <a:srgbClr val="CE6948"/>
              </a:solidFill>
            </a:endParaRPr>
          </a:p>
        </p:txBody>
      </p:sp>
      <p:sp>
        <p:nvSpPr>
          <p:cNvPr id="1386" name="Google Shape;1386;p132"/>
          <p:cNvSpPr txBox="1"/>
          <p:nvPr>
            <p:ph idx="1" type="body"/>
          </p:nvPr>
        </p:nvSpPr>
        <p:spPr>
          <a:xfrm>
            <a:off x="311700" y="1069550"/>
            <a:ext cx="5913600" cy="2465700"/>
          </a:xfrm>
          <a:prstGeom prst="rect">
            <a:avLst/>
          </a:prstGeom>
        </p:spPr>
        <p:txBody>
          <a:bodyPr anchorCtr="0" anchor="t" bIns="91425" lIns="91425" spcFirstLastPara="1" rIns="91425" wrap="square" tIns="91425">
            <a:spAutoFit/>
          </a:bodyPr>
          <a:lstStyle/>
          <a:p>
            <a:pPr indent="-206375" lvl="0" marL="228600" marR="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This code builds a workflow that:</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drafts a product description in a saved brand voice</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reviews it against two rules: under 30 words, mentions the price</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routes to one of three outcomes: </a:t>
            </a:r>
            <a:endParaRPr>
              <a:solidFill>
                <a:schemeClr val="dk1"/>
              </a:solidFill>
              <a:latin typeface="Encode Sans"/>
              <a:ea typeface="Encode Sans"/>
              <a:cs typeface="Encode Sans"/>
              <a:sym typeface="Encode Sans"/>
            </a:endParaRPr>
          </a:p>
          <a:p>
            <a:pPr indent="-292100" lvl="2" marL="990001" marR="0" rtl="0" algn="l">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approved (done, saved for next time), </a:t>
            </a:r>
            <a:endParaRPr>
              <a:solidFill>
                <a:schemeClr val="dk1"/>
              </a:solidFill>
              <a:latin typeface="Encode Sans"/>
              <a:ea typeface="Encode Sans"/>
              <a:cs typeface="Encode Sans"/>
              <a:sym typeface="Encode Sans"/>
            </a:endParaRPr>
          </a:p>
          <a:p>
            <a:pPr indent="-292100" lvl="2" marL="990001" marR="0" rtl="0" algn="l">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too long (shortened, re-reviewed), </a:t>
            </a:r>
            <a:endParaRPr>
              <a:solidFill>
                <a:schemeClr val="dk1"/>
              </a:solidFill>
              <a:latin typeface="Encode Sans"/>
              <a:ea typeface="Encode Sans"/>
              <a:cs typeface="Encode Sans"/>
              <a:sym typeface="Encode Sans"/>
            </a:endParaRPr>
          </a:p>
          <a:p>
            <a:pPr indent="-292100" lvl="2" marL="990001" marR="0" rtl="0" algn="l">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anything else wrong (redrafted with feedback, re-reviewed)</a:t>
            </a:r>
            <a:endParaRPr>
              <a:solidFill>
                <a:schemeClr val="dk1"/>
              </a:solidFill>
              <a:latin typeface="Encode Sans"/>
              <a:ea typeface="Encode Sans"/>
              <a:cs typeface="Encode Sans"/>
              <a:sym typeface="Encode Sans"/>
            </a:endParaRPr>
          </a:p>
          <a:p>
            <a:pPr indent="-206375" lvl="1" marL="571500" marR="0" rtl="0" algn="just">
              <a:lnSpc>
                <a:spcPct val="130000"/>
              </a:lnSpc>
              <a:spcBef>
                <a:spcPts val="0"/>
              </a:spcBef>
              <a:spcAft>
                <a:spcPts val="0"/>
              </a:spcAft>
              <a:buClr>
                <a:srgbClr val="D97757"/>
              </a:buClr>
              <a:buSzPts val="1000"/>
              <a:buFont typeface="Encode Sans"/>
              <a:buChar char="○"/>
            </a:pPr>
            <a:r>
              <a:rPr lang="en-GB">
                <a:solidFill>
                  <a:schemeClr val="dk1"/>
                </a:solidFill>
                <a:latin typeface="Encode Sans"/>
                <a:ea typeface="Encode Sans"/>
                <a:cs typeface="Encode Sans"/>
                <a:sym typeface="Encode Sans"/>
              </a:rPr>
              <a:t>loops up to 3 times before giving up</a:t>
            </a:r>
            <a:endParaRPr>
              <a:solidFill>
                <a:schemeClr val="dk1"/>
              </a:solidFill>
              <a:latin typeface="Encode Sans"/>
              <a:ea typeface="Encode Sans"/>
              <a:cs typeface="Encode Sans"/>
              <a:sym typeface="Encode Sans"/>
            </a:endParaRPr>
          </a:p>
          <a:p>
            <a:pPr indent="-206375" lvl="0" marL="228600" marR="0" rtl="0" algn="just">
              <a:lnSpc>
                <a:spcPct val="130000"/>
              </a:lnSpc>
              <a:spcBef>
                <a:spcPts val="0"/>
              </a:spcBef>
              <a:spcAft>
                <a:spcPts val="0"/>
              </a:spcAft>
              <a:buClr>
                <a:srgbClr val="D97757"/>
              </a:buClr>
              <a:buSzPts val="1000"/>
              <a:buFont typeface="Encode Sans"/>
              <a:buChar char="●"/>
            </a:pPr>
            <a:r>
              <a:rPr lang="en-GB" u="sng">
                <a:solidFill>
                  <a:schemeClr val="hlink"/>
                </a:solidFill>
                <a:latin typeface="Encode Sans"/>
                <a:ea typeface="Encode Sans"/>
                <a:cs typeface="Encode Sans"/>
                <a:sym typeface="Encode Sans"/>
                <a:hlinkClick r:id="rId3"/>
              </a:rPr>
              <a:t>Github Link</a:t>
            </a:r>
            <a:endParaRPr>
              <a:solidFill>
                <a:schemeClr val="dk1"/>
              </a:solidFill>
              <a:latin typeface="Encode Sans"/>
              <a:ea typeface="Encode Sans"/>
              <a:cs typeface="Encode Sans"/>
              <a:sym typeface="Encode Sans"/>
            </a:endParaRPr>
          </a:p>
        </p:txBody>
      </p:sp>
      <p:sp>
        <p:nvSpPr>
          <p:cNvPr id="1387" name="Google Shape;1387;p132"/>
          <p:cNvSpPr txBox="1"/>
          <p:nvPr>
            <p:ph idx="2" type="subTitle"/>
          </p:nvPr>
        </p:nvSpPr>
        <p:spPr>
          <a:xfrm>
            <a:off x="311700" y="231724"/>
            <a:ext cx="5460600" cy="15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Orchestration Framework: LangGraph</a:t>
            </a:r>
            <a:endParaRPr/>
          </a:p>
        </p:txBody>
      </p:sp>
      <p:pic>
        <p:nvPicPr>
          <p:cNvPr id="1388" name="Google Shape;1388;p132"/>
          <p:cNvPicPr preferRelativeResize="0"/>
          <p:nvPr/>
        </p:nvPicPr>
        <p:blipFill>
          <a:blip r:embed="rId4">
            <a:alphaModFix/>
          </a:blip>
          <a:stretch>
            <a:fillRect/>
          </a:stretch>
        </p:blipFill>
        <p:spPr>
          <a:xfrm>
            <a:off x="6305700" y="525675"/>
            <a:ext cx="2401740" cy="4092150"/>
          </a:xfrm>
          <a:prstGeom prst="rect">
            <a:avLst/>
          </a:prstGeom>
          <a:noFill/>
          <a:ln>
            <a:noFill/>
          </a:ln>
        </p:spPr>
      </p:pic>
      <p:sp>
        <p:nvSpPr>
          <p:cNvPr id="1389" name="Google Shape;1389;p1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133"/>
          <p:cNvSpPr txBox="1"/>
          <p:nvPr>
            <p:ph type="title"/>
          </p:nvPr>
        </p:nvSpPr>
        <p:spPr>
          <a:xfrm>
            <a:off x="920500" y="2069850"/>
            <a:ext cx="5949600" cy="1003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References</a:t>
            </a:r>
            <a:endParaRPr/>
          </a:p>
        </p:txBody>
      </p:sp>
      <p:sp>
        <p:nvSpPr>
          <p:cNvPr id="1395" name="Google Shape;1395;p133"/>
          <p:cNvSpPr/>
          <p:nvPr/>
        </p:nvSpPr>
        <p:spPr>
          <a:xfrm>
            <a:off x="0" y="-47700"/>
            <a:ext cx="137100" cy="5238900"/>
          </a:xfrm>
          <a:prstGeom prst="rect">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396" name="Google Shape;1396;p1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134"/>
          <p:cNvSpPr txBox="1"/>
          <p:nvPr>
            <p:ph type="title"/>
          </p:nvPr>
        </p:nvSpPr>
        <p:spPr>
          <a:xfrm>
            <a:off x="311700" y="308850"/>
            <a:ext cx="8520600" cy="43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CE6948"/>
                </a:solidFill>
              </a:rPr>
              <a:t>References</a:t>
            </a:r>
            <a:endParaRPr>
              <a:solidFill>
                <a:srgbClr val="CE6948"/>
              </a:solidFill>
            </a:endParaRPr>
          </a:p>
        </p:txBody>
      </p:sp>
      <p:sp>
        <p:nvSpPr>
          <p:cNvPr id="1402" name="Google Shape;1402;p1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403" name="Google Shape;1403;p134"/>
          <p:cNvSpPr txBox="1"/>
          <p:nvPr>
            <p:ph idx="1" type="body"/>
          </p:nvPr>
        </p:nvSpPr>
        <p:spPr>
          <a:xfrm>
            <a:off x="311700" y="1069550"/>
            <a:ext cx="8520600" cy="3506400"/>
          </a:xfrm>
          <a:prstGeom prst="rect">
            <a:avLst/>
          </a:prstGeom>
        </p:spPr>
        <p:txBody>
          <a:bodyPr anchorCtr="0" anchor="t" bIns="91425" lIns="91425" spcFirstLastPara="1" rIns="91425" wrap="square" tIns="91425">
            <a:spAutoFit/>
          </a:bodyPr>
          <a:lstStyle/>
          <a:p>
            <a:pPr indent="-225425" lvl="0" marL="228600" marR="0" rtl="0" algn="l">
              <a:lnSpc>
                <a:spcPct val="130000"/>
              </a:lnSpc>
              <a:spcBef>
                <a:spcPts val="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Modular Workflow Design</a:t>
            </a:r>
            <a:endParaRPr b="1">
              <a:solidFill>
                <a:srgbClr val="D97757"/>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Encode Sans"/>
              <a:buChar char="○"/>
            </a:pPr>
            <a:r>
              <a:rPr lang="en-GB" sz="1100" u="sng">
                <a:solidFill>
                  <a:schemeClr val="hlink"/>
                </a:solidFill>
                <a:latin typeface="Encode Sans"/>
                <a:ea typeface="Encode Sans"/>
                <a:cs typeface="Encode Sans"/>
                <a:sym typeface="Encode Sans"/>
                <a:hlinkClick r:id="rId3"/>
              </a:rPr>
              <a:t>LLM Application Architecture: A 2026 Engineer's Guide (MLflow)</a:t>
            </a:r>
            <a:r>
              <a:rPr lang="en-GB" sz="1100">
                <a:solidFill>
                  <a:schemeClr val="dk1"/>
                </a:solidFill>
                <a:latin typeface="Encode Sans"/>
                <a:ea typeface="Encode Sans"/>
                <a:cs typeface="Encode Sans"/>
                <a:sym typeface="Encode Sans"/>
              </a:rPr>
              <a:t> </a:t>
            </a:r>
            <a:endParaRPr sz="1100">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Encode Sans"/>
              <a:buChar char="○"/>
            </a:pPr>
            <a:r>
              <a:rPr lang="en-GB" sz="1100" u="sng">
                <a:solidFill>
                  <a:schemeClr val="hlink"/>
                </a:solidFill>
                <a:latin typeface="Encode Sans"/>
                <a:ea typeface="Encode Sans"/>
                <a:cs typeface="Encode Sans"/>
                <a:sym typeface="Encode Sans"/>
                <a:hlinkClick r:id="rId4"/>
              </a:rPr>
              <a:t>Specifications: The missing link to making LLM systems an engineering discipline</a:t>
            </a:r>
            <a:r>
              <a:rPr lang="en-GB" sz="1100">
                <a:solidFill>
                  <a:schemeClr val="dk1"/>
                </a:solidFill>
                <a:latin typeface="Encode Sans"/>
                <a:ea typeface="Encode Sans"/>
                <a:cs typeface="Encode Sans"/>
                <a:sym typeface="Encode Sans"/>
              </a:rPr>
              <a:t> </a:t>
            </a:r>
            <a:endParaRPr sz="1100">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Encode Sans"/>
              <a:buChar char="○"/>
            </a:pPr>
            <a:r>
              <a:rPr lang="en-GB" sz="1100" u="sng">
                <a:solidFill>
                  <a:schemeClr val="hlink"/>
                </a:solidFill>
                <a:latin typeface="Encode Sans"/>
                <a:ea typeface="Encode Sans"/>
                <a:cs typeface="Encode Sans"/>
                <a:sym typeface="Encode Sans"/>
                <a:hlinkClick r:id="rId5"/>
              </a:rPr>
              <a:t>Modular LLM Architectures (compositionality, extensibility, scalability)</a:t>
            </a:r>
            <a:r>
              <a:rPr lang="en-GB" sz="1100">
                <a:solidFill>
                  <a:schemeClr val="dk1"/>
                </a:solidFill>
                <a:latin typeface="Encode Sans"/>
                <a:ea typeface="Encode Sans"/>
                <a:cs typeface="Encode Sans"/>
                <a:sym typeface="Encode Sans"/>
              </a:rPr>
              <a:t> </a:t>
            </a:r>
            <a:endParaRPr sz="1100">
              <a:solidFill>
                <a:schemeClr val="dk1"/>
              </a:solidFill>
              <a:latin typeface="Encode Sans"/>
              <a:ea typeface="Encode Sans"/>
              <a:cs typeface="Encode Sans"/>
              <a:sym typeface="Encode Sans"/>
            </a:endParaRPr>
          </a:p>
          <a:p>
            <a:pPr indent="-225425" lvl="0" marL="228600" marR="0" rtl="0" algn="l">
              <a:lnSpc>
                <a:spcPct val="130000"/>
              </a:lnSpc>
              <a:spcBef>
                <a:spcPts val="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LlamaIndex</a:t>
            </a:r>
            <a:endParaRPr sz="1100">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Encode Sans"/>
              <a:buChar char="○"/>
            </a:pPr>
            <a:r>
              <a:rPr lang="en-GB" sz="1100" u="sng">
                <a:solidFill>
                  <a:schemeClr val="hlink"/>
                </a:solidFill>
                <a:latin typeface="Encode Sans"/>
                <a:ea typeface="Encode Sans"/>
                <a:cs typeface="Encode Sans"/>
                <a:sym typeface="Encode Sans"/>
                <a:hlinkClick r:id="rId6"/>
              </a:rPr>
              <a:t>LlamaIndex overview (main docs)</a:t>
            </a:r>
            <a:r>
              <a:rPr lang="en-GB" sz="1100">
                <a:solidFill>
                  <a:schemeClr val="dk1"/>
                </a:solidFill>
                <a:latin typeface="Encode Sans"/>
                <a:ea typeface="Encode Sans"/>
                <a:cs typeface="Encode Sans"/>
                <a:sym typeface="Encode Sans"/>
              </a:rPr>
              <a:t> </a:t>
            </a:r>
            <a:endParaRPr sz="1100">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Encode Sans"/>
              <a:buChar char="○"/>
            </a:pPr>
            <a:r>
              <a:rPr lang="en-GB" sz="1100" u="sng">
                <a:solidFill>
                  <a:schemeClr val="hlink"/>
                </a:solidFill>
                <a:latin typeface="Encode Sans"/>
                <a:ea typeface="Encode Sans"/>
                <a:cs typeface="Encode Sans"/>
                <a:sym typeface="Encode Sans"/>
                <a:hlinkClick r:id="rId7"/>
              </a:rPr>
              <a:t>OpenAILike (LLM) reference</a:t>
            </a:r>
            <a:r>
              <a:rPr lang="en-GB" sz="1100">
                <a:solidFill>
                  <a:schemeClr val="dk1"/>
                </a:solidFill>
                <a:latin typeface="Encode Sans"/>
                <a:ea typeface="Encode Sans"/>
                <a:cs typeface="Encode Sans"/>
                <a:sym typeface="Encode Sans"/>
              </a:rPr>
              <a:t> </a:t>
            </a:r>
            <a:endParaRPr sz="1100">
              <a:solidFill>
                <a:schemeClr val="dk1"/>
              </a:solidFill>
              <a:latin typeface="Encode Sans"/>
              <a:ea typeface="Encode Sans"/>
              <a:cs typeface="Encode Sans"/>
              <a:sym typeface="Encode Sans"/>
            </a:endParaRPr>
          </a:p>
          <a:p>
            <a:pPr indent="-225425" lvl="0" marL="228600" marR="0" rtl="0" algn="l">
              <a:lnSpc>
                <a:spcPct val="130000"/>
              </a:lnSpc>
              <a:spcBef>
                <a:spcPts val="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LangChain</a:t>
            </a:r>
            <a:endParaRPr sz="1100">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Encode Sans"/>
              <a:buChar char="○"/>
            </a:pPr>
            <a:r>
              <a:rPr lang="en-GB" sz="1100" u="sng">
                <a:solidFill>
                  <a:schemeClr val="hlink"/>
                </a:solidFill>
                <a:latin typeface="Encode Sans"/>
                <a:ea typeface="Encode Sans"/>
                <a:cs typeface="Encode Sans"/>
                <a:sym typeface="Encode Sans"/>
                <a:hlinkClick r:id="rId8"/>
              </a:rPr>
              <a:t>LangChain overview (main docs)</a:t>
            </a:r>
            <a:r>
              <a:rPr lang="en-GB" sz="1100">
                <a:solidFill>
                  <a:schemeClr val="dk1"/>
                </a:solidFill>
                <a:latin typeface="Encode Sans"/>
                <a:ea typeface="Encode Sans"/>
                <a:cs typeface="Encode Sans"/>
                <a:sym typeface="Encode Sans"/>
              </a:rPr>
              <a:t> </a:t>
            </a:r>
            <a:endParaRPr sz="1100">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Encode Sans"/>
              <a:buChar char="○"/>
            </a:pPr>
            <a:r>
              <a:rPr lang="en-GB" sz="1100" u="sng">
                <a:solidFill>
                  <a:schemeClr val="hlink"/>
                </a:solidFill>
                <a:latin typeface="Encode Sans"/>
                <a:ea typeface="Encode Sans"/>
                <a:cs typeface="Encode Sans"/>
                <a:sym typeface="Encode Sans"/>
                <a:hlinkClick r:id="rId9"/>
              </a:rPr>
              <a:t>Runnable interface, full method reference</a:t>
            </a:r>
            <a:r>
              <a:rPr lang="en-GB" sz="1100">
                <a:solidFill>
                  <a:schemeClr val="dk1"/>
                </a:solidFill>
                <a:latin typeface="Encode Sans"/>
                <a:ea typeface="Encode Sans"/>
                <a:cs typeface="Encode Sans"/>
                <a:sym typeface="Encode Sans"/>
              </a:rPr>
              <a:t> </a:t>
            </a:r>
            <a:endParaRPr sz="1100">
              <a:solidFill>
                <a:schemeClr val="dk1"/>
              </a:solidFill>
              <a:latin typeface="Encode Sans"/>
              <a:ea typeface="Encode Sans"/>
              <a:cs typeface="Encode Sans"/>
              <a:sym typeface="Encode Sans"/>
            </a:endParaRPr>
          </a:p>
          <a:p>
            <a:pPr indent="-225425" lvl="0" marL="228600" marR="0" rtl="0" algn="l">
              <a:lnSpc>
                <a:spcPct val="130000"/>
              </a:lnSpc>
              <a:spcBef>
                <a:spcPts val="0"/>
              </a:spcBef>
              <a:spcAft>
                <a:spcPts val="0"/>
              </a:spcAft>
              <a:buClr>
                <a:srgbClr val="D97757"/>
              </a:buClr>
              <a:buSzPts val="1300"/>
              <a:buFont typeface="Encode Sans"/>
              <a:buChar char="●"/>
            </a:pPr>
            <a:r>
              <a:rPr b="1" lang="en-GB">
                <a:solidFill>
                  <a:srgbClr val="D97757"/>
                </a:solidFill>
                <a:latin typeface="Encode Sans"/>
                <a:ea typeface="Encode Sans"/>
                <a:cs typeface="Encode Sans"/>
                <a:sym typeface="Encode Sans"/>
              </a:rPr>
              <a:t>LangGraph</a:t>
            </a:r>
            <a:endParaRPr sz="1100">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Encode Sans"/>
              <a:buChar char="○"/>
            </a:pPr>
            <a:r>
              <a:rPr lang="en-GB" sz="1100" u="sng">
                <a:solidFill>
                  <a:schemeClr val="hlink"/>
                </a:solidFill>
                <a:latin typeface="Encode Sans"/>
                <a:ea typeface="Encode Sans"/>
                <a:cs typeface="Encode Sans"/>
                <a:sym typeface="Encode Sans"/>
                <a:hlinkClick r:id="rId10"/>
              </a:rPr>
              <a:t>LangGraph overview (main docs) </a:t>
            </a:r>
            <a:endParaRPr sz="1100">
              <a:solidFill>
                <a:schemeClr val="dk1"/>
              </a:solidFill>
              <a:latin typeface="Encode Sans"/>
              <a:ea typeface="Encode Sans"/>
              <a:cs typeface="Encode Sans"/>
              <a:sym typeface="Encode Sans"/>
            </a:endParaRPr>
          </a:p>
          <a:p>
            <a:pPr indent="-225425" lvl="1" marL="571500" marR="0" rtl="0" algn="l">
              <a:lnSpc>
                <a:spcPct val="130000"/>
              </a:lnSpc>
              <a:spcBef>
                <a:spcPts val="0"/>
              </a:spcBef>
              <a:spcAft>
                <a:spcPts val="0"/>
              </a:spcAft>
              <a:buClr>
                <a:srgbClr val="D97757"/>
              </a:buClr>
              <a:buSzPts val="1300"/>
              <a:buFont typeface="Encode Sans"/>
              <a:buChar char="○"/>
            </a:pPr>
            <a:r>
              <a:rPr lang="en-GB" sz="1100" u="sng">
                <a:solidFill>
                  <a:schemeClr val="hlink"/>
                </a:solidFill>
                <a:latin typeface="Encode Sans"/>
                <a:ea typeface="Encode Sans"/>
                <a:cs typeface="Encode Sans"/>
                <a:sym typeface="Encode Sans"/>
                <a:hlinkClick r:id="rId11"/>
              </a:rPr>
              <a:t>StateGraph reference</a:t>
            </a:r>
            <a:r>
              <a:rPr lang="en-GB" sz="1100">
                <a:solidFill>
                  <a:schemeClr val="dk1"/>
                </a:solidFill>
                <a:latin typeface="Encode Sans"/>
                <a:ea typeface="Encode Sans"/>
                <a:cs typeface="Encode Sans"/>
                <a:sym typeface="Encode Sans"/>
              </a:rPr>
              <a:t> </a:t>
            </a:r>
            <a:endParaRPr sz="1100">
              <a:solidFill>
                <a:schemeClr val="dk1"/>
              </a:solidFill>
              <a:latin typeface="Encode Sans"/>
              <a:ea typeface="Encode Sans"/>
              <a:cs typeface="Encode Sans"/>
              <a:sym typeface="Encode Sans"/>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35"/>
          <p:cNvSpPr txBox="1"/>
          <p:nvPr>
            <p:ph type="title"/>
          </p:nvPr>
        </p:nvSpPr>
        <p:spPr>
          <a:xfrm>
            <a:off x="1168575" y="1888525"/>
            <a:ext cx="5949600" cy="1003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7000"/>
              <a:t>THANK YOU</a:t>
            </a:r>
            <a:endParaRPr sz="7000"/>
          </a:p>
        </p:txBody>
      </p:sp>
      <p:sp>
        <p:nvSpPr>
          <p:cNvPr id="1409" name="Google Shape;1409;p135"/>
          <p:cNvSpPr/>
          <p:nvPr/>
        </p:nvSpPr>
        <p:spPr>
          <a:xfrm>
            <a:off x="0" y="-47700"/>
            <a:ext cx="137100" cy="5238900"/>
          </a:xfrm>
          <a:prstGeom prst="rect">
            <a:avLst/>
          </a:prstGeom>
          <a:solidFill>
            <a:srgbClr val="CE6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ogle Sans Flex"/>
              <a:ea typeface="Google Sans Flex"/>
              <a:cs typeface="Google Sans Flex"/>
              <a:sym typeface="Google Sans Flex"/>
            </a:endParaRPr>
          </a:p>
        </p:txBody>
      </p:sp>
      <p:sp>
        <p:nvSpPr>
          <p:cNvPr id="1410" name="Google Shape;1410;p135"/>
          <p:cNvSpPr txBox="1"/>
          <p:nvPr/>
        </p:nvSpPr>
        <p:spPr>
          <a:xfrm>
            <a:off x="1168575" y="2947100"/>
            <a:ext cx="69006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GB">
                <a:solidFill>
                  <a:srgbClr val="434343"/>
                </a:solidFill>
              </a:rPr>
              <a:t>"</a:t>
            </a:r>
            <a:r>
              <a:rPr i="1" lang="en-GB">
                <a:solidFill>
                  <a:srgbClr val="434343"/>
                </a:solidFill>
              </a:rPr>
              <a:t> Write</a:t>
            </a:r>
            <a:r>
              <a:rPr i="1" lang="en-GB">
                <a:solidFill>
                  <a:srgbClr val="434343"/>
                </a:solidFill>
              </a:rPr>
              <a:t> programs that do one thing and do it well. Write programs to work together. ” </a:t>
            </a:r>
            <a:endParaRPr i="1">
              <a:solidFill>
                <a:srgbClr val="434343"/>
              </a:solidFill>
            </a:endParaRPr>
          </a:p>
          <a:p>
            <a:pPr indent="0" lvl="0" marL="0" rtl="0" algn="l">
              <a:lnSpc>
                <a:spcPct val="115000"/>
              </a:lnSpc>
              <a:spcBef>
                <a:spcPts val="0"/>
              </a:spcBef>
              <a:spcAft>
                <a:spcPts val="0"/>
              </a:spcAft>
              <a:buNone/>
            </a:pPr>
            <a:r>
              <a:rPr i="1" lang="en-GB">
                <a:solidFill>
                  <a:srgbClr val="434343"/>
                </a:solidFill>
              </a:rPr>
              <a:t>–  Doug McIlroy, Unix philosophy</a:t>
            </a:r>
            <a:endParaRPr i="1">
              <a:solidFill>
                <a:srgbClr val="434343"/>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