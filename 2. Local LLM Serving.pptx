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</p:sldIdLst>
  <p:sldSz cy="10287000" cx="18288000"/>
  <p:notesSz cx="10287000" cy="18288000"/>
  <p:embeddedFontLst>
    <p:embeddedFont>
      <p:font typeface="Lora"/>
      <p:regular r:id="rId58"/>
      <p:bold r:id="rId59"/>
      <p:italic r:id="rId60"/>
      <p:boldItalic r:id="rId61"/>
    </p:embeddedFont>
    <p:embeddedFont>
      <p:font typeface="Gabarito"/>
      <p:regular r:id="rId62"/>
      <p:bold r:id="rId63"/>
    </p:embeddedFont>
    <p:embeddedFont>
      <p:font typeface="Gabarito SemiBold"/>
      <p:regular r:id="rId64"/>
      <p:bold r:id="rId65"/>
    </p:embeddedFont>
    <p:embeddedFont>
      <p:font typeface="JetBrains Mono"/>
      <p:regular r:id="rId66"/>
      <p:bold r:id="rId67"/>
      <p:italic r:id="rId68"/>
      <p:boldItalic r:id="rId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0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0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Gabarito-regular.fntdata"/><Relationship Id="rId61" Type="http://schemas.openxmlformats.org/officeDocument/2006/relationships/font" Target="fonts/Lora-boldItalic.fntdata"/><Relationship Id="rId20" Type="http://schemas.openxmlformats.org/officeDocument/2006/relationships/slide" Target="slides/slide15.xml"/><Relationship Id="rId64" Type="http://schemas.openxmlformats.org/officeDocument/2006/relationships/font" Target="fonts/GabaritoSemiBold-regular.fntdata"/><Relationship Id="rId63" Type="http://schemas.openxmlformats.org/officeDocument/2006/relationships/font" Target="fonts/Gabarito-bold.fntdata"/><Relationship Id="rId22" Type="http://schemas.openxmlformats.org/officeDocument/2006/relationships/slide" Target="slides/slide17.xml"/><Relationship Id="rId66" Type="http://schemas.openxmlformats.org/officeDocument/2006/relationships/font" Target="fonts/JetBrainsMono-regular.fntdata"/><Relationship Id="rId21" Type="http://schemas.openxmlformats.org/officeDocument/2006/relationships/slide" Target="slides/slide16.xml"/><Relationship Id="rId65" Type="http://schemas.openxmlformats.org/officeDocument/2006/relationships/font" Target="fonts/GabaritoSemiBold-bold.fntdata"/><Relationship Id="rId24" Type="http://schemas.openxmlformats.org/officeDocument/2006/relationships/slide" Target="slides/slide19.xml"/><Relationship Id="rId68" Type="http://schemas.openxmlformats.org/officeDocument/2006/relationships/font" Target="fonts/JetBrainsMono-italic.fntdata"/><Relationship Id="rId23" Type="http://schemas.openxmlformats.org/officeDocument/2006/relationships/slide" Target="slides/slide18.xml"/><Relationship Id="rId67" Type="http://schemas.openxmlformats.org/officeDocument/2006/relationships/font" Target="fonts/JetBrainsMono-bold.fntdata"/><Relationship Id="rId60" Type="http://schemas.openxmlformats.org/officeDocument/2006/relationships/font" Target="fonts/Lora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JetBrainsMono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Lora-bold.fntdata"/><Relationship Id="rId14" Type="http://schemas.openxmlformats.org/officeDocument/2006/relationships/slide" Target="slides/slide9.xml"/><Relationship Id="rId58" Type="http://schemas.openxmlformats.org/officeDocument/2006/relationships/font" Target="fonts/Lora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f6a8d20326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g3f6a8d20326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g3f6a8d20326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6b1555041_1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f6b1555041_1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f6b1555041_1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3" name="Google Shape;633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7" name="Google Shape;667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8" name="Google Shape;708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5" name="Google Shape;745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5" name="Google Shape;765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f6b1555041_1_2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6" name="Google Shape;776;g3f6b1555041_1_2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g3f6b1555041_1_2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f6c5a67773_9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4" name="Google Shape;804;g3f6c5a67773_9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GGUF trades precision for portability: one self-contained quantized file that runs anywhere, including CPU-only machines. It's the edge/inference-side format.</a:t>
            </a:r>
            <a:endParaRPr/>
          </a:p>
        </p:txBody>
      </p:sp>
      <p:sp>
        <p:nvSpPr>
          <p:cNvPr id="805" name="Google Shape;805;g3f6c5a67773_9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f6c5a67773_9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3" name="Google Shape;833;g3f6c5a67773_9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Safetensors trades size for safety and speed: no code execution, memory-mapped loading, and full precision preserved. It's the GPU/training-side format.</a:t>
            </a:r>
            <a:endParaRPr/>
          </a:p>
        </p:txBody>
      </p:sp>
      <p:sp>
        <p:nvSpPr>
          <p:cNvPr id="834" name="Google Shape;834;g3f6c5a67773_9_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2" name="Google Shape;862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6" name="Google Shape;90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7" name="Google Shape;91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7" name="Google Shape;93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3f6c5a67773_9_1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6" name="Google Shape;976;g3f6c5a67773_9_1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g3f6c5a67773_9_1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3f6c5a67773_9_2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8" name="Google Shape;1018;g3f6c5a67773_9_2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g3f6c5a67773_9_2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f6c5a67773_9_3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1" name="Google Shape;1071;g3f6c5a67773_9_3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g3f6c5a67773_9_3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3f6c5a67773_9_4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6" name="Google Shape;1106;g3f6c5a67773_9_4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g3f6c5a67773_9_4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7" name="Google Shape;112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5" name="Google Shape;1155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3" name="Google Shape;1193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2" name="Google Shape;122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3f6b1555041_2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6" name="Google Shape;1246;g3f6b1555041_2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g3f6b1555041_2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3f6b1555041_1_2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2" name="Google Shape;1262;g3f6b1555041_1_2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g3f6b1555041_1_2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8" name="Google Shape;1278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9" name="Google Shape;1289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0" name="Google Shape;1310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3" name="Google Shape;1343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4" name="Google Shape;1354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9" name="Google Shape;1399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1" name="Google Shape;1441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5" name="Google Shape;1465;p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3" name="Google Shape;1493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8" name="Google Shape;1528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g3f6b1555041_2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9" name="Google Shape;1559;g3f6b1555041_2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Google Shape;1560;g3f6b1555041_2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8.png"/><Relationship Id="rId6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1.png"/><Relationship Id="rId4" Type="http://schemas.openxmlformats.org/officeDocument/2006/relationships/image" Target="../media/image16.png"/><Relationship Id="rId9" Type="http://schemas.openxmlformats.org/officeDocument/2006/relationships/image" Target="../media/image3.png"/><Relationship Id="rId5" Type="http://schemas.openxmlformats.org/officeDocument/2006/relationships/image" Target="../media/image36.png"/><Relationship Id="rId6" Type="http://schemas.openxmlformats.org/officeDocument/2006/relationships/image" Target="../media/image22.png"/><Relationship Id="rId7" Type="http://schemas.openxmlformats.org/officeDocument/2006/relationships/image" Target="../media/image14.png"/><Relationship Id="rId8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10" Type="http://schemas.openxmlformats.org/officeDocument/2006/relationships/image" Target="../media/image9.png"/><Relationship Id="rId9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2.png"/><Relationship Id="rId7" Type="http://schemas.openxmlformats.org/officeDocument/2006/relationships/image" Target="../media/image27.png"/><Relationship Id="rId8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hyperlink" Target="http://ollama.com" TargetMode="External"/><Relationship Id="rId5" Type="http://schemas.openxmlformats.org/officeDocument/2006/relationships/hyperlink" Target="https://www.spheron.network/tools/gpu-recommender/Hebisuke/Llama_2.5_1b_number_qwen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1.png"/><Relationship Id="rId4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.png"/><Relationship Id="rId4" Type="http://schemas.openxmlformats.org/officeDocument/2006/relationships/hyperlink" Target="http://docs.ollama.com" TargetMode="External"/><Relationship Id="rId10" Type="http://schemas.openxmlformats.org/officeDocument/2006/relationships/hyperlink" Target="http://platform.openai.com/docs/api-reference" TargetMode="External"/><Relationship Id="rId9" Type="http://schemas.openxmlformats.org/officeDocument/2006/relationships/hyperlink" Target="http://github.com/ggml-org/ggml" TargetMode="External"/><Relationship Id="rId5" Type="http://schemas.openxmlformats.org/officeDocument/2006/relationships/hyperlink" Target="https://www.spheron.network/blog/gpu-memory-requirements-llm/" TargetMode="External"/><Relationship Id="rId6" Type="http://schemas.openxmlformats.org/officeDocument/2006/relationships/hyperlink" Target="http://docs.vllm.ai" TargetMode="External"/><Relationship Id="rId7" Type="http://schemas.openxmlformats.org/officeDocument/2006/relationships/hyperlink" Target="http://arxiv.org/abs/2309.06180" TargetMode="External"/><Relationship Id="rId8" Type="http://schemas.openxmlformats.org/officeDocument/2006/relationships/hyperlink" Target="http://huggingface.co/docs/hub" TargetMode="Externa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13" y="599963"/>
            <a:ext cx="7248488" cy="244468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1476375" y="4748038"/>
            <a:ext cx="112200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438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9975"/>
              <a:buFont typeface="Gabarito"/>
              <a:buNone/>
            </a:pPr>
            <a:r>
              <a:rPr b="1" i="0" lang="en-US" sz="90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Local LLM Serving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571625" y="7789114"/>
            <a:ext cx="3228900" cy="399900"/>
          </a:xfrm>
          <a:prstGeom prst="roundRect">
            <a:avLst>
              <a:gd fmla="val 50000" name="adj"/>
            </a:avLst>
          </a:prstGeom>
          <a:solidFill>
            <a:srgbClr val="0355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886213" y="7789114"/>
            <a:ext cx="1000200" cy="39990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571625" y="8465538"/>
            <a:ext cx="47337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700"/>
              <a:buFont typeface="Gabarito"/>
              <a:buNone/>
            </a:pPr>
            <a:r>
              <a:rPr b="1" i="0" lang="en-US" sz="27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Prepared by Instructor Team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Ollama" id="21" name="Google Shape;21;p3"/>
          <p:cNvPicPr preferRelativeResize="0"/>
          <p:nvPr/>
        </p:nvPicPr>
        <p:blipFill rotWithShape="1">
          <a:blip r:embed="rId4">
            <a:alphaModFix amt="10000"/>
          </a:blip>
          <a:srcRect b="0" l="0" r="0" t="0"/>
          <a:stretch/>
        </p:blipFill>
        <p:spPr>
          <a:xfrm>
            <a:off x="14663477" y="5409072"/>
            <a:ext cx="905950" cy="1281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>
            <a:off x="14924953" y="6923948"/>
            <a:ext cx="3363050" cy="336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 rotWithShape="1">
          <a:blip r:embed="rId6">
            <a:alphaModFix amt="20000"/>
          </a:blip>
          <a:srcRect b="17338" l="12791" r="12627" t="15435"/>
          <a:stretch/>
        </p:blipFill>
        <p:spPr>
          <a:xfrm>
            <a:off x="13242021" y="7184222"/>
            <a:ext cx="1421458" cy="1281326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/>
        </p:nvSpPr>
        <p:spPr>
          <a:xfrm>
            <a:off x="1571625" y="4107363"/>
            <a:ext cx="2244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4000">
                <a:solidFill>
                  <a:srgbClr val="8298AA"/>
                </a:solidFill>
                <a:latin typeface="Gabarito SemiBold"/>
                <a:ea typeface="Gabarito SemiBold"/>
                <a:cs typeface="Gabarito SemiBold"/>
                <a:sym typeface="Gabarito SemiBold"/>
              </a:rPr>
              <a:t>TOPIC 2</a:t>
            </a:r>
            <a:endParaRPr b="0" i="0" sz="4000" u="none" cap="none" strike="noStrike">
              <a:solidFill>
                <a:srgbClr val="8298AA"/>
              </a:solidFill>
              <a:latin typeface="Gabarito SemiBold"/>
              <a:ea typeface="Gabarito SemiBold"/>
              <a:cs typeface="Gabarito SemiBold"/>
              <a:sym typeface="Gabarito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952500" y="704784"/>
            <a:ext cx="35208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WHAT WE'LL COVER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952500" y="1066767"/>
            <a:ext cx="5596800" cy="8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5100"/>
              <a:buFont typeface="Gabarito"/>
              <a:buNone/>
            </a:pPr>
            <a:r>
              <a:rPr b="1" i="0" lang="en-US" sz="51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Table of Contents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952500" y="2038284"/>
            <a:ext cx="5355300" cy="3535800"/>
          </a:xfrm>
          <a:prstGeom prst="roundRect">
            <a:avLst>
              <a:gd fmla="val 4849" name="adj"/>
            </a:avLst>
          </a:prstGeom>
          <a:solidFill>
            <a:srgbClr val="FFFFFF"/>
          </a:solidFill>
          <a:ln cap="flat" cmpd="sng" w="10575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1277276" y="2410685"/>
            <a:ext cx="914400" cy="914400"/>
          </a:xfrm>
          <a:prstGeom prst="ellipse">
            <a:avLst/>
          </a:prstGeom>
          <a:solidFill>
            <a:srgbClr val="D97757">
              <a:alpha val="141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5389066" y="2467901"/>
            <a:ext cx="6414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4800"/>
              <a:buFont typeface="Gabarito"/>
              <a:buNone/>
            </a:pPr>
            <a:r>
              <a:rPr b="1" i="0" lang="en-US" sz="480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01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277276" y="3458435"/>
            <a:ext cx="46110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82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Gabarito"/>
              <a:buNone/>
            </a:pPr>
            <a:r>
              <a:rPr b="1" i="0" lang="en-US" sz="2400" u="none" cap="none" strike="noStrike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Ollama Setup &amp; Model Management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277276" y="4325276"/>
            <a:ext cx="48564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154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7F7F7F"/>
                </a:solidFill>
                <a:latin typeface="Gabarito"/>
                <a:ea typeface="Gabarito"/>
                <a:cs typeface="Gabarito"/>
                <a:sym typeface="Gabarito"/>
              </a:rPr>
              <a:t>Install Ollama, download models, and run them on your own machine.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277276" y="5258759"/>
            <a:ext cx="495300" cy="76200"/>
          </a:xfrm>
          <a:prstGeom prst="roundRect">
            <a:avLst>
              <a:gd fmla="val 50000" name="adj"/>
            </a:avLst>
          </a:prstGeom>
          <a:solidFill>
            <a:srgbClr val="C15F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6477001" y="2038284"/>
            <a:ext cx="5355300" cy="3535800"/>
          </a:xfrm>
          <a:prstGeom prst="roundRect">
            <a:avLst>
              <a:gd fmla="val 4849" name="adj"/>
            </a:avLst>
          </a:prstGeom>
          <a:solidFill>
            <a:srgbClr val="FFFFFF"/>
          </a:solidFill>
          <a:ln cap="flat" cmpd="sng" w="10575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6801776" y="2410685"/>
            <a:ext cx="914400" cy="914400"/>
          </a:xfrm>
          <a:prstGeom prst="ellipse">
            <a:avLst/>
          </a:prstGeom>
          <a:solidFill>
            <a:srgbClr val="7A8A5A">
              <a:alpha val="16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0310" y="2639219"/>
            <a:ext cx="457068" cy="457068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/>
          <p:nvPr/>
        </p:nvSpPr>
        <p:spPr>
          <a:xfrm>
            <a:off x="10826089" y="2467901"/>
            <a:ext cx="729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4800"/>
              <a:buFont typeface="Gabarito"/>
              <a:buNone/>
            </a:pPr>
            <a:r>
              <a:rPr b="1" i="0" lang="en-US" sz="480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02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801776" y="3458435"/>
            <a:ext cx="49245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82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Gabarito"/>
              <a:buNone/>
            </a:pPr>
            <a:r>
              <a:rPr b="1" i="0" lang="en-US" sz="2400" u="none" cap="none" strike="noStrike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System Prompts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801775" y="4045124"/>
            <a:ext cx="48564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154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Gabarito"/>
              <a:buNone/>
            </a:pPr>
            <a:r>
              <a:rPr lang="en-US" sz="1800">
                <a:solidFill>
                  <a:srgbClr val="7F7F7F"/>
                </a:solidFill>
                <a:latin typeface="Gabarito"/>
                <a:ea typeface="Gabarito"/>
                <a:cs typeface="Gabarito"/>
                <a:sym typeface="Gabarito"/>
              </a:rPr>
              <a:t>Understanding the System Prompt Components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801776" y="5258759"/>
            <a:ext cx="495300" cy="76200"/>
          </a:xfrm>
          <a:prstGeom prst="roundRect">
            <a:avLst>
              <a:gd fmla="val 50000" name="adj"/>
            </a:avLst>
          </a:prstGeom>
          <a:solidFill>
            <a:srgbClr val="6E7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2001500" y="2038284"/>
            <a:ext cx="5355300" cy="3535800"/>
          </a:xfrm>
          <a:prstGeom prst="roundRect">
            <a:avLst>
              <a:gd fmla="val 4849" name="adj"/>
            </a:avLst>
          </a:prstGeom>
          <a:solidFill>
            <a:srgbClr val="FFFFFF"/>
          </a:solidFill>
          <a:ln cap="flat" cmpd="sng" w="10575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12326277" y="2410685"/>
            <a:ext cx="914400" cy="914400"/>
          </a:xfrm>
          <a:prstGeom prst="ellipse">
            <a:avLst/>
          </a:prstGeom>
          <a:solidFill>
            <a:srgbClr val="B08A3E">
              <a:alpha val="1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54810" y="2639219"/>
            <a:ext cx="457068" cy="457068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16344801" y="2467901"/>
            <a:ext cx="7347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4800"/>
              <a:buFont typeface="Gabarito"/>
              <a:buNone/>
            </a:pPr>
            <a:r>
              <a:rPr b="1" i="0" lang="en-US" sz="480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03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2326277" y="3458435"/>
            <a:ext cx="49245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82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Gabarito"/>
              <a:buNone/>
            </a:pPr>
            <a:r>
              <a:rPr b="1" i="0" lang="en-US" sz="2400" u="none" cap="none" strike="noStrike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Model Acquisition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2326277" y="4045126"/>
            <a:ext cx="48564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154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7F7F7F"/>
                </a:solidFill>
                <a:latin typeface="Gabarito"/>
                <a:ea typeface="Gabarito"/>
                <a:cs typeface="Gabarito"/>
                <a:sym typeface="Gabarito"/>
              </a:rPr>
              <a:t>Find, </a:t>
            </a:r>
            <a:r>
              <a:rPr lang="en-US" sz="1800">
                <a:solidFill>
                  <a:srgbClr val="7F7F7F"/>
                </a:solidFill>
                <a:latin typeface="Gabarito"/>
                <a:ea typeface="Gabarito"/>
                <a:cs typeface="Gabarito"/>
                <a:sym typeface="Gabarito"/>
              </a:rPr>
              <a:t>choose</a:t>
            </a:r>
            <a:r>
              <a:rPr b="0" i="0" lang="en-US" sz="1800" u="none" cap="none" strike="noStrike">
                <a:solidFill>
                  <a:srgbClr val="7F7F7F"/>
                </a:solidFill>
                <a:latin typeface="Gabarito"/>
                <a:ea typeface="Gabarito"/>
                <a:cs typeface="Gabarito"/>
                <a:sym typeface="Gabarito"/>
              </a:rPr>
              <a:t>, and download models from Hugging Fac</a:t>
            </a:r>
            <a:r>
              <a:rPr lang="en-US" sz="1800">
                <a:solidFill>
                  <a:srgbClr val="7F7F7F"/>
                </a:solidFill>
                <a:latin typeface="Gabarito"/>
                <a:ea typeface="Gabarito"/>
                <a:cs typeface="Gabarito"/>
                <a:sym typeface="Gabarito"/>
              </a:rPr>
              <a:t>e</a:t>
            </a:r>
            <a:r>
              <a:rPr b="0" i="0" lang="en-US" sz="1800" u="none" cap="none" strike="noStrike">
                <a:solidFill>
                  <a:srgbClr val="7F7F7F"/>
                </a:solidFill>
                <a:latin typeface="Gabarito"/>
                <a:ea typeface="Gabarito"/>
                <a:cs typeface="Gabarito"/>
                <a:sym typeface="Gabarito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2326277" y="5258759"/>
            <a:ext cx="495300" cy="76200"/>
          </a:xfrm>
          <a:prstGeom prst="roundRect">
            <a:avLst>
              <a:gd fmla="val 50000" name="adj"/>
            </a:avLst>
          </a:prstGeom>
          <a:solidFill>
            <a:srgbClr val="A881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952500" y="5743443"/>
            <a:ext cx="3974100" cy="3954900"/>
          </a:xfrm>
          <a:prstGeom prst="roundRect">
            <a:avLst>
              <a:gd fmla="val 4335" name="adj"/>
            </a:avLst>
          </a:prstGeom>
          <a:solidFill>
            <a:srgbClr val="FFFFFF"/>
          </a:solidFill>
          <a:ln cap="flat" cmpd="sng" w="10575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239242" y="6087401"/>
            <a:ext cx="780900" cy="780900"/>
          </a:xfrm>
          <a:prstGeom prst="ellipse">
            <a:avLst/>
          </a:prstGeom>
          <a:solidFill>
            <a:srgbClr val="5E7488">
              <a:alpha val="141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3930882" y="6115844"/>
            <a:ext cx="775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4800"/>
              <a:buFont typeface="Gabarito"/>
              <a:buNone/>
            </a:pPr>
            <a:r>
              <a:rPr b="1" i="0" lang="en-US" sz="480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04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239242" y="6992276"/>
            <a:ext cx="36672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Gabarito"/>
              <a:buNone/>
            </a:pPr>
            <a:r>
              <a:rPr b="1" i="0" lang="en-US" sz="2400" u="none" cap="none" strike="noStrike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GGUF vs. Safetensors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1239242" y="7906577"/>
            <a:ext cx="3502500" cy="9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154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7F7F7F"/>
                </a:solidFill>
                <a:latin typeface="Gabarito"/>
                <a:ea typeface="Gabarito"/>
                <a:cs typeface="Gabarito"/>
                <a:sym typeface="Gabarito"/>
              </a:rPr>
              <a:t>What is inside a model file, and which file type to download for your tool.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1239242" y="9268685"/>
            <a:ext cx="495300" cy="76200"/>
          </a:xfrm>
          <a:prstGeom prst="roundRect">
            <a:avLst>
              <a:gd fmla="val 50000" name="adj"/>
            </a:avLst>
          </a:prstGeom>
          <a:solidFill>
            <a:srgbClr val="5E7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5095875" y="5743443"/>
            <a:ext cx="3974100" cy="3954900"/>
          </a:xfrm>
          <a:prstGeom prst="roundRect">
            <a:avLst>
              <a:gd fmla="val 4335" name="adj"/>
            </a:avLst>
          </a:prstGeom>
          <a:solidFill>
            <a:srgbClr val="FFFFFF"/>
          </a:solidFill>
          <a:ln cap="flat" cmpd="sng" w="10575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5382617" y="6087401"/>
            <a:ext cx="780900" cy="780900"/>
          </a:xfrm>
          <a:prstGeom prst="ellipse">
            <a:avLst/>
          </a:prstGeom>
          <a:solidFill>
            <a:srgbClr val="5E7488">
              <a:alpha val="141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73117" y="6277901"/>
            <a:ext cx="400017" cy="400017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/>
          <p:nvPr/>
        </p:nvSpPr>
        <p:spPr>
          <a:xfrm>
            <a:off x="8104188" y="6115844"/>
            <a:ext cx="745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4800"/>
              <a:buFont typeface="Gabarito"/>
              <a:buNone/>
            </a:pPr>
            <a:r>
              <a:rPr b="1" i="0" lang="en-US" sz="480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05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382617" y="6992276"/>
            <a:ext cx="3433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Gabarito"/>
              <a:buNone/>
            </a:pPr>
            <a:r>
              <a:rPr b="1" i="0" lang="en-US" sz="2400" u="none" cap="none" strike="noStrike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vLLM Setup &amp; Management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382617" y="7906577"/>
            <a:ext cx="3502500" cy="9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154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7F7F7F"/>
                </a:solidFill>
                <a:latin typeface="Gabarito"/>
                <a:ea typeface="Gabarito"/>
                <a:cs typeface="Gabarito"/>
                <a:sym typeface="Gabarito"/>
              </a:rPr>
              <a:t>Serve one model to many users at once, with Docker or a single command.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382617" y="9268685"/>
            <a:ext cx="495300" cy="76200"/>
          </a:xfrm>
          <a:prstGeom prst="roundRect">
            <a:avLst>
              <a:gd fmla="val 50000" name="adj"/>
            </a:avLst>
          </a:prstGeom>
          <a:solidFill>
            <a:srgbClr val="5E7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9239251" y="5743443"/>
            <a:ext cx="3974100" cy="3954900"/>
          </a:xfrm>
          <a:prstGeom prst="roundRect">
            <a:avLst>
              <a:gd fmla="val 4335" name="adj"/>
            </a:avLst>
          </a:prstGeom>
          <a:solidFill>
            <a:srgbClr val="FFFFFF"/>
          </a:solidFill>
          <a:ln cap="flat" cmpd="sng" w="10575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9525992" y="6087401"/>
            <a:ext cx="780900" cy="780900"/>
          </a:xfrm>
          <a:prstGeom prst="ellipse">
            <a:avLst/>
          </a:prstGeom>
          <a:solidFill>
            <a:srgbClr val="D97757">
              <a:alpha val="141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6492" y="6277901"/>
            <a:ext cx="400017" cy="400017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4"/>
          <p:cNvSpPr/>
          <p:nvPr/>
        </p:nvSpPr>
        <p:spPr>
          <a:xfrm>
            <a:off x="12232845" y="6115844"/>
            <a:ext cx="760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4800"/>
              <a:buFont typeface="Gabarito"/>
              <a:buNone/>
            </a:pPr>
            <a:r>
              <a:rPr b="1" i="0" lang="en-US" sz="480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06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9525998" y="6992275"/>
            <a:ext cx="28002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Gabarito"/>
              <a:buNone/>
            </a:pPr>
            <a:r>
              <a:rPr b="1" i="0" lang="en-US" sz="2400" u="none" cap="none" strike="noStrike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OpenAI-Compatible API Serving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9525992" y="7906577"/>
            <a:ext cx="3502500" cy="9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154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Gabarito"/>
              <a:buNone/>
            </a:pPr>
            <a:r>
              <a:rPr lang="en-US" sz="1800">
                <a:solidFill>
                  <a:srgbClr val="7F7F7F"/>
                </a:solidFill>
                <a:latin typeface="Gabarito"/>
                <a:ea typeface="Gabarito"/>
                <a:cs typeface="Gabarito"/>
                <a:sym typeface="Gabarito"/>
              </a:rPr>
              <a:t>Available for apps to connect to your local model using the same API as OpenAI.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9525992" y="9268685"/>
            <a:ext cx="495300" cy="76200"/>
          </a:xfrm>
          <a:prstGeom prst="roundRect">
            <a:avLst>
              <a:gd fmla="val 50000" name="adj"/>
            </a:avLst>
          </a:prstGeom>
          <a:solidFill>
            <a:srgbClr val="C15F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13382626" y="5743443"/>
            <a:ext cx="3974100" cy="3954900"/>
          </a:xfrm>
          <a:prstGeom prst="roundRect">
            <a:avLst>
              <a:gd fmla="val 4335" name="adj"/>
            </a:avLst>
          </a:prstGeom>
          <a:solidFill>
            <a:srgbClr val="FFFFFF"/>
          </a:solidFill>
          <a:ln cap="flat" cmpd="sng" w="10575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13669368" y="6087401"/>
            <a:ext cx="780900" cy="780900"/>
          </a:xfrm>
          <a:prstGeom prst="ellipse">
            <a:avLst/>
          </a:prstGeom>
          <a:solidFill>
            <a:srgbClr val="7A8A5A">
              <a:alpha val="16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859868" y="6277901"/>
            <a:ext cx="400017" cy="40001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"/>
          <p:cNvSpPr/>
          <p:nvPr/>
        </p:nvSpPr>
        <p:spPr>
          <a:xfrm>
            <a:off x="16423018" y="6115844"/>
            <a:ext cx="7134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4800"/>
              <a:buFont typeface="Gabarito"/>
              <a:buNone/>
            </a:pPr>
            <a:r>
              <a:rPr b="1" i="0" lang="en-US" sz="480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07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13669368" y="6992276"/>
            <a:ext cx="3433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Gabarito"/>
              <a:buNone/>
            </a:pPr>
            <a:r>
              <a:rPr b="1" i="0" lang="en-US" sz="2400" u="none" cap="none" strike="noStrike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Comparing Serving Options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3669368" y="7906577"/>
            <a:ext cx="3502500" cy="9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154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7F7F7F"/>
                </a:solidFill>
                <a:latin typeface="Gabarito"/>
                <a:ea typeface="Gabarito"/>
                <a:cs typeface="Gabarito"/>
                <a:sym typeface="Gabarito"/>
              </a:rPr>
              <a:t>Ollama, vLLM, llama.cpp</a:t>
            </a:r>
            <a:r>
              <a:rPr lang="en-US" sz="1800">
                <a:solidFill>
                  <a:srgbClr val="7F7F7F"/>
                </a:solidFill>
                <a:latin typeface="Gabarito"/>
                <a:ea typeface="Gabarito"/>
                <a:cs typeface="Gabarito"/>
                <a:sym typeface="Gabarito"/>
              </a:rPr>
              <a:t>,</a:t>
            </a:r>
            <a:r>
              <a:rPr b="0" i="0" lang="en-US" sz="1800" u="none" cap="none" strike="noStrike">
                <a:solidFill>
                  <a:srgbClr val="7F7F7F"/>
                </a:solidFill>
                <a:latin typeface="Gabarito"/>
                <a:ea typeface="Gabarito"/>
                <a:cs typeface="Gabarito"/>
                <a:sym typeface="Gabarito"/>
              </a:rPr>
              <a:t> </a:t>
            </a:r>
            <a:endParaRPr b="0" i="0" sz="1800" u="none" cap="none" strike="noStrike">
              <a:solidFill>
                <a:srgbClr val="7F7F7F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marR="0" rtl="0" algn="l">
              <a:lnSpc>
                <a:spcPct val="112154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7F7F7F"/>
                </a:solidFill>
                <a:latin typeface="Gabarito"/>
                <a:ea typeface="Gabarito"/>
                <a:cs typeface="Gabarito"/>
                <a:sym typeface="Gabarito"/>
              </a:rPr>
              <a:t>— which one to use, and when.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13669368" y="9268685"/>
            <a:ext cx="495300" cy="76200"/>
          </a:xfrm>
          <a:prstGeom prst="roundRect">
            <a:avLst>
              <a:gd fmla="val 50000" name="adj"/>
            </a:avLst>
          </a:prstGeom>
          <a:solidFill>
            <a:srgbClr val="6E7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35813" y="2586260"/>
            <a:ext cx="399975" cy="565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82050" y="6234025"/>
            <a:ext cx="495300" cy="487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/>
          <p:nvPr/>
        </p:nvSpPr>
        <p:spPr>
          <a:xfrm>
            <a:off x="15698391" y="666750"/>
            <a:ext cx="1696045" cy="14097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0800"/>
              <a:buFont typeface="Gabarito"/>
              <a:buNone/>
            </a:pPr>
            <a:r>
              <a:rPr b="1" i="0" lang="en-US" sz="1080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00</a:t>
            </a:r>
            <a:endParaRPr b="0" i="0" sz="10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266713" y="2857500"/>
            <a:ext cx="1905000" cy="1905000"/>
          </a:xfrm>
          <a:prstGeom prst="ellipse">
            <a:avLst/>
          </a:prstGeom>
          <a:solidFill>
            <a:srgbClr val="D97757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" name="Google Shape;8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5338" y="3286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5"/>
          <p:cNvSpPr/>
          <p:nvPr/>
        </p:nvSpPr>
        <p:spPr>
          <a:xfrm>
            <a:off x="1266713" y="5334000"/>
            <a:ext cx="14668500" cy="969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366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375"/>
              <a:buFont typeface="Gabarito"/>
              <a:buNone/>
            </a:pPr>
            <a:r>
              <a:rPr b="1" i="0" lang="en-US" sz="63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Introduction</a:t>
            </a:r>
            <a:endParaRPr b="0" i="0" sz="6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1266713" y="6447188"/>
            <a:ext cx="146685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3150"/>
              <a:buFont typeface="Gabarito"/>
              <a:buNone/>
            </a:pPr>
            <a:r>
              <a:rPr b="0" i="0" lang="en-US" sz="315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What local LLM serving is, and why it is </a:t>
            </a:r>
            <a:r>
              <a:rPr lang="en-US" sz="3150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important</a:t>
            </a:r>
            <a:r>
              <a:rPr b="0" i="0" lang="en-US" sz="315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1266713" y="9086701"/>
            <a:ext cx="990451" cy="9525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7" name="Google Shape;9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1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6"/>
          <p:cNvSpPr/>
          <p:nvPr/>
        </p:nvSpPr>
        <p:spPr>
          <a:xfrm>
            <a:off x="1047750" y="914363"/>
            <a:ext cx="13701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Definition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1047750" y="1390613"/>
            <a:ext cx="111951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What Is Local LLM Serving?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1047750" y="2667000"/>
            <a:ext cx="153048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54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625"/>
              <a:buFont typeface="Gabarito"/>
              <a:buNone/>
            </a:pPr>
            <a:r>
              <a:rPr b="0" i="0" lang="en-US" sz="3000" u="none" cap="none" strike="noStrike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Running a</a:t>
            </a:r>
            <a:r>
              <a:rPr b="1" i="0" lang="en-US" sz="3000" u="none" cap="none" strike="noStrike">
                <a:solidFill>
                  <a:schemeClr val="accent2"/>
                </a:solidFill>
                <a:latin typeface="Gabarito"/>
                <a:ea typeface="Gabarito"/>
                <a:cs typeface="Gabarito"/>
                <a:sym typeface="Gabarito"/>
              </a:rPr>
              <a:t> large language model</a:t>
            </a:r>
            <a:r>
              <a:rPr b="0" i="0" lang="en-US" sz="3000" u="none" cap="none" strike="noStrike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 on hardware you control — your laptop, workstation, or server — instead of calling someone else's cloud API.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1047750" y="4125950"/>
            <a:ext cx="7972500" cy="4112400"/>
          </a:xfrm>
          <a:prstGeom prst="roundRect">
            <a:avLst>
              <a:gd fmla="val 2825" name="adj"/>
            </a:avLst>
          </a:prstGeom>
          <a:solidFill>
            <a:srgbClr val="035595">
              <a:alpha val="3140"/>
            </a:srgbClr>
          </a:solidFill>
          <a:ln cap="flat" cmpd="sng" w="10575">
            <a:solidFill>
              <a:srgbClr val="B9CB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975097" y="4384085"/>
            <a:ext cx="81177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725"/>
              <a:buFont typeface="Gabarito"/>
              <a:buNone/>
            </a:pPr>
            <a:r>
              <a:rPr b="1" lang="en-US" sz="2000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ENTERPRISE </a:t>
            </a:r>
            <a:r>
              <a:rPr b="1" i="0" lang="en-US" sz="2000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AI — EATING AT A RESTAURANT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2822939" y="5069410"/>
            <a:ext cx="687900" cy="687900"/>
          </a:xfrm>
          <a:prstGeom prst="roundRect">
            <a:avLst>
              <a:gd fmla="val 22154" name="adj"/>
            </a:avLst>
          </a:prstGeom>
          <a:solidFill>
            <a:srgbClr val="035595">
              <a:alpha val="10200"/>
            </a:srgbClr>
          </a:solidFill>
          <a:ln cap="flat" cmpd="sng" w="10575">
            <a:solidFill>
              <a:srgbClr val="0355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4431" y="5260902"/>
            <a:ext cx="304767" cy="30476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6"/>
          <p:cNvSpPr/>
          <p:nvPr/>
        </p:nvSpPr>
        <p:spPr>
          <a:xfrm>
            <a:off x="2443477" y="5833394"/>
            <a:ext cx="14469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425"/>
              <a:buFont typeface="Gabarito"/>
              <a:buNone/>
            </a:pPr>
            <a:r>
              <a:rPr b="1" i="0" lang="en-US" sz="142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Your Application</a:t>
            </a:r>
            <a:endParaRPr b="0" i="0" sz="14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3976522" y="5316961"/>
            <a:ext cx="3240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950"/>
              <a:buFont typeface="Gabarito"/>
              <a:buNone/>
            </a:pPr>
            <a:r>
              <a:rPr b="0" i="0" lang="en-US" sz="195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→</a:t>
            </a:r>
            <a:endParaRPr b="0" i="0" sz="1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689905" y="5069410"/>
            <a:ext cx="687900" cy="687900"/>
          </a:xfrm>
          <a:prstGeom prst="roundRect">
            <a:avLst>
              <a:gd fmla="val 22154" name="adj"/>
            </a:avLst>
          </a:prstGeom>
          <a:solidFill>
            <a:srgbClr val="035595">
              <a:alpha val="10200"/>
            </a:srgbClr>
          </a:solidFill>
          <a:ln cap="flat" cmpd="sng" w="10575">
            <a:solidFill>
              <a:srgbClr val="0355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81397" y="5260902"/>
            <a:ext cx="304767" cy="30476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6"/>
          <p:cNvSpPr/>
          <p:nvPr/>
        </p:nvSpPr>
        <p:spPr>
          <a:xfrm>
            <a:off x="4673799" y="5833394"/>
            <a:ext cx="7200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425"/>
              <a:buFont typeface="Gabarito"/>
              <a:buNone/>
            </a:pPr>
            <a:r>
              <a:rPr b="1" i="0" lang="en-US" sz="142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Internet</a:t>
            </a:r>
            <a:endParaRPr b="0" i="0" sz="14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5843489" y="5316961"/>
            <a:ext cx="3240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950"/>
              <a:buFont typeface="Gabarito"/>
              <a:buNone/>
            </a:pPr>
            <a:r>
              <a:rPr b="0" i="0" lang="en-US" sz="195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→</a:t>
            </a:r>
            <a:endParaRPr b="0" i="0" sz="1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6567455" y="5069410"/>
            <a:ext cx="666900" cy="666900"/>
          </a:xfrm>
          <a:prstGeom prst="roundRect">
            <a:avLst>
              <a:gd fmla="val 22857" name="adj"/>
            </a:avLst>
          </a:prstGeom>
          <a:solidFill>
            <a:srgbClr val="0355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" name="Google Shape;11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48364" y="5250319"/>
            <a:ext cx="304767" cy="304767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6"/>
          <p:cNvSpPr/>
          <p:nvPr/>
        </p:nvSpPr>
        <p:spPr>
          <a:xfrm>
            <a:off x="6129388" y="5812228"/>
            <a:ext cx="15429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425"/>
              <a:buFont typeface="Gabarito"/>
              <a:buNone/>
            </a:pPr>
            <a:r>
              <a:rPr b="1" i="0" lang="en-US" sz="142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Cloud AI Provider</a:t>
            </a:r>
            <a:endParaRPr b="0" i="0" sz="14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1344075" y="6457175"/>
            <a:ext cx="7379700" cy="1361400"/>
          </a:xfrm>
          <a:prstGeom prst="roundRect">
            <a:avLst>
              <a:gd fmla="val 9631" name="adj"/>
            </a:avLst>
          </a:prstGeom>
          <a:solidFill>
            <a:srgbClr val="035595">
              <a:alpha val="7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1553600" y="6628491"/>
            <a:ext cx="76569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725"/>
              <a:buFont typeface="Gabarito"/>
              <a:buNone/>
            </a:pPr>
            <a:r>
              <a:rPr b="1" i="0" lang="en-US" sz="1825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Someone else cooks for you.</a:t>
            </a:r>
            <a:endParaRPr b="0" i="0" sz="1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553600" y="7020942"/>
            <a:ext cx="71694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545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500"/>
              <a:buFont typeface="Gabarito"/>
              <a:buNone/>
            </a:pPr>
            <a:r>
              <a:rPr b="0" i="0" lang="en-US" sz="160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It's convenient, but you depend on their kitchen, pay per request, wait in line, and your data leaves their infrastructure.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9267700" y="4125950"/>
            <a:ext cx="7972500" cy="4112400"/>
          </a:xfrm>
          <a:prstGeom prst="roundRect">
            <a:avLst>
              <a:gd fmla="val 2825" name="adj"/>
            </a:avLst>
          </a:prstGeom>
          <a:solidFill>
            <a:srgbClr val="FF9900">
              <a:alpha val="3140"/>
            </a:srgbClr>
          </a:solidFill>
          <a:ln cap="flat" cmpd="sng" w="10575">
            <a:solidFill>
              <a:srgbClr val="F4D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9195032" y="4384085"/>
            <a:ext cx="81180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725"/>
              <a:buFont typeface="Gabarito"/>
              <a:buNone/>
            </a:pPr>
            <a:r>
              <a:rPr b="1" i="0" lang="en-US" sz="200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LOCAL AI — COOKING AT HOME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10438805" y="5069410"/>
            <a:ext cx="630600" cy="630600"/>
          </a:xfrm>
          <a:prstGeom prst="roundRect">
            <a:avLst>
              <a:gd fmla="val 24164" name="adj"/>
            </a:avLst>
          </a:prstGeom>
          <a:solidFill>
            <a:srgbClr val="FF9900">
              <a:alpha val="12160"/>
            </a:srgbClr>
          </a:solidFill>
          <a:ln cap="flat" cmpd="sng" w="10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20871" y="5251477"/>
            <a:ext cx="266568" cy="26656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/>
          <p:nvPr/>
        </p:nvSpPr>
        <p:spPr>
          <a:xfrm>
            <a:off x="10069124" y="5776178"/>
            <a:ext cx="13698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6579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350"/>
              <a:buFont typeface="Gabarito"/>
              <a:buNone/>
            </a:pPr>
            <a:r>
              <a:rPr b="1" i="0" lang="en-US" sz="135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Your Application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11473160" y="5278927"/>
            <a:ext cx="304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→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12105349" y="5069410"/>
            <a:ext cx="630600" cy="630600"/>
          </a:xfrm>
          <a:prstGeom prst="roundRect">
            <a:avLst>
              <a:gd fmla="val 24164" name="adj"/>
            </a:avLst>
          </a:prstGeom>
          <a:solidFill>
            <a:srgbClr val="FF9900">
              <a:alpha val="12160"/>
            </a:srgbClr>
          </a:solidFill>
          <a:ln cap="flat" cmpd="sng" w="10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287416" y="5251477"/>
            <a:ext cx="266568" cy="26656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6"/>
          <p:cNvSpPr/>
          <p:nvPr/>
        </p:nvSpPr>
        <p:spPr>
          <a:xfrm>
            <a:off x="11739662" y="5776178"/>
            <a:ext cx="13620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6579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350"/>
              <a:buFont typeface="Gabarito"/>
              <a:buNone/>
            </a:pPr>
            <a:r>
              <a:rPr b="1" i="0" lang="en-US" sz="135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Local LLM Server </a:t>
            </a:r>
            <a:r>
              <a:rPr b="0" i="0" lang="en-US" sz="1125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(Ollama / vLLM)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13139705" y="5278927"/>
            <a:ext cx="304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→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13771894" y="5069410"/>
            <a:ext cx="630600" cy="630600"/>
          </a:xfrm>
          <a:prstGeom prst="roundRect">
            <a:avLst>
              <a:gd fmla="val 24164" name="adj"/>
            </a:avLst>
          </a:prstGeom>
          <a:solidFill>
            <a:srgbClr val="FF9900">
              <a:alpha val="12160"/>
            </a:srgbClr>
          </a:solidFill>
          <a:ln cap="flat" cmpd="sng" w="10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953960" y="5251477"/>
            <a:ext cx="266568" cy="26656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6"/>
          <p:cNvSpPr/>
          <p:nvPr/>
        </p:nvSpPr>
        <p:spPr>
          <a:xfrm>
            <a:off x="13414037" y="5776178"/>
            <a:ext cx="13464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6579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350"/>
              <a:buFont typeface="Gabarito"/>
              <a:buNone/>
            </a:pPr>
            <a:r>
              <a:rPr b="1" i="0" lang="en-US" sz="135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Your GPU / CPU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14806250" y="5278927"/>
            <a:ext cx="304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→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15449022" y="5069410"/>
            <a:ext cx="609600" cy="609600"/>
          </a:xfrm>
          <a:prstGeom prst="roundRect">
            <a:avLst>
              <a:gd fmla="val 25003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2" name="Google Shape;132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5620505" y="5240893"/>
            <a:ext cx="266568" cy="26656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/>
          <p:nvPr/>
        </p:nvSpPr>
        <p:spPr>
          <a:xfrm>
            <a:off x="15235305" y="5755012"/>
            <a:ext cx="1037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6579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350"/>
              <a:buFont typeface="Gabarito"/>
              <a:buNone/>
            </a:pPr>
            <a:r>
              <a:rPr b="1" i="0" lang="en-US" sz="135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LLM (Model)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9564022" y="6477010"/>
            <a:ext cx="7380000" cy="1361400"/>
          </a:xfrm>
          <a:prstGeom prst="roundRect">
            <a:avLst>
              <a:gd fmla="val 9631" name="adj"/>
            </a:avLst>
          </a:prstGeom>
          <a:solidFill>
            <a:srgbClr val="FF99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9773543" y="6645783"/>
            <a:ext cx="76569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725"/>
              <a:buFont typeface="Gabarito"/>
              <a:buNone/>
            </a:pPr>
            <a:r>
              <a:rPr b="1" i="0" lang="en-US" sz="1825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You cook the food yourself.</a:t>
            </a:r>
            <a:endParaRPr b="0" i="0" sz="1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9773543" y="7038234"/>
            <a:ext cx="71697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545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500"/>
              <a:buFont typeface="Gabarito"/>
              <a:buNone/>
            </a:pPr>
            <a:r>
              <a:rPr b="0" i="0" lang="en-US" sz="160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You control the kitchen, ingredients, and recipe. The model runs on your hardware, and your data stays in your environment.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2" name="Google Shape;1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/>
          <p:nvPr/>
        </p:nvSpPr>
        <p:spPr>
          <a:xfrm>
            <a:off x="1047750" y="914363"/>
            <a:ext cx="1516168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Motivation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1047750" y="1390613"/>
            <a:ext cx="10447213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Why Run Models Locally?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047750" y="3048000"/>
            <a:ext cx="7962863" cy="2296046"/>
          </a:xfrm>
          <a:prstGeom prst="roundRect">
            <a:avLst>
              <a:gd fmla="val 7467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1440656" y="3402769"/>
            <a:ext cx="780976" cy="780976"/>
          </a:xfrm>
          <a:prstGeom prst="ellipse">
            <a:avLst/>
          </a:prstGeom>
          <a:solidFill>
            <a:srgbClr val="035595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1402556" y="3402769"/>
            <a:ext cx="857176" cy="819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2700"/>
              <a:buFont typeface="Gabarito"/>
              <a:buNone/>
            </a:pPr>
            <a:r>
              <a:rPr b="1" i="0" lang="en-US" sz="2700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1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2507382" y="3402769"/>
            <a:ext cx="6721357" cy="43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550"/>
              <a:buFont typeface="Gabarito"/>
              <a:buNone/>
            </a:pPr>
            <a:r>
              <a:rPr b="1" i="0" lang="en-US" sz="255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Data privacy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2507382" y="3909901"/>
            <a:ext cx="6293634" cy="11174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08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025"/>
              <a:buFont typeface="Gabarito"/>
              <a:buNone/>
            </a:pPr>
            <a:r>
              <a:rPr lang="en-US" sz="202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Your data stays within your own computer or server instead of being sent to a third-party AI service. 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9277201" y="3048000"/>
            <a:ext cx="7963049" cy="2296046"/>
          </a:xfrm>
          <a:prstGeom prst="roundRect">
            <a:avLst>
              <a:gd fmla="val 7467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9670107" y="3402769"/>
            <a:ext cx="780976" cy="780976"/>
          </a:xfrm>
          <a:prstGeom prst="ellipse">
            <a:avLst/>
          </a:prstGeom>
          <a:solidFill>
            <a:srgbClr val="7A8A5A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9632007" y="3402769"/>
            <a:ext cx="857176" cy="819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D4C"/>
              </a:buClr>
              <a:buSzPts val="2700"/>
              <a:buFont typeface="Gabarito"/>
              <a:buNone/>
            </a:pPr>
            <a:r>
              <a:rPr b="1" i="0" lang="en-US" sz="2700" u="none" cap="none" strike="noStrike">
                <a:solidFill>
                  <a:srgbClr val="6E7D4C"/>
                </a:solidFill>
                <a:latin typeface="Gabarito"/>
                <a:ea typeface="Gabarito"/>
                <a:cs typeface="Gabarito"/>
                <a:sym typeface="Gabarito"/>
              </a:rPr>
              <a:t>2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10736833" y="3402769"/>
            <a:ext cx="6721562" cy="43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550"/>
              <a:buFont typeface="Gabarito"/>
              <a:buNone/>
            </a:pPr>
            <a:r>
              <a:rPr b="1" i="0" lang="en-US" sz="255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Predictable cost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0736833" y="3909901"/>
            <a:ext cx="6293826" cy="11174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08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025"/>
              <a:buFont typeface="Gabarito"/>
              <a:buNone/>
            </a:pPr>
            <a:r>
              <a:rPr lang="en-US" sz="202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You don't pay for every request or token. You mainly pay for the hardware or infrastructure you use. 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1047750" y="5610634"/>
            <a:ext cx="7962863" cy="1936254"/>
          </a:xfrm>
          <a:prstGeom prst="roundRect">
            <a:avLst>
              <a:gd fmla="val 8855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440656" y="5965403"/>
            <a:ext cx="780976" cy="780976"/>
          </a:xfrm>
          <a:prstGeom prst="ellipse">
            <a:avLst/>
          </a:prstGeom>
          <a:solidFill>
            <a:srgbClr val="FF9900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1402556" y="5965403"/>
            <a:ext cx="857176" cy="819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700"/>
              <a:buFont typeface="Gabarito"/>
              <a:buNone/>
            </a:pPr>
            <a:r>
              <a:rPr b="1" i="0" lang="en-US" sz="270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3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2507382" y="5965403"/>
            <a:ext cx="6721357" cy="43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550"/>
              <a:buFont typeface="Gabarito"/>
              <a:buNone/>
            </a:pPr>
            <a:r>
              <a:rPr b="1" i="0" lang="en-US" sz="255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Full control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2507382" y="6472535"/>
            <a:ext cx="6293634" cy="7576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08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025"/>
              <a:buFont typeface="Gabarito"/>
              <a:buNone/>
            </a:pPr>
            <a:r>
              <a:rPr lang="en-US" sz="202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You can choose the model, version, and settings, and decide how the model is used. 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9277201" y="5610634"/>
            <a:ext cx="7963049" cy="1936254"/>
          </a:xfrm>
          <a:prstGeom prst="roundRect">
            <a:avLst>
              <a:gd fmla="val 8855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9670107" y="5965403"/>
            <a:ext cx="780976" cy="780976"/>
          </a:xfrm>
          <a:prstGeom prst="ellipse">
            <a:avLst/>
          </a:prstGeom>
          <a:solidFill>
            <a:srgbClr val="5E7488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9632007" y="5965403"/>
            <a:ext cx="857176" cy="819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7488"/>
              </a:buClr>
              <a:buSzPts val="2700"/>
              <a:buFont typeface="Gabarito"/>
              <a:buNone/>
            </a:pPr>
            <a:r>
              <a:rPr b="1" i="0" lang="en-US" sz="2700" u="none" cap="none" strike="noStrike">
                <a:solidFill>
                  <a:srgbClr val="5E7488"/>
                </a:solidFill>
                <a:latin typeface="Gabarito"/>
                <a:ea typeface="Gabarito"/>
                <a:cs typeface="Gabarito"/>
                <a:sym typeface="Gabarito"/>
              </a:rPr>
              <a:t>4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0736833" y="5965403"/>
            <a:ext cx="6721562" cy="43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550"/>
              <a:buFont typeface="Gabarito"/>
              <a:buNone/>
            </a:pPr>
            <a:r>
              <a:rPr b="1" i="0" lang="en-US" sz="255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Offline capability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10736833" y="6472535"/>
            <a:ext cx="6293826" cy="7576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08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025"/>
              <a:buFont typeface="Gabarito"/>
              <a:buNone/>
            </a:pPr>
            <a:r>
              <a:rPr lang="en-US" sz="202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Once the model is installed, you can run it without an Internet connection. 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0" name="Google Shape;17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2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8"/>
          <p:cNvSpPr/>
          <p:nvPr/>
        </p:nvSpPr>
        <p:spPr>
          <a:xfrm>
            <a:off x="1047750" y="914363"/>
            <a:ext cx="1677219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Comparison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1047750" y="1390625"/>
            <a:ext cx="98778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lang="en-US" sz="6600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Enterprise</a:t>
            </a: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 AI vs Local AI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047750" y="3066976"/>
            <a:ext cx="3886088" cy="702469"/>
          </a:xfrm>
          <a:custGeom>
            <a:rect b="b" l="l" r="r" t="t"/>
            <a:pathLst>
              <a:path extrusionOk="0" h="702469" w="3886088">
                <a:moveTo>
                  <a:pt x="133350" y="0"/>
                </a:moveTo>
                <a:lnTo>
                  <a:pt x="3886088" y="0"/>
                </a:lnTo>
                <a:lnTo>
                  <a:pt x="3886088" y="702469"/>
                </a:lnTo>
                <a:lnTo>
                  <a:pt x="0" y="702469"/>
                </a:ln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274D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1333500" y="3257476"/>
            <a:ext cx="3431171" cy="359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abar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Dimension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4933838" y="3066976"/>
            <a:ext cx="6153113" cy="702469"/>
          </a:xfrm>
          <a:prstGeom prst="rect">
            <a:avLst/>
          </a:prstGeom>
          <a:solidFill>
            <a:srgbClr val="274D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5219588" y="3257476"/>
            <a:ext cx="5766206" cy="359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abarito"/>
              <a:buNone/>
            </a:pPr>
            <a:r>
              <a:rPr b="1" lang="en-US" sz="2100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Enterprise</a:t>
            </a:r>
            <a:r>
              <a:rPr b="1" i="0" lang="en-US" sz="2100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 AI (GPT, Claude API)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11086951" y="3066976"/>
            <a:ext cx="6153299" cy="702469"/>
          </a:xfrm>
          <a:custGeom>
            <a:rect b="b" l="l" r="r" t="t"/>
            <a:pathLst>
              <a:path extrusionOk="0" h="702469" w="6153299">
                <a:moveTo>
                  <a:pt x="0" y="0"/>
                </a:moveTo>
                <a:lnTo>
                  <a:pt x="6019949" y="0"/>
                </a:lnTo>
                <a:cubicBezTo>
                  <a:pt x="6055316" y="0"/>
                  <a:pt x="6089234" y="14049"/>
                  <a:pt x="6114242" y="39057"/>
                </a:cubicBezTo>
                <a:cubicBezTo>
                  <a:pt x="6139250" y="64065"/>
                  <a:pt x="6153299" y="97983"/>
                  <a:pt x="6153299" y="133350"/>
                </a:cubicBezTo>
                <a:lnTo>
                  <a:pt x="6153299" y="702469"/>
                </a:lnTo>
                <a:lnTo>
                  <a:pt x="0" y="702469"/>
                </a:lnTo>
                <a:lnTo>
                  <a:pt x="0" y="0"/>
                </a:lnTo>
                <a:close/>
              </a:path>
            </a:pathLst>
          </a:custGeom>
          <a:solidFill>
            <a:srgbClr val="274D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11372701" y="3257476"/>
            <a:ext cx="5766398" cy="359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abarito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Local AI (Ollama, vLLM)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1047750" y="4452565"/>
            <a:ext cx="3886088" cy="11906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1333500" y="3950419"/>
            <a:ext cx="3431171" cy="359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00"/>
              <a:buFont typeface="Gabarito"/>
              <a:buNone/>
            </a:pPr>
            <a:r>
              <a:rPr b="1" i="0" lang="en-US" sz="21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Privacy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933838" y="4452565"/>
            <a:ext cx="6153113" cy="11906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5219588" y="3950419"/>
            <a:ext cx="5766206" cy="359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100"/>
              <a:buFont typeface="Gabarito"/>
              <a:buNone/>
            </a:pPr>
            <a:r>
              <a:rPr lang="en-US" sz="210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Data is sent to the AI provider for processing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11086951" y="4452565"/>
            <a:ext cx="6153299" cy="11906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11372701" y="3950419"/>
            <a:ext cx="5766398" cy="359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100"/>
              <a:buFont typeface="Gabarito"/>
              <a:buNone/>
            </a:pPr>
            <a:r>
              <a:rPr lang="en-US" sz="210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Data can stay within your own environment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1047750" y="4464472"/>
            <a:ext cx="3886088" cy="695027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1047750" y="5147593"/>
            <a:ext cx="3886088" cy="11906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1333500" y="4645447"/>
            <a:ext cx="3431171" cy="359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00"/>
              <a:buFont typeface="Gabarito"/>
              <a:buNone/>
            </a:pPr>
            <a:r>
              <a:rPr b="1" i="0" lang="en-US" sz="21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Cost model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933838" y="4464472"/>
            <a:ext cx="6153113" cy="695027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4933838" y="5147593"/>
            <a:ext cx="6153113" cy="11906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5219588" y="4645447"/>
            <a:ext cx="5766206" cy="359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100"/>
              <a:buFont typeface="Gabarito"/>
              <a:buNone/>
            </a:pPr>
            <a:r>
              <a:rPr lang="en-US" sz="210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Usually pay based on usage/tokens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11086951" y="4464472"/>
            <a:ext cx="6153299" cy="695027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11086951" y="5147593"/>
            <a:ext cx="6153299" cy="11906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11372701" y="4645447"/>
            <a:ext cx="5766398" cy="359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100"/>
              <a:buFont typeface="Gabarito"/>
              <a:buNone/>
            </a:pPr>
            <a:r>
              <a:rPr lang="en-US" sz="210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Usually pay based on usage/tokens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1047750" y="5842620"/>
            <a:ext cx="3886088" cy="11906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1333500" y="5340474"/>
            <a:ext cx="3431171" cy="359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00"/>
              <a:buFont typeface="Gabarito"/>
              <a:buNone/>
            </a:pPr>
            <a:r>
              <a:rPr b="1" i="0" lang="en-US" sz="21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Model quality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933838" y="5842620"/>
            <a:ext cx="6153113" cy="11906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5219588" y="5340474"/>
            <a:ext cx="5766206" cy="359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100"/>
              <a:buFont typeface="Gabarito"/>
              <a:buNone/>
            </a:pPr>
            <a:r>
              <a:rPr lang="en-US" sz="210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Extremely High &amp; Consistent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11086951" y="5842620"/>
            <a:ext cx="6153299" cy="11906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11372701" y="5340474"/>
            <a:ext cx="5766398" cy="359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100"/>
              <a:buFont typeface="Gabarito"/>
              <a:buNone/>
            </a:pPr>
            <a:r>
              <a:rPr lang="en-US" sz="210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Many capable open models, but quality varies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1047750" y="5854526"/>
            <a:ext cx="3886088" cy="695027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1047750" y="6537647"/>
            <a:ext cx="3886088" cy="11906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1333500" y="6035501"/>
            <a:ext cx="3431171" cy="359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00"/>
              <a:buFont typeface="Gabarito"/>
              <a:buNone/>
            </a:pPr>
            <a:r>
              <a:rPr b="1" i="0" lang="en-US" sz="21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Setup effort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4933838" y="5854526"/>
            <a:ext cx="6153113" cy="695027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4933838" y="6537647"/>
            <a:ext cx="6153113" cy="11906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5219588" y="6035501"/>
            <a:ext cx="5766206" cy="359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100"/>
              <a:buFont typeface="Gabarito"/>
              <a:buNone/>
            </a:pPr>
            <a:r>
              <a:rPr lang="en-US" sz="210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Easy — get an API key and call the API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11086951" y="5854526"/>
            <a:ext cx="6153299" cy="695027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11086951" y="6537647"/>
            <a:ext cx="6153299" cy="11906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11372700" y="6035500"/>
            <a:ext cx="60105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100"/>
              <a:buFont typeface="Gabarito"/>
              <a:buNone/>
            </a:pPr>
            <a:r>
              <a:rPr lang="en-US" sz="210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More setup — install software &amp; manage hardware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1047750" y="7232675"/>
            <a:ext cx="3886088" cy="11906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1333500" y="6730529"/>
            <a:ext cx="3431171" cy="359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00"/>
              <a:buFont typeface="Gabarito"/>
              <a:buNone/>
            </a:pPr>
            <a:r>
              <a:rPr b="1" i="0" lang="en-US" sz="21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Offline use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4933838" y="7232675"/>
            <a:ext cx="6153113" cy="11906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5219588" y="6730529"/>
            <a:ext cx="5766206" cy="359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100"/>
              <a:buFont typeface="Gabarito"/>
              <a:buNone/>
            </a:pPr>
            <a:r>
              <a:rPr lang="en-US" sz="210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Usually requires Internet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11086951" y="7232675"/>
            <a:ext cx="6153299" cy="11906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11372701" y="6730529"/>
            <a:ext cx="5766398" cy="359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100"/>
              <a:buFont typeface="Gabarito"/>
              <a:buNone/>
            </a:pPr>
            <a:r>
              <a:rPr lang="en-US" sz="210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Can run without Internet after setup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1047750" y="7244581"/>
            <a:ext cx="3886088" cy="683121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1333500" y="7425556"/>
            <a:ext cx="3431171" cy="359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00"/>
              <a:buFont typeface="Gabarito"/>
              <a:buNone/>
            </a:pPr>
            <a:r>
              <a:rPr b="1" i="0" lang="en-US" sz="21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Scaling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933838" y="7244581"/>
            <a:ext cx="6153113" cy="683121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5219588" y="7425556"/>
            <a:ext cx="5766206" cy="359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100"/>
              <a:buFont typeface="Gabarito"/>
              <a:buNone/>
            </a:pPr>
            <a:r>
              <a:rPr lang="en-US" sz="210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Provider handles infrastructure scaling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11086951" y="7244581"/>
            <a:ext cx="6153299" cy="683121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11372701" y="7425556"/>
            <a:ext cx="5766398" cy="359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100"/>
              <a:buFont typeface="Gabarito"/>
              <a:buNone/>
            </a:pPr>
            <a:r>
              <a:rPr lang="en-US" sz="210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You manage and scale your own hardware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6" name="Google Shape;22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2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9"/>
          <p:cNvSpPr/>
          <p:nvPr/>
        </p:nvSpPr>
        <p:spPr>
          <a:xfrm>
            <a:off x="1047750" y="914363"/>
            <a:ext cx="788715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Goals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1047750" y="1390613"/>
            <a:ext cx="8111877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Learning Objectives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1047750" y="2667000"/>
            <a:ext cx="15716250" cy="43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625"/>
              <a:buFont typeface="Gabarito"/>
              <a:buNone/>
            </a:pPr>
            <a:r>
              <a:rPr b="0" i="0" lang="en-US" sz="2625" u="none" cap="none" strike="noStrike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By the end of this lecture, you will be able to:</a:t>
            </a:r>
            <a:endParaRPr b="0" i="0" sz="26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1047750" y="3733726"/>
            <a:ext cx="7962863" cy="1238994"/>
          </a:xfrm>
          <a:prstGeom prst="roundRect">
            <a:avLst>
              <a:gd fmla="val 12300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1364382" y="4048497"/>
            <a:ext cx="609451" cy="609451"/>
          </a:xfrm>
          <a:prstGeom prst="ellipse">
            <a:avLst/>
          </a:prstGeom>
          <a:solidFill>
            <a:srgbClr val="035595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1326282" y="4048497"/>
            <a:ext cx="685651" cy="647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2202284" y="3993245"/>
            <a:ext cx="6686448" cy="7580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00"/>
              <a:buFont typeface="Gabarito"/>
              <a:buNone/>
            </a:pPr>
            <a:r>
              <a:rPr b="1" i="0" lang="en-US" sz="21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Install and manage </a:t>
            </a:r>
            <a:r>
              <a:rPr b="0" i="0" lang="en-US" sz="2100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local models with Ollama </a:t>
            </a:r>
            <a:r>
              <a:rPr lang="en-US" sz="2100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- </a:t>
            </a:r>
            <a:r>
              <a:rPr b="0" i="0" lang="en-US" sz="2100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pull, run, </a:t>
            </a:r>
            <a:r>
              <a:rPr lang="en-US" sz="2100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and chat.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9277201" y="3733726"/>
            <a:ext cx="7963049" cy="1238994"/>
          </a:xfrm>
          <a:prstGeom prst="roundRect">
            <a:avLst>
              <a:gd fmla="val 12300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9593833" y="4048497"/>
            <a:ext cx="609451" cy="609451"/>
          </a:xfrm>
          <a:prstGeom prst="ellipse">
            <a:avLst/>
          </a:prstGeom>
          <a:solidFill>
            <a:srgbClr val="7A8A5A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9555733" y="4048497"/>
            <a:ext cx="685651" cy="647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D4C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6E7D4C"/>
                </a:solidFill>
                <a:latin typeface="Gabarito"/>
                <a:ea typeface="Gabarito"/>
                <a:cs typeface="Gabarito"/>
                <a:sym typeface="Gabarito"/>
              </a:rPr>
              <a:t>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10431735" y="3993245"/>
            <a:ext cx="6686639" cy="7580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00"/>
              <a:buFont typeface="Gabarito"/>
              <a:buNone/>
            </a:pPr>
            <a:r>
              <a:rPr b="1" lang="en-US" sz="2100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Understand </a:t>
            </a:r>
            <a:r>
              <a:rPr b="1" i="0" lang="en-US" sz="21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system prompts </a:t>
            </a:r>
            <a:r>
              <a:rPr b="0" i="0" lang="en-US" sz="2100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that reliably control model behavior</a:t>
            </a:r>
            <a:r>
              <a:rPr lang="en-US" sz="2100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1047750" y="5201171"/>
            <a:ext cx="7962900" cy="1239000"/>
          </a:xfrm>
          <a:prstGeom prst="roundRect">
            <a:avLst>
              <a:gd fmla="val 12300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1364382" y="5515942"/>
            <a:ext cx="609451" cy="609451"/>
          </a:xfrm>
          <a:prstGeom prst="ellipse">
            <a:avLst/>
          </a:prstGeom>
          <a:solidFill>
            <a:srgbClr val="5E7488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1326282" y="5515942"/>
            <a:ext cx="685651" cy="647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7488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5E7488"/>
                </a:solidFill>
                <a:latin typeface="Gabarito"/>
                <a:ea typeface="Gabarito"/>
                <a:cs typeface="Gabarito"/>
                <a:sym typeface="Gabarito"/>
              </a:rPr>
              <a:t>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2202284" y="5460690"/>
            <a:ext cx="6686448" cy="7580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00"/>
              <a:buFont typeface="Gabarito"/>
              <a:buNone/>
            </a:pPr>
            <a:r>
              <a:rPr b="1" lang="en-US" sz="2100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U</a:t>
            </a:r>
            <a:r>
              <a:rPr b="1" lang="en-US" sz="2100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se</a:t>
            </a:r>
            <a:r>
              <a:rPr b="1" i="0" lang="en-US" sz="21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 </a:t>
            </a:r>
            <a:r>
              <a:rPr b="1" i="0" lang="en-US" sz="21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vLLM </a:t>
            </a:r>
            <a:r>
              <a:rPr lang="en-US" sz="2100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to serve an AI model for faster inference using CLI, Docker, or Docker Compose.</a:t>
            </a:r>
            <a:endParaRPr sz="2100">
              <a:solidFill>
                <a:srgbClr val="37474F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00"/>
              <a:buFont typeface="Gabarito"/>
              <a:buNone/>
            </a:pPr>
            <a:r>
              <a:t/>
            </a:r>
            <a:endParaRPr sz="2100">
              <a:solidFill>
                <a:srgbClr val="37474F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9277201" y="5201171"/>
            <a:ext cx="7962900" cy="1239000"/>
          </a:xfrm>
          <a:prstGeom prst="roundRect">
            <a:avLst>
              <a:gd fmla="val 12300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9593833" y="5515942"/>
            <a:ext cx="609451" cy="609451"/>
          </a:xfrm>
          <a:prstGeom prst="ellipse">
            <a:avLst/>
          </a:prstGeom>
          <a:solidFill>
            <a:srgbClr val="B08A3E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9555733" y="5515942"/>
            <a:ext cx="685651" cy="647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813A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A8813A"/>
                </a:solidFill>
                <a:latin typeface="Gabarito"/>
                <a:ea typeface="Gabarito"/>
                <a:cs typeface="Gabarito"/>
                <a:sym typeface="Gabarito"/>
              </a:rPr>
              <a:t>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10431726" y="5460700"/>
            <a:ext cx="62217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00"/>
              <a:buFont typeface="Gabarito"/>
              <a:buNone/>
            </a:pPr>
            <a:r>
              <a:rPr b="1" i="0" lang="en-US" sz="21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Find and </a:t>
            </a:r>
            <a:r>
              <a:rPr b="1" lang="en-US" sz="2100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understand </a:t>
            </a:r>
            <a:r>
              <a:rPr b="1" i="0" lang="en-US" sz="21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models </a:t>
            </a:r>
            <a:r>
              <a:rPr b="0" i="0" lang="en-US" sz="2100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on Hugging Face — names, variants, licenses, quantizations.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1047750" y="6668616"/>
            <a:ext cx="7962863" cy="1238994"/>
          </a:xfrm>
          <a:prstGeom prst="roundRect">
            <a:avLst>
              <a:gd fmla="val 12300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1364382" y="6983388"/>
            <a:ext cx="609451" cy="609451"/>
          </a:xfrm>
          <a:prstGeom prst="ellipse">
            <a:avLst/>
          </a:prstGeom>
          <a:solidFill>
            <a:srgbClr val="D97757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1326282" y="6983388"/>
            <a:ext cx="685651" cy="647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5F3C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C15F3C"/>
                </a:solidFill>
                <a:latin typeface="Gabarito"/>
                <a:ea typeface="Gabarito"/>
                <a:cs typeface="Gabarito"/>
                <a:sym typeface="Gabarito"/>
              </a:rPr>
              <a:t>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2202276" y="6928125"/>
            <a:ext cx="62217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00"/>
              <a:buFont typeface="Gabarito"/>
              <a:buNone/>
            </a:pPr>
            <a:r>
              <a:rPr b="1" i="0" lang="en-US" sz="21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Serve OpenAI-compatible APIs </a:t>
            </a:r>
            <a:r>
              <a:rPr b="0" i="0" lang="en-US" sz="2100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and </a:t>
            </a:r>
            <a:r>
              <a:rPr lang="en-US" sz="2100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testing it using </a:t>
            </a:r>
            <a:r>
              <a:rPr b="0" i="0" lang="en-US" sz="2100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 curl and </a:t>
            </a:r>
            <a:r>
              <a:rPr lang="en-US" sz="2100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API as OpenAI.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9277201" y="6668616"/>
            <a:ext cx="7963049" cy="1238994"/>
          </a:xfrm>
          <a:prstGeom prst="roundRect">
            <a:avLst>
              <a:gd fmla="val 12300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9593833" y="6983388"/>
            <a:ext cx="609451" cy="609451"/>
          </a:xfrm>
          <a:prstGeom prst="ellipse">
            <a:avLst/>
          </a:prstGeom>
          <a:solidFill>
            <a:srgbClr val="FF9900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9555733" y="6983388"/>
            <a:ext cx="685651" cy="647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10431735" y="6928135"/>
            <a:ext cx="6686639" cy="7580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00"/>
              <a:buFont typeface="Gabarito"/>
              <a:buNone/>
            </a:pPr>
            <a:r>
              <a:rPr b="1" i="0" lang="en-US" sz="21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Choose the right </a:t>
            </a:r>
            <a:r>
              <a:rPr b="1" lang="en-US" sz="2100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tool </a:t>
            </a:r>
            <a:r>
              <a:rPr b="0" i="0" lang="en-US" sz="2100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for any scenario — laptop demo to production cluster.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"/>
          <p:cNvSpPr/>
          <p:nvPr/>
        </p:nvSpPr>
        <p:spPr>
          <a:xfrm>
            <a:off x="15968700" y="666750"/>
            <a:ext cx="1398705" cy="14097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0800"/>
              <a:buFont typeface="Gabarito"/>
              <a:buNone/>
            </a:pPr>
            <a:r>
              <a:rPr b="1" i="0" lang="en-US" sz="1080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01</a:t>
            </a:r>
            <a:endParaRPr b="0" i="0" sz="10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0" name="Google Shape;26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6713" y="2609701"/>
            <a:ext cx="1899047" cy="2685976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0"/>
          <p:cNvSpPr/>
          <p:nvPr/>
        </p:nvSpPr>
        <p:spPr>
          <a:xfrm>
            <a:off x="1266713" y="5334000"/>
            <a:ext cx="14668500" cy="969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366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375"/>
              <a:buFont typeface="Gabarito"/>
              <a:buNone/>
            </a:pPr>
            <a:r>
              <a:rPr b="1" i="0" lang="en-US" sz="63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Ollama Setup </a:t>
            </a:r>
            <a:endParaRPr b="1" i="0" sz="6375" u="none" cap="none" strike="noStrike">
              <a:solidFill>
                <a:srgbClr val="274D71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marR="0" rtl="0" algn="l">
              <a:lnSpc>
                <a:spcPct val="95366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375"/>
              <a:buFont typeface="Gabarito"/>
              <a:buNone/>
            </a:pPr>
            <a:r>
              <a:rPr b="1" i="0" lang="en-US" sz="63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&amp; Model Management</a:t>
            </a:r>
            <a:endParaRPr b="0" i="0" sz="6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1266713" y="7524750"/>
            <a:ext cx="14668500" cy="5262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3150"/>
              <a:buFont typeface="Gabarito"/>
              <a:buNone/>
            </a:pPr>
            <a:r>
              <a:rPr b="0" i="0" lang="en-US" sz="315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Install Ollama, download models, and manage local LLMs.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1266713" y="9086701"/>
            <a:ext cx="990451" cy="9525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9" name="Google Shape;26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83198" y="1019101"/>
            <a:ext cx="1085701" cy="132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1"/>
          <p:cNvSpPr/>
          <p:nvPr/>
        </p:nvSpPr>
        <p:spPr>
          <a:xfrm>
            <a:off x="1047750" y="2381250"/>
            <a:ext cx="1461325" cy="4071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400"/>
              <a:buFont typeface="Gabarito"/>
              <a:buNone/>
            </a:pPr>
            <a:r>
              <a:rPr b="1" i="0" lang="en-US" sz="240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Definition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1047750" y="2876476"/>
            <a:ext cx="3388407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7800"/>
              <a:buFont typeface="Gabarito"/>
              <a:buNone/>
            </a:pPr>
            <a:r>
              <a:rPr b="1" i="0" lang="en-US" sz="78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Ollama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1047750" y="4267100"/>
            <a:ext cx="161589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775"/>
              <a:buFont typeface="Gabarito"/>
              <a:buNone/>
            </a:pPr>
            <a:r>
              <a:rPr b="0" i="0" lang="en-US" sz="2775" u="none" cap="none" strike="noStrike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A </a:t>
            </a:r>
            <a:r>
              <a:rPr b="1" i="0" lang="en-US" sz="2775" u="none" cap="none" strike="noStrike">
                <a:solidFill>
                  <a:schemeClr val="accent2"/>
                </a:solidFill>
                <a:latin typeface="Gabarito"/>
                <a:ea typeface="Gabarito"/>
                <a:cs typeface="Gabarito"/>
                <a:sym typeface="Gabarito"/>
              </a:rPr>
              <a:t>tool </a:t>
            </a:r>
            <a:r>
              <a:rPr b="0" i="0" lang="en-US" sz="2775" u="none" cap="none" strike="noStrike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for </a:t>
            </a:r>
            <a:r>
              <a:rPr b="1" i="0" lang="en-US" sz="2775" u="none" cap="none" strike="noStrike">
                <a:solidFill>
                  <a:schemeClr val="accent2"/>
                </a:solidFill>
                <a:latin typeface="Gabarito"/>
                <a:ea typeface="Gabarito"/>
                <a:cs typeface="Gabarito"/>
                <a:sym typeface="Gabarito"/>
              </a:rPr>
              <a:t>running large language models</a:t>
            </a:r>
            <a:r>
              <a:rPr b="0" i="0" lang="en-US" sz="2775" u="none" cap="none" strike="noStrike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 locally — it packages model weights, configuration, and a runtime into a single, easy-to-manage unit.</a:t>
            </a:r>
            <a:endParaRPr b="0" i="0" sz="27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1047750" y="5438738"/>
            <a:ext cx="5224425" cy="2728764"/>
          </a:xfrm>
          <a:prstGeom prst="roundRect">
            <a:avLst>
              <a:gd fmla="val 5585" name="adj"/>
            </a:avLst>
          </a:prstGeom>
          <a:solidFill>
            <a:srgbClr val="FFFFFF"/>
          </a:solidFill>
          <a:ln cap="flat" cmpd="sng" w="119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1469120" y="5879269"/>
            <a:ext cx="184052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775"/>
              <a:buFont typeface="Gabarito"/>
              <a:buNone/>
            </a:pPr>
            <a:r>
              <a:rPr b="1" i="0" lang="en-US" sz="27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Simple CLI</a:t>
            </a:r>
            <a:endParaRPr b="0" i="0" sz="27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1469120" y="6517370"/>
            <a:ext cx="4532490" cy="731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48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b="0" i="0" lang="en-US" sz="195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Minimal setup — pull, run, and manage models with short commands.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6514951" y="5438738"/>
            <a:ext cx="5224425" cy="2728764"/>
          </a:xfrm>
          <a:prstGeom prst="roundRect">
            <a:avLst>
              <a:gd fmla="val 5585" name="adj"/>
            </a:avLst>
          </a:prstGeom>
          <a:solidFill>
            <a:srgbClr val="FFFFFF"/>
          </a:solidFill>
          <a:ln cap="flat" cmpd="sng" w="119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6936321" y="5879269"/>
            <a:ext cx="3144478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775"/>
              <a:buFont typeface="Gabarito"/>
              <a:buNone/>
            </a:pPr>
            <a:r>
              <a:rPr b="1" i="0" lang="en-US" sz="27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Quick prototyping</a:t>
            </a:r>
            <a:endParaRPr b="0" i="0" sz="27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6936321" y="6517370"/>
            <a:ext cx="4532490" cy="731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48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lang="en-US" sz="195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Makes it easy to test different models and prompts locally.</a:t>
            </a:r>
            <a:endParaRPr sz="1950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11982338" y="5438738"/>
            <a:ext cx="5224425" cy="2728764"/>
          </a:xfrm>
          <a:prstGeom prst="roundRect">
            <a:avLst>
              <a:gd fmla="val 5585" name="adj"/>
            </a:avLst>
          </a:prstGeom>
          <a:solidFill>
            <a:srgbClr val="FFFFFF"/>
          </a:solidFill>
          <a:ln cap="flat" cmpd="sng" w="119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12403708" y="5879269"/>
            <a:ext cx="3619444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775"/>
              <a:buFont typeface="Gabarito"/>
              <a:buNone/>
            </a:pPr>
            <a:r>
              <a:rPr b="1" i="0" lang="en-US" sz="27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Quantized by default</a:t>
            </a:r>
            <a:endParaRPr b="0" i="0" sz="27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12403701" y="6517375"/>
            <a:ext cx="4096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48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lang="en-US" sz="195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It</a:t>
            </a:r>
            <a:r>
              <a:rPr b="0" i="0" lang="en-US" sz="195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 keeps RAM &amp; VRAM requirements low.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2" name="Google Shape;28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4124" y="2737225"/>
            <a:ext cx="790850" cy="111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"/>
          <p:cNvSpPr/>
          <p:nvPr/>
        </p:nvSpPr>
        <p:spPr>
          <a:xfrm>
            <a:off x="8636000" y="6909475"/>
            <a:ext cx="8604300" cy="1093200"/>
          </a:xfrm>
          <a:prstGeom prst="roundRect">
            <a:avLst>
              <a:gd fmla="val 15219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9" name="Google Shape;28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2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2"/>
          <p:cNvSpPr/>
          <p:nvPr/>
        </p:nvSpPr>
        <p:spPr>
          <a:xfrm>
            <a:off x="1047750" y="914363"/>
            <a:ext cx="823317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Setup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1047750" y="1390613"/>
            <a:ext cx="15327641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Installation &amp; Requirements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1047750" y="2741350"/>
            <a:ext cx="7367700" cy="5261400"/>
          </a:xfrm>
          <a:prstGeom prst="roundRect">
            <a:avLst>
              <a:gd fmla="val 3313" name="adj"/>
            </a:avLst>
          </a:prstGeom>
          <a:solidFill>
            <a:srgbClr val="1E22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1047750" y="2741350"/>
            <a:ext cx="7367700" cy="614400"/>
          </a:xfrm>
          <a:prstGeom prst="rect">
            <a:avLst/>
          </a:prstGeom>
          <a:solidFill>
            <a:srgbClr val="2A2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1295363" y="2972220"/>
            <a:ext cx="152400" cy="1524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1542976" y="2972220"/>
            <a:ext cx="152400" cy="1524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"/>
          <p:cNvSpPr/>
          <p:nvPr/>
        </p:nvSpPr>
        <p:spPr>
          <a:xfrm>
            <a:off x="1790588" y="2972220"/>
            <a:ext cx="152400" cy="1524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2171401" y="2893725"/>
            <a:ext cx="26235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800"/>
              <a:buFont typeface="JetBrains Mono"/>
              <a:buNone/>
            </a:pPr>
            <a:r>
              <a:rPr lang="en-US" sz="1800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Install Ollama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1390613" y="3641388"/>
            <a:ext cx="76329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815"/>
              </a:lnSpc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950"/>
              <a:buFont typeface="JetBrains Mono"/>
              <a:buNone/>
            </a:pPr>
            <a:r>
              <a:rPr b="0" i="0" lang="en-US" sz="1850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Linux </a:t>
            </a:r>
            <a:r>
              <a:rPr lang="en-US" sz="1850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1390613" y="4074664"/>
            <a:ext cx="76329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815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950"/>
              <a:buFont typeface="JetBrains Mono"/>
              <a:buNone/>
            </a:pPr>
            <a:r>
              <a:rPr b="0" i="0" lang="en-US" sz="1850" u="none" cap="none" strike="noStrike">
                <a:solidFill>
                  <a:srgbClr val="FF99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b="0" i="0" lang="en-US" sz="1850" u="none" cap="none" strike="noStrike">
                <a:solidFill>
                  <a:srgbClr val="A3C57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curl -fsSL https://ollama.com/install.sh | sh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1390613" y="4698440"/>
            <a:ext cx="76329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815"/>
              </a:lnSpc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950"/>
              <a:buFont typeface="JetBrains Mono"/>
              <a:buNone/>
            </a:pPr>
            <a:r>
              <a:rPr b="0" i="0" lang="en-US" sz="1850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macOS / Windows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1390613" y="5131716"/>
            <a:ext cx="76329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815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950"/>
              <a:buFont typeface="JetBrains Mono"/>
              <a:buNone/>
            </a:pPr>
            <a:r>
              <a:rPr b="0" i="0" lang="en-US" sz="1850" u="none" cap="none" strike="noStrike">
                <a:solidFill>
                  <a:srgbClr val="E8EAE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Download the installer from </a:t>
            </a:r>
            <a:r>
              <a:rPr b="0" i="0" lang="en-US" sz="1850" u="sng" cap="none" strike="noStrike">
                <a:solidFill>
                  <a:schemeClr val="hlink"/>
                </a:solidFill>
                <a:latin typeface="JetBrains Mono"/>
                <a:ea typeface="JetBrains Mono"/>
                <a:cs typeface="JetBrains Mono"/>
                <a:sym typeface="JetBrains Mono"/>
                <a:hlinkClick r:id="rId4"/>
              </a:rPr>
              <a:t>ollama.com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1390613" y="5755492"/>
            <a:ext cx="76329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815"/>
              </a:lnSpc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950"/>
              <a:buFont typeface="JetBrains Mono"/>
              <a:buNone/>
            </a:pPr>
            <a:r>
              <a:rPr b="0" i="0" lang="en-US" sz="1850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Verify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1390613" y="6188767"/>
            <a:ext cx="76329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815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950"/>
              <a:buFont typeface="JetBrains Mono"/>
              <a:buNone/>
            </a:pPr>
            <a:r>
              <a:rPr b="0" i="0" lang="en-US" sz="1850" u="none" cap="none" strike="noStrike">
                <a:solidFill>
                  <a:srgbClr val="FF99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b="0" i="0" lang="en-US" sz="1850" u="none" cap="none" strike="noStrike">
                <a:solidFill>
                  <a:srgbClr val="A3C57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ollama --version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1390613" y="6622043"/>
            <a:ext cx="76329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815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950"/>
              <a:buFont typeface="JetBrains Mono"/>
              <a:buNone/>
            </a:pPr>
            <a:r>
              <a:rPr b="0" i="0" lang="en-US" sz="1850" u="none" cap="none" strike="noStrike">
                <a:solidFill>
                  <a:srgbClr val="E8EAE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ollama version 0.9.2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8636002" y="2741350"/>
            <a:ext cx="1568202" cy="595313"/>
          </a:xfrm>
          <a:custGeom>
            <a:rect b="b" l="l" r="r" t="t"/>
            <a:pathLst>
              <a:path extrusionOk="0" h="595313" w="1912441">
                <a:moveTo>
                  <a:pt x="133350" y="0"/>
                </a:moveTo>
                <a:lnTo>
                  <a:pt x="1912441" y="0"/>
                </a:lnTo>
                <a:lnTo>
                  <a:pt x="1912441" y="595313"/>
                </a:lnTo>
                <a:lnTo>
                  <a:pt x="0" y="595313"/>
                </a:ln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274D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"/>
          <p:cNvSpPr/>
          <p:nvPr/>
        </p:nvSpPr>
        <p:spPr>
          <a:xfrm>
            <a:off x="8807000" y="2884225"/>
            <a:ext cx="15696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Gabarito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Model size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12197100" y="2741350"/>
            <a:ext cx="2191500" cy="595200"/>
          </a:xfrm>
          <a:prstGeom prst="rect">
            <a:avLst/>
          </a:prstGeom>
          <a:solidFill>
            <a:srgbClr val="274D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2"/>
          <p:cNvSpPr/>
          <p:nvPr/>
        </p:nvSpPr>
        <p:spPr>
          <a:xfrm>
            <a:off x="12427825" y="2884225"/>
            <a:ext cx="21159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Gabarito"/>
              <a:buNone/>
            </a:pPr>
            <a:r>
              <a:rPr b="1" lang="en-US" sz="2025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INT8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14388703" y="2741350"/>
            <a:ext cx="2851547" cy="595313"/>
          </a:xfrm>
          <a:custGeom>
            <a:rect b="b" l="l" r="r" t="t"/>
            <a:pathLst>
              <a:path extrusionOk="0" h="595313" w="2851547">
                <a:moveTo>
                  <a:pt x="0" y="0"/>
                </a:moveTo>
                <a:lnTo>
                  <a:pt x="2718197" y="0"/>
                </a:lnTo>
                <a:cubicBezTo>
                  <a:pt x="2753564" y="0"/>
                  <a:pt x="2787482" y="14049"/>
                  <a:pt x="2812490" y="39057"/>
                </a:cubicBezTo>
                <a:cubicBezTo>
                  <a:pt x="2837498" y="64065"/>
                  <a:pt x="2851547" y="97983"/>
                  <a:pt x="2851547" y="133350"/>
                </a:cubicBezTo>
                <a:lnTo>
                  <a:pt x="2851547" y="595313"/>
                </a:lnTo>
                <a:lnTo>
                  <a:pt x="0" y="595313"/>
                </a:lnTo>
                <a:lnTo>
                  <a:pt x="0" y="0"/>
                </a:lnTo>
                <a:close/>
              </a:path>
            </a:pathLst>
          </a:custGeom>
          <a:solidFill>
            <a:srgbClr val="274D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2"/>
          <p:cNvSpPr/>
          <p:nvPr/>
        </p:nvSpPr>
        <p:spPr>
          <a:xfrm>
            <a:off x="14598253" y="2884225"/>
            <a:ext cx="25179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Gabarito"/>
              <a:buNone/>
            </a:pPr>
            <a:r>
              <a:rPr b="1" lang="en-US" sz="2025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INT4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9620250" y="3893652"/>
            <a:ext cx="19125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8807948" y="3460490"/>
            <a:ext cx="1287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025"/>
              <a:buFont typeface="Gabarito"/>
              <a:buNone/>
            </a:pPr>
            <a:r>
              <a:rPr b="1" i="0" lang="en-US" sz="202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1B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11532691" y="3893652"/>
            <a:ext cx="28560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2"/>
          <p:cNvSpPr/>
          <p:nvPr/>
        </p:nvSpPr>
        <p:spPr>
          <a:xfrm>
            <a:off x="12290916" y="3460488"/>
            <a:ext cx="2522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025"/>
              <a:buFont typeface="Gabarito"/>
              <a:buNone/>
            </a:pP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~1 GB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14388703" y="3893652"/>
            <a:ext cx="28515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2"/>
          <p:cNvSpPr/>
          <p:nvPr/>
        </p:nvSpPr>
        <p:spPr>
          <a:xfrm>
            <a:off x="14598253" y="3460488"/>
            <a:ext cx="2517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025"/>
              <a:buFont typeface="Gabarito"/>
              <a:buNone/>
            </a:pP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~</a:t>
            </a:r>
            <a:r>
              <a:rPr lang="en-US" sz="202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0.5-0.6</a:t>
            </a: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 GB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8636000" y="3905550"/>
            <a:ext cx="2896800" cy="5688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9620250" y="4462547"/>
            <a:ext cx="19125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8807948" y="4029387"/>
            <a:ext cx="1287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025"/>
              <a:buFont typeface="Gabarito"/>
              <a:buNone/>
            </a:pPr>
            <a:r>
              <a:rPr b="1" i="0" lang="en-US" sz="202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3B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11532691" y="3905558"/>
            <a:ext cx="2856000" cy="5688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11532691" y="4462547"/>
            <a:ext cx="28560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"/>
          <p:cNvSpPr/>
          <p:nvPr/>
        </p:nvSpPr>
        <p:spPr>
          <a:xfrm>
            <a:off x="12290916" y="4029383"/>
            <a:ext cx="2522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025"/>
              <a:buFont typeface="Gabarito"/>
              <a:buNone/>
            </a:pP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~3 GB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14388703" y="3905558"/>
            <a:ext cx="2851500" cy="5688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14388703" y="4462547"/>
            <a:ext cx="28515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14598253" y="4029383"/>
            <a:ext cx="2517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025"/>
              <a:buFont typeface="Gabarito"/>
              <a:buNone/>
            </a:pP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~</a:t>
            </a:r>
            <a:r>
              <a:rPr lang="en-US" sz="202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1.6</a:t>
            </a: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 GB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9620250" y="5031443"/>
            <a:ext cx="19125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8807948" y="4598284"/>
            <a:ext cx="1287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025"/>
              <a:buFont typeface="Gabarito"/>
              <a:buNone/>
            </a:pPr>
            <a:r>
              <a:rPr b="1" i="0" lang="en-US" sz="202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7–8B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11532691" y="5031443"/>
            <a:ext cx="28560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12290916" y="4598279"/>
            <a:ext cx="2522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025"/>
              <a:buFont typeface="Gabarito"/>
              <a:buNone/>
            </a:pP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~</a:t>
            </a:r>
            <a:r>
              <a:rPr lang="en-US" sz="202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7-8</a:t>
            </a: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 GB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14388703" y="5031443"/>
            <a:ext cx="28515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14598253" y="4598279"/>
            <a:ext cx="2517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025"/>
              <a:buFont typeface="Gabarito"/>
              <a:buNone/>
            </a:pP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~</a:t>
            </a:r>
            <a:r>
              <a:rPr lang="en-US" sz="202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3.7-4.5</a:t>
            </a: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 GB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8636000" y="5043348"/>
            <a:ext cx="2896800" cy="5688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9620250" y="5600338"/>
            <a:ext cx="19125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2"/>
          <p:cNvSpPr/>
          <p:nvPr/>
        </p:nvSpPr>
        <p:spPr>
          <a:xfrm>
            <a:off x="8807948" y="5167181"/>
            <a:ext cx="1287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025"/>
              <a:buFont typeface="Gabarito"/>
              <a:buNone/>
            </a:pPr>
            <a:r>
              <a:rPr b="1" i="0" lang="en-US" sz="202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13–14B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11532691" y="5043349"/>
            <a:ext cx="2856000" cy="5688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2"/>
          <p:cNvSpPr/>
          <p:nvPr/>
        </p:nvSpPr>
        <p:spPr>
          <a:xfrm>
            <a:off x="11532691" y="5600338"/>
            <a:ext cx="28560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2"/>
          <p:cNvSpPr/>
          <p:nvPr/>
        </p:nvSpPr>
        <p:spPr>
          <a:xfrm>
            <a:off x="14388703" y="5043349"/>
            <a:ext cx="2851500" cy="5688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2"/>
          <p:cNvSpPr/>
          <p:nvPr/>
        </p:nvSpPr>
        <p:spPr>
          <a:xfrm>
            <a:off x="14388703" y="5600338"/>
            <a:ext cx="28515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2"/>
          <p:cNvSpPr/>
          <p:nvPr/>
        </p:nvSpPr>
        <p:spPr>
          <a:xfrm>
            <a:off x="14598253" y="5167174"/>
            <a:ext cx="2517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025"/>
              <a:buFont typeface="Gabarito"/>
              <a:buNone/>
            </a:pP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~</a:t>
            </a:r>
            <a:r>
              <a:rPr lang="en-US" sz="202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7-7.5</a:t>
            </a: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 GB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9620250" y="6169234"/>
            <a:ext cx="19125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2"/>
          <p:cNvSpPr/>
          <p:nvPr/>
        </p:nvSpPr>
        <p:spPr>
          <a:xfrm>
            <a:off x="8807948" y="5736078"/>
            <a:ext cx="1287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025"/>
              <a:buFont typeface="Gabarito"/>
              <a:buNone/>
            </a:pPr>
            <a:r>
              <a:rPr b="1" i="0" lang="en-US" sz="202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30B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11532691" y="6169234"/>
            <a:ext cx="28560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2"/>
          <p:cNvSpPr/>
          <p:nvPr/>
        </p:nvSpPr>
        <p:spPr>
          <a:xfrm>
            <a:off x="14388703" y="6169234"/>
            <a:ext cx="28515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2"/>
          <p:cNvSpPr/>
          <p:nvPr/>
        </p:nvSpPr>
        <p:spPr>
          <a:xfrm>
            <a:off x="14598253" y="5736070"/>
            <a:ext cx="2517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025"/>
              <a:buFont typeface="Gabarito"/>
              <a:buNone/>
            </a:pP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~</a:t>
            </a:r>
            <a:r>
              <a:rPr lang="en-US" sz="202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16</a:t>
            </a: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 GB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8636000" y="6181146"/>
            <a:ext cx="2896800" cy="5571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2"/>
          <p:cNvSpPr/>
          <p:nvPr/>
        </p:nvSpPr>
        <p:spPr>
          <a:xfrm>
            <a:off x="8807948" y="6304975"/>
            <a:ext cx="1287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025"/>
              <a:buFont typeface="Gabarito"/>
              <a:buNone/>
            </a:pPr>
            <a:r>
              <a:rPr b="1" i="0" lang="en-US" sz="202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70B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11532691" y="6181140"/>
            <a:ext cx="2856000" cy="5571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2"/>
          <p:cNvSpPr/>
          <p:nvPr/>
        </p:nvSpPr>
        <p:spPr>
          <a:xfrm>
            <a:off x="14388703" y="6181140"/>
            <a:ext cx="2851500" cy="5571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2"/>
          <p:cNvSpPr/>
          <p:nvPr/>
        </p:nvSpPr>
        <p:spPr>
          <a:xfrm>
            <a:off x="14598253" y="6304965"/>
            <a:ext cx="2517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025"/>
              <a:buFont typeface="Gabarito"/>
              <a:buNone/>
            </a:pP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~</a:t>
            </a:r>
            <a:r>
              <a:rPr lang="en-US" sz="202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37</a:t>
            </a: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 GB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8839200" y="7073775"/>
            <a:ext cx="81552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650"/>
              <a:buFont typeface="Gabarito"/>
              <a:buNone/>
            </a:pPr>
            <a:r>
              <a:rPr b="0" i="0" lang="en-US" sz="165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⚠</a:t>
            </a:r>
            <a:r>
              <a:rPr lang="en-US" sz="1650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VRAM usage varies depending on quantization, context length, and model architecture. Values are approximate. Estimate your GPU memory requirements using </a:t>
            </a:r>
            <a:r>
              <a:rPr lang="en-US" sz="1650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this </a:t>
            </a:r>
            <a:r>
              <a:rPr lang="en-US" sz="1650" u="sng">
                <a:solidFill>
                  <a:schemeClr val="hlink"/>
                </a:solidFill>
                <a:latin typeface="Gabarito"/>
                <a:ea typeface="Gabarito"/>
                <a:cs typeface="Gabarito"/>
                <a:sym typeface="Gabarito"/>
                <a:hlinkClick r:id="rId5"/>
              </a:rPr>
              <a:t>GPU Memory Calculator.</a:t>
            </a:r>
            <a:r>
              <a:rPr lang="en-US" sz="1650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 </a:t>
            </a:r>
            <a:endParaRPr sz="1650">
              <a:solidFill>
                <a:srgbClr val="78746A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1047750" y="8270775"/>
            <a:ext cx="16221300" cy="1447200"/>
          </a:xfrm>
          <a:prstGeom prst="roundRect">
            <a:avLst>
              <a:gd fmla="val 5278" name="adj"/>
            </a:avLst>
          </a:prstGeom>
          <a:solidFill>
            <a:srgbClr val="035595">
              <a:alpha val="3920"/>
            </a:srgbClr>
          </a:solidFill>
          <a:ln cap="flat" cmpd="sng" w="11900">
            <a:solidFill>
              <a:srgbClr val="0355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2"/>
          <p:cNvSpPr/>
          <p:nvPr/>
        </p:nvSpPr>
        <p:spPr>
          <a:xfrm>
            <a:off x="1364370" y="8415570"/>
            <a:ext cx="80733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2100"/>
              <a:buFont typeface="Gabarito"/>
              <a:buNone/>
            </a:pPr>
            <a:r>
              <a:rPr b="1" lang="en-US" sz="2100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Raw </a:t>
            </a:r>
            <a:r>
              <a:rPr b="1" i="0" lang="en-US" sz="2100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VRAM formula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1364370" y="8870240"/>
            <a:ext cx="7339200" cy="618900"/>
          </a:xfrm>
          <a:prstGeom prst="roundRect">
            <a:avLst>
              <a:gd fmla="val 15389" name="adj"/>
            </a:avLst>
          </a:prstGeom>
          <a:solidFill>
            <a:srgbClr val="1E22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2"/>
          <p:cNvSpPr/>
          <p:nvPr/>
        </p:nvSpPr>
        <p:spPr>
          <a:xfrm>
            <a:off x="1554870" y="9022640"/>
            <a:ext cx="71784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83"/>
              </a:lnSpc>
              <a:spcBef>
                <a:spcPts val="0"/>
              </a:spcBef>
              <a:spcAft>
                <a:spcPts val="0"/>
              </a:spcAft>
              <a:buClr>
                <a:srgbClr val="A3C57F"/>
              </a:buClr>
              <a:buSzPts val="1650"/>
              <a:buFont typeface="JetBrains Mono"/>
              <a:buNone/>
            </a:pPr>
            <a:r>
              <a:rPr b="0" i="0" lang="en-US" sz="1650" u="none" cap="none" strike="noStrike">
                <a:solidFill>
                  <a:srgbClr val="A3C57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VRAM ≈ Parameters × Bits/Weight ÷ 8 </a:t>
            </a:r>
            <a:endParaRPr b="0" i="0" sz="1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9023520" y="8538716"/>
            <a:ext cx="80733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091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725"/>
              <a:buFont typeface="Gabarito"/>
              <a:buNone/>
            </a:pPr>
            <a:r>
              <a:rPr b="0" i="0" lang="en-US" sz="17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Example: 7B × 4-bit ÷ 8 ≈ </a:t>
            </a:r>
            <a:r>
              <a:rPr b="1" i="0" lang="en-US" sz="172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3.5 GB </a:t>
            </a:r>
            <a:r>
              <a:rPr b="0" i="0" lang="en-US" sz="17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of raw weights.</a:t>
            </a:r>
            <a:endParaRPr b="0" i="0" sz="17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9023525" y="8921575"/>
            <a:ext cx="79710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091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725"/>
              <a:buFont typeface="Gabarito"/>
              <a:buNone/>
            </a:pPr>
            <a:r>
              <a:rPr b="0" i="0" lang="en-US" sz="17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Real usage lands closer to </a:t>
            </a:r>
            <a:r>
              <a:rPr b="1" i="0" lang="en-US" sz="172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5–6 GB </a:t>
            </a:r>
            <a:r>
              <a:rPr b="0" i="0" lang="en-US" sz="17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— the KV cache and runtime overhead aren't in that formula.</a:t>
            </a:r>
            <a:endParaRPr b="0" i="0" sz="17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10204200" y="2741550"/>
            <a:ext cx="1992900" cy="595200"/>
          </a:xfrm>
          <a:prstGeom prst="rect">
            <a:avLst/>
          </a:prstGeom>
          <a:solidFill>
            <a:srgbClr val="274D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2"/>
          <p:cNvSpPr/>
          <p:nvPr/>
        </p:nvSpPr>
        <p:spPr>
          <a:xfrm>
            <a:off x="10245496" y="3449500"/>
            <a:ext cx="1328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025"/>
              <a:buFont typeface="Gabarito"/>
              <a:buNone/>
            </a:pP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~</a:t>
            </a:r>
            <a:r>
              <a:rPr lang="en-US" sz="202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2</a:t>
            </a: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 GB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10245496" y="4018400"/>
            <a:ext cx="1328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025"/>
              <a:buFont typeface="Gabarito"/>
              <a:buNone/>
            </a:pP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~</a:t>
            </a:r>
            <a:r>
              <a:rPr lang="en-US" sz="202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6</a:t>
            </a: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 GB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10245496" y="4587300"/>
            <a:ext cx="1328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025"/>
              <a:buFont typeface="Gabarito"/>
              <a:buNone/>
            </a:pP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~</a:t>
            </a:r>
            <a:r>
              <a:rPr lang="en-US" sz="202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14</a:t>
            </a: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–16 GB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10245491" y="5156187"/>
            <a:ext cx="2522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025"/>
              <a:buFont typeface="Gabarito"/>
              <a:buNone/>
            </a:pP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~</a:t>
            </a:r>
            <a:r>
              <a:rPr lang="en-US" sz="202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26</a:t>
            </a: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–</a:t>
            </a:r>
            <a:r>
              <a:rPr lang="en-US" sz="202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28</a:t>
            </a: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 GB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10245491" y="5725083"/>
            <a:ext cx="2522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025"/>
              <a:buFont typeface="Gabarito"/>
              <a:buNone/>
            </a:pP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~</a:t>
            </a:r>
            <a:r>
              <a:rPr lang="en-US" sz="202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60</a:t>
            </a: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–</a:t>
            </a:r>
            <a:r>
              <a:rPr lang="en-US" sz="202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63</a:t>
            </a: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 GB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10245500" y="6293975"/>
            <a:ext cx="1697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025"/>
              <a:buFont typeface="Gabarito"/>
              <a:buNone/>
            </a:pP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~</a:t>
            </a:r>
            <a:r>
              <a:rPr lang="en-US" sz="202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140</a:t>
            </a: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–</a:t>
            </a:r>
            <a:r>
              <a:rPr lang="en-US" sz="202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145</a:t>
            </a: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 GB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10376596" y="2880300"/>
            <a:ext cx="13656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Gabarito"/>
              <a:buNone/>
            </a:pPr>
            <a:r>
              <a:rPr b="1" lang="en-US" sz="2025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FP16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12315916" y="5129226"/>
            <a:ext cx="2522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025"/>
              <a:buFont typeface="Gabarito"/>
              <a:buNone/>
            </a:pP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~13-14 GB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12315916" y="5698121"/>
            <a:ext cx="2522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025"/>
              <a:buFont typeface="Gabarito"/>
              <a:buNone/>
            </a:pP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~</a:t>
            </a:r>
            <a:r>
              <a:rPr lang="en-US" sz="202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31-32</a:t>
            </a: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 GB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12315916" y="6267016"/>
            <a:ext cx="2522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025"/>
              <a:buFont typeface="Gabarito"/>
              <a:buNone/>
            </a:pP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~</a:t>
            </a:r>
            <a:r>
              <a:rPr lang="en-US" sz="202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70-74</a:t>
            </a: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 GB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73" name="Google Shape;37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2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3"/>
          <p:cNvSpPr/>
          <p:nvPr/>
        </p:nvSpPr>
        <p:spPr>
          <a:xfrm>
            <a:off x="1047750" y="914363"/>
            <a:ext cx="1573057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Commands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1047750" y="1390613"/>
            <a:ext cx="10025044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Essential CLI Commands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1047750" y="3715700"/>
            <a:ext cx="5647051" cy="652239"/>
          </a:xfrm>
          <a:custGeom>
            <a:rect b="b" l="l" r="r" t="t"/>
            <a:pathLst>
              <a:path extrusionOk="0" h="652239" w="5019601">
                <a:moveTo>
                  <a:pt x="133350" y="0"/>
                </a:moveTo>
                <a:lnTo>
                  <a:pt x="5019601" y="0"/>
                </a:lnTo>
                <a:lnTo>
                  <a:pt x="5019601" y="652239"/>
                </a:lnTo>
                <a:lnTo>
                  <a:pt x="0" y="652239"/>
                </a:ln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274D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3"/>
          <p:cNvSpPr/>
          <p:nvPr/>
        </p:nvSpPr>
        <p:spPr>
          <a:xfrm>
            <a:off x="1333500" y="3887138"/>
            <a:ext cx="4598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Gabarito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Command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6691825" y="3715700"/>
            <a:ext cx="5275500" cy="652200"/>
          </a:xfrm>
          <a:prstGeom prst="rect">
            <a:avLst/>
          </a:prstGeom>
          <a:solidFill>
            <a:srgbClr val="274D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3"/>
          <p:cNvSpPr/>
          <p:nvPr/>
        </p:nvSpPr>
        <p:spPr>
          <a:xfrm>
            <a:off x="7044725" y="3887150"/>
            <a:ext cx="4240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Gabarito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What it does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11967550" y="3715700"/>
            <a:ext cx="5275618" cy="652239"/>
          </a:xfrm>
          <a:custGeom>
            <a:rect b="b" l="l" r="r" t="t"/>
            <a:pathLst>
              <a:path extrusionOk="0" h="652239" w="5829412">
                <a:moveTo>
                  <a:pt x="0" y="0"/>
                </a:moveTo>
                <a:lnTo>
                  <a:pt x="5696062" y="0"/>
                </a:lnTo>
                <a:cubicBezTo>
                  <a:pt x="5731429" y="0"/>
                  <a:pt x="5765347" y="14049"/>
                  <a:pt x="5790355" y="39057"/>
                </a:cubicBezTo>
                <a:cubicBezTo>
                  <a:pt x="5815363" y="64065"/>
                  <a:pt x="5829412" y="97983"/>
                  <a:pt x="5829412" y="133350"/>
                </a:cubicBezTo>
                <a:lnTo>
                  <a:pt x="5829412" y="652239"/>
                </a:lnTo>
                <a:lnTo>
                  <a:pt x="0" y="652239"/>
                </a:lnTo>
                <a:lnTo>
                  <a:pt x="0" y="0"/>
                </a:lnTo>
                <a:close/>
              </a:path>
            </a:pathLst>
          </a:custGeom>
          <a:solidFill>
            <a:srgbClr val="274D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3"/>
          <p:cNvSpPr/>
          <p:nvPr/>
        </p:nvSpPr>
        <p:spPr>
          <a:xfrm>
            <a:off x="12226011" y="3887146"/>
            <a:ext cx="491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Gabarito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Example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1047750" y="5006028"/>
            <a:ext cx="50196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3"/>
          <p:cNvSpPr/>
          <p:nvPr/>
        </p:nvSpPr>
        <p:spPr>
          <a:xfrm>
            <a:off x="1333500" y="4520328"/>
            <a:ext cx="45987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2025"/>
              <a:buFont typeface="JetBrains Mono"/>
              <a:buNone/>
            </a:pPr>
            <a:r>
              <a:rPr b="1" i="0" lang="en-US" sz="2025" u="none" cap="none" strike="noStrike">
                <a:solidFill>
                  <a:srgbClr val="4C5A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ollama pull</a:t>
            </a:r>
            <a:r>
              <a:rPr b="1" i="0" lang="en-US" sz="2025" u="none" cap="none" strike="noStrike">
                <a:solidFill>
                  <a:srgbClr val="4C5A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&lt;model&gt;[</a:t>
            </a:r>
            <a:r>
              <a:rPr b="1" lang="en-US" sz="2025">
                <a:solidFill>
                  <a:srgbClr val="4C5A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:tag]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3"/>
          <p:cNvSpPr/>
          <p:nvPr/>
        </p:nvSpPr>
        <p:spPr>
          <a:xfrm>
            <a:off x="6067351" y="5006028"/>
            <a:ext cx="53436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3"/>
          <p:cNvSpPr/>
          <p:nvPr/>
        </p:nvSpPr>
        <p:spPr>
          <a:xfrm>
            <a:off x="7044725" y="4520339"/>
            <a:ext cx="4240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025"/>
              <a:buFont typeface="Gabarito"/>
              <a:buNone/>
            </a:pP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Download a model without running it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11410838" y="5006028"/>
            <a:ext cx="58293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3"/>
          <p:cNvSpPr/>
          <p:nvPr/>
        </p:nvSpPr>
        <p:spPr>
          <a:xfrm>
            <a:off x="12225999" y="4520325"/>
            <a:ext cx="4903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7874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ollama pull </a:t>
            </a:r>
            <a:r>
              <a:rPr lang="en-US" sz="1875">
                <a:solidFill>
                  <a:srgbClr val="7874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llama3.2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3"/>
          <p:cNvSpPr/>
          <p:nvPr/>
        </p:nvSpPr>
        <p:spPr>
          <a:xfrm>
            <a:off x="1047750" y="5017934"/>
            <a:ext cx="5019600" cy="6501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3"/>
          <p:cNvSpPr/>
          <p:nvPr/>
        </p:nvSpPr>
        <p:spPr>
          <a:xfrm>
            <a:off x="1047750" y="5656035"/>
            <a:ext cx="50196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3"/>
          <p:cNvSpPr/>
          <p:nvPr/>
        </p:nvSpPr>
        <p:spPr>
          <a:xfrm>
            <a:off x="1333500" y="5170334"/>
            <a:ext cx="45987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2025"/>
              <a:buFont typeface="JetBrains Mono"/>
              <a:buNone/>
            </a:pPr>
            <a:r>
              <a:rPr b="1" i="0" lang="en-US" sz="2025" u="none" cap="none" strike="noStrike">
                <a:solidFill>
                  <a:srgbClr val="4C5A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ollama run &lt;model&gt; </a:t>
            </a:r>
            <a:r>
              <a:rPr b="1" lang="en-US" sz="2025">
                <a:solidFill>
                  <a:srgbClr val="4C5A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[“prompt”]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6067351" y="5017934"/>
            <a:ext cx="5343600" cy="6501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3"/>
          <p:cNvSpPr/>
          <p:nvPr/>
        </p:nvSpPr>
        <p:spPr>
          <a:xfrm>
            <a:off x="6067351" y="5656035"/>
            <a:ext cx="53436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3"/>
          <p:cNvSpPr/>
          <p:nvPr/>
        </p:nvSpPr>
        <p:spPr>
          <a:xfrm>
            <a:off x="7044725" y="5170350"/>
            <a:ext cx="4903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025"/>
              <a:buFont typeface="Gabarito"/>
              <a:buNone/>
            </a:pP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Pull if needed, load, and open a chat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11410838" y="5017934"/>
            <a:ext cx="5829300" cy="6501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3"/>
          <p:cNvSpPr/>
          <p:nvPr/>
        </p:nvSpPr>
        <p:spPr>
          <a:xfrm>
            <a:off x="11410838" y="5656035"/>
            <a:ext cx="58293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3"/>
          <p:cNvSpPr/>
          <p:nvPr/>
        </p:nvSpPr>
        <p:spPr>
          <a:xfrm>
            <a:off x="12225999" y="5170332"/>
            <a:ext cx="4903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875"/>
              <a:buFont typeface="JetBrains Mono"/>
              <a:buNone/>
            </a:pPr>
            <a:r>
              <a:rPr lang="en-US" sz="1875">
                <a:solidFill>
                  <a:srgbClr val="7874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ollama run </a:t>
            </a:r>
            <a:r>
              <a:rPr lang="en-US" sz="1875">
                <a:solidFill>
                  <a:srgbClr val="7874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llama3.2</a:t>
            </a:r>
            <a:r>
              <a:rPr lang="en-US" sz="1875">
                <a:solidFill>
                  <a:srgbClr val="7874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"Hi"</a:t>
            </a:r>
            <a:endParaRPr sz="1875">
              <a:solidFill>
                <a:srgbClr val="78746A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1047750" y="6306042"/>
            <a:ext cx="50196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3"/>
          <p:cNvSpPr/>
          <p:nvPr/>
        </p:nvSpPr>
        <p:spPr>
          <a:xfrm>
            <a:off x="1333500" y="5820341"/>
            <a:ext cx="45987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2025"/>
              <a:buFont typeface="JetBrains Mono"/>
              <a:buNone/>
            </a:pPr>
            <a:r>
              <a:rPr b="1" i="0" lang="en-US" sz="2025" u="none" cap="none" strike="noStrike">
                <a:solidFill>
                  <a:srgbClr val="4C5A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ollama list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6067351" y="6306042"/>
            <a:ext cx="53436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3"/>
          <p:cNvSpPr/>
          <p:nvPr/>
        </p:nvSpPr>
        <p:spPr>
          <a:xfrm>
            <a:off x="7044725" y="5820355"/>
            <a:ext cx="4903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025"/>
              <a:buFont typeface="Gabarito"/>
              <a:buNone/>
            </a:pP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Show all downloaded models and sizes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11410838" y="6306042"/>
            <a:ext cx="58293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3"/>
          <p:cNvSpPr/>
          <p:nvPr/>
        </p:nvSpPr>
        <p:spPr>
          <a:xfrm>
            <a:off x="12225999" y="5820341"/>
            <a:ext cx="4903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7874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ollama list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1047750" y="6317948"/>
            <a:ext cx="5019600" cy="6501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3"/>
          <p:cNvSpPr/>
          <p:nvPr/>
        </p:nvSpPr>
        <p:spPr>
          <a:xfrm>
            <a:off x="1047750" y="6956049"/>
            <a:ext cx="50196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3"/>
          <p:cNvSpPr/>
          <p:nvPr/>
        </p:nvSpPr>
        <p:spPr>
          <a:xfrm>
            <a:off x="1333500" y="6470348"/>
            <a:ext cx="45987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2025"/>
              <a:buFont typeface="JetBrains Mono"/>
              <a:buNone/>
            </a:pPr>
            <a:r>
              <a:rPr b="1" i="0" lang="en-US" sz="2025" u="none" cap="none" strike="noStrike">
                <a:solidFill>
                  <a:srgbClr val="4C5A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ollama show &lt;model&gt;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6067351" y="6317948"/>
            <a:ext cx="5343600" cy="6501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3"/>
          <p:cNvSpPr/>
          <p:nvPr/>
        </p:nvSpPr>
        <p:spPr>
          <a:xfrm>
            <a:off x="6067351" y="6956049"/>
            <a:ext cx="53436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3"/>
          <p:cNvSpPr/>
          <p:nvPr/>
        </p:nvSpPr>
        <p:spPr>
          <a:xfrm>
            <a:off x="7044725" y="6470360"/>
            <a:ext cx="4903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025"/>
              <a:buFont typeface="Gabarito"/>
              <a:buNone/>
            </a:pPr>
            <a:r>
              <a:rPr lang="en-US" sz="202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See model information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11410838" y="6317948"/>
            <a:ext cx="5829300" cy="6501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3"/>
          <p:cNvSpPr/>
          <p:nvPr/>
        </p:nvSpPr>
        <p:spPr>
          <a:xfrm>
            <a:off x="11410838" y="6956049"/>
            <a:ext cx="58293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3"/>
          <p:cNvSpPr/>
          <p:nvPr/>
        </p:nvSpPr>
        <p:spPr>
          <a:xfrm>
            <a:off x="12225999" y="6470349"/>
            <a:ext cx="4903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7874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ollama show llama3.2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1047750" y="7606056"/>
            <a:ext cx="50196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3"/>
          <p:cNvSpPr/>
          <p:nvPr/>
        </p:nvSpPr>
        <p:spPr>
          <a:xfrm>
            <a:off x="1333500" y="7120355"/>
            <a:ext cx="45987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2025"/>
              <a:buFont typeface="JetBrains Mono"/>
              <a:buNone/>
            </a:pPr>
            <a:r>
              <a:rPr b="1" i="0" lang="en-US" sz="2025" u="none" cap="none" strike="noStrike">
                <a:solidFill>
                  <a:srgbClr val="4C5A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ollama rm &lt;model&gt;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6067351" y="7606056"/>
            <a:ext cx="53436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3"/>
          <p:cNvSpPr/>
          <p:nvPr/>
        </p:nvSpPr>
        <p:spPr>
          <a:xfrm>
            <a:off x="7044725" y="7120365"/>
            <a:ext cx="4903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025"/>
              <a:buFont typeface="Gabarito"/>
              <a:buNone/>
            </a:pPr>
            <a:r>
              <a:rPr b="0" i="0" lang="en-US" sz="202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Delete a model and free disk space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11410838" y="7606056"/>
            <a:ext cx="58293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3"/>
          <p:cNvSpPr/>
          <p:nvPr/>
        </p:nvSpPr>
        <p:spPr>
          <a:xfrm>
            <a:off x="12225999" y="7120357"/>
            <a:ext cx="4903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7874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ollama rm </a:t>
            </a:r>
            <a:r>
              <a:rPr lang="en-US" sz="1875">
                <a:solidFill>
                  <a:srgbClr val="7874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llama3.2</a:t>
            </a:r>
            <a:endParaRPr sz="1875">
              <a:solidFill>
                <a:srgbClr val="78746A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1047750" y="7617962"/>
            <a:ext cx="5019600" cy="6501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3"/>
          <p:cNvSpPr/>
          <p:nvPr/>
        </p:nvSpPr>
        <p:spPr>
          <a:xfrm>
            <a:off x="1047750" y="8256062"/>
            <a:ext cx="50196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3"/>
          <p:cNvSpPr/>
          <p:nvPr/>
        </p:nvSpPr>
        <p:spPr>
          <a:xfrm>
            <a:off x="1333500" y="7770362"/>
            <a:ext cx="45987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2025"/>
              <a:buFont typeface="JetBrains Mono"/>
              <a:buNone/>
            </a:pPr>
            <a:r>
              <a:rPr b="1" i="0" lang="en-US" sz="2025" u="none" cap="none" strike="noStrike">
                <a:solidFill>
                  <a:srgbClr val="4C5A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ollama </a:t>
            </a:r>
            <a:r>
              <a:rPr b="1" lang="en-US" sz="2025">
                <a:solidFill>
                  <a:srgbClr val="4C5A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6067351" y="7617962"/>
            <a:ext cx="5343600" cy="6501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3"/>
          <p:cNvSpPr/>
          <p:nvPr/>
        </p:nvSpPr>
        <p:spPr>
          <a:xfrm>
            <a:off x="6067351" y="8256062"/>
            <a:ext cx="53436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3"/>
          <p:cNvSpPr/>
          <p:nvPr/>
        </p:nvSpPr>
        <p:spPr>
          <a:xfrm>
            <a:off x="7044725" y="7770370"/>
            <a:ext cx="4903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025"/>
              <a:buFont typeface="Gabarito"/>
              <a:buNone/>
            </a:pPr>
            <a:r>
              <a:rPr lang="en-US" sz="202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Show models currently loaded </a:t>
            </a:r>
            <a:endParaRPr sz="2025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424" name="Google Shape;424;p13"/>
          <p:cNvSpPr/>
          <p:nvPr/>
        </p:nvSpPr>
        <p:spPr>
          <a:xfrm>
            <a:off x="11410838" y="7617962"/>
            <a:ext cx="5829300" cy="6501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3"/>
          <p:cNvSpPr/>
          <p:nvPr/>
        </p:nvSpPr>
        <p:spPr>
          <a:xfrm>
            <a:off x="11410838" y="8256062"/>
            <a:ext cx="58293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3"/>
          <p:cNvSpPr/>
          <p:nvPr/>
        </p:nvSpPr>
        <p:spPr>
          <a:xfrm>
            <a:off x="12225999" y="7770366"/>
            <a:ext cx="4903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7874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ollama </a:t>
            </a:r>
            <a:r>
              <a:rPr lang="en-US" sz="1875">
                <a:solidFill>
                  <a:srgbClr val="7874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1333500" y="8420375"/>
            <a:ext cx="55179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2025"/>
              <a:buFont typeface="JetBrains Mono"/>
              <a:buNone/>
            </a:pPr>
            <a:r>
              <a:rPr b="1" i="0" lang="en-US" sz="2025" u="none" cap="none" strike="noStrike">
                <a:solidFill>
                  <a:srgbClr val="4C5A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ollama </a:t>
            </a:r>
            <a:r>
              <a:rPr b="1" lang="en-US" sz="2025">
                <a:solidFill>
                  <a:srgbClr val="4C5A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create &lt;name&gt; -f &lt;Modelfile&gt;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7044725" y="8420376"/>
            <a:ext cx="4903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025"/>
              <a:buFont typeface="Gabarito"/>
              <a:buNone/>
            </a:pPr>
            <a:r>
              <a:rPr lang="en-US" sz="202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Build a custom model from a Modelfile 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3"/>
          <p:cNvSpPr/>
          <p:nvPr/>
        </p:nvSpPr>
        <p:spPr>
          <a:xfrm>
            <a:off x="12225999" y="8420374"/>
            <a:ext cx="4903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875"/>
              <a:buFont typeface="JetBrains Mono"/>
              <a:buNone/>
            </a:pPr>
            <a:r>
              <a:rPr lang="en-US" sz="1875">
                <a:solidFill>
                  <a:srgbClr val="7874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ollama create tutor -f Modelfile</a:t>
            </a:r>
            <a:endParaRPr sz="1875">
              <a:solidFill>
                <a:srgbClr val="78746A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1047750" y="2686017"/>
            <a:ext cx="16192500" cy="772500"/>
          </a:xfrm>
          <a:prstGeom prst="roundRect">
            <a:avLst>
              <a:gd fmla="val 19726" name="adj"/>
            </a:avLst>
          </a:prstGeom>
          <a:solidFill>
            <a:srgbClr val="035595">
              <a:alpha val="3920"/>
            </a:srgbClr>
          </a:solidFill>
          <a:ln cap="flat" cmpd="sng" w="10575">
            <a:solidFill>
              <a:srgbClr val="0355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3"/>
          <p:cNvSpPr/>
          <p:nvPr/>
        </p:nvSpPr>
        <p:spPr>
          <a:xfrm>
            <a:off x="1363100" y="2934726"/>
            <a:ext cx="10272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800"/>
              <a:buFont typeface="Gabarito"/>
              <a:buNone/>
            </a:pPr>
            <a:r>
              <a:rPr b="1" lang="en-US" sz="1800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NOTE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3"/>
          <p:cNvSpPr/>
          <p:nvPr/>
        </p:nvSpPr>
        <p:spPr>
          <a:xfrm>
            <a:off x="2405841" y="2924142"/>
            <a:ext cx="54174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&lt; &gt; required · [ ] optional · </a:t>
            </a:r>
            <a:r>
              <a:rPr b="0" i="0" lang="en-US" sz="1800" u="none" cap="none" strike="noStrike">
                <a:solidFill>
                  <a:srgbClr val="7874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:tag </a:t>
            </a:r>
            <a:r>
              <a:rPr b="0" i="0" lang="en-US" sz="180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= size or version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8" name="Google Shape;43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2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4"/>
          <p:cNvSpPr/>
          <p:nvPr/>
        </p:nvSpPr>
        <p:spPr>
          <a:xfrm>
            <a:off x="1047750" y="914363"/>
            <a:ext cx="818666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Demo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1047750" y="1390613"/>
            <a:ext cx="10232957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Running Your First Model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1047750" y="3048000"/>
            <a:ext cx="9810900" cy="5397900"/>
          </a:xfrm>
          <a:prstGeom prst="roundRect">
            <a:avLst>
              <a:gd fmla="val 3075" name="adj"/>
            </a:avLst>
          </a:prstGeom>
          <a:solidFill>
            <a:srgbClr val="1E22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4"/>
          <p:cNvSpPr/>
          <p:nvPr/>
        </p:nvSpPr>
        <p:spPr>
          <a:xfrm>
            <a:off x="1047750" y="3048000"/>
            <a:ext cx="9810750" cy="614288"/>
          </a:xfrm>
          <a:prstGeom prst="rect">
            <a:avLst/>
          </a:prstGeom>
          <a:solidFill>
            <a:srgbClr val="2A2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4"/>
          <p:cNvSpPr/>
          <p:nvPr/>
        </p:nvSpPr>
        <p:spPr>
          <a:xfrm>
            <a:off x="1295363" y="3278870"/>
            <a:ext cx="152363" cy="152363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4"/>
          <p:cNvSpPr/>
          <p:nvPr/>
        </p:nvSpPr>
        <p:spPr>
          <a:xfrm>
            <a:off x="1542976" y="3278870"/>
            <a:ext cx="152363" cy="152363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4"/>
          <p:cNvSpPr/>
          <p:nvPr/>
        </p:nvSpPr>
        <p:spPr>
          <a:xfrm>
            <a:off x="1790588" y="3278870"/>
            <a:ext cx="152363" cy="152363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4"/>
          <p:cNvSpPr/>
          <p:nvPr/>
        </p:nvSpPr>
        <p:spPr>
          <a:xfrm>
            <a:off x="2171402" y="3200363"/>
            <a:ext cx="3017602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terminal — live demo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1390613" y="3948038"/>
            <a:ext cx="9398775" cy="4713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815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FF99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b="0" i="0" lang="en-US" sz="1950" u="none" cap="none" strike="noStrike">
                <a:solidFill>
                  <a:srgbClr val="A3C57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ollama run </a:t>
            </a:r>
            <a:r>
              <a:rPr lang="en-US" sz="1950">
                <a:solidFill>
                  <a:srgbClr val="A3C57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llama3.2:1b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4"/>
          <p:cNvSpPr/>
          <p:nvPr/>
        </p:nvSpPr>
        <p:spPr>
          <a:xfrm>
            <a:off x="1390613" y="4381314"/>
            <a:ext cx="9398775" cy="4713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815"/>
              </a:lnSpc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pulling manifest...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1390613" y="4814590"/>
            <a:ext cx="9398775" cy="4713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815"/>
              </a:lnSpc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pulling dde5aa3fc5ff 100% ▕████████████████▏ </a:t>
            </a:r>
            <a:r>
              <a:rPr lang="en-US" sz="1950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b="0" i="0" lang="en-US" sz="1950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950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 </a:t>
            </a:r>
            <a:r>
              <a:rPr b="0" i="0" lang="en-US" sz="1950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1390613" y="5247866"/>
            <a:ext cx="9398775" cy="4713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815"/>
              </a:lnSpc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success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4"/>
          <p:cNvSpPr/>
          <p:nvPr/>
        </p:nvSpPr>
        <p:spPr>
          <a:xfrm>
            <a:off x="1390613" y="5833504"/>
            <a:ext cx="9398775" cy="4713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815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E8EAE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</a:t>
            </a:r>
            <a:r>
              <a:rPr lang="en-US" sz="195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is</a:t>
            </a:r>
            <a:r>
              <a:rPr b="0" i="0" lang="en-US" sz="19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95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LLM</a:t>
            </a:r>
            <a:r>
              <a:rPr b="0" i="0" lang="en-US" sz="19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4"/>
          <p:cNvSpPr/>
          <p:nvPr/>
        </p:nvSpPr>
        <p:spPr>
          <a:xfrm>
            <a:off x="1390613" y="6266780"/>
            <a:ext cx="9398775" cy="4713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815"/>
              </a:lnSpc>
              <a:spcBef>
                <a:spcPts val="0"/>
              </a:spcBef>
              <a:spcAft>
                <a:spcPts val="0"/>
              </a:spcAft>
              <a:buClr>
                <a:srgbClr val="B8BEC4"/>
              </a:buClr>
              <a:buSzPts val="1950"/>
              <a:buFont typeface="JetBrains Mono"/>
              <a:buNone/>
            </a:pPr>
            <a:r>
              <a:rPr lang="en-US" sz="1950">
                <a:solidFill>
                  <a:srgbClr val="B8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LLM (Large Language Model) is an AI model trained on large amounts of text to understand and generate human-like language. </a:t>
            </a:r>
            <a:endParaRPr sz="1950">
              <a:solidFill>
                <a:srgbClr val="B8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53" name="Google Shape;453;p14"/>
          <p:cNvSpPr/>
          <p:nvPr/>
        </p:nvSpPr>
        <p:spPr>
          <a:xfrm>
            <a:off x="1390613" y="7535895"/>
            <a:ext cx="93987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815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E8EAE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</a:t>
            </a:r>
            <a:r>
              <a:rPr b="0" i="0" lang="en-US" sz="1950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/bye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4"/>
          <p:cNvSpPr/>
          <p:nvPr/>
        </p:nvSpPr>
        <p:spPr>
          <a:xfrm>
            <a:off x="11334750" y="3048000"/>
            <a:ext cx="5905500" cy="1212205"/>
          </a:xfrm>
          <a:prstGeom prst="roundRect">
            <a:avLst>
              <a:gd fmla="val 12572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55" name="Google Shape;455;p14"/>
          <p:cNvSpPr/>
          <p:nvPr/>
        </p:nvSpPr>
        <p:spPr>
          <a:xfrm>
            <a:off x="11632406" y="3307519"/>
            <a:ext cx="533363" cy="533363"/>
          </a:xfrm>
          <a:prstGeom prst="ellipse">
            <a:avLst/>
          </a:prstGeom>
          <a:solidFill>
            <a:srgbClr val="035595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56" name="Google Shape;456;p14"/>
          <p:cNvSpPr/>
          <p:nvPr/>
        </p:nvSpPr>
        <p:spPr>
          <a:xfrm>
            <a:off x="11594306" y="3307519"/>
            <a:ext cx="609563" cy="5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2025"/>
              <a:buFont typeface="Gabarito"/>
              <a:buNone/>
            </a:pPr>
            <a:r>
              <a:rPr b="1" i="0" lang="en-US" sz="2125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1</a:t>
            </a:r>
            <a:endParaRPr b="0" i="0" sz="2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4"/>
          <p:cNvSpPr/>
          <p:nvPr/>
        </p:nvSpPr>
        <p:spPr>
          <a:xfrm>
            <a:off x="12375245" y="3307519"/>
            <a:ext cx="4704370" cy="731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480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950"/>
              <a:buFont typeface="Gabarito"/>
              <a:buNone/>
            </a:pPr>
            <a:r>
              <a:rPr b="1" i="0" lang="en-US" sz="205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Download </a:t>
            </a:r>
            <a:r>
              <a:rPr b="0" i="0" lang="en-US" sz="2050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— </a:t>
            </a:r>
            <a:r>
              <a:rPr lang="en-US" sz="2050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the model is downloaded and stored locally. </a:t>
            </a:r>
            <a:endParaRPr sz="2050">
              <a:solidFill>
                <a:srgbClr val="37474F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11334750" y="4488656"/>
            <a:ext cx="5905500" cy="1212205"/>
          </a:xfrm>
          <a:prstGeom prst="roundRect">
            <a:avLst>
              <a:gd fmla="val 12572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59" name="Google Shape;459;p14"/>
          <p:cNvSpPr/>
          <p:nvPr/>
        </p:nvSpPr>
        <p:spPr>
          <a:xfrm>
            <a:off x="11632406" y="4748175"/>
            <a:ext cx="533363" cy="533363"/>
          </a:xfrm>
          <a:prstGeom prst="ellipse">
            <a:avLst/>
          </a:prstGeom>
          <a:solidFill>
            <a:srgbClr val="7A8A5A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60" name="Google Shape;460;p14"/>
          <p:cNvSpPr/>
          <p:nvPr/>
        </p:nvSpPr>
        <p:spPr>
          <a:xfrm>
            <a:off x="11594306" y="4748175"/>
            <a:ext cx="609563" cy="5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D4C"/>
              </a:buClr>
              <a:buSzPts val="2025"/>
              <a:buFont typeface="Gabarito"/>
              <a:buNone/>
            </a:pPr>
            <a:r>
              <a:rPr b="1" i="0" lang="en-US" sz="2125" u="none" cap="none" strike="noStrike">
                <a:solidFill>
                  <a:srgbClr val="6E7D4C"/>
                </a:solidFill>
                <a:latin typeface="Gabarito"/>
                <a:ea typeface="Gabarito"/>
                <a:cs typeface="Gabarito"/>
                <a:sym typeface="Gabarito"/>
              </a:rPr>
              <a:t>2</a:t>
            </a:r>
            <a:endParaRPr b="0" i="0" sz="2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4"/>
          <p:cNvSpPr/>
          <p:nvPr/>
        </p:nvSpPr>
        <p:spPr>
          <a:xfrm>
            <a:off x="12375245" y="4748175"/>
            <a:ext cx="4704370" cy="731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480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950"/>
              <a:buFont typeface="Gabarito"/>
              <a:buNone/>
            </a:pPr>
            <a:r>
              <a:rPr b="1" i="0" lang="en-US" sz="205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Load </a:t>
            </a:r>
            <a:r>
              <a:rPr b="0" i="0" lang="en-US" sz="2050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— </a:t>
            </a:r>
            <a:r>
              <a:rPr lang="en-US" sz="2050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Ollama loads the model into memory so it can generate responses. 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11334750" y="5929313"/>
            <a:ext cx="5905500" cy="1212205"/>
          </a:xfrm>
          <a:prstGeom prst="roundRect">
            <a:avLst>
              <a:gd fmla="val 12572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63" name="Google Shape;463;p14"/>
          <p:cNvSpPr/>
          <p:nvPr/>
        </p:nvSpPr>
        <p:spPr>
          <a:xfrm>
            <a:off x="11632406" y="6188832"/>
            <a:ext cx="533363" cy="533363"/>
          </a:xfrm>
          <a:prstGeom prst="ellipse">
            <a:avLst/>
          </a:prstGeom>
          <a:solidFill>
            <a:srgbClr val="FF9900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64" name="Google Shape;464;p14"/>
          <p:cNvSpPr/>
          <p:nvPr/>
        </p:nvSpPr>
        <p:spPr>
          <a:xfrm>
            <a:off x="11594306" y="6188832"/>
            <a:ext cx="609563" cy="5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025"/>
              <a:buFont typeface="Gabarito"/>
              <a:buNone/>
            </a:pPr>
            <a:r>
              <a:rPr b="1" i="0" lang="en-US" sz="2125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3</a:t>
            </a:r>
            <a:endParaRPr b="0" i="0" sz="2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4"/>
          <p:cNvSpPr/>
          <p:nvPr/>
        </p:nvSpPr>
        <p:spPr>
          <a:xfrm>
            <a:off x="12375245" y="6188832"/>
            <a:ext cx="4704370" cy="731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480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950"/>
              <a:buFont typeface="Gabarito"/>
              <a:buNone/>
            </a:pPr>
            <a:r>
              <a:rPr b="1" i="0" lang="en-US" sz="205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Chat </a:t>
            </a:r>
            <a:r>
              <a:rPr b="0" i="0" lang="en-US" sz="2050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— </a:t>
            </a:r>
            <a:r>
              <a:rPr lang="en-US" sz="2050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an interactive conversation starts. Type your prompt and press Enter. 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4"/>
          <p:cNvSpPr/>
          <p:nvPr/>
        </p:nvSpPr>
        <p:spPr>
          <a:xfrm>
            <a:off x="11334750" y="7369969"/>
            <a:ext cx="5905500" cy="1076027"/>
          </a:xfrm>
          <a:prstGeom prst="roundRect">
            <a:avLst>
              <a:gd fmla="val 14163" name="adj"/>
            </a:avLst>
          </a:prstGeom>
          <a:noFill/>
          <a:ln cap="flat" cmpd="sng" w="119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67" name="Google Shape;467;p14"/>
          <p:cNvSpPr/>
          <p:nvPr/>
        </p:nvSpPr>
        <p:spPr>
          <a:xfrm>
            <a:off x="11632406" y="7610475"/>
            <a:ext cx="5487352" cy="633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75"/>
              <a:buFont typeface="Gabarito"/>
              <a:buNone/>
            </a:pPr>
            <a:r>
              <a:rPr b="1" i="0" lang="en-US" sz="1975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Note: </a:t>
            </a:r>
            <a:r>
              <a:rPr lang="en-US" sz="197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 The next run skips the download because the model is already stored locally.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3" name="Google Shape;4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2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15"/>
          <p:cNvSpPr/>
          <p:nvPr/>
        </p:nvSpPr>
        <p:spPr>
          <a:xfrm>
            <a:off x="1047750" y="914363"/>
            <a:ext cx="1158553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Concept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1047750" y="1390613"/>
            <a:ext cx="11070543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Reading Model Information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1047750" y="3048000"/>
            <a:ext cx="8382000" cy="5424227"/>
          </a:xfrm>
          <a:prstGeom prst="roundRect">
            <a:avLst>
              <a:gd fmla="val 2810" name="adj"/>
            </a:avLst>
          </a:prstGeom>
          <a:solidFill>
            <a:srgbClr val="1E22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5"/>
          <p:cNvSpPr/>
          <p:nvPr/>
        </p:nvSpPr>
        <p:spPr>
          <a:xfrm>
            <a:off x="1047750" y="3048000"/>
            <a:ext cx="8382000" cy="614288"/>
          </a:xfrm>
          <a:prstGeom prst="rect">
            <a:avLst/>
          </a:prstGeom>
          <a:solidFill>
            <a:srgbClr val="2A2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5"/>
          <p:cNvSpPr/>
          <p:nvPr/>
        </p:nvSpPr>
        <p:spPr>
          <a:xfrm>
            <a:off x="1295363" y="3278870"/>
            <a:ext cx="152363" cy="152363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5"/>
          <p:cNvSpPr/>
          <p:nvPr/>
        </p:nvSpPr>
        <p:spPr>
          <a:xfrm>
            <a:off x="1542976" y="3278870"/>
            <a:ext cx="152363" cy="152363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5"/>
          <p:cNvSpPr/>
          <p:nvPr/>
        </p:nvSpPr>
        <p:spPr>
          <a:xfrm>
            <a:off x="1790588" y="3278870"/>
            <a:ext cx="152363" cy="152363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5"/>
          <p:cNvSpPr/>
          <p:nvPr/>
        </p:nvSpPr>
        <p:spPr>
          <a:xfrm>
            <a:off x="2171402" y="3200363"/>
            <a:ext cx="1659824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ollama show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5"/>
          <p:cNvSpPr/>
          <p:nvPr/>
        </p:nvSpPr>
        <p:spPr>
          <a:xfrm>
            <a:off x="1390613" y="3948038"/>
            <a:ext cx="7927163" cy="4836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667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FF99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b="0" i="0" lang="en-US" sz="1950" u="none" cap="none" strike="noStrike">
                <a:solidFill>
                  <a:srgbClr val="A3C57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ollama show llama3.2:1b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5"/>
          <p:cNvSpPr/>
          <p:nvPr/>
        </p:nvSpPr>
        <p:spPr>
          <a:xfrm>
            <a:off x="1390613" y="4507818"/>
            <a:ext cx="7927163" cy="4836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667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E8EAE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Model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5"/>
          <p:cNvSpPr/>
          <p:nvPr/>
        </p:nvSpPr>
        <p:spPr>
          <a:xfrm>
            <a:off x="1390613" y="4953372"/>
            <a:ext cx="7927163" cy="4836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667"/>
              </a:lnSpc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architecture llama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5"/>
          <p:cNvSpPr/>
          <p:nvPr/>
        </p:nvSpPr>
        <p:spPr>
          <a:xfrm>
            <a:off x="1390613" y="5398926"/>
            <a:ext cx="7927163" cy="4836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667"/>
              </a:lnSpc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parameters </a:t>
            </a:r>
            <a:r>
              <a:rPr b="1" lang="en-US" sz="1950">
                <a:solidFill>
                  <a:srgbClr val="7FB3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b="1" i="0" lang="en-US" sz="1950" u="none" cap="none" strike="noStrike">
                <a:solidFill>
                  <a:srgbClr val="7FB3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.2B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5"/>
          <p:cNvSpPr/>
          <p:nvPr/>
        </p:nvSpPr>
        <p:spPr>
          <a:xfrm>
            <a:off x="1390613" y="5844480"/>
            <a:ext cx="7927163" cy="4836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667"/>
              </a:lnSpc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context length </a:t>
            </a:r>
            <a:r>
              <a:rPr b="1" i="0" lang="en-US" sz="1950" u="none" cap="none" strike="noStrike">
                <a:solidFill>
                  <a:srgbClr val="F0B4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131072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5"/>
          <p:cNvSpPr/>
          <p:nvPr/>
        </p:nvSpPr>
        <p:spPr>
          <a:xfrm>
            <a:off x="1390613" y="6290035"/>
            <a:ext cx="7927163" cy="4836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667"/>
              </a:lnSpc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embedding length </a:t>
            </a:r>
            <a:r>
              <a:rPr lang="en-US" sz="1950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2048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5"/>
          <p:cNvSpPr/>
          <p:nvPr/>
        </p:nvSpPr>
        <p:spPr>
          <a:xfrm>
            <a:off x="1390613" y="6735589"/>
            <a:ext cx="7927163" cy="4836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667"/>
              </a:lnSpc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quantization </a:t>
            </a:r>
            <a:r>
              <a:rPr b="1" i="0" lang="en-US" sz="1950" u="none" cap="none" strike="noStrike">
                <a:solidFill>
                  <a:srgbClr val="A3C57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</a:t>
            </a:r>
            <a:r>
              <a:rPr b="1" lang="en-US" sz="1950">
                <a:solidFill>
                  <a:srgbClr val="A3C57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  <a:r>
              <a:rPr b="1" i="0" lang="en-US" sz="1950" u="none" cap="none" strike="noStrike">
                <a:solidFill>
                  <a:srgbClr val="A3C57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_</a:t>
            </a:r>
            <a:r>
              <a:rPr b="1" lang="en-US" sz="1950">
                <a:solidFill>
                  <a:srgbClr val="A3C57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5"/>
          <p:cNvSpPr/>
          <p:nvPr/>
        </p:nvSpPr>
        <p:spPr>
          <a:xfrm>
            <a:off x="1390613" y="7295369"/>
            <a:ext cx="7927163" cy="4836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667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E8EAE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License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5"/>
          <p:cNvSpPr/>
          <p:nvPr/>
        </p:nvSpPr>
        <p:spPr>
          <a:xfrm>
            <a:off x="1390613" y="7740923"/>
            <a:ext cx="7927163" cy="4836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667"/>
              </a:lnSpc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LLAMA 3.2 COMMUNITY LICENSE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5"/>
          <p:cNvSpPr/>
          <p:nvPr/>
        </p:nvSpPr>
        <p:spPr>
          <a:xfrm>
            <a:off x="9906000" y="3048000"/>
            <a:ext cx="7334250" cy="1628924"/>
          </a:xfrm>
          <a:prstGeom prst="roundRect">
            <a:avLst>
              <a:gd fmla="val 9356" name="adj"/>
            </a:avLst>
          </a:prstGeom>
          <a:solidFill>
            <a:srgbClr val="035595">
              <a:alpha val="3922"/>
            </a:srgbClr>
          </a:solidFill>
          <a:ln cap="flat" cmpd="sng" w="11900">
            <a:solidFill>
              <a:srgbClr val="0355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5"/>
          <p:cNvSpPr/>
          <p:nvPr/>
        </p:nvSpPr>
        <p:spPr>
          <a:xfrm>
            <a:off x="10222632" y="3307519"/>
            <a:ext cx="7371085" cy="359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2100"/>
              <a:buFont typeface="Gabarito"/>
              <a:buNone/>
            </a:pPr>
            <a:r>
              <a:rPr b="1" lang="en-US" sz="2100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Parameters — Model size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5"/>
          <p:cNvSpPr/>
          <p:nvPr/>
        </p:nvSpPr>
        <p:spPr>
          <a:xfrm>
            <a:off x="10222632" y="3724238"/>
            <a:ext cx="6902016" cy="731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48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lang="en-US" sz="195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1.24 billion learned values. More parameters usually mean a larger model and more memory needed.</a:t>
            </a:r>
            <a:endParaRPr sz="1950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marR="0" rtl="0" algn="l">
              <a:lnSpc>
                <a:spcPct val="11648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t/>
            </a:r>
            <a:endParaRPr sz="1950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494" name="Google Shape;494;p15"/>
          <p:cNvSpPr/>
          <p:nvPr/>
        </p:nvSpPr>
        <p:spPr>
          <a:xfrm>
            <a:off x="9906000" y="4905375"/>
            <a:ext cx="7334250" cy="1628924"/>
          </a:xfrm>
          <a:prstGeom prst="roundRect">
            <a:avLst>
              <a:gd fmla="val 9356" name="adj"/>
            </a:avLst>
          </a:prstGeom>
          <a:solidFill>
            <a:srgbClr val="FF9900">
              <a:alpha val="3922"/>
            </a:srgbClr>
          </a:solidFill>
          <a:ln cap="flat" cmpd="sng" w="119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5"/>
          <p:cNvSpPr/>
          <p:nvPr/>
        </p:nvSpPr>
        <p:spPr>
          <a:xfrm>
            <a:off x="10222632" y="5164894"/>
            <a:ext cx="7371085" cy="359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D00"/>
              </a:buClr>
              <a:buSzPts val="2100"/>
              <a:buFont typeface="Gabarito"/>
              <a:buNone/>
            </a:pPr>
            <a:r>
              <a:rPr b="1" lang="en-US" sz="2100">
                <a:solidFill>
                  <a:srgbClr val="D97D00"/>
                </a:solidFill>
                <a:latin typeface="Gabarito"/>
                <a:ea typeface="Gabarito"/>
                <a:cs typeface="Gabarito"/>
                <a:sym typeface="Gabarito"/>
              </a:rPr>
              <a:t>Context length — Text the model can handle at once. </a:t>
            </a:r>
            <a:endParaRPr b="1" sz="2100">
              <a:solidFill>
                <a:srgbClr val="D97D00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496" name="Google Shape;496;p15"/>
          <p:cNvSpPr/>
          <p:nvPr/>
        </p:nvSpPr>
        <p:spPr>
          <a:xfrm>
            <a:off x="10222632" y="5581613"/>
            <a:ext cx="6902016" cy="731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48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lang="en-US" sz="195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Up to 128K tokens can be processed in the context, including the prompt, conversation, and generated text. </a:t>
            </a:r>
            <a:endParaRPr sz="1950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497" name="Google Shape;497;p15"/>
          <p:cNvSpPr/>
          <p:nvPr/>
        </p:nvSpPr>
        <p:spPr>
          <a:xfrm>
            <a:off x="9906000" y="6762750"/>
            <a:ext cx="7334250" cy="1628924"/>
          </a:xfrm>
          <a:prstGeom prst="roundRect">
            <a:avLst>
              <a:gd fmla="val 9356" name="adj"/>
            </a:avLst>
          </a:prstGeom>
          <a:solidFill>
            <a:srgbClr val="7A8A5A">
              <a:alpha val="5882"/>
            </a:srgbClr>
          </a:solidFill>
          <a:ln cap="flat" cmpd="sng" w="11900">
            <a:solidFill>
              <a:srgbClr val="6E7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5"/>
          <p:cNvSpPr/>
          <p:nvPr/>
        </p:nvSpPr>
        <p:spPr>
          <a:xfrm>
            <a:off x="10222632" y="7022269"/>
            <a:ext cx="7371085" cy="359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2100"/>
              <a:buFont typeface="Gabarito"/>
              <a:buNone/>
            </a:pPr>
            <a:r>
              <a:rPr b="1" lang="en-US" sz="2100">
                <a:solidFill>
                  <a:srgbClr val="4C5A33"/>
                </a:solidFill>
                <a:latin typeface="Gabarito"/>
                <a:ea typeface="Gabarito"/>
                <a:cs typeface="Gabarito"/>
                <a:sym typeface="Gabarito"/>
              </a:rPr>
              <a:t>Quantization — Model compression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5"/>
          <p:cNvSpPr/>
          <p:nvPr/>
        </p:nvSpPr>
        <p:spPr>
          <a:xfrm>
            <a:off x="10222632" y="7438988"/>
            <a:ext cx="6902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48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lang="en-US" sz="195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Stores model weights using about 8 bits instead of 16-bit, reducing memory usage while keeping very high quality. </a:t>
            </a:r>
            <a:endParaRPr sz="1950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05" name="Google Shape;5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2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16"/>
          <p:cNvSpPr/>
          <p:nvPr/>
        </p:nvSpPr>
        <p:spPr>
          <a:xfrm>
            <a:off x="1047750" y="914363"/>
            <a:ext cx="2034518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Customization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6"/>
          <p:cNvSpPr/>
          <p:nvPr/>
        </p:nvSpPr>
        <p:spPr>
          <a:xfrm>
            <a:off x="1047750" y="1390613"/>
            <a:ext cx="13076820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The Modelfile &amp; Custom Models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1047750" y="2667000"/>
            <a:ext cx="1530477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75"/>
              <a:buFont typeface="Gabarito"/>
              <a:buNone/>
            </a:pPr>
            <a:r>
              <a:rPr lang="en-US" sz="2475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A </a:t>
            </a:r>
            <a:r>
              <a:rPr b="1" lang="en-US" sz="2450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Modelfile</a:t>
            </a:r>
            <a:r>
              <a:rPr b="1" lang="en-US" sz="2450">
                <a:solidFill>
                  <a:srgbClr val="0051C2"/>
                </a:solidFill>
                <a:latin typeface="Gabarito"/>
                <a:ea typeface="Gabarito"/>
                <a:cs typeface="Gabarito"/>
                <a:sym typeface="Gabarito"/>
              </a:rPr>
              <a:t> </a:t>
            </a:r>
            <a:r>
              <a:rPr lang="en-US" sz="2475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is a configuration file that tells Ollama how to customize and run an existing model. </a:t>
            </a:r>
            <a:endParaRPr sz="2475">
              <a:solidFill>
                <a:srgbClr val="212121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75"/>
              <a:buFont typeface="Gabarito"/>
              <a:buNone/>
            </a:pPr>
            <a:r>
              <a:rPr lang="en-US" sz="2475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It lets you create a customized Ollama model by defining its base model, behavior, and settings. </a:t>
            </a:r>
            <a:endParaRPr sz="2475">
              <a:solidFill>
                <a:srgbClr val="212121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75"/>
              <a:buFont typeface="Gabarito"/>
              <a:buNone/>
            </a:pPr>
            <a:r>
              <a:t/>
            </a:r>
            <a:endParaRPr sz="2475">
              <a:solidFill>
                <a:srgbClr val="212121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509" name="Google Shape;509;p16"/>
          <p:cNvSpPr/>
          <p:nvPr/>
        </p:nvSpPr>
        <p:spPr>
          <a:xfrm>
            <a:off x="1047750" y="3797427"/>
            <a:ext cx="7814700" cy="5979300"/>
          </a:xfrm>
          <a:prstGeom prst="roundRect">
            <a:avLst>
              <a:gd fmla="val 3694" name="adj"/>
            </a:avLst>
          </a:prstGeom>
          <a:solidFill>
            <a:srgbClr val="1E22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6"/>
          <p:cNvSpPr/>
          <p:nvPr/>
        </p:nvSpPr>
        <p:spPr>
          <a:xfrm>
            <a:off x="1047750" y="3797427"/>
            <a:ext cx="7814700" cy="614400"/>
          </a:xfrm>
          <a:prstGeom prst="rect">
            <a:avLst/>
          </a:prstGeom>
          <a:solidFill>
            <a:srgbClr val="2A2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6"/>
          <p:cNvSpPr/>
          <p:nvPr/>
        </p:nvSpPr>
        <p:spPr>
          <a:xfrm>
            <a:off x="1295363" y="4028297"/>
            <a:ext cx="152400" cy="1524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6"/>
          <p:cNvSpPr/>
          <p:nvPr/>
        </p:nvSpPr>
        <p:spPr>
          <a:xfrm>
            <a:off x="1542976" y="4028297"/>
            <a:ext cx="152400" cy="1524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6"/>
          <p:cNvSpPr/>
          <p:nvPr/>
        </p:nvSpPr>
        <p:spPr>
          <a:xfrm>
            <a:off x="1790588" y="4028297"/>
            <a:ext cx="152400" cy="1524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6"/>
          <p:cNvSpPr/>
          <p:nvPr/>
        </p:nvSpPr>
        <p:spPr>
          <a:xfrm>
            <a:off x="2171402" y="3949790"/>
            <a:ext cx="13581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Modelfile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6"/>
          <p:cNvSpPr/>
          <p:nvPr/>
        </p:nvSpPr>
        <p:spPr>
          <a:xfrm>
            <a:off x="1390613" y="4697465"/>
            <a:ext cx="79272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667"/>
              </a:lnSpc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C792E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 </a:t>
            </a:r>
            <a:r>
              <a:rPr lang="en-US" sz="1950">
                <a:solidFill>
                  <a:srgbClr val="E8EAE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llama3.2:1b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6"/>
          <p:cNvSpPr/>
          <p:nvPr/>
        </p:nvSpPr>
        <p:spPr>
          <a:xfrm>
            <a:off x="1390613" y="5276220"/>
            <a:ext cx="79272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667"/>
              </a:lnSpc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C792E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PARAMETER </a:t>
            </a:r>
            <a:r>
              <a:rPr lang="en-US" sz="1950">
                <a:solidFill>
                  <a:srgbClr val="E8EAE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temperature 0.3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6"/>
          <p:cNvSpPr/>
          <p:nvPr/>
        </p:nvSpPr>
        <p:spPr>
          <a:xfrm>
            <a:off x="1390613" y="5721775"/>
            <a:ext cx="79272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667"/>
              </a:lnSpc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C792E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PARAMETER </a:t>
            </a:r>
            <a:r>
              <a:rPr b="0" i="0" lang="en-US" sz="1950" u="none" cap="none" strike="noStrike">
                <a:solidFill>
                  <a:srgbClr val="E8EAE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num_ctx 8192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6"/>
          <p:cNvSpPr/>
          <p:nvPr/>
        </p:nvSpPr>
        <p:spPr>
          <a:xfrm>
            <a:off x="1390625" y="6300522"/>
            <a:ext cx="7927200" cy="13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667"/>
              </a:lnSpc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C792E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 </a:t>
            </a:r>
            <a:r>
              <a:rPr b="0" i="0" lang="en-US" sz="1950" u="none" cap="none" strike="noStrike">
                <a:solidFill>
                  <a:srgbClr val="A3C57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"""You are a patient Python tutor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6"/>
          <p:cNvSpPr/>
          <p:nvPr/>
        </p:nvSpPr>
        <p:spPr>
          <a:xfrm>
            <a:off x="1390613" y="6746084"/>
            <a:ext cx="79272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667"/>
              </a:lnSpc>
              <a:spcBef>
                <a:spcPts val="0"/>
              </a:spcBef>
              <a:spcAft>
                <a:spcPts val="0"/>
              </a:spcAft>
              <a:buClr>
                <a:srgbClr val="A3C57F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A3C57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first-year CS students. Explain step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6"/>
          <p:cNvSpPr/>
          <p:nvPr/>
        </p:nvSpPr>
        <p:spPr>
          <a:xfrm>
            <a:off x="1390613" y="7191638"/>
            <a:ext cx="79272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667"/>
              </a:lnSpc>
              <a:spcBef>
                <a:spcPts val="0"/>
              </a:spcBef>
              <a:spcAft>
                <a:spcPts val="0"/>
              </a:spcAft>
              <a:buClr>
                <a:srgbClr val="A3C57F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A3C57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by step and always show an example."""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6"/>
          <p:cNvSpPr/>
          <p:nvPr/>
        </p:nvSpPr>
        <p:spPr>
          <a:xfrm>
            <a:off x="9226401" y="3797427"/>
            <a:ext cx="7982700" cy="1252500"/>
          </a:xfrm>
          <a:prstGeom prst="roundRect">
            <a:avLst>
              <a:gd fmla="val 12169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6"/>
          <p:cNvSpPr/>
          <p:nvPr/>
        </p:nvSpPr>
        <p:spPr>
          <a:xfrm>
            <a:off x="9571024" y="4056947"/>
            <a:ext cx="80226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BUILD IT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6"/>
          <p:cNvSpPr/>
          <p:nvPr/>
        </p:nvSpPr>
        <p:spPr>
          <a:xfrm>
            <a:off x="9571024" y="4468829"/>
            <a:ext cx="8022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4C5A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ollama create py-tutor -f Modelfile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6"/>
          <p:cNvSpPr/>
          <p:nvPr/>
        </p:nvSpPr>
        <p:spPr>
          <a:xfrm>
            <a:off x="9226401" y="5278269"/>
            <a:ext cx="7982700" cy="2033400"/>
          </a:xfrm>
          <a:prstGeom prst="roundRect">
            <a:avLst>
              <a:gd fmla="val 7495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6"/>
          <p:cNvSpPr/>
          <p:nvPr/>
        </p:nvSpPr>
        <p:spPr>
          <a:xfrm>
            <a:off x="9571024" y="5537788"/>
            <a:ext cx="80226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RUN IT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6"/>
          <p:cNvSpPr/>
          <p:nvPr/>
        </p:nvSpPr>
        <p:spPr>
          <a:xfrm>
            <a:off x="9571024" y="5949671"/>
            <a:ext cx="8022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4C5A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ollama run py-tutor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6"/>
          <p:cNvSpPr/>
          <p:nvPr/>
        </p:nvSpPr>
        <p:spPr>
          <a:xfrm>
            <a:off x="9571024" y="6385365"/>
            <a:ext cx="75123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75"/>
              <a:buFont typeface="Gabarito"/>
              <a:buNone/>
            </a:pPr>
            <a:r>
              <a:rPr lang="en-US" sz="187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The system prompt and parameters are saved in this custom model configuration, so you don't need to repeat them for every request.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6"/>
          <p:cNvSpPr/>
          <p:nvPr/>
        </p:nvSpPr>
        <p:spPr>
          <a:xfrm>
            <a:off x="9226400" y="7540078"/>
            <a:ext cx="7982700" cy="2236500"/>
          </a:xfrm>
          <a:prstGeom prst="roundRect">
            <a:avLst>
              <a:gd fmla="val 13857" name="adj"/>
            </a:avLst>
          </a:prstGeom>
          <a:noFill/>
          <a:ln cap="flat" cmpd="sng" w="119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6"/>
          <p:cNvSpPr/>
          <p:nvPr/>
        </p:nvSpPr>
        <p:spPr>
          <a:xfrm>
            <a:off x="9571100" y="7780616"/>
            <a:ext cx="7532700" cy="16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75"/>
              <a:buFont typeface="Gabarito"/>
              <a:buNone/>
            </a:pPr>
            <a:r>
              <a:rPr b="1" i="0" lang="en-US" sz="1875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Directives:</a:t>
            </a:r>
            <a:r>
              <a:rPr lang="en-US" sz="187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 </a:t>
            </a:r>
            <a:endParaRPr sz="1875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75"/>
              <a:buFont typeface="Gabarito"/>
              <a:buNone/>
            </a:pPr>
            <a:r>
              <a:rPr b="1" lang="en-US" sz="187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FROM </a:t>
            </a:r>
            <a:r>
              <a:rPr lang="en-US" sz="187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— choose the base model</a:t>
            </a:r>
            <a:endParaRPr sz="1875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75"/>
              <a:buFont typeface="Gabarito"/>
              <a:buNone/>
            </a:pPr>
            <a:r>
              <a:rPr b="1" lang="en-US" sz="187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PARAMETER </a:t>
            </a:r>
            <a:r>
              <a:rPr lang="en-US" sz="187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— configure model settings</a:t>
            </a:r>
            <a:endParaRPr sz="1875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75"/>
              <a:buFont typeface="Gabarito"/>
              <a:buNone/>
            </a:pPr>
            <a:r>
              <a:rPr b="1" lang="en-US" sz="187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SYSTEM </a:t>
            </a:r>
            <a:r>
              <a:rPr lang="en-US" sz="187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— define behavior/personality</a:t>
            </a:r>
            <a:endParaRPr sz="1875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75"/>
              <a:buFont typeface="Gabarito"/>
              <a:buNone/>
            </a:pPr>
            <a:r>
              <a:rPr b="1" lang="en-US" sz="187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TEMPLATE </a:t>
            </a:r>
            <a:r>
              <a:rPr lang="en-US" sz="187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— define the chat format</a:t>
            </a:r>
            <a:endParaRPr sz="1800">
              <a:solidFill>
                <a:srgbClr val="5B5B5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75"/>
              <a:buFont typeface="Gabarito"/>
              <a:buNone/>
            </a:pPr>
            <a:r>
              <a:t/>
            </a:r>
            <a:endParaRPr sz="1800">
              <a:solidFill>
                <a:srgbClr val="5B5B5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7"/>
          <p:cNvSpPr/>
          <p:nvPr/>
        </p:nvSpPr>
        <p:spPr>
          <a:xfrm>
            <a:off x="15771875" y="666750"/>
            <a:ext cx="1615213" cy="14097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0800"/>
              <a:buFont typeface="Gabarito"/>
              <a:buNone/>
            </a:pPr>
            <a:r>
              <a:rPr b="1" i="0" lang="en-US" sz="1080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02</a:t>
            </a:r>
            <a:endParaRPr b="0" i="0" sz="10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7"/>
          <p:cNvSpPr/>
          <p:nvPr/>
        </p:nvSpPr>
        <p:spPr>
          <a:xfrm>
            <a:off x="1266713" y="2857500"/>
            <a:ext cx="1905000" cy="1905000"/>
          </a:xfrm>
          <a:prstGeom prst="ellipse">
            <a:avLst/>
          </a:prstGeom>
          <a:solidFill>
            <a:srgbClr val="7A8A5A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7" name="Google Shape;5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2963" y="333375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17"/>
          <p:cNvSpPr/>
          <p:nvPr/>
        </p:nvSpPr>
        <p:spPr>
          <a:xfrm>
            <a:off x="1266713" y="5334000"/>
            <a:ext cx="14668500" cy="969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366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375"/>
              <a:buFont typeface="Gabarito"/>
              <a:buNone/>
            </a:pPr>
            <a:r>
              <a:rPr b="1" i="0" lang="en-US" sz="63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System Prompts</a:t>
            </a:r>
            <a:endParaRPr b="0" i="0" sz="6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7"/>
          <p:cNvSpPr/>
          <p:nvPr/>
        </p:nvSpPr>
        <p:spPr>
          <a:xfrm>
            <a:off x="1266713" y="6676000"/>
            <a:ext cx="13735200" cy="10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3150"/>
              <a:buFont typeface="Gabarito"/>
              <a:buNone/>
            </a:pPr>
            <a:r>
              <a:rPr b="0" i="0" lang="en-US" sz="315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Control model behavior using system prompts and effective prompting techniques.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7"/>
          <p:cNvSpPr/>
          <p:nvPr/>
        </p:nvSpPr>
        <p:spPr>
          <a:xfrm>
            <a:off x="1266713" y="9086701"/>
            <a:ext cx="990451" cy="9525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46" name="Google Shape;5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2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8"/>
          <p:cNvSpPr/>
          <p:nvPr/>
        </p:nvSpPr>
        <p:spPr>
          <a:xfrm>
            <a:off x="1047750" y="914363"/>
            <a:ext cx="1370056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Definition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8"/>
          <p:cNvSpPr/>
          <p:nvPr/>
        </p:nvSpPr>
        <p:spPr>
          <a:xfrm>
            <a:off x="1047750" y="1390613"/>
            <a:ext cx="10779751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What Is a System Prompt?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8"/>
          <p:cNvSpPr/>
          <p:nvPr/>
        </p:nvSpPr>
        <p:spPr>
          <a:xfrm>
            <a:off x="1047750" y="2667000"/>
            <a:ext cx="15697200" cy="9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54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625"/>
              <a:buFont typeface="Gabarito"/>
              <a:buNone/>
            </a:pPr>
            <a:r>
              <a:rPr b="0" i="0" lang="en-US" sz="2625" u="none" cap="none" strike="noStrike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A hidden instruction that </a:t>
            </a:r>
            <a:r>
              <a:rPr b="0" i="0" lang="en-US" sz="2625" u="none" cap="none" strike="noStrike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defines the model's </a:t>
            </a:r>
            <a:r>
              <a:rPr b="1" i="0" lang="en-US" sz="2625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role, rules, and personality</a:t>
            </a:r>
            <a:r>
              <a:rPr b="1" i="0" lang="en-US" sz="2625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 </a:t>
            </a:r>
            <a:r>
              <a:rPr b="0" i="0" lang="en-US" sz="2625" u="none" cap="none" strike="noStrike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— set once by the developer, invisible to the user.</a:t>
            </a:r>
            <a:endParaRPr b="0" i="0" sz="26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8"/>
          <p:cNvSpPr/>
          <p:nvPr/>
        </p:nvSpPr>
        <p:spPr>
          <a:xfrm>
            <a:off x="1047750" y="3843325"/>
            <a:ext cx="4791000" cy="2555100"/>
          </a:xfrm>
          <a:prstGeom prst="roundRect">
            <a:avLst>
              <a:gd fmla="val 6240" name="adj"/>
            </a:avLst>
          </a:prstGeom>
          <a:solidFill>
            <a:srgbClr val="035595">
              <a:alpha val="5098"/>
            </a:srgbClr>
          </a:solidFill>
          <a:ln cap="flat" cmpd="sng" w="11900">
            <a:solidFill>
              <a:srgbClr val="0355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8"/>
          <p:cNvSpPr/>
          <p:nvPr/>
        </p:nvSpPr>
        <p:spPr>
          <a:xfrm>
            <a:off x="1326245" y="4083683"/>
            <a:ext cx="43611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800"/>
              <a:buFont typeface="Gabarito"/>
              <a:buNone/>
            </a:pPr>
            <a:r>
              <a:rPr b="1" i="0" lang="en-US" sz="1800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SYSTEM PROMPT </a:t>
            </a:r>
            <a:r>
              <a:rPr b="1" lang="en-US" sz="1800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8"/>
          <p:cNvSpPr/>
          <p:nvPr/>
        </p:nvSpPr>
        <p:spPr>
          <a:xfrm>
            <a:off x="1326250" y="4745600"/>
            <a:ext cx="4512600" cy="10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070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“You are a friendly Python teacher.</a:t>
            </a:r>
            <a:endParaRPr sz="180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07077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800"/>
              <a:buFont typeface="JetBrains Mono"/>
              <a:buNone/>
            </a:pPr>
            <a:r>
              <a:rPr lang="en-US" sz="180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Explain things simply and give an example.” </a:t>
            </a:r>
            <a:endParaRPr sz="180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553" name="Google Shape;553;p18"/>
          <p:cNvSpPr/>
          <p:nvPr/>
        </p:nvSpPr>
        <p:spPr>
          <a:xfrm>
            <a:off x="6067350" y="3843325"/>
            <a:ext cx="4791000" cy="2555100"/>
          </a:xfrm>
          <a:prstGeom prst="roundRect">
            <a:avLst>
              <a:gd fmla="val 6240" name="adj"/>
            </a:avLst>
          </a:prstGeom>
          <a:solidFill>
            <a:srgbClr val="7A8A5A">
              <a:alpha val="7059"/>
            </a:srgbClr>
          </a:solidFill>
          <a:ln cap="flat" cmpd="sng" w="11900">
            <a:solidFill>
              <a:srgbClr val="6E7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8"/>
          <p:cNvSpPr/>
          <p:nvPr/>
        </p:nvSpPr>
        <p:spPr>
          <a:xfrm>
            <a:off x="6345845" y="4083683"/>
            <a:ext cx="43611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1800"/>
              <a:buFont typeface="Gabarito"/>
              <a:buNone/>
            </a:pPr>
            <a:r>
              <a:rPr b="1" i="0" lang="en-US" sz="1800" u="none" cap="none" strike="noStrike">
                <a:solidFill>
                  <a:srgbClr val="4C5A33"/>
                </a:solidFill>
                <a:latin typeface="Gabarito"/>
                <a:ea typeface="Gabarito"/>
                <a:cs typeface="Gabarito"/>
                <a:sym typeface="Gabarito"/>
              </a:rPr>
              <a:t>USER PROMPT </a:t>
            </a:r>
            <a:r>
              <a:rPr b="1" lang="en-US" sz="1800">
                <a:solidFill>
                  <a:srgbClr val="4C5A33"/>
                </a:solidFill>
                <a:latin typeface="Gabarito"/>
                <a:ea typeface="Gabarito"/>
                <a:cs typeface="Gabarito"/>
                <a:sym typeface="Gabarito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8"/>
          <p:cNvSpPr/>
          <p:nvPr/>
        </p:nvSpPr>
        <p:spPr>
          <a:xfrm>
            <a:off x="6345845" y="4745596"/>
            <a:ext cx="46575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077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800"/>
              <a:buFont typeface="JetBrains Mono"/>
              <a:buNone/>
            </a:pPr>
            <a:r>
              <a:rPr lang="en-US" sz="180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“What is a variable in Python?”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8"/>
          <p:cNvSpPr/>
          <p:nvPr/>
        </p:nvSpPr>
        <p:spPr>
          <a:xfrm>
            <a:off x="557212" y="6632897"/>
            <a:ext cx="10791825" cy="4001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2162"/>
              </a:lnSpc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2850"/>
              <a:buFont typeface="Gabarito"/>
              <a:buNone/>
            </a:pPr>
            <a:r>
              <a:rPr b="0" i="0" lang="en-US" sz="285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↓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8"/>
          <p:cNvSpPr/>
          <p:nvPr/>
        </p:nvSpPr>
        <p:spPr>
          <a:xfrm>
            <a:off x="1047750" y="7185422"/>
            <a:ext cx="9810750" cy="752326"/>
          </a:xfrm>
          <a:prstGeom prst="roundRect">
            <a:avLst>
              <a:gd fmla="val 17725" name="adj"/>
            </a:avLst>
          </a:prstGeom>
          <a:solidFill>
            <a:srgbClr val="274D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8"/>
          <p:cNvSpPr/>
          <p:nvPr/>
        </p:nvSpPr>
        <p:spPr>
          <a:xfrm>
            <a:off x="1167289" y="7394972"/>
            <a:ext cx="9571673" cy="371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Gabarito"/>
              <a:buNone/>
            </a:pPr>
            <a:r>
              <a:rPr b="1" i="0" lang="en-US" sz="2175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LLM</a:t>
            </a:r>
            <a:r>
              <a:rPr b="0" i="0" lang="en-US" sz="1950" u="none" cap="none" strike="noStrike">
                <a:solidFill>
                  <a:srgbClr val="BFD3E6"/>
                </a:solidFill>
                <a:latin typeface="Gabarito"/>
                <a:ea typeface="Gabarito"/>
                <a:cs typeface="Gabarito"/>
                <a:sym typeface="Gabarito"/>
              </a:rPr>
              <a:t>— </a:t>
            </a:r>
            <a:r>
              <a:rPr lang="en-US" sz="1950">
                <a:solidFill>
                  <a:srgbClr val="BFD3E6"/>
                </a:solidFill>
                <a:latin typeface="Gabarito"/>
                <a:ea typeface="Gabarito"/>
                <a:cs typeface="Gabarito"/>
                <a:sym typeface="Gabarito"/>
              </a:rPr>
              <a:t>Reads both and follows the system instructions.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8"/>
          <p:cNvSpPr/>
          <p:nvPr/>
        </p:nvSpPr>
        <p:spPr>
          <a:xfrm>
            <a:off x="557212" y="8128248"/>
            <a:ext cx="10791825" cy="4001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2162"/>
              </a:lnSpc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2850"/>
              <a:buFont typeface="Gabarito"/>
              <a:buNone/>
            </a:pPr>
            <a:r>
              <a:rPr b="0" i="0" lang="en-US" sz="285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↓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8"/>
          <p:cNvSpPr/>
          <p:nvPr/>
        </p:nvSpPr>
        <p:spPr>
          <a:xfrm>
            <a:off x="1047750" y="8680772"/>
            <a:ext cx="9810750" cy="740420"/>
          </a:xfrm>
          <a:prstGeom prst="roundRect">
            <a:avLst>
              <a:gd fmla="val 18010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8"/>
          <p:cNvSpPr/>
          <p:nvPr/>
        </p:nvSpPr>
        <p:spPr>
          <a:xfrm>
            <a:off x="1326245" y="8925967"/>
            <a:ext cx="1470329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Font typeface="Gabarito"/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RESPONSE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8"/>
          <p:cNvSpPr/>
          <p:nvPr/>
        </p:nvSpPr>
        <p:spPr>
          <a:xfrm>
            <a:off x="2662900" y="8902150"/>
            <a:ext cx="76956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950"/>
              <a:buFont typeface="Gabarito"/>
              <a:buNone/>
            </a:pPr>
            <a:r>
              <a:rPr b="0" i="0" lang="en-US" sz="1950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"</a:t>
            </a:r>
            <a:r>
              <a:rPr lang="en-US" sz="1950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A variable is a name used to store a value.  For example: age = 20. </a:t>
            </a:r>
            <a:r>
              <a:rPr lang="en-US" sz="1950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8"/>
          <p:cNvSpPr/>
          <p:nvPr/>
        </p:nvSpPr>
        <p:spPr>
          <a:xfrm>
            <a:off x="11349025" y="3843301"/>
            <a:ext cx="5905500" cy="1605000"/>
          </a:xfrm>
          <a:prstGeom prst="roundRect">
            <a:avLst>
              <a:gd fmla="val 9495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8"/>
          <p:cNvSpPr/>
          <p:nvPr/>
        </p:nvSpPr>
        <p:spPr>
          <a:xfrm>
            <a:off x="11665657" y="4102820"/>
            <a:ext cx="57996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SET ONCE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8"/>
          <p:cNvSpPr/>
          <p:nvPr/>
        </p:nvSpPr>
        <p:spPr>
          <a:xfrm>
            <a:off x="11665657" y="4495726"/>
            <a:ext cx="5430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48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lang="en-US" sz="195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The system instruction is set for the conversation and guides the model's responses.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8"/>
          <p:cNvSpPr/>
          <p:nvPr/>
        </p:nvSpPr>
        <p:spPr>
          <a:xfrm>
            <a:off x="11349025" y="5676863"/>
            <a:ext cx="5905500" cy="1605000"/>
          </a:xfrm>
          <a:prstGeom prst="roundRect">
            <a:avLst>
              <a:gd fmla="val 9495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8"/>
          <p:cNvSpPr/>
          <p:nvPr/>
        </p:nvSpPr>
        <p:spPr>
          <a:xfrm>
            <a:off x="11665657" y="5936382"/>
            <a:ext cx="57996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HIGHER PRIORITY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8"/>
          <p:cNvSpPr/>
          <p:nvPr/>
        </p:nvSpPr>
        <p:spPr>
          <a:xfrm>
            <a:off x="11665657" y="6329288"/>
            <a:ext cx="5430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48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lang="en-US" sz="195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Chat models are trained to prioritize system instructions over user requests.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8"/>
          <p:cNvSpPr/>
          <p:nvPr/>
        </p:nvSpPr>
        <p:spPr>
          <a:xfrm>
            <a:off x="11349025" y="7510426"/>
            <a:ext cx="5905500" cy="1951800"/>
          </a:xfrm>
          <a:prstGeom prst="roundRect">
            <a:avLst>
              <a:gd fmla="val 7809" name="adj"/>
            </a:avLst>
          </a:prstGeom>
          <a:noFill/>
          <a:ln cap="flat" cmpd="sng" w="119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8"/>
          <p:cNvSpPr/>
          <p:nvPr/>
        </p:nvSpPr>
        <p:spPr>
          <a:xfrm>
            <a:off x="11665657" y="7769945"/>
            <a:ext cx="57996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WHY IT MATTERS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8"/>
          <p:cNvSpPr/>
          <p:nvPr/>
        </p:nvSpPr>
        <p:spPr>
          <a:xfrm>
            <a:off x="11665657" y="8162851"/>
            <a:ext cx="5430300" cy="10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48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b="0" i="0" lang="en-US" sz="195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Same model, different system prompt → a </a:t>
            </a:r>
            <a:r>
              <a:rPr lang="en-US" sz="195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teacher</a:t>
            </a:r>
            <a:r>
              <a:rPr b="0" i="0" lang="en-US" sz="195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, a lawyer, or a</a:t>
            </a:r>
            <a:r>
              <a:rPr b="0" i="0" lang="en-US" sz="195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 </a:t>
            </a:r>
            <a:r>
              <a:rPr lang="en-US" sz="195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manager</a:t>
            </a:r>
            <a:r>
              <a:rPr b="0" i="0" lang="en-US" sz="195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. It is your main steering wheel.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77" name="Google Shape;5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2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19"/>
          <p:cNvSpPr/>
          <p:nvPr/>
        </p:nvSpPr>
        <p:spPr>
          <a:xfrm>
            <a:off x="1047750" y="914363"/>
            <a:ext cx="1322784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Structure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9"/>
          <p:cNvSpPr/>
          <p:nvPr/>
        </p:nvSpPr>
        <p:spPr>
          <a:xfrm>
            <a:off x="1047750" y="1390613"/>
            <a:ext cx="15501789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Four Components of a System Prompt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9"/>
          <p:cNvSpPr/>
          <p:nvPr/>
        </p:nvSpPr>
        <p:spPr>
          <a:xfrm>
            <a:off x="1047750" y="3009863"/>
            <a:ext cx="7810500" cy="1211647"/>
          </a:xfrm>
          <a:prstGeom prst="roundRect">
            <a:avLst>
              <a:gd fmla="val 12578" name="adj"/>
            </a:avLst>
          </a:prstGeom>
          <a:solidFill>
            <a:srgbClr val="035595">
              <a:alpha val="3922"/>
            </a:srgbClr>
          </a:solidFill>
          <a:ln cap="flat" cmpd="sng" w="11900">
            <a:solidFill>
              <a:srgbClr val="0355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9"/>
          <p:cNvSpPr/>
          <p:nvPr/>
        </p:nvSpPr>
        <p:spPr>
          <a:xfrm>
            <a:off x="1345406" y="3250220"/>
            <a:ext cx="552338" cy="552338"/>
          </a:xfrm>
          <a:prstGeom prst="ellipse">
            <a:avLst/>
          </a:prstGeom>
          <a:solidFill>
            <a:srgbClr val="0355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9"/>
          <p:cNvSpPr/>
          <p:nvPr/>
        </p:nvSpPr>
        <p:spPr>
          <a:xfrm>
            <a:off x="1307306" y="3250220"/>
            <a:ext cx="628538" cy="590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9"/>
          <p:cNvSpPr/>
          <p:nvPr/>
        </p:nvSpPr>
        <p:spPr>
          <a:xfrm>
            <a:off x="2126196" y="3250220"/>
            <a:ext cx="456405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75"/>
              <a:buFont typeface="Gabarito"/>
              <a:buNone/>
            </a:pPr>
            <a:r>
              <a:rPr b="1" i="0" lang="en-US" sz="21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Role — who the model is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9"/>
          <p:cNvSpPr/>
          <p:nvPr/>
        </p:nvSpPr>
        <p:spPr>
          <a:xfrm>
            <a:off x="2126196" y="3659684"/>
            <a:ext cx="4564056" cy="359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75"/>
              <a:buFont typeface="Gabarito"/>
              <a:buNone/>
            </a:pPr>
            <a:r>
              <a:rPr b="0" i="0" lang="en-US" sz="187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"You are a senior Python code reviewer."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9"/>
          <p:cNvSpPr/>
          <p:nvPr/>
        </p:nvSpPr>
        <p:spPr>
          <a:xfrm>
            <a:off x="1047750" y="4412010"/>
            <a:ext cx="7810500" cy="1211647"/>
          </a:xfrm>
          <a:prstGeom prst="roundRect">
            <a:avLst>
              <a:gd fmla="val 12578" name="adj"/>
            </a:avLst>
          </a:prstGeom>
          <a:solidFill>
            <a:srgbClr val="7A8A5A">
              <a:alpha val="5882"/>
            </a:srgbClr>
          </a:solidFill>
          <a:ln cap="flat" cmpd="sng" w="11900">
            <a:solidFill>
              <a:srgbClr val="6E7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9"/>
          <p:cNvSpPr/>
          <p:nvPr/>
        </p:nvSpPr>
        <p:spPr>
          <a:xfrm>
            <a:off x="1345406" y="4652367"/>
            <a:ext cx="552338" cy="552338"/>
          </a:xfrm>
          <a:prstGeom prst="ellipse">
            <a:avLst/>
          </a:prstGeom>
          <a:solidFill>
            <a:srgbClr val="6E7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9"/>
          <p:cNvSpPr/>
          <p:nvPr/>
        </p:nvSpPr>
        <p:spPr>
          <a:xfrm>
            <a:off x="1307306" y="4652367"/>
            <a:ext cx="628538" cy="590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9"/>
          <p:cNvSpPr/>
          <p:nvPr/>
        </p:nvSpPr>
        <p:spPr>
          <a:xfrm>
            <a:off x="2126196" y="4652367"/>
            <a:ext cx="576446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75"/>
              <a:buFont typeface="Gabarito"/>
              <a:buNone/>
            </a:pPr>
            <a:r>
              <a:rPr b="1" i="0" lang="en-US" sz="21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Task — what it must do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9"/>
          <p:cNvSpPr/>
          <p:nvPr/>
        </p:nvSpPr>
        <p:spPr>
          <a:xfrm>
            <a:off x="2126196" y="5061831"/>
            <a:ext cx="5764467" cy="359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75"/>
              <a:buFont typeface="Gabarito"/>
              <a:buNone/>
            </a:pPr>
            <a:r>
              <a:rPr b="0" i="0" lang="en-US" sz="187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"Review submitted code for bugs and style issues."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9"/>
          <p:cNvSpPr/>
          <p:nvPr/>
        </p:nvSpPr>
        <p:spPr>
          <a:xfrm>
            <a:off x="1047750" y="5814157"/>
            <a:ext cx="7810500" cy="1211647"/>
          </a:xfrm>
          <a:prstGeom prst="roundRect">
            <a:avLst>
              <a:gd fmla="val 12578" name="adj"/>
            </a:avLst>
          </a:prstGeom>
          <a:solidFill>
            <a:srgbClr val="FF9900">
              <a:alpha val="5098"/>
            </a:srgbClr>
          </a:solidFill>
          <a:ln cap="flat" cmpd="sng" w="119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9"/>
          <p:cNvSpPr/>
          <p:nvPr/>
        </p:nvSpPr>
        <p:spPr>
          <a:xfrm>
            <a:off x="1345406" y="6054514"/>
            <a:ext cx="552338" cy="552338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9"/>
          <p:cNvSpPr/>
          <p:nvPr/>
        </p:nvSpPr>
        <p:spPr>
          <a:xfrm>
            <a:off x="1307306" y="6054514"/>
            <a:ext cx="628538" cy="590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9"/>
          <p:cNvSpPr/>
          <p:nvPr/>
        </p:nvSpPr>
        <p:spPr>
          <a:xfrm>
            <a:off x="2126196" y="6054514"/>
            <a:ext cx="56578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75"/>
              <a:buFont typeface="Gabarito"/>
              <a:buNone/>
            </a:pPr>
            <a:r>
              <a:rPr b="1" i="0" lang="en-US" sz="21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Constraints — </a:t>
            </a:r>
            <a:r>
              <a:rPr b="1" lang="en-US" sz="2175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rules and limits 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9"/>
          <p:cNvSpPr/>
          <p:nvPr/>
        </p:nvSpPr>
        <p:spPr>
          <a:xfrm>
            <a:off x="2126196" y="6463978"/>
            <a:ext cx="5657850" cy="359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75"/>
              <a:buFont typeface="Gabarito"/>
              <a:buNone/>
            </a:pPr>
            <a:r>
              <a:rPr b="0" i="0" lang="en-US" sz="187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"Never rewrite the whole file. Max 3 suggestions."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9"/>
          <p:cNvSpPr/>
          <p:nvPr/>
        </p:nvSpPr>
        <p:spPr>
          <a:xfrm>
            <a:off x="1047750" y="7216304"/>
            <a:ext cx="7810500" cy="1211647"/>
          </a:xfrm>
          <a:prstGeom prst="roundRect">
            <a:avLst>
              <a:gd fmla="val 12578" name="adj"/>
            </a:avLst>
          </a:prstGeom>
          <a:solidFill>
            <a:srgbClr val="5E7488">
              <a:alpha val="5882"/>
            </a:srgbClr>
          </a:solidFill>
          <a:ln cap="flat" cmpd="sng" w="11900">
            <a:solidFill>
              <a:srgbClr val="5E7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9"/>
          <p:cNvSpPr/>
          <p:nvPr/>
        </p:nvSpPr>
        <p:spPr>
          <a:xfrm>
            <a:off x="1345406" y="7456661"/>
            <a:ext cx="552338" cy="552338"/>
          </a:xfrm>
          <a:prstGeom prst="ellipse">
            <a:avLst/>
          </a:prstGeom>
          <a:solidFill>
            <a:srgbClr val="5E7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9"/>
          <p:cNvSpPr/>
          <p:nvPr/>
        </p:nvSpPr>
        <p:spPr>
          <a:xfrm>
            <a:off x="1307306" y="7456661"/>
            <a:ext cx="628538" cy="590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9"/>
          <p:cNvSpPr/>
          <p:nvPr/>
        </p:nvSpPr>
        <p:spPr>
          <a:xfrm>
            <a:off x="2126196" y="7456661"/>
            <a:ext cx="532674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75"/>
              <a:buFont typeface="Gabarito"/>
              <a:buNone/>
            </a:pPr>
            <a:r>
              <a:rPr b="1" i="0" lang="en-US" sz="21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Output format — how the answer looks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9"/>
          <p:cNvSpPr/>
          <p:nvPr/>
        </p:nvSpPr>
        <p:spPr>
          <a:xfrm>
            <a:off x="2126196" y="7866125"/>
            <a:ext cx="5326745" cy="359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75"/>
              <a:buFont typeface="Gabarito"/>
              <a:buNone/>
            </a:pPr>
            <a:r>
              <a:rPr b="0" i="0" lang="en-US" sz="187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"Respond as a JSON list of {line, issue, fix}."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9"/>
          <p:cNvSpPr/>
          <p:nvPr/>
        </p:nvSpPr>
        <p:spPr>
          <a:xfrm>
            <a:off x="9334500" y="3009878"/>
            <a:ext cx="7905900" cy="5418000"/>
          </a:xfrm>
          <a:prstGeom prst="roundRect">
            <a:avLst>
              <a:gd fmla="val 3423" name="adj"/>
            </a:avLst>
          </a:prstGeom>
          <a:solidFill>
            <a:srgbClr val="1E22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9"/>
          <p:cNvSpPr/>
          <p:nvPr/>
        </p:nvSpPr>
        <p:spPr>
          <a:xfrm>
            <a:off x="9334500" y="3009863"/>
            <a:ext cx="7905750" cy="614288"/>
          </a:xfrm>
          <a:prstGeom prst="rect">
            <a:avLst/>
          </a:prstGeom>
          <a:solidFill>
            <a:srgbClr val="2A2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9"/>
          <p:cNvSpPr/>
          <p:nvPr/>
        </p:nvSpPr>
        <p:spPr>
          <a:xfrm>
            <a:off x="9582113" y="3240732"/>
            <a:ext cx="152363" cy="152363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9"/>
          <p:cNvSpPr/>
          <p:nvPr/>
        </p:nvSpPr>
        <p:spPr>
          <a:xfrm>
            <a:off x="9829726" y="3240732"/>
            <a:ext cx="152363" cy="152363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9"/>
          <p:cNvSpPr/>
          <p:nvPr/>
        </p:nvSpPr>
        <p:spPr>
          <a:xfrm>
            <a:off x="10077338" y="3240732"/>
            <a:ext cx="152363" cy="152363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9"/>
          <p:cNvSpPr/>
          <p:nvPr/>
        </p:nvSpPr>
        <p:spPr>
          <a:xfrm>
            <a:off x="10458152" y="3162226"/>
            <a:ext cx="3470263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assembled system prompt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9"/>
          <p:cNvSpPr/>
          <p:nvPr/>
        </p:nvSpPr>
        <p:spPr>
          <a:xfrm>
            <a:off x="9677363" y="3909901"/>
            <a:ext cx="74366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462"/>
              </a:lnSpc>
              <a:spcBef>
                <a:spcPts val="0"/>
              </a:spcBef>
              <a:spcAft>
                <a:spcPts val="0"/>
              </a:spcAft>
              <a:buClr>
                <a:srgbClr val="7FB3E8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7FB3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You are a senior Python code reviewer</a:t>
            </a:r>
            <a:r>
              <a:rPr b="0" i="0" lang="en-US" sz="1875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← Role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9"/>
          <p:cNvSpPr/>
          <p:nvPr/>
        </p:nvSpPr>
        <p:spPr>
          <a:xfrm>
            <a:off x="9677363" y="4338526"/>
            <a:ext cx="74366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462"/>
              </a:lnSpc>
              <a:spcBef>
                <a:spcPts val="0"/>
              </a:spcBef>
              <a:spcAft>
                <a:spcPts val="0"/>
              </a:spcAft>
              <a:buClr>
                <a:srgbClr val="A3C57F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A3C57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reviewing student submissions for bugs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9"/>
          <p:cNvSpPr/>
          <p:nvPr/>
        </p:nvSpPr>
        <p:spPr>
          <a:xfrm>
            <a:off x="9677363" y="4767151"/>
            <a:ext cx="74366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462"/>
              </a:lnSpc>
              <a:spcBef>
                <a:spcPts val="0"/>
              </a:spcBef>
              <a:spcAft>
                <a:spcPts val="0"/>
              </a:spcAft>
              <a:buClr>
                <a:srgbClr val="A3C57F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A3C57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and style issues.</a:t>
            </a:r>
            <a:r>
              <a:rPr b="0" i="0" lang="en-US" sz="1875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← Task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9"/>
          <p:cNvSpPr/>
          <p:nvPr/>
        </p:nvSpPr>
        <p:spPr>
          <a:xfrm>
            <a:off x="9677363" y="5328977"/>
            <a:ext cx="74366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462"/>
              </a:lnSpc>
              <a:spcBef>
                <a:spcPts val="0"/>
              </a:spcBef>
              <a:spcAft>
                <a:spcPts val="0"/>
              </a:spcAft>
              <a:buClr>
                <a:srgbClr val="F0B45C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F0B4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Never rewrite the whole file.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9"/>
          <p:cNvSpPr/>
          <p:nvPr/>
        </p:nvSpPr>
        <p:spPr>
          <a:xfrm>
            <a:off x="9677363" y="5757602"/>
            <a:ext cx="74366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462"/>
              </a:lnSpc>
              <a:spcBef>
                <a:spcPts val="0"/>
              </a:spcBef>
              <a:spcAft>
                <a:spcPts val="0"/>
              </a:spcAft>
              <a:buClr>
                <a:srgbClr val="F0B45C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F0B4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Give at most 3 suggestions.</a:t>
            </a:r>
            <a:r>
              <a:rPr b="0" i="0" lang="en-US" sz="1875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← Constraints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9"/>
          <p:cNvSpPr/>
          <p:nvPr/>
        </p:nvSpPr>
        <p:spPr>
          <a:xfrm>
            <a:off x="9677363" y="6319428"/>
            <a:ext cx="74366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462"/>
              </a:lnSpc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B0BEC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Respond as a JSON list of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9"/>
          <p:cNvSpPr/>
          <p:nvPr/>
        </p:nvSpPr>
        <p:spPr>
          <a:xfrm>
            <a:off x="9677363" y="6748053"/>
            <a:ext cx="74366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462"/>
              </a:lnSpc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875"/>
              <a:buFont typeface="JetBrains Mono"/>
              <a:buNone/>
            </a:pPr>
            <a:r>
              <a:rPr b="0" i="0" lang="en-US" sz="1875" u="none" cap="none" strike="noStrike">
                <a:solidFill>
                  <a:srgbClr val="B0BEC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{"line", "issue", "fix"} objects.</a:t>
            </a:r>
            <a:r>
              <a:rPr b="0" i="0" lang="en-US" sz="1875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← Format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18" name="Google Shape;6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2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20"/>
          <p:cNvSpPr/>
          <p:nvPr/>
        </p:nvSpPr>
        <p:spPr>
          <a:xfrm>
            <a:off x="1047750" y="914363"/>
            <a:ext cx="1149623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Example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0"/>
          <p:cNvSpPr/>
          <p:nvPr/>
        </p:nvSpPr>
        <p:spPr>
          <a:xfrm>
            <a:off x="1047750" y="1390625"/>
            <a:ext cx="130113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lang="en-US" sz="6600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Weak </a:t>
            </a: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vs </a:t>
            </a:r>
            <a:r>
              <a:rPr b="1" lang="en-US" sz="6600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Strong </a:t>
            </a: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System </a:t>
            </a: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Prompts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0"/>
          <p:cNvSpPr/>
          <p:nvPr/>
        </p:nvSpPr>
        <p:spPr>
          <a:xfrm>
            <a:off x="1047750" y="2606644"/>
            <a:ext cx="7962900" cy="6799800"/>
          </a:xfrm>
          <a:prstGeom prst="roundRect">
            <a:avLst>
              <a:gd fmla="val 62" name="adj"/>
            </a:avLst>
          </a:prstGeom>
          <a:noFill/>
          <a:ln cap="flat" cmpd="sng" w="11900">
            <a:solidFill>
              <a:srgbClr val="C15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0"/>
          <p:cNvSpPr/>
          <p:nvPr/>
        </p:nvSpPr>
        <p:spPr>
          <a:xfrm>
            <a:off x="1059656" y="2618550"/>
            <a:ext cx="7939200" cy="687900"/>
          </a:xfrm>
          <a:prstGeom prst="rect">
            <a:avLst/>
          </a:prstGeom>
          <a:solidFill>
            <a:srgbClr val="C15F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0"/>
          <p:cNvSpPr/>
          <p:nvPr/>
        </p:nvSpPr>
        <p:spPr>
          <a:xfrm>
            <a:off x="1364456" y="2790000"/>
            <a:ext cx="75675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Gabarito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✕ </a:t>
            </a:r>
            <a:r>
              <a:rPr b="1" lang="en-US" sz="2025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Weak - </a:t>
            </a:r>
            <a:r>
              <a:rPr b="1" i="0" lang="en-US" sz="2025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vague and unbounded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0"/>
          <p:cNvSpPr/>
          <p:nvPr/>
        </p:nvSpPr>
        <p:spPr>
          <a:xfrm>
            <a:off x="1383350" y="3592259"/>
            <a:ext cx="7510500" cy="28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95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"You are a helpful assistant. Answer the user's questions."</a:t>
            </a:r>
            <a:endParaRPr b="0" i="0" sz="1500" u="none" cap="none" strike="noStrike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950"/>
              <a:buFont typeface="JetBrains Mono"/>
              <a:buNone/>
            </a:pPr>
            <a:r>
              <a:t/>
            </a:r>
            <a:endParaRPr sz="150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625" name="Google Shape;625;p20"/>
          <p:cNvSpPr/>
          <p:nvPr/>
        </p:nvSpPr>
        <p:spPr>
          <a:xfrm>
            <a:off x="9277200" y="2606644"/>
            <a:ext cx="7963200" cy="6799800"/>
          </a:xfrm>
          <a:prstGeom prst="roundRect">
            <a:avLst>
              <a:gd fmla="val 0" name="adj"/>
            </a:avLst>
          </a:prstGeom>
          <a:noFill/>
          <a:ln cap="flat" cmpd="sng" w="11900">
            <a:solidFill>
              <a:srgbClr val="6E7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0"/>
          <p:cNvSpPr/>
          <p:nvPr/>
        </p:nvSpPr>
        <p:spPr>
          <a:xfrm>
            <a:off x="9289107" y="2618550"/>
            <a:ext cx="7939200" cy="687900"/>
          </a:xfrm>
          <a:prstGeom prst="rect">
            <a:avLst/>
          </a:prstGeom>
          <a:solidFill>
            <a:srgbClr val="6E7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0"/>
          <p:cNvSpPr/>
          <p:nvPr/>
        </p:nvSpPr>
        <p:spPr>
          <a:xfrm>
            <a:off x="9593907" y="2790000"/>
            <a:ext cx="75678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Gabarito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✓ </a:t>
            </a:r>
            <a:r>
              <a:rPr b="1" lang="en-US" sz="2025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Strong - </a:t>
            </a:r>
            <a:r>
              <a:rPr b="1" i="0" lang="en-US" sz="2025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specific and bounded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0"/>
          <p:cNvSpPr/>
          <p:nvPr/>
        </p:nvSpPr>
        <p:spPr>
          <a:xfrm>
            <a:off x="9612800" y="3592282"/>
            <a:ext cx="7510500" cy="40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800"/>
              <a:buFont typeface="JetBrains Mono"/>
              <a:buNone/>
            </a:pPr>
            <a:r>
              <a:rPr lang="en-US" sz="150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</a:t>
            </a:r>
            <a:r>
              <a:rPr lang="en-US" sz="150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You are a friendly course assistant for CS-401: Local LLM Serving.Help students understand concepts and practice commands related to the course.”</a:t>
            </a:r>
            <a:endParaRPr sz="150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800"/>
              <a:buFont typeface="JetBrains Mono"/>
              <a:buNone/>
            </a:pPr>
            <a:r>
              <a:t/>
            </a:r>
            <a:endParaRPr sz="150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800"/>
              <a:buFont typeface="JetBrains Mono"/>
              <a:buNone/>
            </a:pPr>
            <a:r>
              <a:rPr b="1" lang="en-US" sz="150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Rules:</a:t>
            </a:r>
            <a:endParaRPr b="1" sz="150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500"/>
              <a:buFont typeface="JetBrains Mono"/>
              <a:buChar char="●"/>
            </a:pPr>
            <a:r>
              <a:rPr lang="en-US" sz="150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Answer only questions related to the course.</a:t>
            </a:r>
            <a:endParaRPr sz="150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500"/>
              <a:buFont typeface="JetBrains Mono"/>
              <a:buChar char="●"/>
            </a:pPr>
            <a:r>
              <a:rPr lang="en-US" sz="150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Explain concepts step by step using simple language.</a:t>
            </a:r>
            <a:endParaRPr sz="150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500"/>
              <a:buFont typeface="JetBrains Mono"/>
              <a:buChar char="●"/>
            </a:pPr>
            <a:r>
              <a:rPr lang="en-US" sz="150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Give a practical example when useful.</a:t>
            </a:r>
            <a:endParaRPr sz="150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500"/>
              <a:buFont typeface="JetBrains Mono"/>
              <a:buChar char="●"/>
            </a:pPr>
            <a:r>
              <a:rPr lang="en-US" sz="150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you are unsure, say so instead of making up an answer.</a:t>
            </a:r>
            <a:endParaRPr sz="150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500"/>
              <a:buFont typeface="JetBrains Mono"/>
              <a:buChar char="●"/>
            </a:pPr>
            <a:r>
              <a:rPr lang="en-US" sz="150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commands, explain what each command does.</a:t>
            </a:r>
            <a:endParaRPr sz="150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800"/>
              <a:buFont typeface="JetBrains Mono"/>
              <a:buNone/>
            </a:pPr>
            <a:r>
              <a:rPr b="1" lang="en-US" sz="150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Format:</a:t>
            </a:r>
            <a:endParaRPr b="1" sz="150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500"/>
              <a:buFont typeface="JetBrains Mono"/>
              <a:buAutoNum type="arabicPeriod"/>
            </a:pPr>
            <a:r>
              <a:rPr lang="en-US" sz="150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Answer</a:t>
            </a:r>
            <a:endParaRPr sz="150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500"/>
              <a:buFont typeface="JetBrains Mono"/>
              <a:buAutoNum type="arabicPeriod"/>
            </a:pPr>
            <a:r>
              <a:rPr lang="en-US" sz="150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Explanation</a:t>
            </a:r>
            <a:endParaRPr sz="150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500"/>
              <a:buFont typeface="JetBrains Mono"/>
              <a:buAutoNum type="arabicPeriod"/>
            </a:pPr>
            <a:r>
              <a:rPr lang="en-US" sz="150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Example</a:t>
            </a:r>
            <a:endParaRPr sz="150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800"/>
              <a:buFont typeface="JetBrains Mono"/>
              <a:buNone/>
            </a:pPr>
            <a:r>
              <a:t/>
            </a:r>
            <a:endParaRPr sz="150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629" name="Google Shape;629;p20"/>
          <p:cNvSpPr/>
          <p:nvPr/>
        </p:nvSpPr>
        <p:spPr>
          <a:xfrm>
            <a:off x="9612800" y="7861946"/>
            <a:ext cx="73083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34766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75"/>
              <a:buFont typeface="Gabarito"/>
              <a:buChar char="●"/>
            </a:pPr>
            <a:r>
              <a:rPr b="1" i="0" lang="en-US" sz="18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Role</a:t>
            </a:r>
            <a:r>
              <a:rPr b="0" i="0" lang="en-US" sz="1875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: course assistant</a:t>
            </a:r>
            <a:endParaRPr sz="1875">
              <a:solidFill>
                <a:srgbClr val="37474F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-34766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75"/>
              <a:buFont typeface="Gabarito"/>
              <a:buChar char="●"/>
            </a:pPr>
            <a:r>
              <a:rPr b="1" lang="en-US" sz="1875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Task</a:t>
            </a:r>
            <a:r>
              <a:rPr b="0" i="0" lang="en-US" sz="1875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: </a:t>
            </a:r>
            <a:r>
              <a:rPr lang="en-US" sz="1875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Help students understand and practice </a:t>
            </a:r>
            <a:endParaRPr sz="1875">
              <a:solidFill>
                <a:srgbClr val="37474F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-34766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75"/>
              <a:buFont typeface="Gabarito"/>
              <a:buChar char="●"/>
            </a:pPr>
            <a:r>
              <a:rPr b="1" lang="en-US" sz="1875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Constraint</a:t>
            </a:r>
            <a:r>
              <a:rPr lang="en-US" sz="1875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: Stay on course topics, don't invent answers </a:t>
            </a:r>
            <a:endParaRPr sz="1875">
              <a:solidFill>
                <a:srgbClr val="37474F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-34766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75"/>
              <a:buFont typeface="Gabarito"/>
              <a:buChar char="●"/>
            </a:pPr>
            <a:r>
              <a:rPr b="1" lang="en-US" sz="1875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Format</a:t>
            </a:r>
            <a:r>
              <a:rPr lang="en-US" sz="1875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: Answer -&gt; Explanation -&gt; Example</a:t>
            </a:r>
            <a:endParaRPr sz="1875">
              <a:solidFill>
                <a:srgbClr val="37474F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875"/>
              <a:buFont typeface="Gabarito"/>
              <a:buNone/>
            </a:pPr>
            <a:r>
              <a:t/>
            </a:r>
            <a:endParaRPr sz="1875">
              <a:solidFill>
                <a:srgbClr val="37474F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630" name="Google Shape;630;p20"/>
          <p:cNvSpPr/>
          <p:nvPr/>
        </p:nvSpPr>
        <p:spPr>
          <a:xfrm>
            <a:off x="1375050" y="7861946"/>
            <a:ext cx="73083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34766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Gabarito"/>
              <a:buChar char="●"/>
            </a:pPr>
            <a:r>
              <a:rPr b="1" i="0" lang="en-US" sz="18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Role</a:t>
            </a:r>
            <a:r>
              <a:rPr b="0" i="0" lang="en-US" sz="1875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: </a:t>
            </a:r>
            <a:r>
              <a:rPr lang="en-US" sz="1875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No role — answers medical and legal questions alike</a:t>
            </a:r>
            <a:endParaRPr sz="1875">
              <a:solidFill>
                <a:srgbClr val="37474F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-34766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Gabarito"/>
              <a:buChar char="●"/>
            </a:pPr>
            <a:r>
              <a:rPr b="1" lang="en-US" sz="1875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Constraint</a:t>
            </a:r>
            <a:r>
              <a:rPr lang="en-US" sz="1875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: No constraints — happily goes off-topic</a:t>
            </a:r>
            <a:endParaRPr sz="1875">
              <a:solidFill>
                <a:srgbClr val="37474F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-34766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Gabarito"/>
              <a:buChar char="●"/>
            </a:pPr>
            <a:r>
              <a:rPr b="1" lang="en-US" sz="1875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Format:</a:t>
            </a:r>
            <a:r>
              <a:rPr lang="en-US" sz="1875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  No format — every answer is shaped differently </a:t>
            </a:r>
            <a:endParaRPr sz="1875">
              <a:solidFill>
                <a:srgbClr val="37474F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875"/>
              <a:buFont typeface="Gabarito"/>
              <a:buNone/>
            </a:pPr>
            <a:r>
              <a:t/>
            </a:r>
            <a:endParaRPr sz="1875">
              <a:solidFill>
                <a:srgbClr val="37474F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875"/>
              <a:buFont typeface="Gabarito"/>
              <a:buNone/>
            </a:pPr>
            <a:r>
              <a:t/>
            </a:r>
            <a:endParaRPr sz="1875">
              <a:solidFill>
                <a:srgbClr val="37474F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1"/>
          <p:cNvSpPr/>
          <p:nvPr/>
        </p:nvSpPr>
        <p:spPr>
          <a:xfrm>
            <a:off x="15666951" y="666750"/>
            <a:ext cx="1730629" cy="14097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0800"/>
              <a:buFont typeface="Gabarito"/>
              <a:buNone/>
            </a:pPr>
            <a:r>
              <a:rPr b="1" i="0" lang="en-US" sz="1080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04</a:t>
            </a:r>
            <a:endParaRPr b="0" i="0" sz="10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1"/>
          <p:cNvSpPr/>
          <p:nvPr/>
        </p:nvSpPr>
        <p:spPr>
          <a:xfrm>
            <a:off x="1266713" y="2857500"/>
            <a:ext cx="1905000" cy="1905000"/>
          </a:xfrm>
          <a:prstGeom prst="ellipse">
            <a:avLst/>
          </a:prstGeom>
          <a:solidFill>
            <a:srgbClr val="B08A3E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8" name="Google Shape;63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2963" y="333375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21"/>
          <p:cNvSpPr/>
          <p:nvPr/>
        </p:nvSpPr>
        <p:spPr>
          <a:xfrm>
            <a:off x="1266713" y="5334000"/>
            <a:ext cx="14668500" cy="969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366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375"/>
              <a:buFont typeface="Gabarito"/>
              <a:buNone/>
            </a:pPr>
            <a:r>
              <a:rPr b="1" i="0" lang="en-US" sz="63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Model Acquisition</a:t>
            </a:r>
            <a:endParaRPr b="0" i="0" sz="6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1"/>
          <p:cNvSpPr/>
          <p:nvPr/>
        </p:nvSpPr>
        <p:spPr>
          <a:xfrm>
            <a:off x="1266713" y="6572250"/>
            <a:ext cx="13735200" cy="10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3150"/>
              <a:buFont typeface="Gabarito"/>
              <a:buNone/>
            </a:pPr>
            <a:r>
              <a:rPr b="0" i="0" lang="en-US" sz="315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Discover, evaluate, and download models from Hugging Face, Ollama Library, and other registries.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1"/>
          <p:cNvSpPr/>
          <p:nvPr/>
        </p:nvSpPr>
        <p:spPr>
          <a:xfrm>
            <a:off x="1266713" y="9086701"/>
            <a:ext cx="990451" cy="9525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47" name="Google Shape;64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2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22"/>
          <p:cNvSpPr/>
          <p:nvPr/>
        </p:nvSpPr>
        <p:spPr>
          <a:xfrm>
            <a:off x="1047750" y="914375"/>
            <a:ext cx="26982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lang="en-US" sz="2250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Model Sources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2"/>
          <p:cNvSpPr/>
          <p:nvPr/>
        </p:nvSpPr>
        <p:spPr>
          <a:xfrm>
            <a:off x="1047750" y="1390625"/>
            <a:ext cx="126135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lang="en-US" sz="6600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Where Do We Get AI Models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2"/>
          <p:cNvSpPr/>
          <p:nvPr/>
        </p:nvSpPr>
        <p:spPr>
          <a:xfrm>
            <a:off x="1047750" y="2521775"/>
            <a:ext cx="16764000" cy="28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550"/>
              <a:buFont typeface="Gabarito"/>
              <a:buNone/>
            </a:pPr>
            <a:r>
              <a:rPr lang="en-US" sz="2550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A model repository or registry is a place where models and their related files are stored, organized, and shared. </a:t>
            </a:r>
            <a:endParaRPr sz="2550">
              <a:solidFill>
                <a:srgbClr val="212121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550"/>
              <a:buFont typeface="Gabarito"/>
              <a:buNone/>
            </a:pPr>
            <a:r>
              <a:t/>
            </a:r>
            <a:endParaRPr sz="2550">
              <a:solidFill>
                <a:srgbClr val="212121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-3905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550"/>
              <a:buFont typeface="Gabarito"/>
              <a:buChar char="●"/>
            </a:pPr>
            <a:r>
              <a:rPr b="1" lang="en-US" sz="2550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Repository - </a:t>
            </a:r>
            <a:r>
              <a:rPr lang="en-US" sz="2550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 </a:t>
            </a:r>
            <a:r>
              <a:rPr lang="en-US" sz="2550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a place that stores models/files</a:t>
            </a:r>
            <a:endParaRPr sz="2550">
              <a:solidFill>
                <a:srgbClr val="212121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-3905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550"/>
              <a:buFont typeface="Gabarito"/>
              <a:buChar char="●"/>
            </a:pPr>
            <a:r>
              <a:rPr b="1" lang="en-US" sz="2550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Registry - </a:t>
            </a:r>
            <a:r>
              <a:rPr lang="en-US" sz="2550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a place that stores, organizes, and manages versions of models</a:t>
            </a:r>
            <a:endParaRPr sz="2550">
              <a:solidFill>
                <a:srgbClr val="212121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-3905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550"/>
              <a:buFont typeface="Gabarito"/>
              <a:buChar char="●"/>
            </a:pPr>
            <a:r>
              <a:rPr b="1" lang="en-US" sz="2550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Model Hub</a:t>
            </a:r>
            <a:r>
              <a:rPr lang="en-US" sz="2550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 </a:t>
            </a:r>
            <a:r>
              <a:rPr b="1" lang="en-US" sz="2550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-</a:t>
            </a:r>
            <a:r>
              <a:rPr lang="en-US" sz="2550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 a platform for sharing and discovering models</a:t>
            </a:r>
            <a:endParaRPr sz="2550">
              <a:solidFill>
                <a:srgbClr val="212121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-3905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550"/>
              <a:buFont typeface="Gabarito"/>
              <a:buChar char="●"/>
            </a:pPr>
            <a:r>
              <a:rPr b="1" lang="en-US" sz="2550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Library - </a:t>
            </a:r>
            <a:r>
              <a:rPr lang="en-US" sz="2550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a collection of models ready to use with a specific tool </a:t>
            </a:r>
            <a:endParaRPr sz="2550">
              <a:solidFill>
                <a:srgbClr val="212121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651" name="Google Shape;651;p22"/>
          <p:cNvSpPr/>
          <p:nvPr/>
        </p:nvSpPr>
        <p:spPr>
          <a:xfrm>
            <a:off x="1047750" y="5436726"/>
            <a:ext cx="7972500" cy="1790700"/>
          </a:xfrm>
          <a:prstGeom prst="roundRect">
            <a:avLst>
              <a:gd fmla="val 9574" name="adj"/>
            </a:avLst>
          </a:prstGeom>
          <a:noFill/>
          <a:ln cap="flat" cmpd="sng" w="119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2"/>
          <p:cNvSpPr/>
          <p:nvPr/>
        </p:nvSpPr>
        <p:spPr>
          <a:xfrm>
            <a:off x="1402519" y="5743870"/>
            <a:ext cx="20265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400"/>
              <a:buFont typeface="Gabarito"/>
              <a:buNone/>
            </a:pPr>
            <a:r>
              <a:rPr b="1" i="0" lang="en-US" sz="24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Hugging Face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2"/>
          <p:cNvSpPr/>
          <p:nvPr/>
        </p:nvSpPr>
        <p:spPr>
          <a:xfrm>
            <a:off x="6576343" y="5734382"/>
            <a:ext cx="2088900" cy="388200"/>
          </a:xfrm>
          <a:prstGeom prst="roundRect">
            <a:avLst>
              <a:gd fmla="val 24545" name="adj"/>
            </a:avLst>
          </a:prstGeom>
          <a:solidFill>
            <a:srgbClr val="FF9900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2"/>
          <p:cNvSpPr/>
          <p:nvPr/>
        </p:nvSpPr>
        <p:spPr>
          <a:xfrm>
            <a:off x="6728743" y="5791532"/>
            <a:ext cx="18603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D00"/>
              </a:buClr>
              <a:buSzPts val="1800"/>
              <a:buFont typeface="Gabarito"/>
              <a:buNone/>
            </a:pPr>
            <a:r>
              <a:rPr b="1" i="0" lang="en-US" sz="1800" u="none" cap="none" strike="noStrike">
                <a:solidFill>
                  <a:srgbClr val="D97D00"/>
                </a:solidFill>
                <a:latin typeface="Gabarito"/>
                <a:ea typeface="Gabarito"/>
                <a:cs typeface="Gabarito"/>
                <a:sym typeface="Gabarito"/>
              </a:rPr>
              <a:t>DEFAULT CHOICE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2"/>
          <p:cNvSpPr/>
          <p:nvPr/>
        </p:nvSpPr>
        <p:spPr>
          <a:xfrm>
            <a:off x="1402519" y="6236677"/>
            <a:ext cx="7480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48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b="1" lang="en-US" sz="195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Model Hub / Repository</a:t>
            </a:r>
            <a:r>
              <a:rPr lang="en-US" sz="195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 - L</a:t>
            </a:r>
            <a:r>
              <a:rPr lang="en-US" sz="195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arge collection of models, model cards, files, and documentation. </a:t>
            </a:r>
            <a:endParaRPr sz="1950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656" name="Google Shape;656;p22"/>
          <p:cNvSpPr/>
          <p:nvPr/>
        </p:nvSpPr>
        <p:spPr>
          <a:xfrm>
            <a:off x="9267713" y="5436726"/>
            <a:ext cx="7972500" cy="1790700"/>
          </a:xfrm>
          <a:prstGeom prst="roundRect">
            <a:avLst>
              <a:gd fmla="val 9574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2"/>
          <p:cNvSpPr/>
          <p:nvPr/>
        </p:nvSpPr>
        <p:spPr>
          <a:xfrm>
            <a:off x="9622482" y="5734382"/>
            <a:ext cx="79893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400"/>
              <a:buFont typeface="Gabarito"/>
              <a:buNone/>
            </a:pPr>
            <a:r>
              <a:rPr b="1" i="0" lang="en-US" sz="24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Ollama Library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2"/>
          <p:cNvSpPr/>
          <p:nvPr/>
        </p:nvSpPr>
        <p:spPr>
          <a:xfrm>
            <a:off x="9622482" y="6217701"/>
            <a:ext cx="7480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48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b="1" lang="en-US" sz="195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Model Library</a:t>
            </a:r>
            <a:r>
              <a:rPr lang="en-US" sz="195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 - Ready-to-use models for Ollama.</a:t>
            </a:r>
            <a:endParaRPr sz="1950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marR="0" rtl="0" algn="l">
              <a:lnSpc>
                <a:spcPct val="11648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lang="en-US" sz="195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Easy to download and run with ollama pull. </a:t>
            </a:r>
            <a:endParaRPr sz="1950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659" name="Google Shape;659;p22"/>
          <p:cNvSpPr/>
          <p:nvPr/>
        </p:nvSpPr>
        <p:spPr>
          <a:xfrm>
            <a:off x="1047750" y="7475113"/>
            <a:ext cx="7972500" cy="1771800"/>
          </a:xfrm>
          <a:prstGeom prst="roundRect">
            <a:avLst>
              <a:gd fmla="val 9677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2"/>
          <p:cNvSpPr/>
          <p:nvPr/>
        </p:nvSpPr>
        <p:spPr>
          <a:xfrm>
            <a:off x="1402519" y="7772769"/>
            <a:ext cx="79890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400"/>
              <a:buFont typeface="Gabarito"/>
              <a:buNone/>
            </a:pPr>
            <a:r>
              <a:rPr b="1" i="0" lang="en-US" sz="24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ModelScope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2"/>
          <p:cNvSpPr/>
          <p:nvPr/>
        </p:nvSpPr>
        <p:spPr>
          <a:xfrm>
            <a:off x="1402519" y="8256088"/>
            <a:ext cx="7480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48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b="1" lang="en-US" sz="195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Model Hub</a:t>
            </a:r>
            <a:r>
              <a:rPr lang="en-US" sz="195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 - Alibaba DAMO's open-source model hub — home of the Qwen family and other DAMO research models.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2"/>
          <p:cNvSpPr/>
          <p:nvPr/>
        </p:nvSpPr>
        <p:spPr>
          <a:xfrm>
            <a:off x="9267713" y="7475113"/>
            <a:ext cx="7972500" cy="1771800"/>
          </a:xfrm>
          <a:prstGeom prst="roundRect">
            <a:avLst>
              <a:gd fmla="val 9677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2"/>
          <p:cNvSpPr/>
          <p:nvPr/>
        </p:nvSpPr>
        <p:spPr>
          <a:xfrm>
            <a:off x="9622482" y="7772769"/>
            <a:ext cx="79893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400"/>
              <a:buFont typeface="Gabarito"/>
              <a:buNone/>
            </a:pPr>
            <a:r>
              <a:rPr b="1" i="0" lang="en-US" sz="24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NVIDIA NGC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2"/>
          <p:cNvSpPr/>
          <p:nvPr/>
        </p:nvSpPr>
        <p:spPr>
          <a:xfrm>
            <a:off x="9622482" y="8256088"/>
            <a:ext cx="7480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48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b="1" lang="en-US" sz="195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Registry/Catalog</a:t>
            </a:r>
            <a:r>
              <a:rPr lang="en-US" sz="195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 - GPU-optimized containers, models, and AI software from NVIDIA.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70" name="Google Shape;67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2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23"/>
          <p:cNvSpPr/>
          <p:nvPr/>
        </p:nvSpPr>
        <p:spPr>
          <a:xfrm>
            <a:off x="1047750" y="914363"/>
            <a:ext cx="1986632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How to read it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3"/>
          <p:cNvSpPr/>
          <p:nvPr/>
        </p:nvSpPr>
        <p:spPr>
          <a:xfrm>
            <a:off x="1047750" y="1390613"/>
            <a:ext cx="14845717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Reading a Hugging Face Model Page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3"/>
          <p:cNvSpPr/>
          <p:nvPr/>
        </p:nvSpPr>
        <p:spPr>
          <a:xfrm>
            <a:off x="1047750" y="2952750"/>
            <a:ext cx="9548700" cy="5483100"/>
          </a:xfrm>
          <a:prstGeom prst="roundRect">
            <a:avLst>
              <a:gd fmla="val 4021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3"/>
          <p:cNvSpPr/>
          <p:nvPr/>
        </p:nvSpPr>
        <p:spPr>
          <a:xfrm>
            <a:off x="1059656" y="2964656"/>
            <a:ext cx="9525000" cy="1266527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23"/>
          <p:cNvSpPr/>
          <p:nvPr/>
        </p:nvSpPr>
        <p:spPr>
          <a:xfrm>
            <a:off x="1059656" y="4219277"/>
            <a:ext cx="9525000" cy="11906"/>
          </a:xfrm>
          <a:prstGeom prst="rect">
            <a:avLst/>
          </a:prstGeom>
          <a:solidFill>
            <a:srgbClr val="DAD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3"/>
          <p:cNvSpPr/>
          <p:nvPr/>
        </p:nvSpPr>
        <p:spPr>
          <a:xfrm>
            <a:off x="1364382" y="3174132"/>
            <a:ext cx="9807104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2025"/>
              <a:buFont typeface="JetBrains Mono"/>
              <a:buNone/>
            </a:pPr>
            <a:r>
              <a:rPr b="0" i="0" lang="en-US" sz="2025" u="none" cap="none" strike="noStrike">
                <a:solidFill>
                  <a:srgbClr val="7874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Qwen/</a:t>
            </a:r>
            <a:r>
              <a:rPr b="1" i="0" lang="en-US" sz="2025" u="none" cap="none" strike="noStrike">
                <a:solidFill>
                  <a:srgbClr val="274D7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Qwen2.5-7B-Instruct-AWQ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3"/>
          <p:cNvSpPr/>
          <p:nvPr/>
        </p:nvSpPr>
        <p:spPr>
          <a:xfrm>
            <a:off x="1364382" y="3640708"/>
            <a:ext cx="1889001" cy="369094"/>
          </a:xfrm>
          <a:prstGeom prst="roundRect">
            <a:avLst>
              <a:gd fmla="val 20645" name="adj"/>
            </a:avLst>
          </a:prstGeom>
          <a:solidFill>
            <a:srgbClr val="035595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3"/>
          <p:cNvSpPr/>
          <p:nvPr/>
        </p:nvSpPr>
        <p:spPr>
          <a:xfrm>
            <a:off x="1497732" y="3688333"/>
            <a:ext cx="1698501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800"/>
              <a:buFont typeface="Gabarito"/>
              <a:buNone/>
            </a:pPr>
            <a:r>
              <a:rPr b="1" i="0" lang="en-US" sz="1800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Text Generation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3"/>
          <p:cNvSpPr/>
          <p:nvPr/>
        </p:nvSpPr>
        <p:spPr>
          <a:xfrm>
            <a:off x="3386584" y="3640708"/>
            <a:ext cx="1446051" cy="369094"/>
          </a:xfrm>
          <a:prstGeom prst="roundRect">
            <a:avLst>
              <a:gd fmla="val 20645" name="adj"/>
            </a:avLst>
          </a:prstGeom>
          <a:solidFill>
            <a:srgbClr val="035595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3"/>
          <p:cNvSpPr/>
          <p:nvPr/>
        </p:nvSpPr>
        <p:spPr>
          <a:xfrm>
            <a:off x="3519934" y="3688333"/>
            <a:ext cx="1255551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800"/>
              <a:buFont typeface="Gabarito"/>
              <a:buNone/>
            </a:pPr>
            <a:r>
              <a:rPr b="1" i="0" lang="en-US" sz="1800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Safetensors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3"/>
          <p:cNvSpPr/>
          <p:nvPr/>
        </p:nvSpPr>
        <p:spPr>
          <a:xfrm>
            <a:off x="4965836" y="3640708"/>
            <a:ext cx="794742" cy="369094"/>
          </a:xfrm>
          <a:prstGeom prst="roundRect">
            <a:avLst>
              <a:gd fmla="val 20645" name="adj"/>
            </a:avLst>
          </a:prstGeom>
          <a:solidFill>
            <a:srgbClr val="035595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3"/>
          <p:cNvSpPr/>
          <p:nvPr/>
        </p:nvSpPr>
        <p:spPr>
          <a:xfrm>
            <a:off x="5099186" y="3688333"/>
            <a:ext cx="604242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800"/>
              <a:buFont typeface="Gabarito"/>
              <a:buNone/>
            </a:pPr>
            <a:r>
              <a:rPr b="1" i="0" lang="en-US" sz="1800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AWQ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3"/>
          <p:cNvSpPr/>
          <p:nvPr/>
        </p:nvSpPr>
        <p:spPr>
          <a:xfrm>
            <a:off x="5893780" y="3640708"/>
            <a:ext cx="1369033" cy="369094"/>
          </a:xfrm>
          <a:prstGeom prst="roundRect">
            <a:avLst>
              <a:gd fmla="val 20645" name="adj"/>
            </a:avLst>
          </a:prstGeom>
          <a:solidFill>
            <a:srgbClr val="035595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3"/>
          <p:cNvSpPr/>
          <p:nvPr/>
        </p:nvSpPr>
        <p:spPr>
          <a:xfrm>
            <a:off x="6027130" y="3688333"/>
            <a:ext cx="1178533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800"/>
              <a:buFont typeface="Gabarito"/>
              <a:buNone/>
            </a:pPr>
            <a:r>
              <a:rPr b="1" i="0" lang="en-US" sz="1800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apache-2.0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3"/>
          <p:cNvSpPr/>
          <p:nvPr/>
        </p:nvSpPr>
        <p:spPr>
          <a:xfrm>
            <a:off x="1059656" y="5192985"/>
            <a:ext cx="9525000" cy="11906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3"/>
          <p:cNvSpPr/>
          <p:nvPr/>
        </p:nvSpPr>
        <p:spPr>
          <a:xfrm>
            <a:off x="5816203" y="4231184"/>
            <a:ext cx="11906" cy="961802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3"/>
          <p:cNvSpPr/>
          <p:nvPr/>
        </p:nvSpPr>
        <p:spPr>
          <a:xfrm>
            <a:off x="1364382" y="4402522"/>
            <a:ext cx="4561805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Downloads last month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3"/>
          <p:cNvSpPr/>
          <p:nvPr/>
        </p:nvSpPr>
        <p:spPr>
          <a:xfrm>
            <a:off x="1364382" y="4676366"/>
            <a:ext cx="4561805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1,204,332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3"/>
          <p:cNvSpPr/>
          <p:nvPr/>
        </p:nvSpPr>
        <p:spPr>
          <a:xfrm>
            <a:off x="6132835" y="4402522"/>
            <a:ext cx="4561805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Likes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3"/>
          <p:cNvSpPr/>
          <p:nvPr/>
        </p:nvSpPr>
        <p:spPr>
          <a:xfrm>
            <a:off x="6132835" y="4676366"/>
            <a:ext cx="4561805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2,891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3"/>
          <p:cNvSpPr/>
          <p:nvPr/>
        </p:nvSpPr>
        <p:spPr>
          <a:xfrm>
            <a:off x="1059656" y="6171530"/>
            <a:ext cx="9525000" cy="11906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3"/>
          <p:cNvSpPr/>
          <p:nvPr/>
        </p:nvSpPr>
        <p:spPr>
          <a:xfrm>
            <a:off x="1364382" y="5395392"/>
            <a:ext cx="98070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800"/>
              <a:buFont typeface="Gabarito"/>
              <a:buNone/>
            </a:pPr>
            <a:r>
              <a:rPr b="1" i="0" lang="en-US" sz="18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Model card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3"/>
          <p:cNvSpPr/>
          <p:nvPr/>
        </p:nvSpPr>
        <p:spPr>
          <a:xfrm>
            <a:off x="1364382" y="5707187"/>
            <a:ext cx="98070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Intended use · training data · benchmarks · known limitations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3"/>
          <p:cNvSpPr/>
          <p:nvPr/>
        </p:nvSpPr>
        <p:spPr>
          <a:xfrm>
            <a:off x="1364382" y="6373937"/>
            <a:ext cx="98070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800"/>
              <a:buFont typeface="Gabarito"/>
              <a:buNone/>
            </a:pPr>
            <a:r>
              <a:rPr b="1" i="0" lang="en-US" sz="18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Files and versions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3"/>
          <p:cNvSpPr/>
          <p:nvPr/>
        </p:nvSpPr>
        <p:spPr>
          <a:xfrm>
            <a:off x="1364382" y="6704893"/>
            <a:ext cx="9807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7874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model-00001-of-00002.safetensors · config.json · tokenizer.json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3"/>
          <p:cNvSpPr/>
          <p:nvPr/>
        </p:nvSpPr>
        <p:spPr>
          <a:xfrm>
            <a:off x="11049000" y="2952750"/>
            <a:ext cx="6191400" cy="735600"/>
          </a:xfrm>
          <a:prstGeom prst="roundRect">
            <a:avLst>
              <a:gd fmla="val 14681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23"/>
          <p:cNvSpPr/>
          <p:nvPr/>
        </p:nvSpPr>
        <p:spPr>
          <a:xfrm>
            <a:off x="11346650" y="3174203"/>
            <a:ext cx="57816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950"/>
              <a:buFont typeface="Gabarito"/>
              <a:buNone/>
            </a:pPr>
            <a:r>
              <a:rPr b="1" lang="en-US" sz="1950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Publisher </a:t>
            </a:r>
            <a:r>
              <a:rPr b="0" i="0" lang="en-US" sz="195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— </a:t>
            </a:r>
            <a:r>
              <a:rPr lang="en-US" sz="195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Who created or uploaded the model?</a:t>
            </a:r>
            <a:endParaRPr sz="1950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950"/>
              <a:buFont typeface="Gabarito"/>
              <a:buNone/>
            </a:pPr>
            <a:r>
              <a:t/>
            </a:r>
            <a:endParaRPr sz="1950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698" name="Google Shape;698;p23"/>
          <p:cNvSpPr/>
          <p:nvPr/>
        </p:nvSpPr>
        <p:spPr>
          <a:xfrm>
            <a:off x="11049000" y="5197876"/>
            <a:ext cx="6191400" cy="1038000"/>
          </a:xfrm>
          <a:prstGeom prst="roundRect">
            <a:avLst>
              <a:gd fmla="val 14681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3"/>
          <p:cNvSpPr/>
          <p:nvPr/>
        </p:nvSpPr>
        <p:spPr>
          <a:xfrm>
            <a:off x="11346656" y="5419332"/>
            <a:ext cx="5781600" cy="6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Downloads &amp; likes </a:t>
            </a:r>
            <a:r>
              <a:rPr b="0" i="0" lang="en-US" sz="195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—</a:t>
            </a:r>
            <a:r>
              <a:rPr lang="en-US" sz="195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  Useful signals of popularity, not model quality. </a:t>
            </a:r>
            <a:endParaRPr sz="1950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700" name="Google Shape;700;p23"/>
          <p:cNvSpPr/>
          <p:nvPr/>
        </p:nvSpPr>
        <p:spPr>
          <a:xfrm>
            <a:off x="11049000" y="6416975"/>
            <a:ext cx="6191400" cy="799800"/>
          </a:xfrm>
          <a:prstGeom prst="roundRect">
            <a:avLst>
              <a:gd fmla="val 14681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23"/>
          <p:cNvSpPr/>
          <p:nvPr/>
        </p:nvSpPr>
        <p:spPr>
          <a:xfrm>
            <a:off x="11346656" y="6638434"/>
            <a:ext cx="5781600" cy="6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File</a:t>
            </a:r>
            <a:r>
              <a:rPr b="1" lang="en-US" sz="1950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s</a:t>
            </a:r>
            <a:r>
              <a:rPr b="1" i="0" lang="en-US" sz="1950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 </a:t>
            </a:r>
            <a:r>
              <a:rPr b="0" i="0" lang="en-US" sz="195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— </a:t>
            </a:r>
            <a:r>
              <a:rPr lang="en-US" sz="195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Check the actual model format and size.</a:t>
            </a:r>
            <a:endParaRPr sz="1950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950"/>
              <a:buFont typeface="Gabarito"/>
              <a:buNone/>
            </a:pPr>
            <a:r>
              <a:t/>
            </a:r>
            <a:endParaRPr sz="1950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950"/>
              <a:buFont typeface="Gabarito"/>
              <a:buNone/>
            </a:pPr>
            <a:r>
              <a:t/>
            </a:r>
            <a:endParaRPr sz="1950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702" name="Google Shape;702;p23"/>
          <p:cNvSpPr/>
          <p:nvPr/>
        </p:nvSpPr>
        <p:spPr>
          <a:xfrm>
            <a:off x="11049000" y="7397879"/>
            <a:ext cx="6191400" cy="1038000"/>
          </a:xfrm>
          <a:prstGeom prst="roundRect">
            <a:avLst>
              <a:gd fmla="val 14681" name="adj"/>
            </a:avLst>
          </a:prstGeom>
          <a:solidFill>
            <a:srgbClr val="C15F3C">
              <a:alpha val="3922"/>
            </a:srgbClr>
          </a:solidFill>
          <a:ln cap="flat" cmpd="sng" w="11900">
            <a:solidFill>
              <a:srgbClr val="C15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23"/>
          <p:cNvSpPr/>
          <p:nvPr/>
        </p:nvSpPr>
        <p:spPr>
          <a:xfrm>
            <a:off x="11346656" y="7619335"/>
            <a:ext cx="5781600" cy="6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5F3C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C15F3C"/>
                </a:solidFill>
                <a:latin typeface="Gabarito"/>
                <a:ea typeface="Gabarito"/>
                <a:cs typeface="Gabarito"/>
                <a:sym typeface="Gabarito"/>
              </a:rPr>
              <a:t>License first. </a:t>
            </a:r>
            <a:r>
              <a:rPr b="0" i="0" lang="en-US" sz="195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Apache/MIT = free to use; Llama licenses restrict; some are research-only.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3"/>
          <p:cNvSpPr/>
          <p:nvPr/>
        </p:nvSpPr>
        <p:spPr>
          <a:xfrm>
            <a:off x="11049000" y="3857425"/>
            <a:ext cx="6191400" cy="1202400"/>
          </a:xfrm>
          <a:prstGeom prst="roundRect">
            <a:avLst>
              <a:gd fmla="val 14681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3"/>
          <p:cNvSpPr/>
          <p:nvPr/>
        </p:nvSpPr>
        <p:spPr>
          <a:xfrm>
            <a:off x="11346650" y="4078878"/>
            <a:ext cx="57816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950"/>
              <a:buFont typeface="Gabarito"/>
              <a:buNone/>
            </a:pPr>
            <a:r>
              <a:rPr b="1" lang="en-US" sz="1950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Inference Provider </a:t>
            </a:r>
            <a:r>
              <a:rPr b="0" i="0" lang="en-US" sz="195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— </a:t>
            </a:r>
            <a:r>
              <a:rPr lang="en-US" sz="195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Who runs the model for inference?</a:t>
            </a:r>
            <a:endParaRPr sz="1950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950"/>
              <a:buFont typeface="Gabarito"/>
              <a:buNone/>
            </a:pPr>
            <a:r>
              <a:t/>
            </a:r>
            <a:endParaRPr sz="1950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950"/>
              <a:buFont typeface="Gabarito"/>
              <a:buNone/>
            </a:pPr>
            <a:r>
              <a:t/>
            </a:r>
            <a:endParaRPr sz="1950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11" name="Google Shape;71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20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24"/>
          <p:cNvSpPr/>
          <p:nvPr/>
        </p:nvSpPr>
        <p:spPr>
          <a:xfrm>
            <a:off x="1047750" y="914363"/>
            <a:ext cx="1158553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Concept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4"/>
          <p:cNvSpPr/>
          <p:nvPr/>
        </p:nvSpPr>
        <p:spPr>
          <a:xfrm>
            <a:off x="1047750" y="1390625"/>
            <a:ext cx="122856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lang="en-US" sz="6600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Understandi</a:t>
            </a: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ng Model Names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4"/>
          <p:cNvSpPr/>
          <p:nvPr/>
        </p:nvSpPr>
        <p:spPr>
          <a:xfrm>
            <a:off x="1047750" y="2667000"/>
            <a:ext cx="13318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75"/>
              <a:buFont typeface="Gabarito"/>
              <a:buNone/>
            </a:pPr>
            <a:r>
              <a:rPr lang="en-US" sz="2800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A model name tells you</a:t>
            </a:r>
            <a:r>
              <a:rPr b="1" lang="en-US" sz="2800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 important information </a:t>
            </a:r>
            <a:r>
              <a:rPr lang="en-US" sz="2800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about the model.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4"/>
          <p:cNvSpPr/>
          <p:nvPr/>
        </p:nvSpPr>
        <p:spPr>
          <a:xfrm>
            <a:off x="1047750" y="3810000"/>
            <a:ext cx="4825566" cy="895201"/>
          </a:xfrm>
          <a:custGeom>
            <a:rect b="b" l="l" r="r" t="t"/>
            <a:pathLst>
              <a:path extrusionOk="0" h="895201" w="4825566">
                <a:moveTo>
                  <a:pt x="133350" y="0"/>
                </a:moveTo>
                <a:lnTo>
                  <a:pt x="4692216" y="0"/>
                </a:lnTo>
                <a:cubicBezTo>
                  <a:pt x="4727583" y="0"/>
                  <a:pt x="4761501" y="14049"/>
                  <a:pt x="4786509" y="39057"/>
                </a:cubicBezTo>
                <a:cubicBezTo>
                  <a:pt x="4811517" y="64065"/>
                  <a:pt x="4825566" y="97983"/>
                  <a:pt x="4825566" y="133350"/>
                </a:cubicBezTo>
                <a:lnTo>
                  <a:pt x="4825566" y="895201"/>
                </a:lnTo>
                <a:lnTo>
                  <a:pt x="0" y="895201"/>
                </a:ln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0355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16" name="Google Shape;716;p24"/>
          <p:cNvSpPr/>
          <p:nvPr/>
        </p:nvSpPr>
        <p:spPr>
          <a:xfrm>
            <a:off x="1070617" y="4019550"/>
            <a:ext cx="4779833" cy="5142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JetBrains Mono"/>
              <a:buNone/>
            </a:pPr>
            <a:r>
              <a:rPr b="1" i="0" lang="en-US" sz="30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Qwen2.5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4"/>
          <p:cNvSpPr/>
          <p:nvPr/>
        </p:nvSpPr>
        <p:spPr>
          <a:xfrm>
            <a:off x="1047750" y="6806166"/>
            <a:ext cx="4825500" cy="18300"/>
          </a:xfrm>
          <a:prstGeom prst="rect">
            <a:avLst/>
          </a:prstGeom>
          <a:solidFill>
            <a:srgbClr val="0355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18" name="Google Shape;718;p24"/>
          <p:cNvSpPr/>
          <p:nvPr/>
        </p:nvSpPr>
        <p:spPr>
          <a:xfrm>
            <a:off x="1047750" y="4705199"/>
            <a:ext cx="12000" cy="2119200"/>
          </a:xfrm>
          <a:prstGeom prst="rect">
            <a:avLst/>
          </a:prstGeom>
          <a:solidFill>
            <a:srgbClr val="0355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19" name="Google Shape;719;p24"/>
          <p:cNvSpPr/>
          <p:nvPr/>
        </p:nvSpPr>
        <p:spPr>
          <a:xfrm>
            <a:off x="5861411" y="4705199"/>
            <a:ext cx="12000" cy="2119200"/>
          </a:xfrm>
          <a:prstGeom prst="rect">
            <a:avLst/>
          </a:prstGeom>
          <a:solidFill>
            <a:srgbClr val="0355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20" name="Google Shape;720;p24"/>
          <p:cNvSpPr/>
          <p:nvPr/>
        </p:nvSpPr>
        <p:spPr>
          <a:xfrm>
            <a:off x="1269132" y="4996913"/>
            <a:ext cx="4821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950"/>
              <a:buFont typeface="Gabarito"/>
              <a:buNone/>
            </a:pPr>
            <a:r>
              <a:rPr b="1" i="0" lang="en-US" sz="2450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Family + version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4"/>
          <p:cNvSpPr/>
          <p:nvPr/>
        </p:nvSpPr>
        <p:spPr>
          <a:xfrm>
            <a:off x="1269125" y="5456225"/>
            <a:ext cx="4386900" cy="10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696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Font typeface="Gabarito"/>
              <a:buNone/>
            </a:pPr>
            <a:r>
              <a:rPr lang="en-US" sz="230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Identifies the model architecture or family and its specific release generation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4"/>
          <p:cNvSpPr/>
          <p:nvPr/>
        </p:nvSpPr>
        <p:spPr>
          <a:xfrm>
            <a:off x="6006517" y="3810000"/>
            <a:ext cx="3070882" cy="895201"/>
          </a:xfrm>
          <a:custGeom>
            <a:rect b="b" l="l" r="r" t="t"/>
            <a:pathLst>
              <a:path extrusionOk="0" h="895201" w="3070882">
                <a:moveTo>
                  <a:pt x="133350" y="0"/>
                </a:moveTo>
                <a:lnTo>
                  <a:pt x="2937532" y="0"/>
                </a:lnTo>
                <a:cubicBezTo>
                  <a:pt x="2972899" y="0"/>
                  <a:pt x="3006817" y="14049"/>
                  <a:pt x="3031825" y="39057"/>
                </a:cubicBezTo>
                <a:cubicBezTo>
                  <a:pt x="3056833" y="64065"/>
                  <a:pt x="3070882" y="97983"/>
                  <a:pt x="3070882" y="133350"/>
                </a:cubicBezTo>
                <a:lnTo>
                  <a:pt x="3070882" y="895201"/>
                </a:lnTo>
                <a:lnTo>
                  <a:pt x="0" y="895201"/>
                </a:ln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6E7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23" name="Google Shape;723;p24"/>
          <p:cNvSpPr/>
          <p:nvPr/>
        </p:nvSpPr>
        <p:spPr>
          <a:xfrm>
            <a:off x="6055704" y="4019550"/>
            <a:ext cx="2972509" cy="5142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JetBrains Mono"/>
              <a:buNone/>
            </a:pPr>
            <a:r>
              <a:rPr b="1" i="0" lang="en-US" sz="30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7B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4"/>
          <p:cNvSpPr/>
          <p:nvPr/>
        </p:nvSpPr>
        <p:spPr>
          <a:xfrm>
            <a:off x="6006518" y="6806166"/>
            <a:ext cx="3070800" cy="18300"/>
          </a:xfrm>
          <a:prstGeom prst="rect">
            <a:avLst/>
          </a:prstGeom>
          <a:solidFill>
            <a:srgbClr val="6E7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25" name="Google Shape;725;p24"/>
          <p:cNvSpPr/>
          <p:nvPr/>
        </p:nvSpPr>
        <p:spPr>
          <a:xfrm>
            <a:off x="6006518" y="4705199"/>
            <a:ext cx="12000" cy="2119200"/>
          </a:xfrm>
          <a:prstGeom prst="rect">
            <a:avLst/>
          </a:prstGeom>
          <a:solidFill>
            <a:srgbClr val="6E7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26" name="Google Shape;726;p24"/>
          <p:cNvSpPr/>
          <p:nvPr/>
        </p:nvSpPr>
        <p:spPr>
          <a:xfrm>
            <a:off x="9065494" y="4705199"/>
            <a:ext cx="12000" cy="2119200"/>
          </a:xfrm>
          <a:prstGeom prst="rect">
            <a:avLst/>
          </a:prstGeom>
          <a:solidFill>
            <a:srgbClr val="6E7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27" name="Google Shape;727;p24"/>
          <p:cNvSpPr/>
          <p:nvPr/>
        </p:nvSpPr>
        <p:spPr>
          <a:xfrm>
            <a:off x="6227900" y="4996913"/>
            <a:ext cx="2890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1950"/>
              <a:buFont typeface="Gabarito"/>
              <a:buNone/>
            </a:pPr>
            <a:r>
              <a:rPr b="1" i="0" lang="en-US" sz="2450" u="none" cap="none" strike="noStrike">
                <a:solidFill>
                  <a:srgbClr val="4C5A33"/>
                </a:solidFill>
                <a:latin typeface="Gabarito"/>
                <a:ea typeface="Gabarito"/>
                <a:cs typeface="Gabarito"/>
                <a:sym typeface="Gabarito"/>
              </a:rPr>
              <a:t>Parameters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4"/>
          <p:cNvSpPr/>
          <p:nvPr/>
        </p:nvSpPr>
        <p:spPr>
          <a:xfrm>
            <a:off x="6227900" y="5456223"/>
            <a:ext cx="2706900" cy="10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696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Font typeface="Gabarito"/>
              <a:buNone/>
            </a:pPr>
            <a:r>
              <a:rPr lang="en-US" sz="230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Model size — about 7 billion parameters 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4"/>
          <p:cNvSpPr/>
          <p:nvPr/>
        </p:nvSpPr>
        <p:spPr>
          <a:xfrm>
            <a:off x="9210601" y="3810000"/>
            <a:ext cx="4386895" cy="895201"/>
          </a:xfrm>
          <a:custGeom>
            <a:rect b="b" l="l" r="r" t="t"/>
            <a:pathLst>
              <a:path extrusionOk="0" h="895201" w="4386895">
                <a:moveTo>
                  <a:pt x="133350" y="0"/>
                </a:moveTo>
                <a:lnTo>
                  <a:pt x="4253545" y="0"/>
                </a:lnTo>
                <a:cubicBezTo>
                  <a:pt x="4288912" y="0"/>
                  <a:pt x="4322830" y="14049"/>
                  <a:pt x="4347838" y="39057"/>
                </a:cubicBezTo>
                <a:cubicBezTo>
                  <a:pt x="4372846" y="64065"/>
                  <a:pt x="4386895" y="97983"/>
                  <a:pt x="4386895" y="133350"/>
                </a:cubicBezTo>
                <a:lnTo>
                  <a:pt x="4386895" y="895201"/>
                </a:lnTo>
                <a:lnTo>
                  <a:pt x="0" y="895201"/>
                </a:ln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30" name="Google Shape;730;p24"/>
          <p:cNvSpPr/>
          <p:nvPr/>
        </p:nvSpPr>
        <p:spPr>
          <a:xfrm>
            <a:off x="9240047" y="4019550"/>
            <a:ext cx="4328002" cy="5142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JetBrains Mono"/>
              <a:buNone/>
            </a:pPr>
            <a:r>
              <a:rPr b="1" i="0" lang="en-US" sz="30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Instruct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4"/>
          <p:cNvSpPr/>
          <p:nvPr/>
        </p:nvSpPr>
        <p:spPr>
          <a:xfrm>
            <a:off x="9210602" y="6806166"/>
            <a:ext cx="4386900" cy="183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32" name="Google Shape;732;p24"/>
          <p:cNvSpPr/>
          <p:nvPr/>
        </p:nvSpPr>
        <p:spPr>
          <a:xfrm>
            <a:off x="9210602" y="4705199"/>
            <a:ext cx="12000" cy="2119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33" name="Google Shape;733;p24"/>
          <p:cNvSpPr/>
          <p:nvPr/>
        </p:nvSpPr>
        <p:spPr>
          <a:xfrm>
            <a:off x="13585591" y="4705199"/>
            <a:ext cx="12000" cy="2119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34" name="Google Shape;734;p24"/>
          <p:cNvSpPr/>
          <p:nvPr/>
        </p:nvSpPr>
        <p:spPr>
          <a:xfrm>
            <a:off x="9431983" y="4996913"/>
            <a:ext cx="43386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D00"/>
              </a:buClr>
              <a:buSzPts val="1950"/>
              <a:buFont typeface="Gabarito"/>
              <a:buNone/>
            </a:pPr>
            <a:r>
              <a:rPr b="1" i="0" lang="en-US" sz="2450" u="none" cap="none" strike="noStrike">
                <a:solidFill>
                  <a:srgbClr val="D97D00"/>
                </a:solidFill>
                <a:latin typeface="Gabarito"/>
                <a:ea typeface="Gabarito"/>
                <a:cs typeface="Gabarito"/>
                <a:sym typeface="Gabarito"/>
              </a:rPr>
              <a:t>Variant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4"/>
          <p:cNvSpPr/>
          <p:nvPr/>
        </p:nvSpPr>
        <p:spPr>
          <a:xfrm>
            <a:off x="9431974" y="5456225"/>
            <a:ext cx="4338600" cy="10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696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Font typeface="Gabarito"/>
              <a:buNone/>
            </a:pPr>
            <a:r>
              <a:rPr lang="en-US" sz="230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Fine-tuned to follow user instructions and handle conversations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4"/>
          <p:cNvSpPr/>
          <p:nvPr/>
        </p:nvSpPr>
        <p:spPr>
          <a:xfrm>
            <a:off x="13730697" y="3810000"/>
            <a:ext cx="3509553" cy="895201"/>
          </a:xfrm>
          <a:custGeom>
            <a:rect b="b" l="l" r="r" t="t"/>
            <a:pathLst>
              <a:path extrusionOk="0" h="895201" w="3509553">
                <a:moveTo>
                  <a:pt x="133350" y="0"/>
                </a:moveTo>
                <a:lnTo>
                  <a:pt x="3376203" y="0"/>
                </a:lnTo>
                <a:cubicBezTo>
                  <a:pt x="3411570" y="0"/>
                  <a:pt x="3445488" y="14049"/>
                  <a:pt x="3470496" y="39057"/>
                </a:cubicBezTo>
                <a:cubicBezTo>
                  <a:pt x="3495504" y="64065"/>
                  <a:pt x="3509553" y="97983"/>
                  <a:pt x="3509553" y="133350"/>
                </a:cubicBezTo>
                <a:lnTo>
                  <a:pt x="3509553" y="895201"/>
                </a:lnTo>
                <a:lnTo>
                  <a:pt x="0" y="895201"/>
                </a:ln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5E7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37" name="Google Shape;737;p24"/>
          <p:cNvSpPr/>
          <p:nvPr/>
        </p:nvSpPr>
        <p:spPr>
          <a:xfrm>
            <a:off x="13773303" y="4019550"/>
            <a:ext cx="3424340" cy="5142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JetBrains Mono"/>
              <a:buNone/>
            </a:pPr>
            <a:r>
              <a:rPr b="1" i="0" lang="en-US" sz="30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AWQ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4"/>
          <p:cNvSpPr/>
          <p:nvPr/>
        </p:nvSpPr>
        <p:spPr>
          <a:xfrm>
            <a:off x="13730699" y="6806166"/>
            <a:ext cx="3509700" cy="18300"/>
          </a:xfrm>
          <a:prstGeom prst="rect">
            <a:avLst/>
          </a:prstGeom>
          <a:solidFill>
            <a:srgbClr val="5E7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39" name="Google Shape;739;p24"/>
          <p:cNvSpPr/>
          <p:nvPr/>
        </p:nvSpPr>
        <p:spPr>
          <a:xfrm>
            <a:off x="13730699" y="4705199"/>
            <a:ext cx="12000" cy="2119200"/>
          </a:xfrm>
          <a:prstGeom prst="rect">
            <a:avLst/>
          </a:prstGeom>
          <a:solidFill>
            <a:srgbClr val="5E7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40" name="Google Shape;740;p24"/>
          <p:cNvSpPr/>
          <p:nvPr/>
        </p:nvSpPr>
        <p:spPr>
          <a:xfrm>
            <a:off x="17228346" y="4705199"/>
            <a:ext cx="12000" cy="2119200"/>
          </a:xfrm>
          <a:prstGeom prst="rect">
            <a:avLst/>
          </a:prstGeom>
          <a:solidFill>
            <a:srgbClr val="5E7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41" name="Google Shape;741;p24"/>
          <p:cNvSpPr/>
          <p:nvPr/>
        </p:nvSpPr>
        <p:spPr>
          <a:xfrm>
            <a:off x="13952081" y="4996913"/>
            <a:ext cx="33735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5364"/>
              </a:buClr>
              <a:buSzPts val="1950"/>
              <a:buFont typeface="Gabarito"/>
              <a:buNone/>
            </a:pPr>
            <a:r>
              <a:rPr b="1" i="0" lang="en-US" sz="2450" u="none" cap="none" strike="noStrike">
                <a:solidFill>
                  <a:srgbClr val="3F5364"/>
                </a:solidFill>
                <a:latin typeface="Gabarito"/>
                <a:ea typeface="Gabarito"/>
                <a:cs typeface="Gabarito"/>
                <a:sym typeface="Gabarito"/>
              </a:rPr>
              <a:t>Quantization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4"/>
          <p:cNvSpPr/>
          <p:nvPr/>
        </p:nvSpPr>
        <p:spPr>
          <a:xfrm>
            <a:off x="13952081" y="5456223"/>
            <a:ext cx="3158700" cy="10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696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Font typeface="Gabarito"/>
              <a:buNone/>
            </a:pPr>
            <a:r>
              <a:rPr lang="en-US" sz="230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Reduces model memory while maintaining good accuracy. 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48" name="Google Shape;74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20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25"/>
          <p:cNvSpPr/>
          <p:nvPr/>
        </p:nvSpPr>
        <p:spPr>
          <a:xfrm>
            <a:off x="1047750" y="914363"/>
            <a:ext cx="1158553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Concept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5"/>
          <p:cNvSpPr/>
          <p:nvPr/>
        </p:nvSpPr>
        <p:spPr>
          <a:xfrm>
            <a:off x="1047750" y="1390613"/>
            <a:ext cx="6095367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Model Variants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5"/>
          <p:cNvSpPr/>
          <p:nvPr/>
        </p:nvSpPr>
        <p:spPr>
          <a:xfrm>
            <a:off x="1047750" y="2610838"/>
            <a:ext cx="16764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75"/>
              <a:buFont typeface="Gabarito"/>
              <a:buNone/>
            </a:pPr>
            <a:r>
              <a:rPr lang="en-US" sz="2475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Same model family, different versions — the name tells you what the model is designed for.  </a:t>
            </a:r>
            <a:endParaRPr sz="2475">
              <a:solidFill>
                <a:srgbClr val="212121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752" name="Google Shape;752;p25"/>
          <p:cNvSpPr/>
          <p:nvPr/>
        </p:nvSpPr>
        <p:spPr>
          <a:xfrm>
            <a:off x="1047750" y="3842226"/>
            <a:ext cx="5257800" cy="2145600"/>
          </a:xfrm>
          <a:prstGeom prst="roundRect">
            <a:avLst>
              <a:gd fmla="val 7683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25"/>
          <p:cNvSpPr/>
          <p:nvPr/>
        </p:nvSpPr>
        <p:spPr>
          <a:xfrm>
            <a:off x="1345406" y="4101732"/>
            <a:ext cx="51288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2175"/>
              <a:buFont typeface="JetBrains Mono"/>
              <a:buNone/>
            </a:pPr>
            <a:r>
              <a:rPr b="1" i="0" lang="en-US" sz="2175" u="none" cap="none" strike="noStrike">
                <a:solidFill>
                  <a:srgbClr val="03559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Base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5"/>
          <p:cNvSpPr/>
          <p:nvPr/>
        </p:nvSpPr>
        <p:spPr>
          <a:xfrm>
            <a:off x="1345406" y="4566076"/>
            <a:ext cx="48024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7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General-purpose model for completing text.</a:t>
            </a:r>
            <a:endParaRPr sz="1875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75"/>
              <a:buFont typeface="Gabarito"/>
              <a:buNone/>
            </a:pPr>
            <a:r>
              <a:rPr lang="en-US" sz="187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Good for fine-tuning. </a:t>
            </a:r>
            <a:endParaRPr sz="1875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755" name="Google Shape;755;p25"/>
          <p:cNvSpPr/>
          <p:nvPr/>
        </p:nvSpPr>
        <p:spPr>
          <a:xfrm>
            <a:off x="6514950" y="3842226"/>
            <a:ext cx="5257800" cy="2145600"/>
          </a:xfrm>
          <a:prstGeom prst="roundRect">
            <a:avLst>
              <a:gd fmla="val 7683" name="adj"/>
            </a:avLst>
          </a:prstGeom>
          <a:solidFill>
            <a:srgbClr val="FF9900">
              <a:alpha val="3922"/>
            </a:srgbClr>
          </a:solidFill>
          <a:ln cap="flat" cmpd="sng" w="119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25"/>
          <p:cNvSpPr/>
          <p:nvPr/>
        </p:nvSpPr>
        <p:spPr>
          <a:xfrm>
            <a:off x="6812594" y="4101725"/>
            <a:ext cx="27762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D00"/>
              </a:buClr>
              <a:buSzPts val="2175"/>
              <a:buFont typeface="JetBrains Mono"/>
              <a:buNone/>
            </a:pPr>
            <a:r>
              <a:rPr b="1" i="0" lang="en-US" sz="2175" u="none" cap="none" strike="noStrike">
                <a:solidFill>
                  <a:srgbClr val="D97D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Instruct/</a:t>
            </a:r>
            <a:r>
              <a:rPr b="1" lang="en-US" sz="2175">
                <a:solidFill>
                  <a:srgbClr val="D97D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Chat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5"/>
          <p:cNvSpPr/>
          <p:nvPr/>
        </p:nvSpPr>
        <p:spPr>
          <a:xfrm>
            <a:off x="9588722" y="4111413"/>
            <a:ext cx="1886400" cy="349800"/>
          </a:xfrm>
          <a:prstGeom prst="roundRect">
            <a:avLst>
              <a:gd fmla="val 21787" name="adj"/>
            </a:avLst>
          </a:prstGeom>
          <a:solidFill>
            <a:srgbClr val="FF9900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5"/>
          <p:cNvSpPr/>
          <p:nvPr/>
        </p:nvSpPr>
        <p:spPr>
          <a:xfrm>
            <a:off x="9525275" y="4149513"/>
            <a:ext cx="20133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D00"/>
              </a:buClr>
              <a:buSzPts val="1800"/>
              <a:buFont typeface="Gabarito"/>
              <a:buNone/>
            </a:pPr>
            <a:r>
              <a:rPr b="1" lang="en-US">
                <a:solidFill>
                  <a:srgbClr val="D97D00"/>
                </a:solidFill>
                <a:latin typeface="Gabarito"/>
                <a:ea typeface="Gabarito"/>
                <a:cs typeface="Gabarito"/>
                <a:sym typeface="Gabarito"/>
              </a:rPr>
              <a:t>COMMON CHOICE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5"/>
          <p:cNvSpPr/>
          <p:nvPr/>
        </p:nvSpPr>
        <p:spPr>
          <a:xfrm>
            <a:off x="6812607" y="4566076"/>
            <a:ext cx="48024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75"/>
              <a:buFont typeface="Gabarito"/>
              <a:buNone/>
            </a:pPr>
            <a:r>
              <a:rPr lang="en-US" sz="187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Trained to follow instructions and answer questions. Good default for chat and assistants. </a:t>
            </a:r>
            <a:endParaRPr sz="1875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760" name="Google Shape;760;p25"/>
          <p:cNvSpPr/>
          <p:nvPr/>
        </p:nvSpPr>
        <p:spPr>
          <a:xfrm>
            <a:off x="11982350" y="3842226"/>
            <a:ext cx="5257800" cy="2145600"/>
          </a:xfrm>
          <a:prstGeom prst="roundRect">
            <a:avLst>
              <a:gd fmla="val 7683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25"/>
          <p:cNvSpPr/>
          <p:nvPr/>
        </p:nvSpPr>
        <p:spPr>
          <a:xfrm>
            <a:off x="12279995" y="4101732"/>
            <a:ext cx="51288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2175"/>
              <a:buFont typeface="JetBrains Mono"/>
              <a:buNone/>
            </a:pPr>
            <a:r>
              <a:rPr b="1" lang="en-US" sz="2175">
                <a:solidFill>
                  <a:srgbClr val="03559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Math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5"/>
          <p:cNvSpPr/>
          <p:nvPr/>
        </p:nvSpPr>
        <p:spPr>
          <a:xfrm>
            <a:off x="12280000" y="4566075"/>
            <a:ext cx="4802400" cy="14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75"/>
              <a:buFont typeface="Gabarito"/>
              <a:buNone/>
            </a:pPr>
            <a:r>
              <a:rPr lang="en-US" sz="187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Built specifically for step-by-step mathematical reasoning, symbolic manipulation, and tool integration. </a:t>
            </a:r>
            <a:endParaRPr sz="1875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26"/>
          <p:cNvSpPr/>
          <p:nvPr/>
        </p:nvSpPr>
        <p:spPr>
          <a:xfrm>
            <a:off x="15734109" y="666750"/>
            <a:ext cx="1656755" cy="14097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0800"/>
              <a:buFont typeface="Gabarito"/>
              <a:buNone/>
            </a:pPr>
            <a:r>
              <a:rPr b="1" i="0" lang="en-US" sz="1080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05</a:t>
            </a:r>
            <a:endParaRPr b="0" i="0" sz="10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6"/>
          <p:cNvSpPr/>
          <p:nvPr/>
        </p:nvSpPr>
        <p:spPr>
          <a:xfrm>
            <a:off x="1266713" y="2857500"/>
            <a:ext cx="1905000" cy="1905000"/>
          </a:xfrm>
          <a:prstGeom prst="ellipse">
            <a:avLst/>
          </a:prstGeom>
          <a:solidFill>
            <a:srgbClr val="5E7488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0" name="Google Shape;77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2963" y="333375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26"/>
          <p:cNvSpPr/>
          <p:nvPr/>
        </p:nvSpPr>
        <p:spPr>
          <a:xfrm>
            <a:off x="1266713" y="5334000"/>
            <a:ext cx="14668500" cy="969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366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375"/>
              <a:buFont typeface="Gabarito"/>
              <a:buNone/>
            </a:pPr>
            <a:r>
              <a:rPr b="1" i="0" lang="en-US" sz="63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GGUF </a:t>
            </a:r>
            <a:r>
              <a:rPr b="1" i="0" lang="en-US" sz="63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vs Safetensors</a:t>
            </a:r>
            <a:endParaRPr b="0" i="0" sz="6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6"/>
          <p:cNvSpPr/>
          <p:nvPr/>
        </p:nvSpPr>
        <p:spPr>
          <a:xfrm>
            <a:off x="1266725" y="6423350"/>
            <a:ext cx="14668500" cy="11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3150"/>
              <a:buFont typeface="Gabarito"/>
              <a:buNone/>
            </a:pPr>
            <a:r>
              <a:rPr b="0" i="0" lang="en-US" sz="315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Understand the </a:t>
            </a:r>
            <a:r>
              <a:rPr lang="en-US" sz="3150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two common formats you will encounter when running models locally </a:t>
            </a:r>
            <a:r>
              <a:rPr b="1" lang="en-US" sz="3150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GGUF(GPT-Generated Unified Format)</a:t>
            </a:r>
            <a:r>
              <a:rPr lang="en-US" sz="3150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 and </a:t>
            </a:r>
            <a:r>
              <a:rPr b="1" lang="en-US" sz="3150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Safetensors</a:t>
            </a:r>
            <a:r>
              <a:rPr lang="en-US" sz="3150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.</a:t>
            </a:r>
            <a:endParaRPr sz="3150">
              <a:solidFill>
                <a:srgbClr val="78746A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3150"/>
              <a:buFont typeface="Gabarito"/>
              <a:buNone/>
            </a:pPr>
            <a:r>
              <a:t/>
            </a:r>
            <a:endParaRPr sz="3150">
              <a:solidFill>
                <a:srgbClr val="78746A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773" name="Google Shape;773;p26"/>
          <p:cNvSpPr/>
          <p:nvPr/>
        </p:nvSpPr>
        <p:spPr>
          <a:xfrm>
            <a:off x="1266713" y="9086701"/>
            <a:ext cx="990451" cy="9525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79" name="Google Shape;77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41522"/>
            <a:ext cx="18288002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27"/>
          <p:cNvSpPr/>
          <p:nvPr/>
        </p:nvSpPr>
        <p:spPr>
          <a:xfrm>
            <a:off x="1047750" y="914363"/>
            <a:ext cx="13701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Definition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7"/>
          <p:cNvSpPr/>
          <p:nvPr/>
        </p:nvSpPr>
        <p:spPr>
          <a:xfrm>
            <a:off x="1047750" y="1390613"/>
            <a:ext cx="107508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What Are Model Weights?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7"/>
          <p:cNvSpPr/>
          <p:nvPr/>
        </p:nvSpPr>
        <p:spPr>
          <a:xfrm>
            <a:off x="1047750" y="2533475"/>
            <a:ext cx="143919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27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550"/>
              <a:buFont typeface="Gabarito"/>
              <a:buNone/>
            </a:pPr>
            <a:r>
              <a:rPr b="0" i="0" lang="en-US" sz="2550" u="none" cap="none" strike="noStrike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Billions of numbers the model learned during training</a:t>
            </a:r>
            <a:r>
              <a:rPr lang="en-US" sz="2550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. </a:t>
            </a:r>
            <a:r>
              <a:rPr lang="en-US" sz="2550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GGUF </a:t>
            </a:r>
            <a:r>
              <a:rPr lang="en-US" sz="2550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/ Safetensors are file formats used to store those weights. 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3" name="Google Shape;78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02092" y="1922950"/>
            <a:ext cx="1066768" cy="1304066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27"/>
          <p:cNvSpPr/>
          <p:nvPr/>
        </p:nvSpPr>
        <p:spPr>
          <a:xfrm>
            <a:off x="7143751" y="3358889"/>
            <a:ext cx="4000500" cy="704700"/>
          </a:xfrm>
          <a:prstGeom prst="roundRect">
            <a:avLst>
              <a:gd fmla="val 18921" name="adj"/>
            </a:avLst>
          </a:prstGeom>
          <a:solidFill>
            <a:srgbClr val="FAF9F5"/>
          </a:solidFill>
          <a:ln cap="flat" cmpd="sng" w="10575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27"/>
          <p:cNvSpPr/>
          <p:nvPr/>
        </p:nvSpPr>
        <p:spPr>
          <a:xfrm>
            <a:off x="8739188" y="3473156"/>
            <a:ext cx="8856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800"/>
              <a:buFont typeface="Gabarito"/>
              <a:buNone/>
            </a:pPr>
            <a:r>
              <a:rPr b="1" i="0" lang="en-US" sz="18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Training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7"/>
          <p:cNvSpPr/>
          <p:nvPr/>
        </p:nvSpPr>
        <p:spPr>
          <a:xfrm>
            <a:off x="8282451" y="3748323"/>
            <a:ext cx="18954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350"/>
              <a:buFont typeface="Gabarito"/>
              <a:buNone/>
            </a:pPr>
            <a:r>
              <a:rPr b="0" i="0" lang="en-US" sz="135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model learns from data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7"/>
          <p:cNvSpPr/>
          <p:nvPr/>
        </p:nvSpPr>
        <p:spPr>
          <a:xfrm>
            <a:off x="7143751" y="4444673"/>
            <a:ext cx="4000500" cy="704700"/>
          </a:xfrm>
          <a:prstGeom prst="roundRect">
            <a:avLst>
              <a:gd fmla="val 18921" name="adj"/>
            </a:avLst>
          </a:prstGeom>
          <a:solidFill>
            <a:srgbClr val="6E7D4C">
              <a:alpha val="7840"/>
            </a:srgbClr>
          </a:solidFill>
          <a:ln cap="flat" cmpd="sng" w="10575">
            <a:solidFill>
              <a:srgbClr val="6E7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27"/>
          <p:cNvSpPr/>
          <p:nvPr/>
        </p:nvSpPr>
        <p:spPr>
          <a:xfrm>
            <a:off x="8284932" y="4558940"/>
            <a:ext cx="1889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1800"/>
              <a:buFont typeface="Gabarito"/>
              <a:buNone/>
            </a:pPr>
            <a:r>
              <a:rPr b="1" i="0" lang="en-US" sz="1800" u="none" cap="none" strike="noStrike">
                <a:solidFill>
                  <a:srgbClr val="4C5A33"/>
                </a:solidFill>
                <a:latin typeface="Gabarito"/>
                <a:ea typeface="Gabarito"/>
                <a:cs typeface="Gabarito"/>
                <a:sym typeface="Gabarito"/>
              </a:rPr>
              <a:t>Learned Weights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7"/>
          <p:cNvSpPr/>
          <p:nvPr/>
        </p:nvSpPr>
        <p:spPr>
          <a:xfrm>
            <a:off x="8436405" y="4834107"/>
            <a:ext cx="15564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350"/>
              <a:buFont typeface="Gabarito"/>
              <a:buNone/>
            </a:pPr>
            <a:r>
              <a:rPr b="0" i="0" lang="en-US" sz="135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billions of numbers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7"/>
          <p:cNvSpPr/>
          <p:nvPr/>
        </p:nvSpPr>
        <p:spPr>
          <a:xfrm>
            <a:off x="6096000" y="5530457"/>
            <a:ext cx="6096000" cy="609600"/>
          </a:xfrm>
          <a:prstGeom prst="roundRect">
            <a:avLst>
              <a:gd fmla="val 21877" name="adj"/>
            </a:avLst>
          </a:prstGeom>
          <a:solidFill>
            <a:srgbClr val="274D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27"/>
          <p:cNvSpPr/>
          <p:nvPr/>
        </p:nvSpPr>
        <p:spPr>
          <a:xfrm>
            <a:off x="7006001" y="5708224"/>
            <a:ext cx="47037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Gabarito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MODEL FILE — stored in different formats</a:t>
            </a:r>
            <a:endParaRPr b="0" i="0" sz="1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7"/>
          <p:cNvSpPr/>
          <p:nvPr/>
        </p:nvSpPr>
        <p:spPr>
          <a:xfrm>
            <a:off x="2381250" y="6940190"/>
            <a:ext cx="4572000" cy="685800"/>
          </a:xfrm>
          <a:prstGeom prst="roundRect">
            <a:avLst>
              <a:gd fmla="val 19445" name="adj"/>
            </a:avLst>
          </a:prstGeom>
          <a:solidFill>
            <a:srgbClr val="035595">
              <a:alpha val="7840"/>
            </a:srgbClr>
          </a:solidFill>
          <a:ln cap="flat" cmpd="sng" w="10575">
            <a:solidFill>
              <a:srgbClr val="0355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27"/>
          <p:cNvSpPr/>
          <p:nvPr/>
        </p:nvSpPr>
        <p:spPr>
          <a:xfrm>
            <a:off x="3972388" y="7118949"/>
            <a:ext cx="15288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2100"/>
              <a:buFont typeface="Gabarito"/>
              <a:buNone/>
            </a:pPr>
            <a:r>
              <a:rPr b="1" i="0" lang="en-US" sz="2100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Safetensors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7"/>
          <p:cNvSpPr/>
          <p:nvPr/>
        </p:nvSpPr>
        <p:spPr>
          <a:xfrm>
            <a:off x="11334750" y="6940190"/>
            <a:ext cx="4572000" cy="685800"/>
          </a:xfrm>
          <a:prstGeom prst="roundRect">
            <a:avLst>
              <a:gd fmla="val 19445" name="adj"/>
            </a:avLst>
          </a:prstGeom>
          <a:solidFill>
            <a:srgbClr val="FF9900">
              <a:alpha val="7840"/>
            </a:srgbClr>
          </a:solidFill>
          <a:ln cap="flat" cmpd="sng" w="10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7"/>
          <p:cNvSpPr/>
          <p:nvPr/>
        </p:nvSpPr>
        <p:spPr>
          <a:xfrm>
            <a:off x="13272658" y="7118949"/>
            <a:ext cx="7725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6B00"/>
              </a:buClr>
              <a:buSzPts val="2100"/>
              <a:buFont typeface="Gabarito"/>
              <a:buNone/>
            </a:pPr>
            <a:r>
              <a:rPr b="1" i="0" lang="en-US" sz="2100" u="none" cap="none" strike="noStrike">
                <a:solidFill>
                  <a:srgbClr val="B36B00"/>
                </a:solidFill>
                <a:latin typeface="Gabarito"/>
                <a:ea typeface="Gabarito"/>
                <a:cs typeface="Gabarito"/>
                <a:sym typeface="Gabarito"/>
              </a:rPr>
              <a:t>GGUF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7"/>
          <p:cNvSpPr/>
          <p:nvPr/>
        </p:nvSpPr>
        <p:spPr>
          <a:xfrm>
            <a:off x="2381250" y="8026140"/>
            <a:ext cx="4572000" cy="628500"/>
          </a:xfrm>
          <a:prstGeom prst="roundRect">
            <a:avLst>
              <a:gd fmla="val 21215" name="adj"/>
            </a:avLst>
          </a:prstGeom>
          <a:solidFill>
            <a:srgbClr val="274D71"/>
          </a:solidFill>
          <a:ln cap="flat" cmpd="sng" w="10575">
            <a:solidFill>
              <a:srgbClr val="0355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27"/>
          <p:cNvSpPr/>
          <p:nvPr/>
        </p:nvSpPr>
        <p:spPr>
          <a:xfrm>
            <a:off x="3661172" y="8213332"/>
            <a:ext cx="2213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Gabarito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vLLM / Transformers</a:t>
            </a:r>
            <a:endParaRPr b="0" i="0" sz="17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7"/>
          <p:cNvSpPr/>
          <p:nvPr/>
        </p:nvSpPr>
        <p:spPr>
          <a:xfrm>
            <a:off x="11334750" y="8026140"/>
            <a:ext cx="4572000" cy="628500"/>
          </a:xfrm>
          <a:prstGeom prst="roundRect">
            <a:avLst>
              <a:gd fmla="val 21215" name="adj"/>
            </a:avLst>
          </a:prstGeom>
          <a:solidFill>
            <a:srgbClr val="274D71"/>
          </a:solidFill>
          <a:ln cap="flat" cmpd="sng" w="10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27"/>
          <p:cNvSpPr/>
          <p:nvPr/>
        </p:nvSpPr>
        <p:spPr>
          <a:xfrm>
            <a:off x="12696032" y="8213332"/>
            <a:ext cx="20343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Gabarito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Ollama / llama.cpp</a:t>
            </a:r>
            <a:endParaRPr b="0" i="0" sz="17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7"/>
          <p:cNvSpPr/>
          <p:nvPr/>
        </p:nvSpPr>
        <p:spPr>
          <a:xfrm>
            <a:off x="7143751" y="9226190"/>
            <a:ext cx="4000500" cy="685800"/>
          </a:xfrm>
          <a:prstGeom prst="roundRect">
            <a:avLst>
              <a:gd fmla="val 19445" name="adj"/>
            </a:avLst>
          </a:prstGeom>
          <a:solidFill>
            <a:srgbClr val="6B5CA5">
              <a:alpha val="10200"/>
            </a:srgbClr>
          </a:solidFill>
          <a:ln cap="flat" cmpd="sng" w="10575">
            <a:solidFill>
              <a:srgbClr val="6B5C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27"/>
          <p:cNvSpPr/>
          <p:nvPr/>
        </p:nvSpPr>
        <p:spPr>
          <a:xfrm>
            <a:off x="8500897" y="9420824"/>
            <a:ext cx="14145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Model Runs</a:t>
            </a:r>
            <a:endParaRPr b="0" i="0" sz="1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07" name="Google Shape;80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025" y="952500"/>
            <a:ext cx="1066800" cy="1304093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28"/>
          <p:cNvSpPr/>
          <p:nvPr/>
        </p:nvSpPr>
        <p:spPr>
          <a:xfrm>
            <a:off x="1047750" y="914400"/>
            <a:ext cx="2688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lang="en-US" sz="2250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Key Features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8"/>
          <p:cNvSpPr/>
          <p:nvPr/>
        </p:nvSpPr>
        <p:spPr>
          <a:xfrm>
            <a:off x="1047750" y="1390650"/>
            <a:ext cx="131115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5700"/>
              <a:buFont typeface="Gabarito"/>
              <a:buNone/>
            </a:pPr>
            <a:r>
              <a:rPr b="1" i="0" lang="en-US" sz="57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GGUF - </a:t>
            </a:r>
            <a:r>
              <a:rPr b="1" lang="en-US" sz="5700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GPT-Generated Unified Format</a:t>
            </a:r>
            <a:r>
              <a:rPr b="1" lang="en-US" sz="5700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   </a:t>
            </a:r>
            <a:endParaRPr b="1" sz="5700">
              <a:solidFill>
                <a:srgbClr val="274D71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810" name="Google Shape;810;p28"/>
          <p:cNvSpPr/>
          <p:nvPr/>
        </p:nvSpPr>
        <p:spPr>
          <a:xfrm>
            <a:off x="1047750" y="2514600"/>
            <a:ext cx="17811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2250"/>
              <a:buFont typeface="Gabarito"/>
              <a:buNone/>
            </a:pPr>
            <a:r>
              <a:rPr lang="en-US" sz="2450">
                <a:solidFill>
                  <a:schemeClr val="dk1"/>
                </a:solidFill>
                <a:latin typeface="Gabarito"/>
                <a:ea typeface="Gabarito"/>
                <a:cs typeface="Gabarito"/>
                <a:sym typeface="Gabarito"/>
              </a:rPr>
              <a:t>A compressed model file made for running LLMs locally. </a:t>
            </a:r>
            <a:endParaRPr b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8"/>
          <p:cNvSpPr/>
          <p:nvPr/>
        </p:nvSpPr>
        <p:spPr>
          <a:xfrm>
            <a:off x="1047750" y="3581400"/>
            <a:ext cx="5232300" cy="1573500"/>
          </a:xfrm>
          <a:prstGeom prst="roundRect">
            <a:avLst>
              <a:gd fmla="val 9685" name="adj"/>
            </a:avLst>
          </a:prstGeom>
          <a:solidFill>
            <a:srgbClr val="B08A3E">
              <a:alpha val="5880"/>
            </a:srgbClr>
          </a:solidFill>
          <a:ln cap="flat" cmpd="sng" w="15225">
            <a:solidFill>
              <a:srgbClr val="A88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12" name="Google Shape;812;p28"/>
          <p:cNvSpPr/>
          <p:nvPr/>
        </p:nvSpPr>
        <p:spPr>
          <a:xfrm>
            <a:off x="1329690" y="3844290"/>
            <a:ext cx="51354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5F2A"/>
              </a:buClr>
              <a:buSzPts val="2025"/>
              <a:buFont typeface="Gabarito"/>
              <a:buNone/>
            </a:pPr>
            <a:r>
              <a:rPr b="1" lang="en-US" sz="2225">
                <a:solidFill>
                  <a:srgbClr val="7A5F2A"/>
                </a:solidFill>
                <a:latin typeface="Gabarito"/>
                <a:ea typeface="Gabarito"/>
                <a:cs typeface="Gabarito"/>
                <a:sym typeface="Gabarito"/>
              </a:rPr>
              <a:t>Everything in one file </a:t>
            </a:r>
            <a:endParaRPr b="0" i="0" sz="2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8"/>
          <p:cNvSpPr/>
          <p:nvPr/>
        </p:nvSpPr>
        <p:spPr>
          <a:xfrm>
            <a:off x="1329690" y="4251960"/>
            <a:ext cx="48084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Font typeface="Gabarito"/>
              <a:buNone/>
            </a:pPr>
            <a:r>
              <a:rPr lang="en-US" sz="200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Weights, tokenizer, chat template, and metadata all packed into one file.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8"/>
          <p:cNvSpPr/>
          <p:nvPr/>
        </p:nvSpPr>
        <p:spPr>
          <a:xfrm>
            <a:off x="6527721" y="3581400"/>
            <a:ext cx="5232300" cy="1573500"/>
          </a:xfrm>
          <a:prstGeom prst="roundRect">
            <a:avLst>
              <a:gd fmla="val 9685" name="adj"/>
            </a:avLst>
          </a:prstGeom>
          <a:solidFill>
            <a:srgbClr val="B08A3E">
              <a:alpha val="5880"/>
            </a:srgbClr>
          </a:solidFill>
          <a:ln cap="flat" cmpd="sng" w="15225">
            <a:solidFill>
              <a:srgbClr val="A88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15" name="Google Shape;815;p28"/>
          <p:cNvSpPr/>
          <p:nvPr/>
        </p:nvSpPr>
        <p:spPr>
          <a:xfrm>
            <a:off x="6809661" y="3844290"/>
            <a:ext cx="51354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5F2A"/>
              </a:buClr>
              <a:buSzPts val="2025"/>
              <a:buFont typeface="Gabarito"/>
              <a:buNone/>
            </a:pPr>
            <a:r>
              <a:rPr b="1" lang="en-US" sz="2225">
                <a:solidFill>
                  <a:srgbClr val="7A5F2A"/>
                </a:solidFill>
                <a:latin typeface="Gabarito"/>
                <a:ea typeface="Gabarito"/>
                <a:cs typeface="Gabarito"/>
                <a:sym typeface="Gabarito"/>
              </a:rPr>
              <a:t>Smaller model size </a:t>
            </a:r>
            <a:endParaRPr b="0" i="0" sz="2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8"/>
          <p:cNvSpPr/>
          <p:nvPr/>
        </p:nvSpPr>
        <p:spPr>
          <a:xfrm>
            <a:off x="6809661" y="4251960"/>
            <a:ext cx="48087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Font typeface="Gabarito"/>
              <a:buNone/>
            </a:pPr>
            <a:r>
              <a:rPr lang="en-US" sz="200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Supports different quantization levels to make the model smaller.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8"/>
          <p:cNvSpPr/>
          <p:nvPr/>
        </p:nvSpPr>
        <p:spPr>
          <a:xfrm>
            <a:off x="12007810" y="3581400"/>
            <a:ext cx="5232300" cy="1573500"/>
          </a:xfrm>
          <a:prstGeom prst="roundRect">
            <a:avLst>
              <a:gd fmla="val 9685" name="adj"/>
            </a:avLst>
          </a:prstGeom>
          <a:solidFill>
            <a:srgbClr val="B08A3E">
              <a:alpha val="5880"/>
            </a:srgbClr>
          </a:solidFill>
          <a:ln cap="flat" cmpd="sng" w="15225">
            <a:solidFill>
              <a:srgbClr val="A88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18" name="Google Shape;818;p28"/>
          <p:cNvSpPr/>
          <p:nvPr/>
        </p:nvSpPr>
        <p:spPr>
          <a:xfrm>
            <a:off x="12289751" y="3844290"/>
            <a:ext cx="51354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A5F2A"/>
              </a:buClr>
              <a:buSzPts val="2025"/>
              <a:buFont typeface="Gabarito"/>
              <a:buNone/>
            </a:pPr>
            <a:r>
              <a:rPr b="1" lang="en-US" sz="2225">
                <a:solidFill>
                  <a:srgbClr val="7A5F2A"/>
                </a:solidFill>
                <a:latin typeface="Gabarito"/>
                <a:ea typeface="Gabarito"/>
                <a:cs typeface="Gabarito"/>
                <a:sym typeface="Gabarito"/>
              </a:rPr>
              <a:t>Can run on CPU </a:t>
            </a:r>
            <a:endParaRPr sz="22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5F2A"/>
              </a:buClr>
              <a:buSzPts val="2025"/>
              <a:buFont typeface="Gabarito"/>
              <a:buNone/>
            </a:pPr>
            <a:r>
              <a:t/>
            </a:r>
            <a:endParaRPr b="1" sz="2225">
              <a:solidFill>
                <a:srgbClr val="7A5F2A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819" name="Google Shape;819;p28"/>
          <p:cNvSpPr/>
          <p:nvPr/>
        </p:nvSpPr>
        <p:spPr>
          <a:xfrm>
            <a:off x="12289751" y="4251960"/>
            <a:ext cx="48087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Font typeface="Gabarito"/>
              <a:buNone/>
            </a:pPr>
            <a:r>
              <a:rPr lang="en-US" sz="200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Can run on a CPU, GPU, or both.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8"/>
          <p:cNvSpPr/>
          <p:nvPr/>
        </p:nvSpPr>
        <p:spPr>
          <a:xfrm>
            <a:off x="1047750" y="5402580"/>
            <a:ext cx="5232300" cy="1573500"/>
          </a:xfrm>
          <a:prstGeom prst="roundRect">
            <a:avLst>
              <a:gd fmla="val 9685" name="adj"/>
            </a:avLst>
          </a:prstGeom>
          <a:solidFill>
            <a:srgbClr val="B08A3E">
              <a:alpha val="5880"/>
            </a:srgbClr>
          </a:solidFill>
          <a:ln cap="flat" cmpd="sng" w="15225">
            <a:solidFill>
              <a:srgbClr val="A88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21" name="Google Shape;821;p28"/>
          <p:cNvSpPr/>
          <p:nvPr/>
        </p:nvSpPr>
        <p:spPr>
          <a:xfrm>
            <a:off x="1329690" y="5665470"/>
            <a:ext cx="51354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5F2A"/>
              </a:buClr>
              <a:buSzPts val="2025"/>
              <a:buFont typeface="Gabarito"/>
              <a:buNone/>
            </a:pPr>
            <a:r>
              <a:rPr b="1" lang="en-US" sz="2225">
                <a:solidFill>
                  <a:srgbClr val="7A5F2A"/>
                </a:solidFill>
                <a:latin typeface="Gabarito"/>
                <a:ea typeface="Gabarito"/>
                <a:cs typeface="Gabarito"/>
                <a:sym typeface="Gabarito"/>
              </a:rPr>
              <a:t>Fast to load </a:t>
            </a:r>
            <a:endParaRPr b="0" i="0" sz="2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8"/>
          <p:cNvSpPr/>
          <p:nvPr/>
        </p:nvSpPr>
        <p:spPr>
          <a:xfrm>
            <a:off x="1329690" y="6073140"/>
            <a:ext cx="48084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Font typeface="Gabarito"/>
              <a:buNone/>
            </a:pPr>
            <a:r>
              <a:rPr lang="en-US" sz="200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Loads quickly and uses less extra RAM.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8"/>
          <p:cNvSpPr/>
          <p:nvPr/>
        </p:nvSpPr>
        <p:spPr>
          <a:xfrm>
            <a:off x="6527721" y="5402580"/>
            <a:ext cx="5232300" cy="1573500"/>
          </a:xfrm>
          <a:prstGeom prst="roundRect">
            <a:avLst>
              <a:gd fmla="val 9685" name="adj"/>
            </a:avLst>
          </a:prstGeom>
          <a:solidFill>
            <a:srgbClr val="B08A3E">
              <a:alpha val="5880"/>
            </a:srgbClr>
          </a:solidFill>
          <a:ln cap="flat" cmpd="sng" w="15225">
            <a:solidFill>
              <a:srgbClr val="A88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24" name="Google Shape;824;p28"/>
          <p:cNvSpPr/>
          <p:nvPr/>
        </p:nvSpPr>
        <p:spPr>
          <a:xfrm>
            <a:off x="6809661" y="5665470"/>
            <a:ext cx="51354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5F2A"/>
              </a:buClr>
              <a:buSzPts val="2025"/>
              <a:buFont typeface="Gabarito"/>
              <a:buNone/>
            </a:pPr>
            <a:r>
              <a:rPr b="1" lang="en-US" sz="2225">
                <a:solidFill>
                  <a:srgbClr val="7A5F2A"/>
                </a:solidFill>
                <a:latin typeface="Gabarito"/>
                <a:ea typeface="Gabarito"/>
                <a:cs typeface="Gabarito"/>
                <a:sym typeface="Gabarito"/>
              </a:rPr>
              <a:t>Model information included </a:t>
            </a:r>
            <a:endParaRPr b="0" i="0" sz="2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8"/>
          <p:cNvSpPr/>
          <p:nvPr/>
        </p:nvSpPr>
        <p:spPr>
          <a:xfrm>
            <a:off x="6809661" y="6073140"/>
            <a:ext cx="48087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Font typeface="Gabarito"/>
              <a:buNone/>
            </a:pPr>
            <a:r>
              <a:rPr lang="en-US" sz="200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Stores important model settings inside the file.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8"/>
          <p:cNvSpPr/>
          <p:nvPr/>
        </p:nvSpPr>
        <p:spPr>
          <a:xfrm>
            <a:off x="12007810" y="5402580"/>
            <a:ext cx="5232300" cy="1573500"/>
          </a:xfrm>
          <a:prstGeom prst="roundRect">
            <a:avLst>
              <a:gd fmla="val 9685" name="adj"/>
            </a:avLst>
          </a:prstGeom>
          <a:solidFill>
            <a:srgbClr val="B08A3E">
              <a:alpha val="5880"/>
            </a:srgbClr>
          </a:solidFill>
          <a:ln cap="flat" cmpd="sng" w="15225">
            <a:solidFill>
              <a:srgbClr val="A88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27" name="Google Shape;827;p28"/>
          <p:cNvSpPr/>
          <p:nvPr/>
        </p:nvSpPr>
        <p:spPr>
          <a:xfrm>
            <a:off x="12289751" y="5665470"/>
            <a:ext cx="51354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5F2A"/>
              </a:buClr>
              <a:buSzPts val="2025"/>
              <a:buFont typeface="Gabarito"/>
              <a:buNone/>
            </a:pPr>
            <a:r>
              <a:rPr b="1" lang="en-US" sz="2225">
                <a:solidFill>
                  <a:srgbClr val="7A5F2A"/>
                </a:solidFill>
                <a:latin typeface="Gabarito"/>
                <a:ea typeface="Gabarito"/>
                <a:cs typeface="Gabarito"/>
                <a:sym typeface="Gabarito"/>
              </a:rPr>
              <a:t>Easy to share </a:t>
            </a:r>
            <a:endParaRPr b="0" i="0" sz="2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8"/>
          <p:cNvSpPr/>
          <p:nvPr/>
        </p:nvSpPr>
        <p:spPr>
          <a:xfrm>
            <a:off x="12289751" y="6073140"/>
            <a:ext cx="48087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Font typeface="Gabarito"/>
              <a:buNone/>
            </a:pPr>
            <a:r>
              <a:rPr lang="en-US" sz="200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Usually just one file to download and use.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8"/>
          <p:cNvSpPr/>
          <p:nvPr/>
        </p:nvSpPr>
        <p:spPr>
          <a:xfrm>
            <a:off x="1047750" y="9010650"/>
            <a:ext cx="16192500" cy="655200"/>
          </a:xfrm>
          <a:prstGeom prst="roundRect">
            <a:avLst>
              <a:gd fmla="val 20349" name="adj"/>
            </a:avLst>
          </a:prstGeom>
          <a:solidFill>
            <a:srgbClr val="FF9900">
              <a:alpha val="5100"/>
            </a:srgbClr>
          </a:solidFill>
          <a:ln cap="flat" cmpd="sng" w="152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28"/>
          <p:cNvSpPr/>
          <p:nvPr/>
        </p:nvSpPr>
        <p:spPr>
          <a:xfrm>
            <a:off x="1367790" y="9197340"/>
            <a:ext cx="16038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75"/>
              <a:buFont typeface="Gabarito"/>
              <a:buNone/>
            </a:pPr>
            <a:r>
              <a:rPr b="1" i="0" lang="en-US" sz="1875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.gguf</a:t>
            </a:r>
            <a:r>
              <a:rPr b="0" i="0" lang="en-US" sz="187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·</a:t>
            </a:r>
            <a:r>
              <a:rPr lang="en-US" sz="187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 </a:t>
            </a:r>
            <a:r>
              <a:rPr lang="en-US" sz="187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Great for running LLMs locally with Ollama, llama.cpp, LM Studio, and Jan.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36" name="Google Shape;83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025" y="952500"/>
            <a:ext cx="1066800" cy="1304093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29"/>
          <p:cNvSpPr/>
          <p:nvPr/>
        </p:nvSpPr>
        <p:spPr>
          <a:xfrm>
            <a:off x="1047750" y="914400"/>
            <a:ext cx="2945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lang="en-US" sz="2250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Key Features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t/>
            </a:r>
            <a:endParaRPr b="1" sz="2250">
              <a:solidFill>
                <a:srgbClr val="FF9900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838" name="Google Shape;838;p29"/>
          <p:cNvSpPr/>
          <p:nvPr/>
        </p:nvSpPr>
        <p:spPr>
          <a:xfrm>
            <a:off x="1047750" y="1390650"/>
            <a:ext cx="98055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5700"/>
              <a:buFont typeface="Gabarito"/>
              <a:buNone/>
            </a:pPr>
            <a:r>
              <a:rPr b="1" i="0" lang="en-US" sz="57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Safetensors 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29"/>
          <p:cNvSpPr/>
          <p:nvPr/>
        </p:nvSpPr>
        <p:spPr>
          <a:xfrm>
            <a:off x="1047750" y="2514600"/>
            <a:ext cx="17811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2250"/>
              <a:buFont typeface="Gabarito"/>
              <a:buNone/>
            </a:pPr>
            <a:r>
              <a:rPr lang="en-US" sz="2450">
                <a:solidFill>
                  <a:schemeClr val="dk1"/>
                </a:solidFill>
                <a:latin typeface="Gabarito"/>
                <a:ea typeface="Gabarito"/>
                <a:cs typeface="Gabarito"/>
                <a:sym typeface="Gabarito"/>
              </a:rPr>
              <a:t>A safe and fast model file, commonly used for GPU-based AI. </a:t>
            </a:r>
            <a:endParaRPr b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9"/>
          <p:cNvSpPr/>
          <p:nvPr/>
        </p:nvSpPr>
        <p:spPr>
          <a:xfrm>
            <a:off x="1047750" y="3581400"/>
            <a:ext cx="5232300" cy="1573500"/>
          </a:xfrm>
          <a:prstGeom prst="roundRect">
            <a:avLst>
              <a:gd fmla="val 9685" name="adj"/>
            </a:avLst>
          </a:prstGeom>
          <a:solidFill>
            <a:srgbClr val="5E7488">
              <a:alpha val="5100"/>
            </a:srgbClr>
          </a:solidFill>
          <a:ln cap="flat" cmpd="sng" w="15225">
            <a:solidFill>
              <a:srgbClr val="5E7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41" name="Google Shape;841;p29"/>
          <p:cNvSpPr/>
          <p:nvPr/>
        </p:nvSpPr>
        <p:spPr>
          <a:xfrm>
            <a:off x="1329690" y="3844290"/>
            <a:ext cx="51354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5364"/>
              </a:buClr>
              <a:buSzPts val="2025"/>
              <a:buFont typeface="Gabarito"/>
              <a:buNone/>
            </a:pPr>
            <a:r>
              <a:rPr b="1" i="0" lang="en-US" sz="2225" u="none" cap="none" strike="noStrike">
                <a:solidFill>
                  <a:srgbClr val="3F5364"/>
                </a:solidFill>
                <a:latin typeface="Gabarito"/>
                <a:ea typeface="Gabarito"/>
                <a:cs typeface="Gabarito"/>
                <a:sym typeface="Gabarito"/>
              </a:rPr>
              <a:t>No code execution</a:t>
            </a:r>
            <a:endParaRPr b="0" i="0" sz="2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9"/>
          <p:cNvSpPr/>
          <p:nvPr/>
        </p:nvSpPr>
        <p:spPr>
          <a:xfrm>
            <a:off x="1329690" y="4251960"/>
            <a:ext cx="48084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Font typeface="Gabarito"/>
              <a:buNone/>
            </a:pPr>
            <a:r>
              <a:rPr lang="en-US" sz="200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Stores model data without running code when loading.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9"/>
          <p:cNvSpPr/>
          <p:nvPr/>
        </p:nvSpPr>
        <p:spPr>
          <a:xfrm>
            <a:off x="6527721" y="3581400"/>
            <a:ext cx="5232300" cy="1573500"/>
          </a:xfrm>
          <a:prstGeom prst="roundRect">
            <a:avLst>
              <a:gd fmla="val 9685" name="adj"/>
            </a:avLst>
          </a:prstGeom>
          <a:solidFill>
            <a:srgbClr val="5E7488">
              <a:alpha val="5100"/>
            </a:srgbClr>
          </a:solidFill>
          <a:ln cap="flat" cmpd="sng" w="15225">
            <a:solidFill>
              <a:srgbClr val="5E7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44" name="Google Shape;844;p29"/>
          <p:cNvSpPr/>
          <p:nvPr/>
        </p:nvSpPr>
        <p:spPr>
          <a:xfrm>
            <a:off x="6809661" y="3844290"/>
            <a:ext cx="51354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5364"/>
              </a:buClr>
              <a:buSzPts val="2025"/>
              <a:buFont typeface="Gabarito"/>
              <a:buNone/>
            </a:pPr>
            <a:r>
              <a:rPr b="1" i="0" lang="en-US" sz="2225" u="none" cap="none" strike="noStrike">
                <a:solidFill>
                  <a:srgbClr val="3F5364"/>
                </a:solidFill>
                <a:latin typeface="Gabarito"/>
                <a:ea typeface="Gabarito"/>
                <a:cs typeface="Gabarito"/>
                <a:sym typeface="Gabarito"/>
              </a:rPr>
              <a:t>Zero-copy loading</a:t>
            </a:r>
            <a:endParaRPr b="0" i="0" sz="2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9"/>
          <p:cNvSpPr/>
          <p:nvPr/>
        </p:nvSpPr>
        <p:spPr>
          <a:xfrm>
            <a:off x="6809661" y="4251960"/>
            <a:ext cx="48087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Font typeface="Gabarito"/>
              <a:buNone/>
            </a:pPr>
            <a:r>
              <a:rPr lang="en-US" sz="200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Can read model data directly from the file without copying everything first.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9"/>
          <p:cNvSpPr/>
          <p:nvPr/>
        </p:nvSpPr>
        <p:spPr>
          <a:xfrm>
            <a:off x="12007810" y="3581400"/>
            <a:ext cx="5232300" cy="1573500"/>
          </a:xfrm>
          <a:prstGeom prst="roundRect">
            <a:avLst>
              <a:gd fmla="val 9685" name="adj"/>
            </a:avLst>
          </a:prstGeom>
          <a:solidFill>
            <a:srgbClr val="5E7488">
              <a:alpha val="5100"/>
            </a:srgbClr>
          </a:solidFill>
          <a:ln cap="flat" cmpd="sng" w="15225">
            <a:solidFill>
              <a:srgbClr val="5E7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47" name="Google Shape;847;p29"/>
          <p:cNvSpPr/>
          <p:nvPr/>
        </p:nvSpPr>
        <p:spPr>
          <a:xfrm>
            <a:off x="12289751" y="3844290"/>
            <a:ext cx="51354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5364"/>
              </a:buClr>
              <a:buSzPts val="2025"/>
              <a:buFont typeface="Gabarito"/>
              <a:buNone/>
            </a:pPr>
            <a:r>
              <a:rPr b="1" lang="en-US" sz="2225">
                <a:solidFill>
                  <a:srgbClr val="3F5364"/>
                </a:solidFill>
                <a:latin typeface="Gabarito"/>
                <a:ea typeface="Gabarito"/>
                <a:cs typeface="Gabarito"/>
                <a:sym typeface="Gabarito"/>
              </a:rPr>
              <a:t>P</a:t>
            </a:r>
            <a:r>
              <a:rPr b="1" i="0" lang="en-US" sz="2225" u="none" cap="none" strike="noStrike">
                <a:solidFill>
                  <a:srgbClr val="3F5364"/>
                </a:solidFill>
                <a:latin typeface="Gabarito"/>
                <a:ea typeface="Gabarito"/>
                <a:cs typeface="Gabarito"/>
                <a:sym typeface="Gabarito"/>
              </a:rPr>
              <a:t>artial reads</a:t>
            </a:r>
            <a:endParaRPr b="0" i="0" sz="2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29"/>
          <p:cNvSpPr/>
          <p:nvPr/>
        </p:nvSpPr>
        <p:spPr>
          <a:xfrm>
            <a:off x="12289750" y="4251953"/>
            <a:ext cx="48087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Font typeface="Gabarito"/>
              <a:buNone/>
            </a:pPr>
            <a:r>
              <a:rPr lang="en-US" sz="200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Can load only the model parts you need.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9"/>
          <p:cNvSpPr/>
          <p:nvPr/>
        </p:nvSpPr>
        <p:spPr>
          <a:xfrm>
            <a:off x="1047750" y="5402580"/>
            <a:ext cx="5232300" cy="1573500"/>
          </a:xfrm>
          <a:prstGeom prst="roundRect">
            <a:avLst>
              <a:gd fmla="val 9685" name="adj"/>
            </a:avLst>
          </a:prstGeom>
          <a:solidFill>
            <a:srgbClr val="5E7488">
              <a:alpha val="5100"/>
            </a:srgbClr>
          </a:solidFill>
          <a:ln cap="flat" cmpd="sng" w="15225">
            <a:solidFill>
              <a:srgbClr val="5E7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50" name="Google Shape;850;p29"/>
          <p:cNvSpPr/>
          <p:nvPr/>
        </p:nvSpPr>
        <p:spPr>
          <a:xfrm>
            <a:off x="1329690" y="5665470"/>
            <a:ext cx="51354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5364"/>
              </a:buClr>
              <a:buSzPts val="2025"/>
              <a:buFont typeface="Gabarito"/>
              <a:buNone/>
            </a:pPr>
            <a:r>
              <a:rPr b="1" lang="en-US" sz="2225">
                <a:solidFill>
                  <a:srgbClr val="3F5364"/>
                </a:solidFill>
                <a:latin typeface="Gabarito"/>
                <a:ea typeface="Gabarito"/>
                <a:cs typeface="Gabarito"/>
                <a:sym typeface="Gabarito"/>
              </a:rPr>
              <a:t>Works with many frameworks </a:t>
            </a:r>
            <a:endParaRPr b="0" i="0" sz="2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9"/>
          <p:cNvSpPr/>
          <p:nvPr/>
        </p:nvSpPr>
        <p:spPr>
          <a:xfrm>
            <a:off x="1329690" y="6073140"/>
            <a:ext cx="48084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Font typeface="Gabarito"/>
              <a:buNone/>
            </a:pPr>
            <a:r>
              <a:rPr lang="en-US" sz="200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Can be used with different AI frameworks.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29"/>
          <p:cNvSpPr/>
          <p:nvPr/>
        </p:nvSpPr>
        <p:spPr>
          <a:xfrm>
            <a:off x="6527721" y="5402580"/>
            <a:ext cx="5232300" cy="1573500"/>
          </a:xfrm>
          <a:prstGeom prst="roundRect">
            <a:avLst>
              <a:gd fmla="val 9685" name="adj"/>
            </a:avLst>
          </a:prstGeom>
          <a:solidFill>
            <a:srgbClr val="5E7488">
              <a:alpha val="5100"/>
            </a:srgbClr>
          </a:solidFill>
          <a:ln cap="flat" cmpd="sng" w="15225">
            <a:solidFill>
              <a:srgbClr val="5E7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53" name="Google Shape;853;p29"/>
          <p:cNvSpPr/>
          <p:nvPr/>
        </p:nvSpPr>
        <p:spPr>
          <a:xfrm>
            <a:off x="6809661" y="5665470"/>
            <a:ext cx="51354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5364"/>
              </a:buClr>
              <a:buSzPts val="2025"/>
              <a:buFont typeface="Gabarito"/>
              <a:buNone/>
            </a:pPr>
            <a:r>
              <a:rPr b="1" lang="en-US" sz="2225">
                <a:solidFill>
                  <a:srgbClr val="3F5364"/>
                </a:solidFill>
                <a:latin typeface="Gabarito"/>
                <a:ea typeface="Gabarito"/>
                <a:cs typeface="Gabarito"/>
                <a:sym typeface="Gabarito"/>
              </a:rPr>
              <a:t>Keeps the original precision </a:t>
            </a:r>
            <a:endParaRPr b="0" i="0" sz="2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9"/>
          <p:cNvSpPr/>
          <p:nvPr/>
        </p:nvSpPr>
        <p:spPr>
          <a:xfrm>
            <a:off x="6809661" y="6073140"/>
            <a:ext cx="48087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Font typeface="Gabarito"/>
              <a:buNone/>
            </a:pPr>
            <a:r>
              <a:rPr lang="en-US" sz="200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Keeps the model weights at their original precision.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9"/>
          <p:cNvSpPr/>
          <p:nvPr/>
        </p:nvSpPr>
        <p:spPr>
          <a:xfrm>
            <a:off x="12007810" y="5402580"/>
            <a:ext cx="5232300" cy="1573500"/>
          </a:xfrm>
          <a:prstGeom prst="roundRect">
            <a:avLst>
              <a:gd fmla="val 9685" name="adj"/>
            </a:avLst>
          </a:prstGeom>
          <a:solidFill>
            <a:srgbClr val="5E7488">
              <a:alpha val="5100"/>
            </a:srgbClr>
          </a:solidFill>
          <a:ln cap="flat" cmpd="sng" w="15225">
            <a:solidFill>
              <a:srgbClr val="5E7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56" name="Google Shape;856;p29"/>
          <p:cNvSpPr/>
          <p:nvPr/>
        </p:nvSpPr>
        <p:spPr>
          <a:xfrm>
            <a:off x="12289751" y="5665470"/>
            <a:ext cx="51354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5364"/>
              </a:buClr>
              <a:buSzPts val="2025"/>
              <a:buFont typeface="Gabarito"/>
              <a:buNone/>
            </a:pPr>
            <a:r>
              <a:rPr b="1" lang="en-US" sz="2225">
                <a:solidFill>
                  <a:srgbClr val="3F5364"/>
                </a:solidFill>
                <a:latin typeface="Gabarito"/>
                <a:ea typeface="Gabarito"/>
                <a:cs typeface="Gabarito"/>
                <a:sym typeface="Gabarito"/>
              </a:rPr>
              <a:t>Can be split into multiple files </a:t>
            </a:r>
            <a:endParaRPr b="0" i="0" sz="2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29"/>
          <p:cNvSpPr/>
          <p:nvPr/>
        </p:nvSpPr>
        <p:spPr>
          <a:xfrm>
            <a:off x="12289751" y="6073140"/>
            <a:ext cx="48087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Font typeface="Gabarito"/>
              <a:buNone/>
            </a:pPr>
            <a:r>
              <a:rPr lang="en-US" sz="200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Large models can be split into several files for easier handling.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29"/>
          <p:cNvSpPr/>
          <p:nvPr/>
        </p:nvSpPr>
        <p:spPr>
          <a:xfrm>
            <a:off x="1047750" y="9010650"/>
            <a:ext cx="16192500" cy="655200"/>
          </a:xfrm>
          <a:prstGeom prst="roundRect">
            <a:avLst>
              <a:gd fmla="val 20349" name="adj"/>
            </a:avLst>
          </a:prstGeom>
          <a:solidFill>
            <a:srgbClr val="FAF9F5"/>
          </a:solidFill>
          <a:ln cap="flat" cmpd="sng" w="15225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29"/>
          <p:cNvSpPr/>
          <p:nvPr/>
        </p:nvSpPr>
        <p:spPr>
          <a:xfrm>
            <a:off x="1367790" y="9197340"/>
            <a:ext cx="16038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875"/>
              <a:buFont typeface="Gabarito"/>
              <a:buNone/>
            </a:pPr>
            <a:r>
              <a:rPr b="1" i="0" lang="en-US" sz="1875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.safetensors</a:t>
            </a:r>
            <a:r>
              <a:rPr b="0" i="0" lang="en-US" sz="187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· </a:t>
            </a:r>
            <a:r>
              <a:rPr lang="en-US" sz="187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Commonly used with Hugging Face Transformers, vLLM, and Diffusers, especially for GPU inference, training, and fine-tuning.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65" name="Google Shape;86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20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30"/>
          <p:cNvSpPr/>
          <p:nvPr/>
        </p:nvSpPr>
        <p:spPr>
          <a:xfrm>
            <a:off x="1047750" y="914363"/>
            <a:ext cx="1677219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Comparison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0"/>
          <p:cNvSpPr/>
          <p:nvPr/>
        </p:nvSpPr>
        <p:spPr>
          <a:xfrm>
            <a:off x="1047750" y="1390613"/>
            <a:ext cx="8533637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GGUF vs Safetensors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0"/>
          <p:cNvSpPr/>
          <p:nvPr/>
        </p:nvSpPr>
        <p:spPr>
          <a:xfrm>
            <a:off x="1047750" y="2933588"/>
            <a:ext cx="3562201" cy="640333"/>
          </a:xfrm>
          <a:custGeom>
            <a:rect b="b" l="l" r="r" t="t"/>
            <a:pathLst>
              <a:path extrusionOk="0" h="640333" w="3562201">
                <a:moveTo>
                  <a:pt x="133350" y="0"/>
                </a:moveTo>
                <a:lnTo>
                  <a:pt x="3562201" y="0"/>
                </a:lnTo>
                <a:lnTo>
                  <a:pt x="3562201" y="640333"/>
                </a:lnTo>
                <a:lnTo>
                  <a:pt x="0" y="640333"/>
                </a:ln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274D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0"/>
          <p:cNvSpPr/>
          <p:nvPr/>
        </p:nvSpPr>
        <p:spPr>
          <a:xfrm>
            <a:off x="1314450" y="3105038"/>
            <a:ext cx="3135667" cy="3355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Aspect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30"/>
          <p:cNvSpPr/>
          <p:nvPr/>
        </p:nvSpPr>
        <p:spPr>
          <a:xfrm>
            <a:off x="4609951" y="2933588"/>
            <a:ext cx="6314963" cy="640333"/>
          </a:xfrm>
          <a:prstGeom prst="rect">
            <a:avLst/>
          </a:prstGeom>
          <a:solidFill>
            <a:srgbClr val="274D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30"/>
          <p:cNvSpPr/>
          <p:nvPr/>
        </p:nvSpPr>
        <p:spPr>
          <a:xfrm>
            <a:off x="4876651" y="3105038"/>
            <a:ext cx="5971012" cy="3355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Safetensors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0"/>
          <p:cNvSpPr/>
          <p:nvPr/>
        </p:nvSpPr>
        <p:spPr>
          <a:xfrm>
            <a:off x="10924915" y="2933588"/>
            <a:ext cx="6315335" cy="640333"/>
          </a:xfrm>
          <a:custGeom>
            <a:rect b="b" l="l" r="r" t="t"/>
            <a:pathLst>
              <a:path extrusionOk="0" h="640333" w="6315335">
                <a:moveTo>
                  <a:pt x="0" y="0"/>
                </a:moveTo>
                <a:lnTo>
                  <a:pt x="6181985" y="0"/>
                </a:lnTo>
                <a:cubicBezTo>
                  <a:pt x="6217352" y="0"/>
                  <a:pt x="6251270" y="14049"/>
                  <a:pt x="6276278" y="39057"/>
                </a:cubicBezTo>
                <a:cubicBezTo>
                  <a:pt x="6301286" y="64065"/>
                  <a:pt x="6315335" y="97983"/>
                  <a:pt x="6315335" y="133350"/>
                </a:cubicBezTo>
                <a:lnTo>
                  <a:pt x="6315335" y="640333"/>
                </a:lnTo>
                <a:lnTo>
                  <a:pt x="0" y="640333"/>
                </a:lnTo>
                <a:lnTo>
                  <a:pt x="0" y="0"/>
                </a:lnTo>
                <a:close/>
              </a:path>
            </a:pathLst>
          </a:custGeom>
          <a:solidFill>
            <a:srgbClr val="274D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30"/>
          <p:cNvSpPr/>
          <p:nvPr/>
        </p:nvSpPr>
        <p:spPr>
          <a:xfrm>
            <a:off x="11191615" y="3105038"/>
            <a:ext cx="5971396" cy="3355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GGUF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30"/>
          <p:cNvSpPr/>
          <p:nvPr/>
        </p:nvSpPr>
        <p:spPr>
          <a:xfrm>
            <a:off x="1047750" y="4473959"/>
            <a:ext cx="3562201" cy="11906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30"/>
          <p:cNvSpPr/>
          <p:nvPr/>
        </p:nvSpPr>
        <p:spPr>
          <a:xfrm>
            <a:off x="1314450" y="3726321"/>
            <a:ext cx="3135667" cy="633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What it stores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0"/>
          <p:cNvSpPr/>
          <p:nvPr/>
        </p:nvSpPr>
        <p:spPr>
          <a:xfrm>
            <a:off x="4609951" y="4473959"/>
            <a:ext cx="6314963" cy="11906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30"/>
          <p:cNvSpPr/>
          <p:nvPr/>
        </p:nvSpPr>
        <p:spPr>
          <a:xfrm>
            <a:off x="4876651" y="3726321"/>
            <a:ext cx="5971012" cy="633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b="0" i="0" lang="en-US" sz="195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Full-precision tensors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0"/>
          <p:cNvSpPr/>
          <p:nvPr/>
        </p:nvSpPr>
        <p:spPr>
          <a:xfrm>
            <a:off x="10924915" y="4473959"/>
            <a:ext cx="6315335" cy="11906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30"/>
          <p:cNvSpPr/>
          <p:nvPr/>
        </p:nvSpPr>
        <p:spPr>
          <a:xfrm>
            <a:off x="11191615" y="3726321"/>
            <a:ext cx="5971396" cy="633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b="0" i="0" lang="en-US" sz="195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Quantized tensors + tokenizer + chat template, all in one file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0"/>
          <p:cNvSpPr/>
          <p:nvPr/>
        </p:nvSpPr>
        <p:spPr>
          <a:xfrm>
            <a:off x="1047750" y="4485866"/>
            <a:ext cx="3562201" cy="614288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30"/>
          <p:cNvSpPr/>
          <p:nvPr/>
        </p:nvSpPr>
        <p:spPr>
          <a:xfrm>
            <a:off x="1047750" y="5088248"/>
            <a:ext cx="3562201" cy="11906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30"/>
          <p:cNvSpPr/>
          <p:nvPr/>
        </p:nvSpPr>
        <p:spPr>
          <a:xfrm>
            <a:off x="1314450" y="4638266"/>
            <a:ext cx="3135667" cy="33568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Typical precision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0"/>
          <p:cNvSpPr/>
          <p:nvPr/>
        </p:nvSpPr>
        <p:spPr>
          <a:xfrm>
            <a:off x="4609951" y="4485866"/>
            <a:ext cx="6314963" cy="614288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30"/>
          <p:cNvSpPr/>
          <p:nvPr/>
        </p:nvSpPr>
        <p:spPr>
          <a:xfrm>
            <a:off x="4609951" y="5088248"/>
            <a:ext cx="6314963" cy="11906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30"/>
          <p:cNvSpPr/>
          <p:nvPr/>
        </p:nvSpPr>
        <p:spPr>
          <a:xfrm>
            <a:off x="4876651" y="4638266"/>
            <a:ext cx="5971012" cy="33568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b="0" i="0" lang="en-US" sz="195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FP16 / BF16 (also AWQ, GPTQ)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30"/>
          <p:cNvSpPr/>
          <p:nvPr/>
        </p:nvSpPr>
        <p:spPr>
          <a:xfrm>
            <a:off x="10924915" y="4485866"/>
            <a:ext cx="6315335" cy="614288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30"/>
          <p:cNvSpPr/>
          <p:nvPr/>
        </p:nvSpPr>
        <p:spPr>
          <a:xfrm>
            <a:off x="10924915" y="5088248"/>
            <a:ext cx="6315335" cy="11906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30"/>
          <p:cNvSpPr/>
          <p:nvPr/>
        </p:nvSpPr>
        <p:spPr>
          <a:xfrm>
            <a:off x="11191615" y="4638266"/>
            <a:ext cx="5971396" cy="33568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b="0" i="0" lang="en-US" sz="195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Q2–Q8 quantization levels per file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0"/>
          <p:cNvSpPr/>
          <p:nvPr/>
        </p:nvSpPr>
        <p:spPr>
          <a:xfrm>
            <a:off x="1047750" y="5702536"/>
            <a:ext cx="3562201" cy="11906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30"/>
          <p:cNvSpPr/>
          <p:nvPr/>
        </p:nvSpPr>
        <p:spPr>
          <a:xfrm>
            <a:off x="1314450" y="5252554"/>
            <a:ext cx="3135667" cy="33568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Runs best 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0"/>
          <p:cNvSpPr/>
          <p:nvPr/>
        </p:nvSpPr>
        <p:spPr>
          <a:xfrm>
            <a:off x="4609951" y="5702536"/>
            <a:ext cx="6314963" cy="11906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30"/>
          <p:cNvSpPr/>
          <p:nvPr/>
        </p:nvSpPr>
        <p:spPr>
          <a:xfrm>
            <a:off x="4876651" y="5252554"/>
            <a:ext cx="5971012" cy="33568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b="0" i="0" lang="en-US" sz="195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GPU (VRAM-resident)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0"/>
          <p:cNvSpPr/>
          <p:nvPr/>
        </p:nvSpPr>
        <p:spPr>
          <a:xfrm>
            <a:off x="10924915" y="5702536"/>
            <a:ext cx="6315335" cy="11906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30"/>
          <p:cNvSpPr/>
          <p:nvPr/>
        </p:nvSpPr>
        <p:spPr>
          <a:xfrm>
            <a:off x="11191615" y="5252554"/>
            <a:ext cx="5971396" cy="33568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b="0" i="0" lang="en-US" sz="195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CPU, Apple Silicon, or split CPU+GPU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30"/>
          <p:cNvSpPr/>
          <p:nvPr/>
        </p:nvSpPr>
        <p:spPr>
          <a:xfrm>
            <a:off x="1047750" y="5714442"/>
            <a:ext cx="3562201" cy="614288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0"/>
          <p:cNvSpPr/>
          <p:nvPr/>
        </p:nvSpPr>
        <p:spPr>
          <a:xfrm>
            <a:off x="1047750" y="6316824"/>
            <a:ext cx="3562201" cy="11906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0"/>
          <p:cNvSpPr/>
          <p:nvPr/>
        </p:nvSpPr>
        <p:spPr>
          <a:xfrm>
            <a:off x="1314450" y="5866842"/>
            <a:ext cx="3135667" cy="33568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Used by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30"/>
          <p:cNvSpPr/>
          <p:nvPr/>
        </p:nvSpPr>
        <p:spPr>
          <a:xfrm>
            <a:off x="4609951" y="5714442"/>
            <a:ext cx="6314963" cy="614288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30"/>
          <p:cNvSpPr/>
          <p:nvPr/>
        </p:nvSpPr>
        <p:spPr>
          <a:xfrm>
            <a:off x="4609951" y="6316824"/>
            <a:ext cx="6314963" cy="11906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30"/>
          <p:cNvSpPr/>
          <p:nvPr/>
        </p:nvSpPr>
        <p:spPr>
          <a:xfrm>
            <a:off x="4876651" y="5866842"/>
            <a:ext cx="5971012" cy="33568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b="0" i="0" lang="en-US" sz="195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vLLM, Transformers, TGI, TensorRT-LLM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0"/>
          <p:cNvSpPr/>
          <p:nvPr/>
        </p:nvSpPr>
        <p:spPr>
          <a:xfrm>
            <a:off x="10924915" y="5714442"/>
            <a:ext cx="6315335" cy="614288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30"/>
          <p:cNvSpPr/>
          <p:nvPr/>
        </p:nvSpPr>
        <p:spPr>
          <a:xfrm>
            <a:off x="10924915" y="6316824"/>
            <a:ext cx="6315335" cy="11906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30"/>
          <p:cNvSpPr/>
          <p:nvPr/>
        </p:nvSpPr>
        <p:spPr>
          <a:xfrm>
            <a:off x="11191615" y="5866842"/>
            <a:ext cx="5971396" cy="33568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b="0" i="0" lang="en-US" sz="195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Ollama, llama.cpp, LM Studio, Jan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31"/>
          <p:cNvSpPr/>
          <p:nvPr/>
        </p:nvSpPr>
        <p:spPr>
          <a:xfrm>
            <a:off x="15758666" y="666750"/>
            <a:ext cx="1629742" cy="14097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0800"/>
              <a:buFont typeface="Gabarito"/>
              <a:buNone/>
            </a:pPr>
            <a:r>
              <a:rPr b="1" i="0" lang="en-US" sz="1080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03</a:t>
            </a:r>
            <a:endParaRPr b="0" i="0" sz="10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1"/>
          <p:cNvSpPr/>
          <p:nvPr/>
        </p:nvSpPr>
        <p:spPr>
          <a:xfrm>
            <a:off x="1266713" y="2857500"/>
            <a:ext cx="1905000" cy="1905000"/>
          </a:xfrm>
          <a:prstGeom prst="ellipse">
            <a:avLst/>
          </a:prstGeom>
          <a:solidFill>
            <a:srgbClr val="5E7488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1" name="Google Shape;91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2963" y="333375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31"/>
          <p:cNvSpPr/>
          <p:nvPr/>
        </p:nvSpPr>
        <p:spPr>
          <a:xfrm>
            <a:off x="1266713" y="5334000"/>
            <a:ext cx="14668500" cy="969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366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375"/>
              <a:buFont typeface="Gabarito"/>
              <a:buNone/>
            </a:pPr>
            <a:r>
              <a:rPr b="1" i="0" lang="en-US" sz="63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vLLM Setup &amp; Management</a:t>
            </a:r>
            <a:endParaRPr b="0" i="0" sz="6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31"/>
          <p:cNvSpPr/>
          <p:nvPr/>
        </p:nvSpPr>
        <p:spPr>
          <a:xfrm>
            <a:off x="1266713" y="6591125"/>
            <a:ext cx="13735200" cy="10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3150"/>
              <a:buFont typeface="Gabarito"/>
              <a:buNone/>
            </a:pPr>
            <a:r>
              <a:rPr lang="en-US" sz="3150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Serve LLMs using the CLI, Docker, and Docker Compose, with high-performance inference.</a:t>
            </a:r>
            <a:endParaRPr sz="3150">
              <a:solidFill>
                <a:srgbClr val="78746A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3150"/>
              <a:buFont typeface="Gabarito"/>
              <a:buNone/>
            </a:pPr>
            <a:r>
              <a:t/>
            </a:r>
            <a:endParaRPr sz="3150">
              <a:solidFill>
                <a:srgbClr val="78746A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914" name="Google Shape;914;p31"/>
          <p:cNvSpPr/>
          <p:nvPr/>
        </p:nvSpPr>
        <p:spPr>
          <a:xfrm>
            <a:off x="1266713" y="9086701"/>
            <a:ext cx="990451" cy="9525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20" name="Google Shape;92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20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32"/>
          <p:cNvSpPr/>
          <p:nvPr/>
        </p:nvSpPr>
        <p:spPr>
          <a:xfrm>
            <a:off x="1047750" y="914363"/>
            <a:ext cx="1370056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Definition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32"/>
          <p:cNvSpPr/>
          <p:nvPr/>
        </p:nvSpPr>
        <p:spPr>
          <a:xfrm>
            <a:off x="1047750" y="1390613"/>
            <a:ext cx="6051984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What Is vLLM?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32"/>
          <p:cNvSpPr/>
          <p:nvPr/>
        </p:nvSpPr>
        <p:spPr>
          <a:xfrm>
            <a:off x="1047750" y="2667000"/>
            <a:ext cx="16192500" cy="14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54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625"/>
              <a:buFont typeface="Gabarito"/>
              <a:buNone/>
            </a:pPr>
            <a:r>
              <a:rPr lang="en-US" sz="2625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vLLM is a high-performance </a:t>
            </a:r>
            <a:r>
              <a:rPr b="1" lang="en-US" sz="2625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inference engine</a:t>
            </a:r>
            <a:r>
              <a:rPr lang="en-US" sz="2625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 for running and serving Large Language Models (LLMs). </a:t>
            </a:r>
            <a:endParaRPr sz="2625">
              <a:solidFill>
                <a:srgbClr val="212121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marR="0" rtl="0" algn="l">
              <a:lnSpc>
                <a:spcPct val="11454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625"/>
              <a:buFont typeface="Gabarito"/>
              <a:buNone/>
            </a:pPr>
            <a:r>
              <a:rPr b="1" lang="en-US" sz="2625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Inference engine: </a:t>
            </a:r>
            <a:r>
              <a:rPr lang="en-US" sz="2625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software that runs an already-trained model to generate outputs - it doesn't train or update the model, only serves it. </a:t>
            </a:r>
            <a:endParaRPr sz="2625">
              <a:solidFill>
                <a:srgbClr val="212121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924" name="Google Shape;924;p32"/>
          <p:cNvSpPr/>
          <p:nvPr/>
        </p:nvSpPr>
        <p:spPr>
          <a:xfrm>
            <a:off x="1047750" y="4381500"/>
            <a:ext cx="5219700" cy="3114300"/>
          </a:xfrm>
          <a:prstGeom prst="roundRect">
            <a:avLst>
              <a:gd fmla="val 6171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32"/>
          <p:cNvSpPr/>
          <p:nvPr/>
        </p:nvSpPr>
        <p:spPr>
          <a:xfrm>
            <a:off x="1421495" y="4813958"/>
            <a:ext cx="4919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00"/>
              <a:buFont typeface="Gabarito"/>
              <a:buNone/>
            </a:pPr>
            <a:r>
              <a:rPr b="1" lang="en-US" sz="3200">
                <a:solidFill>
                  <a:schemeClr val="accent2"/>
                </a:solidFill>
                <a:latin typeface="Gabarito"/>
                <a:ea typeface="Gabarito"/>
                <a:cs typeface="Gabarito"/>
                <a:sym typeface="Gabarito"/>
              </a:rPr>
              <a:t>Faster</a:t>
            </a:r>
            <a:endParaRPr b="1" sz="3200">
              <a:solidFill>
                <a:schemeClr val="accent2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00"/>
              <a:buFont typeface="Gabarito"/>
              <a:buNone/>
            </a:pPr>
            <a:r>
              <a:rPr b="1" lang="en-US" sz="3200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Serving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32"/>
          <p:cNvSpPr/>
          <p:nvPr/>
        </p:nvSpPr>
        <p:spPr>
          <a:xfrm>
            <a:off x="1421499" y="5927725"/>
            <a:ext cx="41286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75"/>
              <a:buFont typeface="Gabarito"/>
              <a:buNone/>
            </a:pPr>
            <a:r>
              <a:rPr lang="en-US" sz="187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Handles more requests in less time by using GPU resources.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32"/>
          <p:cNvSpPr/>
          <p:nvPr/>
        </p:nvSpPr>
        <p:spPr>
          <a:xfrm>
            <a:off x="6534113" y="4381500"/>
            <a:ext cx="5219700" cy="3114300"/>
          </a:xfrm>
          <a:prstGeom prst="roundRect">
            <a:avLst>
              <a:gd fmla="val 6171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32"/>
          <p:cNvSpPr/>
          <p:nvPr/>
        </p:nvSpPr>
        <p:spPr>
          <a:xfrm>
            <a:off x="6907857" y="4813958"/>
            <a:ext cx="4919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00"/>
              <a:buFont typeface="Gabarito"/>
              <a:buNone/>
            </a:pPr>
            <a:r>
              <a:rPr b="1" lang="en-US" sz="3200">
                <a:solidFill>
                  <a:schemeClr val="accent2"/>
                </a:solidFill>
                <a:latin typeface="Gabarito"/>
                <a:ea typeface="Gabarito"/>
                <a:cs typeface="Gabarito"/>
                <a:sym typeface="Gabarito"/>
              </a:rPr>
              <a:t>Better</a:t>
            </a:r>
            <a:endParaRPr b="1" i="0" sz="3200" u="none" cap="none" strike="noStrike">
              <a:solidFill>
                <a:schemeClr val="accent2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00"/>
              <a:buFont typeface="Gabarito"/>
              <a:buNone/>
            </a:pPr>
            <a:r>
              <a:rPr b="1" lang="en-US" sz="3200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Memory Usage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32"/>
          <p:cNvSpPr/>
          <p:nvPr/>
        </p:nvSpPr>
        <p:spPr>
          <a:xfrm>
            <a:off x="6907857" y="5927736"/>
            <a:ext cx="46065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7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Uses PagedAttention to manage the model's KV cache more efficiently and reduce wasted GPU memory.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6667"/>
              </a:lnSpc>
              <a:spcBef>
                <a:spcPts val="1200"/>
              </a:spcBef>
              <a:spcAft>
                <a:spcPts val="0"/>
              </a:spcAft>
              <a:buClr>
                <a:srgbClr val="5B5B5B"/>
              </a:buClr>
              <a:buSzPts val="1875"/>
              <a:buFont typeface="Gabarito"/>
              <a:buNone/>
            </a:pPr>
            <a:r>
              <a:t/>
            </a:r>
            <a:endParaRPr sz="1875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930" name="Google Shape;930;p32"/>
          <p:cNvSpPr/>
          <p:nvPr/>
        </p:nvSpPr>
        <p:spPr>
          <a:xfrm>
            <a:off x="12020475" y="4381500"/>
            <a:ext cx="5219700" cy="3114300"/>
          </a:xfrm>
          <a:prstGeom prst="roundRect">
            <a:avLst>
              <a:gd fmla="val 6171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32"/>
          <p:cNvSpPr/>
          <p:nvPr/>
        </p:nvSpPr>
        <p:spPr>
          <a:xfrm>
            <a:off x="12394220" y="4901246"/>
            <a:ext cx="4919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00"/>
              <a:buFont typeface="Gabarito"/>
              <a:buNone/>
            </a:pPr>
            <a:r>
              <a:rPr b="1" lang="en-US" sz="3200">
                <a:solidFill>
                  <a:schemeClr val="accent2"/>
                </a:solidFill>
                <a:latin typeface="Gabarito"/>
                <a:ea typeface="Gabarito"/>
                <a:cs typeface="Gabarito"/>
                <a:sym typeface="Gabarito"/>
              </a:rPr>
              <a:t>Multiple </a:t>
            </a:r>
            <a:endParaRPr b="1" sz="3200">
              <a:solidFill>
                <a:schemeClr val="accent2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00"/>
              <a:buFont typeface="Gabarito"/>
              <a:buNone/>
            </a:pPr>
            <a:r>
              <a:rPr b="1" lang="en-US" sz="3200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Users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32"/>
          <p:cNvSpPr/>
          <p:nvPr/>
        </p:nvSpPr>
        <p:spPr>
          <a:xfrm>
            <a:off x="12394225" y="6177175"/>
            <a:ext cx="46065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75"/>
              <a:buFont typeface="Gabarito"/>
              <a:buNone/>
            </a:pPr>
            <a:r>
              <a:rPr lang="en-US" sz="187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Uses continuous batching to process requests from multiple users instead of handling them one at a time.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32"/>
          <p:cNvSpPr/>
          <p:nvPr/>
        </p:nvSpPr>
        <p:spPr>
          <a:xfrm>
            <a:off x="1047750" y="7905750"/>
            <a:ext cx="16192500" cy="866700"/>
          </a:xfrm>
          <a:prstGeom prst="roundRect">
            <a:avLst>
              <a:gd fmla="val 17587" name="adj"/>
            </a:avLst>
          </a:prstGeom>
          <a:solidFill>
            <a:srgbClr val="035595">
              <a:alpha val="3920"/>
            </a:srgbClr>
          </a:solidFill>
          <a:ln cap="flat" cmpd="sng" w="11900">
            <a:solidFill>
              <a:srgbClr val="0355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32"/>
          <p:cNvSpPr/>
          <p:nvPr/>
        </p:nvSpPr>
        <p:spPr>
          <a:xfrm>
            <a:off x="1383506" y="8184356"/>
            <a:ext cx="16006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2025"/>
              <a:buFont typeface="Gabarito"/>
              <a:buNone/>
            </a:pPr>
            <a:r>
              <a:rPr b="1" i="0" lang="en-US" sz="2025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Three core ideas power it: </a:t>
            </a:r>
            <a:r>
              <a:rPr b="0" i="0" lang="en-US" sz="2025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PagedAttention · Continuous batching · Optimized CUDA kernels</a:t>
            </a:r>
            <a:r>
              <a:rPr lang="en-US" sz="2025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40" name="Google Shape;94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025" y="952500"/>
            <a:ext cx="1066800" cy="1304130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33"/>
          <p:cNvSpPr/>
          <p:nvPr/>
        </p:nvSpPr>
        <p:spPr>
          <a:xfrm>
            <a:off x="1047750" y="914400"/>
            <a:ext cx="5964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lang="en-US" sz="2250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Concept</a:t>
            </a:r>
            <a:endParaRPr b="0" i="0" sz="2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3"/>
          <p:cNvSpPr/>
          <p:nvPr/>
        </p:nvSpPr>
        <p:spPr>
          <a:xfrm>
            <a:off x="1047750" y="1390650"/>
            <a:ext cx="9346500" cy="10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Latency vs. </a:t>
            </a:r>
            <a:r>
              <a:rPr b="1" lang="en-US" sz="6600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Throughput</a:t>
            </a:r>
            <a:endParaRPr b="0" i="0" sz="6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3"/>
          <p:cNvSpPr/>
          <p:nvPr/>
        </p:nvSpPr>
        <p:spPr>
          <a:xfrm>
            <a:off x="1047750" y="2857500"/>
            <a:ext cx="7962900" cy="3962400"/>
          </a:xfrm>
          <a:prstGeom prst="roundRect">
            <a:avLst>
              <a:gd fmla="val 4327" name="adj"/>
            </a:avLst>
          </a:prstGeom>
          <a:solidFill>
            <a:srgbClr val="035595">
              <a:alpha val="3140"/>
            </a:srgbClr>
          </a:solidFill>
          <a:ln cap="flat" cmpd="sng" w="12700">
            <a:solidFill>
              <a:srgbClr val="0355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3"/>
          <p:cNvSpPr/>
          <p:nvPr/>
        </p:nvSpPr>
        <p:spPr>
          <a:xfrm>
            <a:off x="1422400" y="3175000"/>
            <a:ext cx="793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2325"/>
              <a:buFont typeface="Gabarito"/>
              <a:buNone/>
            </a:pPr>
            <a:r>
              <a:rPr b="1" i="0" lang="en-US" sz="2325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Latency — how long one user waits</a:t>
            </a:r>
            <a:endParaRPr b="0" i="0" sz="23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3"/>
          <p:cNvSpPr/>
          <p:nvPr/>
        </p:nvSpPr>
        <p:spPr>
          <a:xfrm>
            <a:off x="1422400" y="3644900"/>
            <a:ext cx="7935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950"/>
              <a:buFont typeface="Gabarito"/>
              <a:buNone/>
            </a:pPr>
            <a:r>
              <a:rPr b="0" i="1" lang="en-US" sz="195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How long does one request take to get a response?</a:t>
            </a:r>
            <a:endParaRPr b="0" i="0" sz="1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33"/>
          <p:cNvSpPr/>
          <p:nvPr/>
        </p:nvSpPr>
        <p:spPr>
          <a:xfrm>
            <a:off x="1422400" y="4213225"/>
            <a:ext cx="85800" cy="85800"/>
          </a:xfrm>
          <a:prstGeom prst="ellipse">
            <a:avLst/>
          </a:prstGeom>
          <a:solidFill>
            <a:srgbClr val="0355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33"/>
          <p:cNvSpPr/>
          <p:nvPr/>
        </p:nvSpPr>
        <p:spPr>
          <a:xfrm>
            <a:off x="1622425" y="4108450"/>
            <a:ext cx="24078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875"/>
              <a:buFont typeface="Gabarito"/>
              <a:buNone/>
            </a:pPr>
            <a:r>
              <a:rPr b="0" i="0" lang="en-US" sz="1875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Measured in seconds</a:t>
            </a:r>
            <a:endParaRPr b="0" i="0" sz="18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33"/>
          <p:cNvSpPr/>
          <p:nvPr/>
        </p:nvSpPr>
        <p:spPr>
          <a:xfrm>
            <a:off x="1422400" y="4619625"/>
            <a:ext cx="85800" cy="85800"/>
          </a:xfrm>
          <a:prstGeom prst="ellipse">
            <a:avLst/>
          </a:prstGeom>
          <a:solidFill>
            <a:srgbClr val="0355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33"/>
          <p:cNvSpPr/>
          <p:nvPr/>
        </p:nvSpPr>
        <p:spPr>
          <a:xfrm>
            <a:off x="1622425" y="4514850"/>
            <a:ext cx="36288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875"/>
              <a:buFont typeface="Gabarito"/>
              <a:buNone/>
            </a:pPr>
            <a:r>
              <a:rPr b="0" i="0" lang="en-US" sz="1875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Lower latency = faster response</a:t>
            </a:r>
            <a:endParaRPr b="0" i="0" sz="18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33"/>
          <p:cNvSpPr/>
          <p:nvPr/>
        </p:nvSpPr>
        <p:spPr>
          <a:xfrm>
            <a:off x="1422400" y="5026025"/>
            <a:ext cx="85800" cy="85800"/>
          </a:xfrm>
          <a:prstGeom prst="ellipse">
            <a:avLst/>
          </a:prstGeom>
          <a:solidFill>
            <a:srgbClr val="0355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33"/>
          <p:cNvSpPr/>
          <p:nvPr/>
        </p:nvSpPr>
        <p:spPr>
          <a:xfrm>
            <a:off x="1622425" y="4921250"/>
            <a:ext cx="49524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875"/>
              <a:buFont typeface="Gabarito"/>
              <a:buNone/>
            </a:pPr>
            <a:r>
              <a:rPr b="0" i="0" lang="en-US" sz="1875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Important for chatbots and interactive apps</a:t>
            </a:r>
            <a:endParaRPr b="0" i="0" sz="18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3"/>
          <p:cNvSpPr/>
          <p:nvPr/>
        </p:nvSpPr>
        <p:spPr>
          <a:xfrm>
            <a:off x="1422400" y="5403850"/>
            <a:ext cx="468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Gabarito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🧍</a:t>
            </a:r>
            <a:endParaRPr b="0" i="0" sz="2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33"/>
          <p:cNvSpPr/>
          <p:nvPr/>
        </p:nvSpPr>
        <p:spPr>
          <a:xfrm>
            <a:off x="1948259" y="5546725"/>
            <a:ext cx="5319900" cy="954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35595"/>
              </a:gs>
              <a:gs pos="60000">
                <a:srgbClr val="035595"/>
              </a:gs>
              <a:gs pos="100000">
                <a:srgbClr val="DAD6C9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33"/>
          <p:cNvSpPr/>
          <p:nvPr/>
        </p:nvSpPr>
        <p:spPr>
          <a:xfrm>
            <a:off x="7401520" y="5448300"/>
            <a:ext cx="13578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7874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0.4s TTFT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33"/>
          <p:cNvSpPr/>
          <p:nvPr/>
        </p:nvSpPr>
        <p:spPr>
          <a:xfrm>
            <a:off x="1422400" y="5956300"/>
            <a:ext cx="7213500" cy="546000"/>
          </a:xfrm>
          <a:prstGeom prst="roundRect">
            <a:avLst>
              <a:gd fmla="val 17442" name="adj"/>
            </a:avLst>
          </a:prstGeom>
          <a:solidFill>
            <a:srgbClr val="035595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3"/>
          <p:cNvSpPr/>
          <p:nvPr/>
        </p:nvSpPr>
        <p:spPr>
          <a:xfrm>
            <a:off x="1612900" y="6089650"/>
            <a:ext cx="7049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800"/>
              <a:buFont typeface="Gabarito"/>
              <a:buNone/>
            </a:pPr>
            <a:r>
              <a:rPr b="1" i="0" lang="en-US" sz="1800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Example: </a:t>
            </a:r>
            <a:r>
              <a:rPr b="0" i="0" lang="en-US" sz="1800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a user waits 0.4 seconds for the first response.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33"/>
          <p:cNvSpPr/>
          <p:nvPr/>
        </p:nvSpPr>
        <p:spPr>
          <a:xfrm>
            <a:off x="9277350" y="2857500"/>
            <a:ext cx="7962900" cy="3962400"/>
          </a:xfrm>
          <a:prstGeom prst="roundRect">
            <a:avLst>
              <a:gd fmla="val 4327" name="adj"/>
            </a:avLst>
          </a:prstGeom>
          <a:solidFill>
            <a:srgbClr val="7A8A5A">
              <a:alpha val="5100"/>
            </a:srgbClr>
          </a:solidFill>
          <a:ln cap="flat" cmpd="sng" w="12700">
            <a:solidFill>
              <a:srgbClr val="6E7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3"/>
          <p:cNvSpPr/>
          <p:nvPr/>
        </p:nvSpPr>
        <p:spPr>
          <a:xfrm>
            <a:off x="9652000" y="3175000"/>
            <a:ext cx="793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2325"/>
              <a:buFont typeface="Gabarito"/>
              <a:buNone/>
            </a:pPr>
            <a:r>
              <a:rPr b="1" i="0" lang="en-US" sz="2325" u="none" cap="none" strike="noStrike">
                <a:solidFill>
                  <a:srgbClr val="4C5A33"/>
                </a:solidFill>
                <a:latin typeface="Gabarito"/>
                <a:ea typeface="Gabarito"/>
                <a:cs typeface="Gabarito"/>
                <a:sym typeface="Gabarito"/>
              </a:rPr>
              <a:t>Throughput — how much the server can handle</a:t>
            </a:r>
            <a:endParaRPr b="0" i="0" sz="23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33"/>
          <p:cNvSpPr/>
          <p:nvPr/>
        </p:nvSpPr>
        <p:spPr>
          <a:xfrm>
            <a:off x="9652000" y="3644900"/>
            <a:ext cx="7935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950"/>
              <a:buFont typeface="Gabarito"/>
              <a:buNone/>
            </a:pPr>
            <a:r>
              <a:rPr b="0" i="1" lang="en-US" sz="195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How many tokens can the server generate per second?</a:t>
            </a:r>
            <a:endParaRPr b="0" i="0" sz="1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33"/>
          <p:cNvSpPr/>
          <p:nvPr/>
        </p:nvSpPr>
        <p:spPr>
          <a:xfrm>
            <a:off x="9652000" y="4213225"/>
            <a:ext cx="85800" cy="85800"/>
          </a:xfrm>
          <a:prstGeom prst="ellipse">
            <a:avLst/>
          </a:prstGeom>
          <a:solidFill>
            <a:srgbClr val="6E7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33"/>
          <p:cNvSpPr/>
          <p:nvPr/>
        </p:nvSpPr>
        <p:spPr>
          <a:xfrm>
            <a:off x="9852025" y="4108450"/>
            <a:ext cx="3147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875"/>
              <a:buFont typeface="Gabarito"/>
              <a:buNone/>
            </a:pPr>
            <a:r>
              <a:rPr b="0" i="0" lang="en-US" sz="1875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Measured in tokens/second</a:t>
            </a:r>
            <a:endParaRPr b="0" i="0" sz="18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33"/>
          <p:cNvSpPr/>
          <p:nvPr/>
        </p:nvSpPr>
        <p:spPr>
          <a:xfrm>
            <a:off x="9652000" y="4619625"/>
            <a:ext cx="85800" cy="85800"/>
          </a:xfrm>
          <a:prstGeom prst="ellipse">
            <a:avLst/>
          </a:prstGeom>
          <a:solidFill>
            <a:srgbClr val="6E7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33"/>
          <p:cNvSpPr/>
          <p:nvPr/>
        </p:nvSpPr>
        <p:spPr>
          <a:xfrm>
            <a:off x="9852025" y="4514850"/>
            <a:ext cx="49074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875"/>
              <a:buFont typeface="Gabarito"/>
              <a:buNone/>
            </a:pPr>
            <a:r>
              <a:rPr b="0" i="0" lang="en-US" sz="1875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Higher throughput = more requests served</a:t>
            </a:r>
            <a:endParaRPr b="0" i="0" sz="18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33"/>
          <p:cNvSpPr/>
          <p:nvPr/>
        </p:nvSpPr>
        <p:spPr>
          <a:xfrm>
            <a:off x="9652000" y="5026025"/>
            <a:ext cx="85800" cy="85800"/>
          </a:xfrm>
          <a:prstGeom prst="ellipse">
            <a:avLst/>
          </a:prstGeom>
          <a:solidFill>
            <a:srgbClr val="6E7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33"/>
          <p:cNvSpPr/>
          <p:nvPr/>
        </p:nvSpPr>
        <p:spPr>
          <a:xfrm>
            <a:off x="9852025" y="4921250"/>
            <a:ext cx="68571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875"/>
              <a:buFont typeface="Gabarito"/>
              <a:buNone/>
            </a:pPr>
            <a:r>
              <a:rPr b="0" i="0" lang="en-US" sz="1875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Important when many users use the server at the same time</a:t>
            </a:r>
            <a:endParaRPr b="0" i="0" sz="18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33"/>
          <p:cNvSpPr/>
          <p:nvPr/>
        </p:nvSpPr>
        <p:spPr>
          <a:xfrm>
            <a:off x="9652000" y="5403850"/>
            <a:ext cx="1253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Gabarito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🧍🧍🧍</a:t>
            </a:r>
            <a:endParaRPr b="0" i="0" sz="2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33"/>
          <p:cNvSpPr/>
          <p:nvPr/>
        </p:nvSpPr>
        <p:spPr>
          <a:xfrm>
            <a:off x="10962482" y="5546725"/>
            <a:ext cx="4260900" cy="95400"/>
          </a:xfrm>
          <a:prstGeom prst="roundRect">
            <a:avLst>
              <a:gd fmla="val 50000" name="adj"/>
            </a:avLst>
          </a:prstGeom>
          <a:solidFill>
            <a:srgbClr val="6E7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33"/>
          <p:cNvSpPr/>
          <p:nvPr/>
        </p:nvSpPr>
        <p:spPr>
          <a:xfrm>
            <a:off x="15356681" y="5448300"/>
            <a:ext cx="16599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7874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5,000 tok/s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33"/>
          <p:cNvSpPr/>
          <p:nvPr/>
        </p:nvSpPr>
        <p:spPr>
          <a:xfrm>
            <a:off x="9652000" y="5956300"/>
            <a:ext cx="7213500" cy="546000"/>
          </a:xfrm>
          <a:prstGeom prst="roundRect">
            <a:avLst>
              <a:gd fmla="val 17442" name="adj"/>
            </a:avLst>
          </a:prstGeom>
          <a:solidFill>
            <a:srgbClr val="7A8A5A">
              <a:alpha val="1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33"/>
          <p:cNvSpPr/>
          <p:nvPr/>
        </p:nvSpPr>
        <p:spPr>
          <a:xfrm>
            <a:off x="9842500" y="6089650"/>
            <a:ext cx="7049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1800"/>
              <a:buFont typeface="Gabarito"/>
              <a:buNone/>
            </a:pPr>
            <a:r>
              <a:rPr b="1" i="0" lang="en-US" sz="1800" u="none" cap="none" strike="noStrike">
                <a:solidFill>
                  <a:srgbClr val="4C5A33"/>
                </a:solidFill>
                <a:latin typeface="Gabarito"/>
                <a:ea typeface="Gabarito"/>
                <a:cs typeface="Gabarito"/>
                <a:sym typeface="Gabarito"/>
              </a:rPr>
              <a:t>Example: </a:t>
            </a:r>
            <a:r>
              <a:rPr b="0" i="0" lang="en-US" sz="1800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the server generates 5,000 tokens/second in total.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33"/>
          <p:cNvSpPr/>
          <p:nvPr/>
        </p:nvSpPr>
        <p:spPr>
          <a:xfrm>
            <a:off x="1047750" y="7524750"/>
            <a:ext cx="16192500" cy="1742700"/>
          </a:xfrm>
          <a:prstGeom prst="roundRect">
            <a:avLst>
              <a:gd fmla="val 8745" name="adj"/>
            </a:avLst>
          </a:prstGeom>
          <a:noFill/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33"/>
          <p:cNvSpPr/>
          <p:nvPr/>
        </p:nvSpPr>
        <p:spPr>
          <a:xfrm>
            <a:off x="1403350" y="7823200"/>
            <a:ext cx="17029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025"/>
              <a:buFont typeface="Gabarito"/>
              <a:buNone/>
            </a:pPr>
            <a:r>
              <a:rPr b="1" i="0" lang="en-US" sz="2025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The trade-off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33"/>
          <p:cNvSpPr/>
          <p:nvPr/>
        </p:nvSpPr>
        <p:spPr>
          <a:xfrm>
            <a:off x="1403350" y="8223250"/>
            <a:ext cx="15945600" cy="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344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2025"/>
              <a:buFont typeface="Gabarito"/>
              <a:buNone/>
            </a:pPr>
            <a:r>
              <a:rPr b="0" i="0" lang="en-US" sz="2025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Serving more users at once can increase throughput, but each user may have to wait longer. </a:t>
            </a:r>
            <a:endParaRPr b="0" i="0" sz="2025" u="none" cap="none" strike="noStrike">
              <a:solidFill>
                <a:srgbClr val="37474F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marR="0" rtl="0" algn="l">
              <a:lnSpc>
                <a:spcPct val="122344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2025"/>
              <a:buFont typeface="Gabarito"/>
              <a:buNone/>
            </a:pPr>
            <a:r>
              <a:rPr b="0" i="0" lang="en-US" sz="2025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vLLM tries to balance both: </a:t>
            </a:r>
            <a:r>
              <a:rPr b="1" i="0" lang="en-US" sz="2025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more tokens per second + a reasonable response time.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79" name="Google Shape;97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092" y="952500"/>
            <a:ext cx="1066768" cy="1304066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34"/>
          <p:cNvSpPr/>
          <p:nvPr/>
        </p:nvSpPr>
        <p:spPr>
          <a:xfrm>
            <a:off x="1047750" y="914301"/>
            <a:ext cx="11586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Concept</a:t>
            </a:r>
            <a:endParaRPr b="0" i="0" sz="2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34"/>
          <p:cNvSpPr/>
          <p:nvPr/>
        </p:nvSpPr>
        <p:spPr>
          <a:xfrm>
            <a:off x="1047750" y="1390551"/>
            <a:ext cx="5740500" cy="10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The KV Cache</a:t>
            </a:r>
            <a:endParaRPr b="0" i="0" sz="6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34"/>
          <p:cNvSpPr/>
          <p:nvPr/>
        </p:nvSpPr>
        <p:spPr>
          <a:xfrm>
            <a:off x="1047750" y="3681313"/>
            <a:ext cx="9810900" cy="2898300"/>
          </a:xfrm>
          <a:prstGeom prst="roundRect">
            <a:avLst>
              <a:gd fmla="val 5258" name="adj"/>
            </a:avLst>
          </a:prstGeom>
          <a:solidFill>
            <a:srgbClr val="C15F3C">
              <a:alpha val="3920"/>
            </a:srgbClr>
          </a:solidFill>
          <a:ln cap="flat" cmpd="sng" w="10575">
            <a:solidFill>
              <a:srgbClr val="C15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34"/>
          <p:cNvSpPr/>
          <p:nvPr/>
        </p:nvSpPr>
        <p:spPr>
          <a:xfrm>
            <a:off x="1324901" y="3901414"/>
            <a:ext cx="10182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5F3C"/>
              </a:buClr>
              <a:buSzPts val="1875"/>
              <a:buFont typeface="Gabarito"/>
              <a:buNone/>
            </a:pPr>
            <a:r>
              <a:rPr b="1" i="0" lang="en-US" sz="1875" u="none" cap="none" strike="noStrike">
                <a:solidFill>
                  <a:srgbClr val="C15F3C"/>
                </a:solidFill>
                <a:latin typeface="Gabarito"/>
                <a:ea typeface="Gabarito"/>
                <a:cs typeface="Gabarito"/>
                <a:sym typeface="Gabarito"/>
              </a:rPr>
              <a:t>Without cache — starts over every time</a:t>
            </a:r>
            <a:endParaRPr b="0" i="0" sz="18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34"/>
          <p:cNvSpPr/>
          <p:nvPr/>
        </p:nvSpPr>
        <p:spPr>
          <a:xfrm>
            <a:off x="1324901" y="4442156"/>
            <a:ext cx="1028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3B21"/>
              </a:buClr>
              <a:buSzPts val="1575"/>
              <a:buFont typeface="Gabarito"/>
              <a:buNone/>
            </a:pPr>
            <a:r>
              <a:rPr b="1" i="0" lang="en-US" sz="1575" u="none" cap="none" strike="noStrike">
                <a:solidFill>
                  <a:srgbClr val="8C3B21"/>
                </a:solidFill>
                <a:latin typeface="Gabarito"/>
                <a:ea typeface="Gabarito"/>
                <a:cs typeface="Gabarito"/>
                <a:sym typeface="Gabarito"/>
              </a:rPr>
              <a:t>Step 1</a:t>
            </a:r>
            <a:endParaRPr b="0" i="0" sz="15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34"/>
          <p:cNvSpPr/>
          <p:nvPr/>
        </p:nvSpPr>
        <p:spPr>
          <a:xfrm>
            <a:off x="2391668" y="4320447"/>
            <a:ext cx="8189700" cy="486900"/>
          </a:xfrm>
          <a:prstGeom prst="roundRect">
            <a:avLst>
              <a:gd fmla="val 15652" name="adj"/>
            </a:avLst>
          </a:prstGeom>
          <a:solidFill>
            <a:srgbClr val="C15F3C">
              <a:alpha val="14900"/>
            </a:srgbClr>
          </a:solidFill>
          <a:ln cap="flat" cmpd="sng" w="10575">
            <a:solidFill>
              <a:srgbClr val="C15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34"/>
          <p:cNvSpPr/>
          <p:nvPr/>
        </p:nvSpPr>
        <p:spPr>
          <a:xfrm>
            <a:off x="2554651" y="4426281"/>
            <a:ext cx="8109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3B21"/>
              </a:buClr>
              <a:buSzPts val="1650"/>
              <a:buFont typeface="JetBrains Mono"/>
              <a:buNone/>
            </a:pPr>
            <a:r>
              <a:rPr b="0" i="0" lang="en-US" sz="1650" u="none" cap="none" strike="noStrike">
                <a:solidFill>
                  <a:srgbClr val="8C3B2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reads: "</a:t>
            </a:r>
            <a:r>
              <a:rPr lang="en-US" sz="1650">
                <a:solidFill>
                  <a:srgbClr val="8C3B2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</a:t>
            </a:r>
            <a:r>
              <a:rPr b="0" i="0" lang="en-US" sz="1650" u="none" cap="none" strike="noStrike">
                <a:solidFill>
                  <a:srgbClr val="8C3B2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endParaRPr b="0" i="0" sz="1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34"/>
          <p:cNvSpPr/>
          <p:nvPr/>
        </p:nvSpPr>
        <p:spPr>
          <a:xfrm>
            <a:off x="1324901" y="5005057"/>
            <a:ext cx="1028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3B21"/>
              </a:buClr>
              <a:buSzPts val="1575"/>
              <a:buFont typeface="Gabarito"/>
              <a:buNone/>
            </a:pPr>
            <a:r>
              <a:rPr b="1" i="0" lang="en-US" sz="1575" u="none" cap="none" strike="noStrike">
                <a:solidFill>
                  <a:srgbClr val="8C3B21"/>
                </a:solidFill>
                <a:latin typeface="Gabarito"/>
                <a:ea typeface="Gabarito"/>
                <a:cs typeface="Gabarito"/>
                <a:sym typeface="Gabarito"/>
              </a:rPr>
              <a:t>Step 2</a:t>
            </a:r>
            <a:endParaRPr b="0" i="0" sz="15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34"/>
          <p:cNvSpPr/>
          <p:nvPr/>
        </p:nvSpPr>
        <p:spPr>
          <a:xfrm>
            <a:off x="2391668" y="4883348"/>
            <a:ext cx="8189700" cy="486900"/>
          </a:xfrm>
          <a:prstGeom prst="roundRect">
            <a:avLst>
              <a:gd fmla="val 15652" name="adj"/>
            </a:avLst>
          </a:prstGeom>
          <a:solidFill>
            <a:srgbClr val="C15F3C">
              <a:alpha val="14900"/>
            </a:srgbClr>
          </a:solidFill>
          <a:ln cap="flat" cmpd="sng" w="10575">
            <a:solidFill>
              <a:srgbClr val="C15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34"/>
          <p:cNvSpPr/>
          <p:nvPr/>
        </p:nvSpPr>
        <p:spPr>
          <a:xfrm>
            <a:off x="2554651" y="4989182"/>
            <a:ext cx="8109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3B21"/>
              </a:buClr>
              <a:buSzPts val="1650"/>
              <a:buFont typeface="JetBrains Mono"/>
              <a:buNone/>
            </a:pPr>
            <a:r>
              <a:rPr b="0" i="0" lang="en-US" sz="1650" u="none" cap="none" strike="noStrike">
                <a:solidFill>
                  <a:srgbClr val="8C3B2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re-reads: "</a:t>
            </a:r>
            <a:r>
              <a:rPr lang="en-US" sz="1650">
                <a:solidFill>
                  <a:srgbClr val="8C3B2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is</a:t>
            </a:r>
            <a:r>
              <a:rPr b="0" i="0" lang="en-US" sz="1650" u="none" cap="none" strike="noStrike">
                <a:solidFill>
                  <a:srgbClr val="8C3B2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 (again)</a:t>
            </a:r>
            <a:endParaRPr b="0" i="0" sz="1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34"/>
          <p:cNvSpPr/>
          <p:nvPr/>
        </p:nvSpPr>
        <p:spPr>
          <a:xfrm>
            <a:off x="1324901" y="5567958"/>
            <a:ext cx="1028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3B21"/>
              </a:buClr>
              <a:buSzPts val="1575"/>
              <a:buFont typeface="Gabarito"/>
              <a:buNone/>
            </a:pPr>
            <a:r>
              <a:rPr b="1" i="0" lang="en-US" sz="1575" u="none" cap="none" strike="noStrike">
                <a:solidFill>
                  <a:srgbClr val="8C3B21"/>
                </a:solidFill>
                <a:latin typeface="Gabarito"/>
                <a:ea typeface="Gabarito"/>
                <a:cs typeface="Gabarito"/>
                <a:sym typeface="Gabarito"/>
              </a:rPr>
              <a:t>Step 3</a:t>
            </a:r>
            <a:endParaRPr b="0" i="0" sz="15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34"/>
          <p:cNvSpPr/>
          <p:nvPr/>
        </p:nvSpPr>
        <p:spPr>
          <a:xfrm>
            <a:off x="2391668" y="5446249"/>
            <a:ext cx="8189700" cy="486900"/>
          </a:xfrm>
          <a:prstGeom prst="roundRect">
            <a:avLst>
              <a:gd fmla="val 15652" name="adj"/>
            </a:avLst>
          </a:prstGeom>
          <a:solidFill>
            <a:srgbClr val="C15F3C">
              <a:alpha val="14900"/>
            </a:srgbClr>
          </a:solidFill>
          <a:ln cap="flat" cmpd="sng" w="10575">
            <a:solidFill>
              <a:srgbClr val="C15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34"/>
          <p:cNvSpPr/>
          <p:nvPr/>
        </p:nvSpPr>
        <p:spPr>
          <a:xfrm>
            <a:off x="2554651" y="5552083"/>
            <a:ext cx="8109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3B21"/>
              </a:buClr>
              <a:buSzPts val="1650"/>
              <a:buFont typeface="JetBrains Mono"/>
              <a:buNone/>
            </a:pPr>
            <a:r>
              <a:rPr b="0" i="0" lang="en-US" sz="1650" u="none" cap="none" strike="noStrike">
                <a:solidFill>
                  <a:srgbClr val="8C3B2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re-reads: "</a:t>
            </a:r>
            <a:r>
              <a:rPr lang="en-US" sz="1650">
                <a:solidFill>
                  <a:srgbClr val="8C3B2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is LLM</a:t>
            </a:r>
            <a:r>
              <a:rPr b="0" i="0" lang="en-US" sz="1650" u="none" cap="none" strike="noStrike">
                <a:solidFill>
                  <a:srgbClr val="8C3B2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 (again)</a:t>
            </a:r>
            <a:endParaRPr b="0" i="0" sz="1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34"/>
          <p:cNvSpPr/>
          <p:nvPr/>
        </p:nvSpPr>
        <p:spPr>
          <a:xfrm>
            <a:off x="1324901" y="6066367"/>
            <a:ext cx="101820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650"/>
              <a:buFont typeface="Gabarito"/>
              <a:buNone/>
            </a:pPr>
            <a:r>
              <a:rPr b="0" i="0" lang="en-US" sz="165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Every new word starts over from the beginning — slower and slower.</a:t>
            </a:r>
            <a:endParaRPr b="0" i="0" sz="1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34"/>
          <p:cNvSpPr/>
          <p:nvPr/>
        </p:nvSpPr>
        <p:spPr>
          <a:xfrm>
            <a:off x="1047750" y="6770158"/>
            <a:ext cx="9810900" cy="2898300"/>
          </a:xfrm>
          <a:prstGeom prst="roundRect">
            <a:avLst>
              <a:gd fmla="val 5258" name="adj"/>
            </a:avLst>
          </a:prstGeom>
          <a:solidFill>
            <a:srgbClr val="7A8A5A">
              <a:alpha val="5100"/>
            </a:srgbClr>
          </a:solidFill>
          <a:ln cap="flat" cmpd="sng" w="10575">
            <a:solidFill>
              <a:srgbClr val="6E7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34"/>
          <p:cNvSpPr/>
          <p:nvPr/>
        </p:nvSpPr>
        <p:spPr>
          <a:xfrm>
            <a:off x="1324901" y="6990259"/>
            <a:ext cx="10182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1875"/>
              <a:buFont typeface="Gabarito"/>
              <a:buNone/>
            </a:pPr>
            <a:r>
              <a:rPr b="1" i="0" lang="en-US" sz="1875" u="none" cap="none" strike="noStrike">
                <a:solidFill>
                  <a:srgbClr val="4C5A33"/>
                </a:solidFill>
                <a:latin typeface="Gabarito"/>
                <a:ea typeface="Gabarito"/>
                <a:cs typeface="Gabarito"/>
                <a:sym typeface="Gabarito"/>
              </a:rPr>
              <a:t>With cache — only reads what's new</a:t>
            </a:r>
            <a:endParaRPr b="0" i="0" sz="18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34"/>
          <p:cNvSpPr/>
          <p:nvPr/>
        </p:nvSpPr>
        <p:spPr>
          <a:xfrm>
            <a:off x="1324901" y="7531001"/>
            <a:ext cx="1028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1575"/>
              <a:buFont typeface="Gabarito"/>
              <a:buNone/>
            </a:pPr>
            <a:r>
              <a:rPr b="1" i="0" lang="en-US" sz="1575" u="none" cap="none" strike="noStrike">
                <a:solidFill>
                  <a:srgbClr val="4C5A33"/>
                </a:solidFill>
                <a:latin typeface="Gabarito"/>
                <a:ea typeface="Gabarito"/>
                <a:cs typeface="Gabarito"/>
                <a:sym typeface="Gabarito"/>
              </a:rPr>
              <a:t>Step 1</a:t>
            </a:r>
            <a:endParaRPr b="0" i="0" sz="15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34"/>
          <p:cNvSpPr/>
          <p:nvPr/>
        </p:nvSpPr>
        <p:spPr>
          <a:xfrm>
            <a:off x="2391668" y="7409292"/>
            <a:ext cx="8189700" cy="486900"/>
          </a:xfrm>
          <a:prstGeom prst="roundRect">
            <a:avLst>
              <a:gd fmla="val 15652" name="adj"/>
            </a:avLst>
          </a:prstGeom>
          <a:solidFill>
            <a:srgbClr val="7A8A5A">
              <a:alpha val="14900"/>
            </a:srgbClr>
          </a:solidFill>
          <a:ln cap="flat" cmpd="sng" w="10575">
            <a:solidFill>
              <a:srgbClr val="6E7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34"/>
          <p:cNvSpPr/>
          <p:nvPr/>
        </p:nvSpPr>
        <p:spPr>
          <a:xfrm>
            <a:off x="2554651" y="7515126"/>
            <a:ext cx="8109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1650"/>
              <a:buFont typeface="JetBrains Mono"/>
              <a:buNone/>
            </a:pPr>
            <a:r>
              <a:rPr b="0" i="0" lang="en-US" sz="1650" u="none" cap="none" strike="noStrike">
                <a:solidFill>
                  <a:srgbClr val="4C5A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reads "</a:t>
            </a:r>
            <a:r>
              <a:rPr lang="en-US" sz="1650">
                <a:solidFill>
                  <a:srgbClr val="4C5A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</a:t>
            </a:r>
            <a:r>
              <a:rPr b="0" i="0" lang="en-US" sz="1650" u="none" cap="none" strike="noStrike">
                <a:solidFill>
                  <a:srgbClr val="4C5A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", saves notes</a:t>
            </a:r>
            <a:endParaRPr b="0" i="0" sz="1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34"/>
          <p:cNvSpPr/>
          <p:nvPr/>
        </p:nvSpPr>
        <p:spPr>
          <a:xfrm>
            <a:off x="1324901" y="8093902"/>
            <a:ext cx="1028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1575"/>
              <a:buFont typeface="Gabarito"/>
              <a:buNone/>
            </a:pPr>
            <a:r>
              <a:rPr b="1" i="0" lang="en-US" sz="1575" u="none" cap="none" strike="noStrike">
                <a:solidFill>
                  <a:srgbClr val="4C5A33"/>
                </a:solidFill>
                <a:latin typeface="Gabarito"/>
                <a:ea typeface="Gabarito"/>
                <a:cs typeface="Gabarito"/>
                <a:sym typeface="Gabarito"/>
              </a:rPr>
              <a:t>Step 2</a:t>
            </a:r>
            <a:endParaRPr b="0" i="0" sz="15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34"/>
          <p:cNvSpPr/>
          <p:nvPr/>
        </p:nvSpPr>
        <p:spPr>
          <a:xfrm>
            <a:off x="2391668" y="7972194"/>
            <a:ext cx="8189700" cy="486900"/>
          </a:xfrm>
          <a:prstGeom prst="roundRect">
            <a:avLst>
              <a:gd fmla="val 15652" name="adj"/>
            </a:avLst>
          </a:prstGeom>
          <a:solidFill>
            <a:srgbClr val="7A8A5A">
              <a:alpha val="14900"/>
            </a:srgbClr>
          </a:solidFill>
          <a:ln cap="flat" cmpd="sng" w="10575">
            <a:solidFill>
              <a:srgbClr val="6E7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34"/>
          <p:cNvSpPr/>
          <p:nvPr/>
        </p:nvSpPr>
        <p:spPr>
          <a:xfrm>
            <a:off x="2554651" y="8078027"/>
            <a:ext cx="8109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1650"/>
              <a:buFont typeface="JetBrains Mono"/>
              <a:buNone/>
            </a:pPr>
            <a:r>
              <a:rPr b="0" i="0" lang="en-US" sz="1650" u="none" cap="none" strike="noStrike">
                <a:solidFill>
                  <a:srgbClr val="4C5A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reuses notes + reads only "</a:t>
            </a:r>
            <a:r>
              <a:rPr lang="en-US" sz="1650">
                <a:solidFill>
                  <a:srgbClr val="4C5A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</a:t>
            </a:r>
            <a:r>
              <a:rPr b="0" i="0" lang="en-US" sz="1650" u="none" cap="none" strike="noStrike">
                <a:solidFill>
                  <a:srgbClr val="4C5A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endParaRPr b="0" i="0" sz="1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34"/>
          <p:cNvSpPr/>
          <p:nvPr/>
        </p:nvSpPr>
        <p:spPr>
          <a:xfrm>
            <a:off x="1324901" y="8656803"/>
            <a:ext cx="1028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1575"/>
              <a:buFont typeface="Gabarito"/>
              <a:buNone/>
            </a:pPr>
            <a:r>
              <a:rPr b="1" i="0" lang="en-US" sz="1575" u="none" cap="none" strike="noStrike">
                <a:solidFill>
                  <a:srgbClr val="4C5A33"/>
                </a:solidFill>
                <a:latin typeface="Gabarito"/>
                <a:ea typeface="Gabarito"/>
                <a:cs typeface="Gabarito"/>
                <a:sym typeface="Gabarito"/>
              </a:rPr>
              <a:t>Step 3</a:t>
            </a:r>
            <a:endParaRPr b="0" i="0" sz="15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34"/>
          <p:cNvSpPr/>
          <p:nvPr/>
        </p:nvSpPr>
        <p:spPr>
          <a:xfrm>
            <a:off x="2391668" y="8535095"/>
            <a:ext cx="8189700" cy="486900"/>
          </a:xfrm>
          <a:prstGeom prst="roundRect">
            <a:avLst>
              <a:gd fmla="val 15652" name="adj"/>
            </a:avLst>
          </a:prstGeom>
          <a:solidFill>
            <a:srgbClr val="7A8A5A">
              <a:alpha val="14900"/>
            </a:srgbClr>
          </a:solidFill>
          <a:ln cap="flat" cmpd="sng" w="10575">
            <a:solidFill>
              <a:srgbClr val="6E7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34"/>
          <p:cNvSpPr/>
          <p:nvPr/>
        </p:nvSpPr>
        <p:spPr>
          <a:xfrm>
            <a:off x="2554651" y="8640928"/>
            <a:ext cx="8109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1650"/>
              <a:buFont typeface="JetBrains Mono"/>
              <a:buNone/>
            </a:pPr>
            <a:r>
              <a:rPr b="0" i="0" lang="en-US" sz="1650" u="none" cap="none" strike="noStrike">
                <a:solidFill>
                  <a:srgbClr val="4C5A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reuses notes + reads only "</a:t>
            </a:r>
            <a:r>
              <a:rPr lang="en-US" sz="1650">
                <a:solidFill>
                  <a:srgbClr val="4C5A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LLM</a:t>
            </a:r>
            <a:r>
              <a:rPr b="0" i="0" lang="en-US" sz="1650" u="none" cap="none" strike="noStrike">
                <a:solidFill>
                  <a:srgbClr val="4C5A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endParaRPr b="0" i="0" sz="1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34"/>
          <p:cNvSpPr/>
          <p:nvPr/>
        </p:nvSpPr>
        <p:spPr>
          <a:xfrm>
            <a:off x="1324901" y="9155211"/>
            <a:ext cx="101820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650"/>
              <a:buFont typeface="Gabarito"/>
              <a:buNone/>
            </a:pPr>
            <a:r>
              <a:rPr b="0" i="0" lang="en-US" sz="165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Old words are never re-read — only the new one, every time.</a:t>
            </a:r>
            <a:endParaRPr b="0" i="0" sz="1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34"/>
          <p:cNvSpPr/>
          <p:nvPr/>
        </p:nvSpPr>
        <p:spPr>
          <a:xfrm>
            <a:off x="11334750" y="3681313"/>
            <a:ext cx="5905500" cy="1908000"/>
          </a:xfrm>
          <a:prstGeom prst="roundRect">
            <a:avLst>
              <a:gd fmla="val 7988" name="adj"/>
            </a:avLst>
          </a:prstGeom>
          <a:noFill/>
          <a:ln cap="flat" cmpd="sng" w="10575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34"/>
          <p:cNvSpPr/>
          <p:nvPr/>
        </p:nvSpPr>
        <p:spPr>
          <a:xfrm>
            <a:off x="11650101" y="3939447"/>
            <a:ext cx="58023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WHY IT EXISTS</a:t>
            </a:r>
            <a:endParaRPr b="0" i="0" sz="1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34"/>
          <p:cNvSpPr/>
          <p:nvPr/>
        </p:nvSpPr>
        <p:spPr>
          <a:xfrm>
            <a:off x="11650101" y="4331031"/>
            <a:ext cx="54330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75"/>
              <a:buFont typeface="Gabarito"/>
              <a:buNone/>
            </a:pPr>
            <a:r>
              <a:rPr b="0" i="0" lang="en-US" sz="187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The model writes one word at a time. Without notes, every new word means reading everything before it again.</a:t>
            </a:r>
            <a:endParaRPr b="0" i="0" sz="18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34"/>
          <p:cNvSpPr/>
          <p:nvPr/>
        </p:nvSpPr>
        <p:spPr>
          <a:xfrm>
            <a:off x="11334750" y="5817824"/>
            <a:ext cx="5905500" cy="1908000"/>
          </a:xfrm>
          <a:prstGeom prst="roundRect">
            <a:avLst>
              <a:gd fmla="val 7988" name="adj"/>
            </a:avLst>
          </a:prstGeom>
          <a:solidFill>
            <a:srgbClr val="C15F3C">
              <a:alpha val="3920"/>
            </a:srgbClr>
          </a:solidFill>
          <a:ln cap="flat" cmpd="sng" w="10575">
            <a:solidFill>
              <a:srgbClr val="C15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34"/>
          <p:cNvSpPr/>
          <p:nvPr/>
        </p:nvSpPr>
        <p:spPr>
          <a:xfrm>
            <a:off x="11650101" y="6075958"/>
            <a:ext cx="58023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5F3C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C15F3C"/>
                </a:solidFill>
                <a:latin typeface="Gabarito"/>
                <a:ea typeface="Gabarito"/>
                <a:cs typeface="Gabarito"/>
                <a:sym typeface="Gabarito"/>
              </a:rPr>
              <a:t>THE PROBLEM</a:t>
            </a:r>
            <a:endParaRPr b="0" i="0" sz="1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34"/>
          <p:cNvSpPr/>
          <p:nvPr/>
        </p:nvSpPr>
        <p:spPr>
          <a:xfrm>
            <a:off x="11650101" y="6467541"/>
            <a:ext cx="54330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75"/>
              <a:buFont typeface="Gabarito"/>
              <a:buNone/>
            </a:pPr>
            <a:r>
              <a:rPr b="0" i="0" lang="en-US" sz="187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These saved notes</a:t>
            </a:r>
            <a:r>
              <a:rPr lang="en-US" sz="187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 -</a:t>
            </a:r>
            <a:r>
              <a:rPr b="0" i="0" lang="en-US" sz="187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 not the model itself </a:t>
            </a:r>
            <a:r>
              <a:rPr lang="en-US" sz="187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- </a:t>
            </a:r>
            <a:r>
              <a:rPr b="0" i="0" lang="en-US" sz="187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fill up GPU memory first. Managing them well is</a:t>
            </a:r>
            <a:r>
              <a:rPr lang="en-US" sz="187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 necessary.</a:t>
            </a:r>
            <a:endParaRPr b="0" i="0" sz="18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34"/>
          <p:cNvSpPr/>
          <p:nvPr/>
        </p:nvSpPr>
        <p:spPr>
          <a:xfrm>
            <a:off x="11334750" y="7954334"/>
            <a:ext cx="5905500" cy="1908000"/>
          </a:xfrm>
          <a:prstGeom prst="roundRect">
            <a:avLst>
              <a:gd fmla="val 7988" name="adj"/>
            </a:avLst>
          </a:prstGeom>
          <a:noFill/>
          <a:ln cap="flat" cmpd="sng" w="10575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34"/>
          <p:cNvSpPr/>
          <p:nvPr/>
        </p:nvSpPr>
        <p:spPr>
          <a:xfrm>
            <a:off x="11650101" y="8212468"/>
            <a:ext cx="58023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HOW BIG IS IT?</a:t>
            </a:r>
            <a:endParaRPr b="0" i="0" sz="1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34"/>
          <p:cNvSpPr/>
          <p:nvPr/>
        </p:nvSpPr>
        <p:spPr>
          <a:xfrm>
            <a:off x="11650100" y="8604050"/>
            <a:ext cx="50781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75"/>
              <a:buFont typeface="Gabarito"/>
              <a:buNone/>
            </a:pPr>
            <a:r>
              <a:rPr lang="en-US" sz="1875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Longer conversations require more GPU memory because the model needs to remember more previous text. </a:t>
            </a:r>
            <a:endParaRPr b="0" i="0" sz="18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34"/>
          <p:cNvSpPr/>
          <p:nvPr/>
        </p:nvSpPr>
        <p:spPr>
          <a:xfrm>
            <a:off x="1047750" y="2512650"/>
            <a:ext cx="161925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27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550"/>
              <a:buFont typeface="Gabarito"/>
              <a:buNone/>
            </a:pPr>
            <a:r>
              <a:rPr b="0" i="0" lang="en-US" sz="2400" u="none" cap="none" strike="noStrike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The model's </a:t>
            </a:r>
            <a:r>
              <a:rPr b="1" i="0" lang="en-US" sz="2400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reading notes </a:t>
            </a:r>
            <a:r>
              <a:rPr b="0" i="0" lang="en-US" sz="2400" u="none" cap="none" strike="noStrike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— for every token it has seen, it stores Key/Value vectors so it never re-reads the conversation from scratch.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21" name="Google Shape;102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092" y="952500"/>
            <a:ext cx="1066768" cy="1304066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35"/>
          <p:cNvSpPr/>
          <p:nvPr/>
        </p:nvSpPr>
        <p:spPr>
          <a:xfrm>
            <a:off x="1047750" y="914301"/>
            <a:ext cx="11586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Concept</a:t>
            </a:r>
            <a:endParaRPr b="0" i="0" sz="2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35"/>
          <p:cNvSpPr/>
          <p:nvPr/>
        </p:nvSpPr>
        <p:spPr>
          <a:xfrm>
            <a:off x="1047750" y="1390551"/>
            <a:ext cx="6415200" cy="10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PagedAttention</a:t>
            </a:r>
            <a:endParaRPr b="0" i="0" sz="6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35"/>
          <p:cNvSpPr/>
          <p:nvPr/>
        </p:nvSpPr>
        <p:spPr>
          <a:xfrm>
            <a:off x="1047750" y="3913550"/>
            <a:ext cx="7962900" cy="4099800"/>
          </a:xfrm>
          <a:prstGeom prst="roundRect">
            <a:avLst>
              <a:gd fmla="val 3559" name="adj"/>
            </a:avLst>
          </a:prstGeom>
          <a:solidFill>
            <a:srgbClr val="C15F3C">
              <a:alpha val="3920"/>
            </a:srgbClr>
          </a:solidFill>
          <a:ln cap="flat" cmpd="sng" w="10575">
            <a:solidFill>
              <a:srgbClr val="C15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35"/>
          <p:cNvSpPr/>
          <p:nvPr/>
        </p:nvSpPr>
        <p:spPr>
          <a:xfrm>
            <a:off x="1363100" y="4190701"/>
            <a:ext cx="80655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5F3C"/>
              </a:buClr>
              <a:buSzPts val="1950"/>
              <a:buFont typeface="Gabarito"/>
              <a:buNone/>
            </a:pPr>
            <a:r>
              <a:rPr b="1" i="0" lang="en-US" sz="2350" u="none" cap="none" strike="noStrike">
                <a:solidFill>
                  <a:srgbClr val="C15F3C"/>
                </a:solidFill>
                <a:latin typeface="Gabarito"/>
                <a:ea typeface="Gabarito"/>
                <a:cs typeface="Gabarito"/>
                <a:sym typeface="Gabarito"/>
              </a:rPr>
              <a:t>Old way — reserve a big block per </a:t>
            </a:r>
            <a:r>
              <a:rPr b="1" lang="en-US" sz="2350">
                <a:solidFill>
                  <a:srgbClr val="C15F3C"/>
                </a:solidFill>
                <a:latin typeface="Gabarito"/>
                <a:ea typeface="Gabarito"/>
                <a:cs typeface="Gabarito"/>
                <a:sym typeface="Gabarito"/>
              </a:rPr>
              <a:t>request</a:t>
            </a:r>
            <a:endParaRPr b="0" i="0" sz="2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35"/>
          <p:cNvSpPr/>
          <p:nvPr/>
        </p:nvSpPr>
        <p:spPr>
          <a:xfrm>
            <a:off x="1363100" y="5891028"/>
            <a:ext cx="15717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650"/>
              <a:buFont typeface="Gabarito"/>
              <a:buNone/>
            </a:pPr>
            <a:r>
              <a:rPr b="1" lang="en-US" sz="1650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Request A</a:t>
            </a:r>
            <a:endParaRPr b="0" i="0" sz="1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35"/>
          <p:cNvSpPr/>
          <p:nvPr/>
        </p:nvSpPr>
        <p:spPr>
          <a:xfrm>
            <a:off x="2925134" y="5827527"/>
            <a:ext cx="900000" cy="381000"/>
          </a:xfrm>
          <a:prstGeom prst="roundRect">
            <a:avLst>
              <a:gd fmla="val 15000" name="adj"/>
            </a:avLst>
          </a:prstGeom>
          <a:solidFill>
            <a:srgbClr val="C15F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35"/>
          <p:cNvSpPr/>
          <p:nvPr/>
        </p:nvSpPr>
        <p:spPr>
          <a:xfrm>
            <a:off x="3882099" y="5827527"/>
            <a:ext cx="900000" cy="381000"/>
          </a:xfrm>
          <a:prstGeom prst="roundRect">
            <a:avLst>
              <a:gd fmla="val 15000" name="adj"/>
            </a:avLst>
          </a:prstGeom>
          <a:solidFill>
            <a:srgbClr val="C15F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35"/>
          <p:cNvSpPr/>
          <p:nvPr/>
        </p:nvSpPr>
        <p:spPr>
          <a:xfrm>
            <a:off x="4839229" y="5827527"/>
            <a:ext cx="921300" cy="381000"/>
          </a:xfrm>
          <a:prstGeom prst="roundRect">
            <a:avLst>
              <a:gd fmla="val 15000" name="adj"/>
            </a:avLst>
          </a:prstGeom>
          <a:solidFill>
            <a:srgbClr val="C15F3C">
              <a:alpha val="12160"/>
            </a:srgbClr>
          </a:solidFill>
          <a:ln cap="flat" cmpd="sng" w="10575">
            <a:solidFill>
              <a:srgbClr val="C15F3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35"/>
          <p:cNvSpPr/>
          <p:nvPr/>
        </p:nvSpPr>
        <p:spPr>
          <a:xfrm>
            <a:off x="5817526" y="5827527"/>
            <a:ext cx="921300" cy="381000"/>
          </a:xfrm>
          <a:prstGeom prst="roundRect">
            <a:avLst>
              <a:gd fmla="val 15000" name="adj"/>
            </a:avLst>
          </a:prstGeom>
          <a:solidFill>
            <a:srgbClr val="C15F3C">
              <a:alpha val="12160"/>
            </a:srgbClr>
          </a:solidFill>
          <a:ln cap="flat" cmpd="sng" w="10575">
            <a:solidFill>
              <a:srgbClr val="C15F3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35"/>
          <p:cNvSpPr/>
          <p:nvPr/>
        </p:nvSpPr>
        <p:spPr>
          <a:xfrm>
            <a:off x="6795823" y="5827527"/>
            <a:ext cx="921300" cy="381000"/>
          </a:xfrm>
          <a:prstGeom prst="roundRect">
            <a:avLst>
              <a:gd fmla="val 15000" name="adj"/>
            </a:avLst>
          </a:prstGeom>
          <a:solidFill>
            <a:srgbClr val="C15F3C">
              <a:alpha val="12160"/>
            </a:srgbClr>
          </a:solidFill>
          <a:ln cap="flat" cmpd="sng" w="10575">
            <a:solidFill>
              <a:srgbClr val="C15F3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35"/>
          <p:cNvSpPr/>
          <p:nvPr/>
        </p:nvSpPr>
        <p:spPr>
          <a:xfrm>
            <a:off x="7774120" y="5827527"/>
            <a:ext cx="921300" cy="381000"/>
          </a:xfrm>
          <a:prstGeom prst="roundRect">
            <a:avLst>
              <a:gd fmla="val 15000" name="adj"/>
            </a:avLst>
          </a:prstGeom>
          <a:solidFill>
            <a:srgbClr val="C15F3C">
              <a:alpha val="12160"/>
            </a:srgbClr>
          </a:solidFill>
          <a:ln cap="flat" cmpd="sng" w="10575">
            <a:solidFill>
              <a:srgbClr val="C15F3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35"/>
          <p:cNvSpPr/>
          <p:nvPr/>
        </p:nvSpPr>
        <p:spPr>
          <a:xfrm>
            <a:off x="1363100" y="6424328"/>
            <a:ext cx="15717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650"/>
              <a:buFont typeface="Gabarito"/>
              <a:buNone/>
            </a:pPr>
            <a:r>
              <a:rPr b="1" lang="en-US" sz="1650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Request </a:t>
            </a:r>
            <a:r>
              <a:rPr b="1" i="0" lang="en-US" sz="165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B</a:t>
            </a:r>
            <a:endParaRPr b="0" i="0" sz="1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35"/>
          <p:cNvSpPr/>
          <p:nvPr/>
        </p:nvSpPr>
        <p:spPr>
          <a:xfrm>
            <a:off x="2925134" y="6360828"/>
            <a:ext cx="896400" cy="381000"/>
          </a:xfrm>
          <a:prstGeom prst="roundRect">
            <a:avLst>
              <a:gd fmla="val 15000" name="adj"/>
            </a:avLst>
          </a:prstGeom>
          <a:solidFill>
            <a:srgbClr val="C15F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35"/>
          <p:cNvSpPr/>
          <p:nvPr/>
        </p:nvSpPr>
        <p:spPr>
          <a:xfrm>
            <a:off x="3878627" y="6360828"/>
            <a:ext cx="917700" cy="381000"/>
          </a:xfrm>
          <a:prstGeom prst="roundRect">
            <a:avLst>
              <a:gd fmla="val 15000" name="adj"/>
            </a:avLst>
          </a:prstGeom>
          <a:solidFill>
            <a:srgbClr val="C15F3C">
              <a:alpha val="12160"/>
            </a:srgbClr>
          </a:solidFill>
          <a:ln cap="flat" cmpd="sng" w="10575">
            <a:solidFill>
              <a:srgbClr val="C15F3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35"/>
          <p:cNvSpPr/>
          <p:nvPr/>
        </p:nvSpPr>
        <p:spPr>
          <a:xfrm>
            <a:off x="4853451" y="6360828"/>
            <a:ext cx="917700" cy="381000"/>
          </a:xfrm>
          <a:prstGeom prst="roundRect">
            <a:avLst>
              <a:gd fmla="val 15000" name="adj"/>
            </a:avLst>
          </a:prstGeom>
          <a:solidFill>
            <a:srgbClr val="C15F3C">
              <a:alpha val="12160"/>
            </a:srgbClr>
          </a:solidFill>
          <a:ln cap="flat" cmpd="sng" w="10575">
            <a:solidFill>
              <a:srgbClr val="C15F3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35"/>
          <p:cNvSpPr/>
          <p:nvPr/>
        </p:nvSpPr>
        <p:spPr>
          <a:xfrm>
            <a:off x="5828109" y="6360828"/>
            <a:ext cx="917700" cy="381000"/>
          </a:xfrm>
          <a:prstGeom prst="roundRect">
            <a:avLst>
              <a:gd fmla="val 15000" name="adj"/>
            </a:avLst>
          </a:prstGeom>
          <a:solidFill>
            <a:srgbClr val="C15F3C">
              <a:alpha val="12160"/>
            </a:srgbClr>
          </a:solidFill>
          <a:ln cap="flat" cmpd="sng" w="10575">
            <a:solidFill>
              <a:srgbClr val="C15F3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35"/>
          <p:cNvSpPr/>
          <p:nvPr/>
        </p:nvSpPr>
        <p:spPr>
          <a:xfrm>
            <a:off x="6802934" y="6360828"/>
            <a:ext cx="917700" cy="381000"/>
          </a:xfrm>
          <a:prstGeom prst="roundRect">
            <a:avLst>
              <a:gd fmla="val 15000" name="adj"/>
            </a:avLst>
          </a:prstGeom>
          <a:solidFill>
            <a:srgbClr val="C15F3C">
              <a:alpha val="12160"/>
            </a:srgbClr>
          </a:solidFill>
          <a:ln cap="flat" cmpd="sng" w="10575">
            <a:solidFill>
              <a:srgbClr val="C15F3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35"/>
          <p:cNvSpPr/>
          <p:nvPr/>
        </p:nvSpPr>
        <p:spPr>
          <a:xfrm>
            <a:off x="7777593" y="6360828"/>
            <a:ext cx="917700" cy="381000"/>
          </a:xfrm>
          <a:prstGeom prst="roundRect">
            <a:avLst>
              <a:gd fmla="val 15000" name="adj"/>
            </a:avLst>
          </a:prstGeom>
          <a:solidFill>
            <a:srgbClr val="C15F3C">
              <a:alpha val="12160"/>
            </a:srgbClr>
          </a:solidFill>
          <a:ln cap="flat" cmpd="sng" w="10575">
            <a:solidFill>
              <a:srgbClr val="C15F3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35"/>
          <p:cNvSpPr/>
          <p:nvPr/>
        </p:nvSpPr>
        <p:spPr>
          <a:xfrm>
            <a:off x="1363100" y="6957629"/>
            <a:ext cx="15717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650"/>
              <a:buFont typeface="Gabarito"/>
              <a:buNone/>
            </a:pPr>
            <a:r>
              <a:rPr b="1" lang="en-US" sz="1650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Request </a:t>
            </a:r>
            <a:r>
              <a:rPr b="1" i="0" lang="en-US" sz="165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C</a:t>
            </a:r>
            <a:endParaRPr b="0" i="0" sz="1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35"/>
          <p:cNvSpPr/>
          <p:nvPr/>
        </p:nvSpPr>
        <p:spPr>
          <a:xfrm>
            <a:off x="2925134" y="6894129"/>
            <a:ext cx="903600" cy="381000"/>
          </a:xfrm>
          <a:prstGeom prst="roundRect">
            <a:avLst>
              <a:gd fmla="val 15000" name="adj"/>
            </a:avLst>
          </a:prstGeom>
          <a:solidFill>
            <a:srgbClr val="C15F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35"/>
          <p:cNvSpPr/>
          <p:nvPr/>
        </p:nvSpPr>
        <p:spPr>
          <a:xfrm>
            <a:off x="3885737" y="6894129"/>
            <a:ext cx="903600" cy="381000"/>
          </a:xfrm>
          <a:prstGeom prst="roundRect">
            <a:avLst>
              <a:gd fmla="val 15000" name="adj"/>
            </a:avLst>
          </a:prstGeom>
          <a:solidFill>
            <a:srgbClr val="C15F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35"/>
          <p:cNvSpPr/>
          <p:nvPr/>
        </p:nvSpPr>
        <p:spPr>
          <a:xfrm>
            <a:off x="4846505" y="6894129"/>
            <a:ext cx="903600" cy="381000"/>
          </a:xfrm>
          <a:prstGeom prst="roundRect">
            <a:avLst>
              <a:gd fmla="val 15000" name="adj"/>
            </a:avLst>
          </a:prstGeom>
          <a:solidFill>
            <a:srgbClr val="C15F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35"/>
          <p:cNvSpPr/>
          <p:nvPr/>
        </p:nvSpPr>
        <p:spPr>
          <a:xfrm>
            <a:off x="5807108" y="6894129"/>
            <a:ext cx="924600" cy="381000"/>
          </a:xfrm>
          <a:prstGeom prst="roundRect">
            <a:avLst>
              <a:gd fmla="val 15000" name="adj"/>
            </a:avLst>
          </a:prstGeom>
          <a:solidFill>
            <a:srgbClr val="C15F3C">
              <a:alpha val="12160"/>
            </a:srgbClr>
          </a:solidFill>
          <a:ln cap="flat" cmpd="sng" w="10575">
            <a:solidFill>
              <a:srgbClr val="C15F3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35"/>
          <p:cNvSpPr/>
          <p:nvPr/>
        </p:nvSpPr>
        <p:spPr>
          <a:xfrm>
            <a:off x="6788878" y="6894129"/>
            <a:ext cx="924600" cy="381000"/>
          </a:xfrm>
          <a:prstGeom prst="roundRect">
            <a:avLst>
              <a:gd fmla="val 15000" name="adj"/>
            </a:avLst>
          </a:prstGeom>
          <a:solidFill>
            <a:srgbClr val="C15F3C">
              <a:alpha val="12160"/>
            </a:srgbClr>
          </a:solidFill>
          <a:ln cap="flat" cmpd="sng" w="10575">
            <a:solidFill>
              <a:srgbClr val="C15F3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35"/>
          <p:cNvSpPr/>
          <p:nvPr/>
        </p:nvSpPr>
        <p:spPr>
          <a:xfrm>
            <a:off x="7770648" y="6894129"/>
            <a:ext cx="924600" cy="381000"/>
          </a:xfrm>
          <a:prstGeom prst="roundRect">
            <a:avLst>
              <a:gd fmla="val 15000" name="adj"/>
            </a:avLst>
          </a:prstGeom>
          <a:solidFill>
            <a:srgbClr val="C15F3C">
              <a:alpha val="12160"/>
            </a:srgbClr>
          </a:solidFill>
          <a:ln cap="flat" cmpd="sng" w="10575">
            <a:solidFill>
              <a:srgbClr val="C15F3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35"/>
          <p:cNvSpPr/>
          <p:nvPr/>
        </p:nvSpPr>
        <p:spPr>
          <a:xfrm>
            <a:off x="1363100" y="4673608"/>
            <a:ext cx="75522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08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Font typeface="Gabarito"/>
              <a:buNone/>
            </a:pPr>
            <a:r>
              <a:rPr b="0" i="0" lang="en-US" sz="210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Every </a:t>
            </a:r>
            <a:r>
              <a:rPr lang="en-US" sz="210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request </a:t>
            </a:r>
            <a:r>
              <a:rPr b="0" i="0" lang="en-US" sz="210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gets </a:t>
            </a:r>
            <a:r>
              <a:rPr lang="en-US" sz="210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fixed block</a:t>
            </a:r>
            <a:r>
              <a:rPr b="0" i="0" lang="en-US" sz="210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, whether they need them or not. </a:t>
            </a:r>
            <a:endParaRPr b="0" i="0" sz="2100" u="none" cap="none" strike="noStrike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marR="0" rtl="0" algn="l">
              <a:lnSpc>
                <a:spcPct val="116308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Font typeface="Gabarito"/>
              <a:buNone/>
            </a:pPr>
            <a:r>
              <a:rPr lang="en-US" sz="210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Request B</a:t>
            </a:r>
            <a:r>
              <a:rPr b="0" i="0" lang="en-US" sz="210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 uses 1 — the other 5 just sit empty.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35"/>
          <p:cNvSpPr/>
          <p:nvPr/>
        </p:nvSpPr>
        <p:spPr>
          <a:xfrm>
            <a:off x="9277279" y="3913550"/>
            <a:ext cx="7962900" cy="4099800"/>
          </a:xfrm>
          <a:prstGeom prst="roundRect">
            <a:avLst>
              <a:gd fmla="val 3559" name="adj"/>
            </a:avLst>
          </a:prstGeom>
          <a:solidFill>
            <a:srgbClr val="7A8A5A">
              <a:alpha val="5100"/>
            </a:srgbClr>
          </a:solidFill>
          <a:ln cap="flat" cmpd="sng" w="10575">
            <a:solidFill>
              <a:srgbClr val="6E7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35"/>
          <p:cNvSpPr/>
          <p:nvPr/>
        </p:nvSpPr>
        <p:spPr>
          <a:xfrm>
            <a:off x="9592626" y="4190700"/>
            <a:ext cx="73323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1950"/>
              <a:buFont typeface="Gabarito"/>
              <a:buNone/>
            </a:pPr>
            <a:r>
              <a:rPr b="1" i="0" lang="en-US" sz="2350" u="none" cap="none" strike="noStrike">
                <a:solidFill>
                  <a:srgbClr val="4C5A33"/>
                </a:solidFill>
                <a:latin typeface="Gabarito"/>
                <a:ea typeface="Gabarito"/>
                <a:cs typeface="Gabarito"/>
                <a:sym typeface="Gabarito"/>
              </a:rPr>
              <a:t>PagedAttention — give memory as it's needed</a:t>
            </a:r>
            <a:endParaRPr b="0" i="0" sz="2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35"/>
          <p:cNvSpPr/>
          <p:nvPr/>
        </p:nvSpPr>
        <p:spPr>
          <a:xfrm>
            <a:off x="9592635" y="4620318"/>
            <a:ext cx="75522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437"/>
              </a:lnSpc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1725"/>
              <a:buFont typeface="Gabarito"/>
              <a:buNone/>
            </a:pPr>
            <a:r>
              <a:rPr b="0" lang="en-US" sz="2125" u="none" cap="none" strike="noStrike">
                <a:solidFill>
                  <a:srgbClr val="4C5A33"/>
                </a:solidFill>
                <a:latin typeface="Gabarito"/>
                <a:ea typeface="Gabarito"/>
                <a:cs typeface="Gabarito"/>
                <a:sym typeface="Gabarito"/>
              </a:rPr>
              <a:t>Pages only exist for what's actually been used:</a:t>
            </a:r>
            <a:endParaRPr b="0" sz="21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35"/>
          <p:cNvSpPr/>
          <p:nvPr/>
        </p:nvSpPr>
        <p:spPr>
          <a:xfrm>
            <a:off x="9640067" y="6116300"/>
            <a:ext cx="726600" cy="616200"/>
          </a:xfrm>
          <a:prstGeom prst="roundRect">
            <a:avLst>
              <a:gd fmla="val 15000" name="adj"/>
            </a:avLst>
          </a:prstGeom>
          <a:solidFill>
            <a:srgbClr val="6E7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35"/>
          <p:cNvSpPr/>
          <p:nvPr/>
        </p:nvSpPr>
        <p:spPr>
          <a:xfrm>
            <a:off x="9592625" y="6116300"/>
            <a:ext cx="821100" cy="6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abarito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A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35"/>
          <p:cNvSpPr/>
          <p:nvPr/>
        </p:nvSpPr>
        <p:spPr>
          <a:xfrm>
            <a:off x="10437604" y="6116300"/>
            <a:ext cx="726900" cy="616200"/>
          </a:xfrm>
          <a:prstGeom prst="roundRect">
            <a:avLst>
              <a:gd fmla="val 15000" name="adj"/>
            </a:avLst>
          </a:prstGeom>
          <a:solidFill>
            <a:srgbClr val="A881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35"/>
          <p:cNvSpPr/>
          <p:nvPr/>
        </p:nvSpPr>
        <p:spPr>
          <a:xfrm>
            <a:off x="10390142" y="6116300"/>
            <a:ext cx="821400" cy="6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abarito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C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35"/>
          <p:cNvSpPr/>
          <p:nvPr/>
        </p:nvSpPr>
        <p:spPr>
          <a:xfrm>
            <a:off x="11235348" y="6116300"/>
            <a:ext cx="753000" cy="616200"/>
          </a:xfrm>
          <a:prstGeom prst="roundRect">
            <a:avLst>
              <a:gd fmla="val 15000" name="adj"/>
            </a:avLst>
          </a:prstGeom>
          <a:solidFill>
            <a:srgbClr val="7A8A5A">
              <a:alpha val="12160"/>
            </a:srgbClr>
          </a:solidFill>
          <a:ln cap="flat" cmpd="sng" w="10575">
            <a:solidFill>
              <a:srgbClr val="6E7D4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35"/>
          <p:cNvSpPr/>
          <p:nvPr/>
        </p:nvSpPr>
        <p:spPr>
          <a:xfrm>
            <a:off x="12059249" y="6116300"/>
            <a:ext cx="726900" cy="616200"/>
          </a:xfrm>
          <a:prstGeom prst="roundRect">
            <a:avLst>
              <a:gd fmla="val 15000" name="adj"/>
            </a:avLst>
          </a:prstGeom>
          <a:solidFill>
            <a:srgbClr val="6E7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35"/>
          <p:cNvSpPr/>
          <p:nvPr/>
        </p:nvSpPr>
        <p:spPr>
          <a:xfrm>
            <a:off x="12011788" y="6116300"/>
            <a:ext cx="821400" cy="6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abarito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A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35"/>
          <p:cNvSpPr/>
          <p:nvPr/>
        </p:nvSpPr>
        <p:spPr>
          <a:xfrm>
            <a:off x="12856990" y="6116300"/>
            <a:ext cx="726900" cy="616200"/>
          </a:xfrm>
          <a:prstGeom prst="roundRect">
            <a:avLst>
              <a:gd fmla="val 15000" name="adj"/>
            </a:avLst>
          </a:prstGeom>
          <a:solidFill>
            <a:srgbClr val="5E7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35"/>
          <p:cNvSpPr/>
          <p:nvPr/>
        </p:nvSpPr>
        <p:spPr>
          <a:xfrm>
            <a:off x="12809530" y="6116300"/>
            <a:ext cx="821400" cy="6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abarito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B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35"/>
          <p:cNvSpPr/>
          <p:nvPr/>
        </p:nvSpPr>
        <p:spPr>
          <a:xfrm>
            <a:off x="13654734" y="6116300"/>
            <a:ext cx="753000" cy="616200"/>
          </a:xfrm>
          <a:prstGeom prst="roundRect">
            <a:avLst>
              <a:gd fmla="val 15000" name="adj"/>
            </a:avLst>
          </a:prstGeom>
          <a:solidFill>
            <a:srgbClr val="7A8A5A">
              <a:alpha val="12160"/>
            </a:srgbClr>
          </a:solidFill>
          <a:ln cap="flat" cmpd="sng" w="10575">
            <a:solidFill>
              <a:srgbClr val="6E7D4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35"/>
          <p:cNvSpPr/>
          <p:nvPr/>
        </p:nvSpPr>
        <p:spPr>
          <a:xfrm>
            <a:off x="14478841" y="6116300"/>
            <a:ext cx="726900" cy="616200"/>
          </a:xfrm>
          <a:prstGeom prst="roundRect">
            <a:avLst>
              <a:gd fmla="val 15000" name="adj"/>
            </a:avLst>
          </a:prstGeom>
          <a:solidFill>
            <a:srgbClr val="A881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35"/>
          <p:cNvSpPr/>
          <p:nvPr/>
        </p:nvSpPr>
        <p:spPr>
          <a:xfrm>
            <a:off x="14431382" y="6116300"/>
            <a:ext cx="821400" cy="6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abarito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C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35"/>
          <p:cNvSpPr/>
          <p:nvPr/>
        </p:nvSpPr>
        <p:spPr>
          <a:xfrm>
            <a:off x="15276585" y="6116300"/>
            <a:ext cx="726900" cy="616200"/>
          </a:xfrm>
          <a:prstGeom prst="roundRect">
            <a:avLst>
              <a:gd fmla="val 15000" name="adj"/>
            </a:avLst>
          </a:prstGeom>
          <a:solidFill>
            <a:srgbClr val="6E7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35"/>
          <p:cNvSpPr/>
          <p:nvPr/>
        </p:nvSpPr>
        <p:spPr>
          <a:xfrm>
            <a:off x="15229126" y="6116300"/>
            <a:ext cx="821400" cy="6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abarito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A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35"/>
          <p:cNvSpPr/>
          <p:nvPr/>
        </p:nvSpPr>
        <p:spPr>
          <a:xfrm>
            <a:off x="16074326" y="6116300"/>
            <a:ext cx="753000" cy="616200"/>
          </a:xfrm>
          <a:prstGeom prst="roundRect">
            <a:avLst>
              <a:gd fmla="val 15000" name="adj"/>
            </a:avLst>
          </a:prstGeom>
          <a:solidFill>
            <a:srgbClr val="7A8A5A">
              <a:alpha val="12160"/>
            </a:srgbClr>
          </a:solidFill>
          <a:ln cap="flat" cmpd="sng" w="10575">
            <a:solidFill>
              <a:srgbClr val="6E7D4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35"/>
          <p:cNvSpPr/>
          <p:nvPr/>
        </p:nvSpPr>
        <p:spPr>
          <a:xfrm>
            <a:off x="1047750" y="8298251"/>
            <a:ext cx="16192500" cy="1209900"/>
          </a:xfrm>
          <a:prstGeom prst="roundRect">
            <a:avLst>
              <a:gd fmla="val 12597" name="adj"/>
            </a:avLst>
          </a:prstGeom>
          <a:solidFill>
            <a:srgbClr val="FF9900">
              <a:alpha val="3920"/>
            </a:srgbClr>
          </a:solidFill>
          <a:ln cap="flat" cmpd="sng" w="10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35"/>
          <p:cNvSpPr/>
          <p:nvPr/>
        </p:nvSpPr>
        <p:spPr>
          <a:xfrm>
            <a:off x="1382175" y="8556475"/>
            <a:ext cx="15445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The key idea: </a:t>
            </a:r>
            <a:r>
              <a:rPr b="0" i="0" lang="en-US" sz="1950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old way — give each </a:t>
            </a:r>
            <a:r>
              <a:rPr lang="en-US" sz="1950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request </a:t>
            </a:r>
            <a:r>
              <a:rPr b="0" i="0" lang="en-US" sz="1950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a big block right away. PagedAttention — give small pages only when needed. Pages don't even have to sit next to each other, so many </a:t>
            </a:r>
            <a:r>
              <a:rPr lang="en-US" sz="1950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requests </a:t>
            </a:r>
            <a:r>
              <a:rPr b="0" i="0" lang="en-US" sz="1950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can share the same GPU space.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35"/>
          <p:cNvSpPr txBox="1"/>
          <p:nvPr/>
        </p:nvSpPr>
        <p:spPr>
          <a:xfrm>
            <a:off x="1047750" y="2492825"/>
            <a:ext cx="16664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vLLM manages the KV cache like an operating system manages RAM — in </a:t>
            </a:r>
            <a:r>
              <a:rPr b="1" lang="en-US" sz="2400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small pages </a:t>
            </a:r>
            <a:r>
              <a:rPr lang="en-US" sz="2400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, allocated on demand.</a:t>
            </a:r>
            <a:endParaRPr sz="2400">
              <a:solidFill>
                <a:srgbClr val="212121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75"/>
              <a:buFont typeface="Gabarito"/>
              <a:buNone/>
            </a:pPr>
            <a:r>
              <a:rPr lang="en-US" sz="2400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Example: </a:t>
            </a:r>
            <a:r>
              <a:rPr b="1" lang="en-US" sz="2400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3 students chatting with an AI at the same time. </a:t>
            </a:r>
            <a:r>
              <a:rPr lang="en-US" sz="2400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How should the server hand out GPU memory between them?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12121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74" name="Google Shape;107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19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p36"/>
          <p:cNvSpPr/>
          <p:nvPr/>
        </p:nvSpPr>
        <p:spPr>
          <a:xfrm>
            <a:off x="1047750" y="914363"/>
            <a:ext cx="11586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Concept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36"/>
          <p:cNvSpPr/>
          <p:nvPr/>
        </p:nvSpPr>
        <p:spPr>
          <a:xfrm>
            <a:off x="1047750" y="1390613"/>
            <a:ext cx="85110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Continuous Batching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36"/>
          <p:cNvSpPr/>
          <p:nvPr/>
        </p:nvSpPr>
        <p:spPr>
          <a:xfrm>
            <a:off x="1047750" y="2667000"/>
            <a:ext cx="167640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27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550"/>
              <a:buFont typeface="Gabarito"/>
              <a:buNone/>
            </a:pPr>
            <a:r>
              <a:rPr b="0" i="0" lang="en-US" sz="2600" u="none" cap="none" strike="noStrike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Requests join and leave the batch </a:t>
            </a:r>
            <a:r>
              <a:rPr b="1" i="0" lang="en-US" sz="2600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at every generation step </a:t>
            </a:r>
            <a:r>
              <a:rPr lang="en-US" sz="2600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36"/>
          <p:cNvSpPr/>
          <p:nvPr/>
        </p:nvSpPr>
        <p:spPr>
          <a:xfrm>
            <a:off x="1047750" y="3552775"/>
            <a:ext cx="7962900" cy="4190100"/>
          </a:xfrm>
          <a:prstGeom prst="roundRect">
            <a:avLst>
              <a:gd fmla="val 4993" name="adj"/>
            </a:avLst>
          </a:prstGeom>
          <a:noFill/>
          <a:ln cap="flat" cmpd="sng" w="19050">
            <a:solidFill>
              <a:srgbClr val="C15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79" name="Google Shape;1079;p36"/>
          <p:cNvSpPr/>
          <p:nvPr/>
        </p:nvSpPr>
        <p:spPr>
          <a:xfrm>
            <a:off x="1409700" y="3857575"/>
            <a:ext cx="796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5F3C"/>
              </a:buClr>
              <a:buSzPts val="2025"/>
              <a:buFont typeface="Gabarito"/>
              <a:buNone/>
            </a:pPr>
            <a:r>
              <a:rPr b="1" i="0" lang="en-US" sz="2325" u="none" cap="none" strike="noStrike">
                <a:solidFill>
                  <a:srgbClr val="C15F3C"/>
                </a:solidFill>
                <a:latin typeface="Gabarito"/>
                <a:ea typeface="Gabarito"/>
                <a:cs typeface="Gabarito"/>
                <a:sym typeface="Gabarito"/>
              </a:rPr>
              <a:t>Static batching — wait for the whole batch</a:t>
            </a:r>
            <a:endParaRPr b="0" i="0" sz="23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36"/>
          <p:cNvSpPr/>
          <p:nvPr/>
        </p:nvSpPr>
        <p:spPr>
          <a:xfrm>
            <a:off x="1409700" y="4730500"/>
            <a:ext cx="1571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725"/>
              <a:buFont typeface="JetBrains Mono"/>
              <a:buNone/>
            </a:pPr>
            <a:r>
              <a:rPr b="0" i="0" lang="en-US" sz="1825" u="none" cap="none" strike="noStrike">
                <a:solidFill>
                  <a:srgbClr val="7874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req A</a:t>
            </a:r>
            <a:endParaRPr b="0" i="0" sz="1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36"/>
          <p:cNvSpPr/>
          <p:nvPr/>
        </p:nvSpPr>
        <p:spPr>
          <a:xfrm>
            <a:off x="2990850" y="4682875"/>
            <a:ext cx="2085000" cy="381000"/>
          </a:xfrm>
          <a:prstGeom prst="rect">
            <a:avLst/>
          </a:prstGeom>
          <a:solidFill>
            <a:srgbClr val="C15F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82" name="Google Shape;1082;p36"/>
          <p:cNvSpPr/>
          <p:nvPr/>
        </p:nvSpPr>
        <p:spPr>
          <a:xfrm>
            <a:off x="5075783" y="4682875"/>
            <a:ext cx="1705800" cy="381000"/>
          </a:xfrm>
          <a:prstGeom prst="rect">
            <a:avLst/>
          </a:prstGeom>
          <a:solidFill>
            <a:srgbClr val="C15F3C">
              <a:alpha val="2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83" name="Google Shape;1083;p36"/>
          <p:cNvSpPr/>
          <p:nvPr/>
        </p:nvSpPr>
        <p:spPr>
          <a:xfrm>
            <a:off x="6934200" y="4730500"/>
            <a:ext cx="2463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725"/>
              <a:buFont typeface="JetBrains Mono"/>
              <a:buNone/>
            </a:pPr>
            <a:r>
              <a:rPr b="0" i="0" lang="en-US" sz="1825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done, waiting…</a:t>
            </a:r>
            <a:endParaRPr b="0" i="0" sz="1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36"/>
          <p:cNvSpPr/>
          <p:nvPr/>
        </p:nvSpPr>
        <p:spPr>
          <a:xfrm>
            <a:off x="1409700" y="5244850"/>
            <a:ext cx="1571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725"/>
              <a:buFont typeface="JetBrains Mono"/>
              <a:buNone/>
            </a:pPr>
            <a:r>
              <a:rPr b="0" i="0" lang="en-US" sz="1825" u="none" cap="none" strike="noStrike">
                <a:solidFill>
                  <a:srgbClr val="7874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req B</a:t>
            </a:r>
            <a:endParaRPr b="0" i="0" sz="1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36"/>
          <p:cNvSpPr/>
          <p:nvPr/>
        </p:nvSpPr>
        <p:spPr>
          <a:xfrm>
            <a:off x="2990850" y="5197225"/>
            <a:ext cx="3791100" cy="381000"/>
          </a:xfrm>
          <a:prstGeom prst="rect">
            <a:avLst/>
          </a:prstGeom>
          <a:solidFill>
            <a:srgbClr val="C15F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86" name="Google Shape;1086;p36"/>
          <p:cNvSpPr/>
          <p:nvPr/>
        </p:nvSpPr>
        <p:spPr>
          <a:xfrm>
            <a:off x="1409700" y="5759200"/>
            <a:ext cx="1571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725"/>
              <a:buFont typeface="JetBrains Mono"/>
              <a:buNone/>
            </a:pPr>
            <a:r>
              <a:rPr b="0" i="0" lang="en-US" sz="1825" u="none" cap="none" strike="noStrike">
                <a:solidFill>
                  <a:srgbClr val="7874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req C</a:t>
            </a:r>
            <a:endParaRPr b="0" i="0" sz="1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36"/>
          <p:cNvSpPr/>
          <p:nvPr/>
        </p:nvSpPr>
        <p:spPr>
          <a:xfrm>
            <a:off x="2990850" y="5711575"/>
            <a:ext cx="1326900" cy="381000"/>
          </a:xfrm>
          <a:prstGeom prst="rect">
            <a:avLst/>
          </a:prstGeom>
          <a:solidFill>
            <a:srgbClr val="C15F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88" name="Google Shape;1088;p36"/>
          <p:cNvSpPr/>
          <p:nvPr/>
        </p:nvSpPr>
        <p:spPr>
          <a:xfrm>
            <a:off x="4317653" y="5711575"/>
            <a:ext cx="2463900" cy="381000"/>
          </a:xfrm>
          <a:prstGeom prst="rect">
            <a:avLst/>
          </a:prstGeom>
          <a:solidFill>
            <a:srgbClr val="C15F3C">
              <a:alpha val="2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89" name="Google Shape;1089;p36"/>
          <p:cNvSpPr/>
          <p:nvPr/>
        </p:nvSpPr>
        <p:spPr>
          <a:xfrm>
            <a:off x="6934200" y="5759200"/>
            <a:ext cx="2463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725"/>
              <a:buFont typeface="JetBrains Mono"/>
              <a:buNone/>
            </a:pPr>
            <a:r>
              <a:rPr b="0" i="0" lang="en-US" sz="1825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done, waiting…</a:t>
            </a:r>
            <a:endParaRPr b="0" i="0" sz="1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36"/>
          <p:cNvSpPr/>
          <p:nvPr/>
        </p:nvSpPr>
        <p:spPr>
          <a:xfrm>
            <a:off x="1409700" y="6574975"/>
            <a:ext cx="74562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935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75"/>
              <a:buFont typeface="Gabarito"/>
              <a:buNone/>
            </a:pPr>
            <a:r>
              <a:rPr b="0" i="0" lang="en-US" sz="200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The whole batch must finish together. A and C finish early but the server can't start a new request until B is done too.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36"/>
          <p:cNvSpPr/>
          <p:nvPr/>
        </p:nvSpPr>
        <p:spPr>
          <a:xfrm>
            <a:off x="9277350" y="3552775"/>
            <a:ext cx="7962900" cy="4190100"/>
          </a:xfrm>
          <a:prstGeom prst="roundRect">
            <a:avLst>
              <a:gd fmla="val 4993" name="adj"/>
            </a:avLst>
          </a:prstGeom>
          <a:noFill/>
          <a:ln cap="flat" cmpd="sng" w="19050">
            <a:solidFill>
              <a:srgbClr val="6E7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92" name="Google Shape;1092;p36"/>
          <p:cNvSpPr/>
          <p:nvPr/>
        </p:nvSpPr>
        <p:spPr>
          <a:xfrm>
            <a:off x="9639300" y="3857575"/>
            <a:ext cx="796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2025"/>
              <a:buFont typeface="Gabarito"/>
              <a:buNone/>
            </a:pPr>
            <a:r>
              <a:rPr b="1" i="0" lang="en-US" sz="2325" u="none" cap="none" strike="noStrike">
                <a:solidFill>
                  <a:srgbClr val="4C5A33"/>
                </a:solidFill>
                <a:latin typeface="Gabarito"/>
                <a:ea typeface="Gabarito"/>
                <a:cs typeface="Gabarito"/>
                <a:sym typeface="Gabarito"/>
              </a:rPr>
              <a:t>Continuous batching — new requests jump in</a:t>
            </a:r>
            <a:endParaRPr b="0" i="0" sz="23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36"/>
          <p:cNvSpPr/>
          <p:nvPr/>
        </p:nvSpPr>
        <p:spPr>
          <a:xfrm>
            <a:off x="9639300" y="4730500"/>
            <a:ext cx="1571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725"/>
              <a:buFont typeface="JetBrains Mono"/>
              <a:buNone/>
            </a:pPr>
            <a:r>
              <a:rPr b="0" i="0" lang="en-US" sz="1825" u="none" cap="none" strike="noStrike">
                <a:solidFill>
                  <a:srgbClr val="7874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req A</a:t>
            </a:r>
            <a:endParaRPr b="0" i="0" sz="1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36"/>
          <p:cNvSpPr/>
          <p:nvPr/>
        </p:nvSpPr>
        <p:spPr>
          <a:xfrm>
            <a:off x="11220450" y="4682875"/>
            <a:ext cx="2085000" cy="381000"/>
          </a:xfrm>
          <a:prstGeom prst="rect">
            <a:avLst/>
          </a:prstGeom>
          <a:solidFill>
            <a:srgbClr val="6E7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95" name="Google Shape;1095;p36"/>
          <p:cNvSpPr/>
          <p:nvPr/>
        </p:nvSpPr>
        <p:spPr>
          <a:xfrm>
            <a:off x="13305383" y="4682875"/>
            <a:ext cx="1705800" cy="381000"/>
          </a:xfrm>
          <a:prstGeom prst="rect">
            <a:avLst/>
          </a:prstGeom>
          <a:solidFill>
            <a:srgbClr val="5E7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96" name="Google Shape;1096;p36"/>
          <p:cNvSpPr/>
          <p:nvPr/>
        </p:nvSpPr>
        <p:spPr>
          <a:xfrm>
            <a:off x="15163800" y="4730500"/>
            <a:ext cx="1886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488"/>
              </a:buClr>
              <a:buSzPts val="1725"/>
              <a:buFont typeface="JetBrains Mono"/>
              <a:buNone/>
            </a:pPr>
            <a:r>
              <a:rPr b="0" i="0" lang="en-US" sz="1825" u="none" cap="none" strike="noStrike">
                <a:solidFill>
                  <a:srgbClr val="5E748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← D joins</a:t>
            </a:r>
            <a:endParaRPr b="0" i="0" sz="1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36"/>
          <p:cNvSpPr/>
          <p:nvPr/>
        </p:nvSpPr>
        <p:spPr>
          <a:xfrm>
            <a:off x="9639300" y="5244850"/>
            <a:ext cx="1571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725"/>
              <a:buFont typeface="JetBrains Mono"/>
              <a:buNone/>
            </a:pPr>
            <a:r>
              <a:rPr b="0" i="0" lang="en-US" sz="1825" u="none" cap="none" strike="noStrike">
                <a:solidFill>
                  <a:srgbClr val="7874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req B</a:t>
            </a:r>
            <a:endParaRPr b="0" i="0" sz="1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36"/>
          <p:cNvSpPr/>
          <p:nvPr/>
        </p:nvSpPr>
        <p:spPr>
          <a:xfrm>
            <a:off x="11220450" y="5197225"/>
            <a:ext cx="3791100" cy="381000"/>
          </a:xfrm>
          <a:prstGeom prst="rect">
            <a:avLst/>
          </a:prstGeom>
          <a:solidFill>
            <a:srgbClr val="6E7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99" name="Google Shape;1099;p36"/>
          <p:cNvSpPr/>
          <p:nvPr/>
        </p:nvSpPr>
        <p:spPr>
          <a:xfrm>
            <a:off x="9639300" y="5759200"/>
            <a:ext cx="1571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725"/>
              <a:buFont typeface="JetBrains Mono"/>
              <a:buNone/>
            </a:pPr>
            <a:r>
              <a:rPr b="0" i="0" lang="en-US" sz="1825" u="none" cap="none" strike="noStrike">
                <a:solidFill>
                  <a:srgbClr val="7874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req C</a:t>
            </a:r>
            <a:endParaRPr b="0" i="0" sz="1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36"/>
          <p:cNvSpPr/>
          <p:nvPr/>
        </p:nvSpPr>
        <p:spPr>
          <a:xfrm>
            <a:off x="11220450" y="5711575"/>
            <a:ext cx="1326900" cy="381000"/>
          </a:xfrm>
          <a:prstGeom prst="rect">
            <a:avLst/>
          </a:prstGeom>
          <a:solidFill>
            <a:srgbClr val="6E7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101" name="Google Shape;1101;p36"/>
          <p:cNvSpPr/>
          <p:nvPr/>
        </p:nvSpPr>
        <p:spPr>
          <a:xfrm>
            <a:off x="12547253" y="5711575"/>
            <a:ext cx="2463900" cy="381000"/>
          </a:xfrm>
          <a:prstGeom prst="rect">
            <a:avLst/>
          </a:prstGeom>
          <a:solidFill>
            <a:srgbClr val="A881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102" name="Google Shape;1102;p36"/>
          <p:cNvSpPr/>
          <p:nvPr/>
        </p:nvSpPr>
        <p:spPr>
          <a:xfrm>
            <a:off x="15163800" y="5759200"/>
            <a:ext cx="1886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813A"/>
              </a:buClr>
              <a:buSzPts val="1725"/>
              <a:buFont typeface="JetBrains Mono"/>
              <a:buNone/>
            </a:pPr>
            <a:r>
              <a:rPr b="0" i="0" lang="en-US" sz="1825" u="none" cap="none" strike="noStrike">
                <a:solidFill>
                  <a:srgbClr val="A881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← E joins</a:t>
            </a:r>
            <a:endParaRPr b="0" i="0" sz="1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36"/>
          <p:cNvSpPr/>
          <p:nvPr/>
        </p:nvSpPr>
        <p:spPr>
          <a:xfrm>
            <a:off x="9639300" y="6574975"/>
            <a:ext cx="74562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935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75"/>
              <a:buFont typeface="Gabarito"/>
              <a:buNone/>
            </a:pPr>
            <a:r>
              <a:rPr b="0" i="0" lang="en-US" sz="200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The moment request A or C finishes, a new request (D, E) takes that spot right away. </a:t>
            </a:r>
            <a:r>
              <a:rPr lang="en-US" sz="200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 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09" name="Google Shape;110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025" y="952500"/>
            <a:ext cx="1066800" cy="1304182"/>
          </a:xfrm>
          <a:prstGeom prst="rect">
            <a:avLst/>
          </a:prstGeom>
          <a:noFill/>
          <a:ln>
            <a:noFill/>
          </a:ln>
        </p:spPr>
      </p:pic>
      <p:sp>
        <p:nvSpPr>
          <p:cNvPr id="1110" name="Google Shape;1110;p37"/>
          <p:cNvSpPr/>
          <p:nvPr/>
        </p:nvSpPr>
        <p:spPr>
          <a:xfrm>
            <a:off x="1047750" y="914400"/>
            <a:ext cx="115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Concept</a:t>
            </a:r>
            <a:endParaRPr b="0" i="0" sz="2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37"/>
          <p:cNvSpPr/>
          <p:nvPr/>
        </p:nvSpPr>
        <p:spPr>
          <a:xfrm>
            <a:off x="1047750" y="1390650"/>
            <a:ext cx="9238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000"/>
              <a:buFont typeface="Gabarito"/>
              <a:buNone/>
            </a:pPr>
            <a:r>
              <a:rPr b="1" i="0" lang="en-US" sz="60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Optimized CUDA Kernels</a:t>
            </a:r>
            <a:endParaRPr b="0" i="0" sz="6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37"/>
          <p:cNvSpPr/>
          <p:nvPr/>
        </p:nvSpPr>
        <p:spPr>
          <a:xfrm>
            <a:off x="1047750" y="2514600"/>
            <a:ext cx="162210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Gabarito"/>
              <a:buNone/>
            </a:pPr>
            <a:r>
              <a:rPr lang="en-US" sz="2100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A CUDA kernel is a program that runs on the GPU.</a:t>
            </a:r>
            <a:endParaRPr sz="2100">
              <a:solidFill>
                <a:srgbClr val="212121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Gabarito"/>
              <a:buNone/>
            </a:pPr>
            <a:r>
              <a:t/>
            </a:r>
            <a:endParaRPr sz="2100">
              <a:solidFill>
                <a:srgbClr val="212121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1113" name="Google Shape;1113;p37"/>
          <p:cNvSpPr/>
          <p:nvPr/>
        </p:nvSpPr>
        <p:spPr>
          <a:xfrm>
            <a:off x="1047676" y="3559875"/>
            <a:ext cx="16192500" cy="1095300"/>
          </a:xfrm>
          <a:prstGeom prst="roundRect">
            <a:avLst>
              <a:gd fmla="val 13915" name="adj"/>
            </a:avLst>
          </a:prstGeom>
          <a:noFill/>
          <a:ln cap="flat" cmpd="sng" w="14275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37"/>
          <p:cNvSpPr/>
          <p:nvPr/>
        </p:nvSpPr>
        <p:spPr>
          <a:xfrm>
            <a:off x="1385664" y="3821738"/>
            <a:ext cx="571500" cy="571500"/>
          </a:xfrm>
          <a:prstGeom prst="ellipse">
            <a:avLst/>
          </a:prstGeom>
          <a:solidFill>
            <a:srgbClr val="035595">
              <a:alpha val="121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37"/>
          <p:cNvSpPr/>
          <p:nvPr/>
        </p:nvSpPr>
        <p:spPr>
          <a:xfrm>
            <a:off x="1347564" y="3821738"/>
            <a:ext cx="64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2025"/>
              <a:buFont typeface="Gabarito"/>
              <a:buNone/>
            </a:pPr>
            <a:r>
              <a:rPr b="1" i="0" lang="en-US" sz="2025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1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37"/>
          <p:cNvSpPr/>
          <p:nvPr/>
        </p:nvSpPr>
        <p:spPr>
          <a:xfrm>
            <a:off x="2223742" y="3920625"/>
            <a:ext cx="13183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23"/>
              </a:lnSpc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2100"/>
              <a:buFont typeface="Gabarito"/>
              <a:buNone/>
            </a:pPr>
            <a:r>
              <a:rPr b="1" lang="en-US" sz="2400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Uses CUDA threads efficiently to execute many operations in parallel. 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37"/>
          <p:cNvSpPr/>
          <p:nvPr/>
        </p:nvSpPr>
        <p:spPr>
          <a:xfrm>
            <a:off x="1047676" y="4883701"/>
            <a:ext cx="16192500" cy="1095300"/>
          </a:xfrm>
          <a:prstGeom prst="roundRect">
            <a:avLst>
              <a:gd fmla="val 13915" name="adj"/>
            </a:avLst>
          </a:prstGeom>
          <a:noFill/>
          <a:ln cap="flat" cmpd="sng" w="14275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37"/>
          <p:cNvSpPr/>
          <p:nvPr/>
        </p:nvSpPr>
        <p:spPr>
          <a:xfrm>
            <a:off x="1385664" y="5145564"/>
            <a:ext cx="571500" cy="571500"/>
          </a:xfrm>
          <a:prstGeom prst="ellipse">
            <a:avLst/>
          </a:prstGeom>
          <a:solidFill>
            <a:srgbClr val="7A8A5A">
              <a:alpha val="1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37"/>
          <p:cNvSpPr/>
          <p:nvPr/>
        </p:nvSpPr>
        <p:spPr>
          <a:xfrm>
            <a:off x="1347564" y="5145564"/>
            <a:ext cx="64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2025"/>
              <a:buFont typeface="Gabarito"/>
              <a:buNone/>
            </a:pPr>
            <a:r>
              <a:rPr b="1" i="0" lang="en-US" sz="2025" u="none" cap="none" strike="noStrike">
                <a:solidFill>
                  <a:srgbClr val="4C5A33"/>
                </a:solidFill>
                <a:latin typeface="Gabarito"/>
                <a:ea typeface="Gabarito"/>
                <a:cs typeface="Gabarito"/>
                <a:sym typeface="Gabarito"/>
              </a:rPr>
              <a:t>2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37"/>
          <p:cNvSpPr/>
          <p:nvPr/>
        </p:nvSpPr>
        <p:spPr>
          <a:xfrm>
            <a:off x="2223740" y="5244445"/>
            <a:ext cx="11288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23"/>
              </a:lnSpc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2100"/>
              <a:buFont typeface="Gabarito"/>
              <a:buNone/>
            </a:pPr>
            <a:r>
              <a:rPr b="1" lang="en-US" sz="2400">
                <a:solidFill>
                  <a:srgbClr val="4C5A33"/>
                </a:solidFill>
                <a:latin typeface="Gabarito"/>
                <a:ea typeface="Gabarito"/>
                <a:cs typeface="Gabarito"/>
                <a:sym typeface="Gabarito"/>
              </a:rPr>
              <a:t>Combines multiple operations into one kernel to reduce processing time. </a:t>
            </a:r>
            <a:endParaRPr b="1" sz="2400">
              <a:solidFill>
                <a:srgbClr val="4C5A33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1121" name="Google Shape;1121;p37"/>
          <p:cNvSpPr/>
          <p:nvPr/>
        </p:nvSpPr>
        <p:spPr>
          <a:xfrm>
            <a:off x="1047676" y="6207527"/>
            <a:ext cx="16192500" cy="1095300"/>
          </a:xfrm>
          <a:prstGeom prst="roundRect">
            <a:avLst>
              <a:gd fmla="val 13915" name="adj"/>
            </a:avLst>
          </a:prstGeom>
          <a:noFill/>
          <a:ln cap="flat" cmpd="sng" w="14275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37"/>
          <p:cNvSpPr/>
          <p:nvPr/>
        </p:nvSpPr>
        <p:spPr>
          <a:xfrm>
            <a:off x="1385664" y="6469390"/>
            <a:ext cx="571500" cy="571500"/>
          </a:xfrm>
          <a:prstGeom prst="ellipse">
            <a:avLst/>
          </a:prstGeom>
          <a:solidFill>
            <a:srgbClr val="5E7488">
              <a:alpha val="1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37"/>
          <p:cNvSpPr/>
          <p:nvPr/>
        </p:nvSpPr>
        <p:spPr>
          <a:xfrm>
            <a:off x="1347564" y="6469390"/>
            <a:ext cx="64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5364"/>
              </a:buClr>
              <a:buSzPts val="2025"/>
              <a:buFont typeface="Gabarito"/>
              <a:buNone/>
            </a:pPr>
            <a:r>
              <a:rPr b="1" i="0" lang="en-US" sz="2025" u="none" cap="none" strike="noStrike">
                <a:solidFill>
                  <a:srgbClr val="3F5364"/>
                </a:solidFill>
                <a:latin typeface="Gabarito"/>
                <a:ea typeface="Gabarito"/>
                <a:cs typeface="Gabarito"/>
                <a:sym typeface="Gabarito"/>
              </a:rPr>
              <a:t>3</a:t>
            </a:r>
            <a:endParaRPr b="0" i="0" sz="2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37"/>
          <p:cNvSpPr/>
          <p:nvPr/>
        </p:nvSpPr>
        <p:spPr>
          <a:xfrm>
            <a:off x="2223727" y="6568277"/>
            <a:ext cx="13075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23"/>
              </a:lnSpc>
              <a:spcBef>
                <a:spcPts val="0"/>
              </a:spcBef>
              <a:spcAft>
                <a:spcPts val="0"/>
              </a:spcAft>
              <a:buClr>
                <a:srgbClr val="3F5364"/>
              </a:buClr>
              <a:buSzPts val="2100"/>
              <a:buFont typeface="Gabarito"/>
              <a:buNone/>
            </a:pPr>
            <a:r>
              <a:rPr b="1" lang="en-US" sz="2400">
                <a:solidFill>
                  <a:srgbClr val="3F5364"/>
                </a:solidFill>
                <a:latin typeface="Gabarito"/>
                <a:ea typeface="Gabarito"/>
                <a:cs typeface="Gabarito"/>
                <a:sym typeface="Gabarito"/>
              </a:rPr>
              <a:t>Uses GPU memory more efficiently to improve performance. 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30" name="Google Shape;113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1" name="Google Shape;1131;p38"/>
          <p:cNvSpPr/>
          <p:nvPr/>
        </p:nvSpPr>
        <p:spPr>
          <a:xfrm>
            <a:off x="1047750" y="914363"/>
            <a:ext cx="823317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Setup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38"/>
          <p:cNvSpPr/>
          <p:nvPr/>
        </p:nvSpPr>
        <p:spPr>
          <a:xfrm>
            <a:off x="1047750" y="1390613"/>
            <a:ext cx="6152462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Installing vLLM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38"/>
          <p:cNvSpPr/>
          <p:nvPr/>
        </p:nvSpPr>
        <p:spPr>
          <a:xfrm>
            <a:off x="1047750" y="2952750"/>
            <a:ext cx="9810900" cy="5272200"/>
          </a:xfrm>
          <a:prstGeom prst="roundRect">
            <a:avLst>
              <a:gd fmla="val 2992" name="adj"/>
            </a:avLst>
          </a:prstGeom>
          <a:solidFill>
            <a:srgbClr val="1E22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38"/>
          <p:cNvSpPr/>
          <p:nvPr/>
        </p:nvSpPr>
        <p:spPr>
          <a:xfrm>
            <a:off x="1047750" y="2952750"/>
            <a:ext cx="9810750" cy="614288"/>
          </a:xfrm>
          <a:prstGeom prst="rect">
            <a:avLst/>
          </a:prstGeom>
          <a:solidFill>
            <a:srgbClr val="2A2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38"/>
          <p:cNvSpPr/>
          <p:nvPr/>
        </p:nvSpPr>
        <p:spPr>
          <a:xfrm>
            <a:off x="1295363" y="3183620"/>
            <a:ext cx="152363" cy="152363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38"/>
          <p:cNvSpPr/>
          <p:nvPr/>
        </p:nvSpPr>
        <p:spPr>
          <a:xfrm>
            <a:off x="1542976" y="3183620"/>
            <a:ext cx="152363" cy="152363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38"/>
          <p:cNvSpPr/>
          <p:nvPr/>
        </p:nvSpPr>
        <p:spPr>
          <a:xfrm>
            <a:off x="1790588" y="3183620"/>
            <a:ext cx="152363" cy="152363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38"/>
          <p:cNvSpPr/>
          <p:nvPr/>
        </p:nvSpPr>
        <p:spPr>
          <a:xfrm>
            <a:off x="2171402" y="3105113"/>
            <a:ext cx="4224561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install — Linux + NVIDIA GPU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38"/>
          <p:cNvSpPr/>
          <p:nvPr/>
        </p:nvSpPr>
        <p:spPr>
          <a:xfrm>
            <a:off x="1390613" y="3852788"/>
            <a:ext cx="9398775" cy="4836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667"/>
              </a:lnSpc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1. isolate dependencies in a virtual environment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38"/>
          <p:cNvSpPr/>
          <p:nvPr/>
        </p:nvSpPr>
        <p:spPr>
          <a:xfrm>
            <a:off x="1390613" y="4298342"/>
            <a:ext cx="9398775" cy="4836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667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950"/>
              <a:buFont typeface="JetBrains Mono"/>
              <a:buNone/>
            </a:pPr>
            <a:r>
              <a:rPr lang="en-US" sz="1950">
                <a:solidFill>
                  <a:srgbClr val="FF99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-US" sz="1950">
                <a:solidFill>
                  <a:srgbClr val="A3C57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python3 -m venv v</a:t>
            </a:r>
            <a:r>
              <a:rPr lang="en-US" sz="1950">
                <a:solidFill>
                  <a:srgbClr val="A3C57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env</a:t>
            </a:r>
            <a:endParaRPr sz="1950">
              <a:solidFill>
                <a:srgbClr val="A3C57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141" name="Google Shape;1141;p38"/>
          <p:cNvSpPr/>
          <p:nvPr/>
        </p:nvSpPr>
        <p:spPr>
          <a:xfrm>
            <a:off x="1390613" y="4743896"/>
            <a:ext cx="9398775" cy="4836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667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FF99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-US" sz="1950">
                <a:solidFill>
                  <a:srgbClr val="A3C57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source venv/bin/activate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38"/>
          <p:cNvSpPr/>
          <p:nvPr/>
        </p:nvSpPr>
        <p:spPr>
          <a:xfrm>
            <a:off x="1390613" y="5360789"/>
            <a:ext cx="9398775" cy="4836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667"/>
              </a:lnSpc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2. install (pulls CUDA-matched wheels, ~2 GB)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38"/>
          <p:cNvSpPr/>
          <p:nvPr/>
        </p:nvSpPr>
        <p:spPr>
          <a:xfrm>
            <a:off x="1390613" y="5760393"/>
            <a:ext cx="93987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667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FF99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-US" sz="1950">
                <a:solidFill>
                  <a:srgbClr val="A3C57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pip install "vllm==0.9.2"</a:t>
            </a:r>
            <a:r>
              <a:rPr i="1" lang="en-US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38"/>
          <p:cNvSpPr/>
          <p:nvPr/>
        </p:nvSpPr>
        <p:spPr>
          <a:xfrm>
            <a:off x="11334750" y="2952750"/>
            <a:ext cx="5905500" cy="1605111"/>
          </a:xfrm>
          <a:prstGeom prst="roundRect">
            <a:avLst>
              <a:gd fmla="val 9495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38"/>
          <p:cNvSpPr/>
          <p:nvPr/>
        </p:nvSpPr>
        <p:spPr>
          <a:xfrm>
            <a:off x="11651382" y="3212269"/>
            <a:ext cx="5799460" cy="3357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WHY A VENV?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38"/>
          <p:cNvSpPr/>
          <p:nvPr/>
        </p:nvSpPr>
        <p:spPr>
          <a:xfrm>
            <a:off x="11651382" y="3605175"/>
            <a:ext cx="5430403" cy="731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48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b="0" i="0" lang="en-US" sz="195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vLLM pins exact torch + CUDA versions. Isolating them keeps your other projects safe.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38"/>
          <p:cNvSpPr/>
          <p:nvPr/>
        </p:nvSpPr>
        <p:spPr>
          <a:xfrm>
            <a:off x="11334750" y="4786313"/>
            <a:ext cx="5905500" cy="1605111"/>
          </a:xfrm>
          <a:prstGeom prst="roundRect">
            <a:avLst>
              <a:gd fmla="val 9495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38"/>
          <p:cNvSpPr/>
          <p:nvPr/>
        </p:nvSpPr>
        <p:spPr>
          <a:xfrm>
            <a:off x="11651382" y="5045832"/>
            <a:ext cx="5799460" cy="3357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REQUIREMENTS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38"/>
          <p:cNvSpPr/>
          <p:nvPr/>
        </p:nvSpPr>
        <p:spPr>
          <a:xfrm>
            <a:off x="11651382" y="5438738"/>
            <a:ext cx="5430403" cy="731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48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b="0" i="0" lang="en-US" sz="195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Linux, Python 3.9–3.12, NVIDIA GPU with compute ≥ 7.0 (T4, RTX 20-series or newer).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38"/>
          <p:cNvSpPr/>
          <p:nvPr/>
        </p:nvSpPr>
        <p:spPr>
          <a:xfrm>
            <a:off x="11334750" y="6619875"/>
            <a:ext cx="5905500" cy="1605111"/>
          </a:xfrm>
          <a:prstGeom prst="roundRect">
            <a:avLst>
              <a:gd fmla="val 9495" name="adj"/>
            </a:avLst>
          </a:prstGeom>
          <a:solidFill>
            <a:srgbClr val="C15F3C">
              <a:alpha val="3922"/>
            </a:srgbClr>
          </a:solidFill>
          <a:ln cap="flat" cmpd="sng" w="11900">
            <a:solidFill>
              <a:srgbClr val="C15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38"/>
          <p:cNvSpPr/>
          <p:nvPr/>
        </p:nvSpPr>
        <p:spPr>
          <a:xfrm>
            <a:off x="11651382" y="6879394"/>
            <a:ext cx="5799460" cy="3357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5F3C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C15F3C"/>
                </a:solidFill>
                <a:latin typeface="Gabarito"/>
                <a:ea typeface="Gabarito"/>
                <a:cs typeface="Gabarito"/>
                <a:sym typeface="Gabarito"/>
              </a:rPr>
              <a:t>WARNING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38"/>
          <p:cNvSpPr/>
          <p:nvPr/>
        </p:nvSpPr>
        <p:spPr>
          <a:xfrm>
            <a:off x="11651382" y="7272300"/>
            <a:ext cx="5430403" cy="731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48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b="0" i="0" lang="en-US" sz="195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No native Windows or macOS support — use Docker or WSL2 there.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58" name="Google Shape;115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39"/>
          <p:cNvSpPr/>
          <p:nvPr/>
        </p:nvSpPr>
        <p:spPr>
          <a:xfrm>
            <a:off x="1047750" y="914363"/>
            <a:ext cx="2510303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Deployment 1 of 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39"/>
          <p:cNvSpPr/>
          <p:nvPr/>
        </p:nvSpPr>
        <p:spPr>
          <a:xfrm>
            <a:off x="1047750" y="1390613"/>
            <a:ext cx="10693189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Method 1 — The vLLM CLI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39"/>
          <p:cNvSpPr/>
          <p:nvPr/>
        </p:nvSpPr>
        <p:spPr>
          <a:xfrm>
            <a:off x="1047750" y="2933588"/>
            <a:ext cx="16192500" cy="2333700"/>
          </a:xfrm>
          <a:prstGeom prst="roundRect">
            <a:avLst>
              <a:gd fmla="val 6531" name="adj"/>
            </a:avLst>
          </a:prstGeom>
          <a:solidFill>
            <a:srgbClr val="1E22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39"/>
          <p:cNvSpPr/>
          <p:nvPr/>
        </p:nvSpPr>
        <p:spPr>
          <a:xfrm>
            <a:off x="1047750" y="2933588"/>
            <a:ext cx="16192500" cy="576000"/>
          </a:xfrm>
          <a:prstGeom prst="rect">
            <a:avLst/>
          </a:prstGeom>
          <a:solidFill>
            <a:srgbClr val="2A2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39"/>
          <p:cNvSpPr/>
          <p:nvPr/>
        </p:nvSpPr>
        <p:spPr>
          <a:xfrm>
            <a:off x="1295363" y="3154970"/>
            <a:ext cx="133201" cy="133201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39"/>
          <p:cNvSpPr/>
          <p:nvPr/>
        </p:nvSpPr>
        <p:spPr>
          <a:xfrm>
            <a:off x="1523814" y="3154970"/>
            <a:ext cx="133201" cy="133201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39"/>
          <p:cNvSpPr/>
          <p:nvPr/>
        </p:nvSpPr>
        <p:spPr>
          <a:xfrm>
            <a:off x="1752265" y="3154970"/>
            <a:ext cx="133201" cy="133201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39"/>
          <p:cNvSpPr/>
          <p:nvPr/>
        </p:nvSpPr>
        <p:spPr>
          <a:xfrm>
            <a:off x="2094942" y="3066790"/>
            <a:ext cx="1508801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vllm serve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39"/>
          <p:cNvSpPr/>
          <p:nvPr/>
        </p:nvSpPr>
        <p:spPr>
          <a:xfrm>
            <a:off x="1390625" y="3757190"/>
            <a:ext cx="15972000" cy="13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963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FF99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-US" sz="1950">
                <a:solidFill>
                  <a:srgbClr val="A3C57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CUDA_VISIBLE_DEVICES=0 vllm serve Qwen/Qwen2.5-3B-Instruct \</a:t>
            </a:r>
            <a:endParaRPr sz="1950">
              <a:solidFill>
                <a:srgbClr val="A3C57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30963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950"/>
              <a:buFont typeface="JetBrains Mono"/>
              <a:buNone/>
            </a:pPr>
            <a:r>
              <a:rPr lang="en-US" sz="1950">
                <a:solidFill>
                  <a:srgbClr val="A3C57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--gpu-memory-utilization 0.25 \</a:t>
            </a:r>
            <a:endParaRPr sz="1950">
              <a:solidFill>
                <a:srgbClr val="A3C57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30963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950"/>
              <a:buFont typeface="JetBrains Mono"/>
              <a:buNone/>
            </a:pPr>
            <a:r>
              <a:rPr lang="en-US" sz="1950">
                <a:solidFill>
                  <a:srgbClr val="A3C57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--port 9040 </a:t>
            </a:r>
            <a:endParaRPr i="1" sz="1000">
              <a:solidFill>
                <a:srgbClr val="008080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000">
              <a:solidFill>
                <a:srgbClr val="00808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68" name="Google Shape;1168;p39"/>
          <p:cNvSpPr/>
          <p:nvPr/>
        </p:nvSpPr>
        <p:spPr>
          <a:xfrm>
            <a:off x="1047750" y="5496575"/>
            <a:ext cx="5505338" cy="602382"/>
          </a:xfrm>
          <a:custGeom>
            <a:rect b="b" l="l" r="r" t="t"/>
            <a:pathLst>
              <a:path extrusionOk="0" h="602382" w="5505338">
                <a:moveTo>
                  <a:pt x="133350" y="0"/>
                </a:moveTo>
                <a:lnTo>
                  <a:pt x="5505338" y="0"/>
                </a:lnTo>
                <a:lnTo>
                  <a:pt x="5505338" y="602382"/>
                </a:lnTo>
                <a:lnTo>
                  <a:pt x="0" y="602382"/>
                </a:ln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274D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39"/>
          <p:cNvSpPr/>
          <p:nvPr/>
        </p:nvSpPr>
        <p:spPr>
          <a:xfrm>
            <a:off x="1314450" y="5648975"/>
            <a:ext cx="51372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Parameter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39"/>
          <p:cNvSpPr/>
          <p:nvPr/>
        </p:nvSpPr>
        <p:spPr>
          <a:xfrm>
            <a:off x="6553088" y="5496575"/>
            <a:ext cx="10687162" cy="602382"/>
          </a:xfrm>
          <a:custGeom>
            <a:rect b="b" l="l" r="r" t="t"/>
            <a:pathLst>
              <a:path extrusionOk="0" h="602382" w="10687162">
                <a:moveTo>
                  <a:pt x="0" y="0"/>
                </a:moveTo>
                <a:lnTo>
                  <a:pt x="10553812" y="0"/>
                </a:lnTo>
                <a:cubicBezTo>
                  <a:pt x="10589179" y="0"/>
                  <a:pt x="10623097" y="14049"/>
                  <a:pt x="10648105" y="39057"/>
                </a:cubicBezTo>
                <a:cubicBezTo>
                  <a:pt x="10673113" y="64065"/>
                  <a:pt x="10687162" y="97983"/>
                  <a:pt x="10687162" y="133350"/>
                </a:cubicBezTo>
                <a:lnTo>
                  <a:pt x="10687162" y="602382"/>
                </a:lnTo>
                <a:lnTo>
                  <a:pt x="0" y="602382"/>
                </a:lnTo>
                <a:lnTo>
                  <a:pt x="0" y="0"/>
                </a:lnTo>
                <a:close/>
              </a:path>
            </a:pathLst>
          </a:custGeom>
          <a:solidFill>
            <a:srgbClr val="274D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39"/>
          <p:cNvSpPr/>
          <p:nvPr/>
        </p:nvSpPr>
        <p:spPr>
          <a:xfrm>
            <a:off x="6819788" y="5648975"/>
            <a:ext cx="104745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What it controls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39"/>
          <p:cNvSpPr/>
          <p:nvPr/>
        </p:nvSpPr>
        <p:spPr>
          <a:xfrm>
            <a:off x="1047750" y="6686828"/>
            <a:ext cx="55053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39"/>
          <p:cNvSpPr/>
          <p:nvPr/>
        </p:nvSpPr>
        <p:spPr>
          <a:xfrm>
            <a:off x="1314450" y="6232307"/>
            <a:ext cx="51372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1950"/>
              <a:buFont typeface="JetBrains Mono"/>
              <a:buNone/>
            </a:pPr>
            <a:r>
              <a:rPr b="1" lang="en-US" sz="1950">
                <a:solidFill>
                  <a:srgbClr val="4C5A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CUDA_VISIBLE_DEVICES=</a:t>
            </a:r>
            <a:r>
              <a:rPr b="1" lang="en-US" sz="1950">
                <a:solidFill>
                  <a:srgbClr val="4C5A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39"/>
          <p:cNvSpPr/>
          <p:nvPr/>
        </p:nvSpPr>
        <p:spPr>
          <a:xfrm>
            <a:off x="6553088" y="6686828"/>
            <a:ext cx="106872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39"/>
          <p:cNvSpPr/>
          <p:nvPr/>
        </p:nvSpPr>
        <p:spPr>
          <a:xfrm>
            <a:off x="6819788" y="6232307"/>
            <a:ext cx="104745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lang="en-US" sz="195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Restricts this process to only see GPU index 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39"/>
          <p:cNvSpPr/>
          <p:nvPr/>
        </p:nvSpPr>
        <p:spPr>
          <a:xfrm>
            <a:off x="1047750" y="7286605"/>
            <a:ext cx="55053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39"/>
          <p:cNvSpPr/>
          <p:nvPr/>
        </p:nvSpPr>
        <p:spPr>
          <a:xfrm>
            <a:off x="6553088" y="7286605"/>
            <a:ext cx="106872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39"/>
          <p:cNvSpPr/>
          <p:nvPr/>
        </p:nvSpPr>
        <p:spPr>
          <a:xfrm>
            <a:off x="1047750" y="7886383"/>
            <a:ext cx="55053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39"/>
          <p:cNvSpPr/>
          <p:nvPr/>
        </p:nvSpPr>
        <p:spPr>
          <a:xfrm>
            <a:off x="1314450" y="7431862"/>
            <a:ext cx="51372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1950"/>
              <a:buFont typeface="JetBrains Mono"/>
              <a:buNone/>
            </a:pPr>
            <a:r>
              <a:rPr b="1" lang="en-US" sz="1950">
                <a:solidFill>
                  <a:srgbClr val="4C5A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gpu-memory-utilization 0.25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39"/>
          <p:cNvSpPr/>
          <p:nvPr/>
        </p:nvSpPr>
        <p:spPr>
          <a:xfrm>
            <a:off x="6553088" y="7886383"/>
            <a:ext cx="106872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39"/>
          <p:cNvSpPr/>
          <p:nvPr/>
        </p:nvSpPr>
        <p:spPr>
          <a:xfrm>
            <a:off x="6819788" y="7431862"/>
            <a:ext cx="104745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lang="en-US" sz="195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Tells vLLM to pre-allocate only 25% of the target GPU's VRAM, instead of vLLM's default of ~90% 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39"/>
          <p:cNvSpPr/>
          <p:nvPr/>
        </p:nvSpPr>
        <p:spPr>
          <a:xfrm>
            <a:off x="1047750" y="7898289"/>
            <a:ext cx="5505300" cy="5997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39"/>
          <p:cNvSpPr/>
          <p:nvPr/>
        </p:nvSpPr>
        <p:spPr>
          <a:xfrm>
            <a:off x="1047750" y="8486160"/>
            <a:ext cx="55053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39"/>
          <p:cNvSpPr/>
          <p:nvPr/>
        </p:nvSpPr>
        <p:spPr>
          <a:xfrm>
            <a:off x="1314450" y="8031639"/>
            <a:ext cx="51372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1950"/>
              <a:buFont typeface="JetBrains Mono"/>
              <a:buNone/>
            </a:pPr>
            <a:r>
              <a:rPr b="1" lang="en-US" sz="1950">
                <a:solidFill>
                  <a:srgbClr val="4C5A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port 9040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39"/>
          <p:cNvSpPr/>
          <p:nvPr/>
        </p:nvSpPr>
        <p:spPr>
          <a:xfrm>
            <a:off x="6553088" y="7898289"/>
            <a:ext cx="10687200" cy="5997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39"/>
          <p:cNvSpPr/>
          <p:nvPr/>
        </p:nvSpPr>
        <p:spPr>
          <a:xfrm>
            <a:off x="6553088" y="8486160"/>
            <a:ext cx="10687200" cy="1200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39"/>
          <p:cNvSpPr/>
          <p:nvPr/>
        </p:nvSpPr>
        <p:spPr>
          <a:xfrm>
            <a:off x="6819788" y="8031639"/>
            <a:ext cx="104745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lang="en-US" sz="195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Runs the OpenAI-compatible API server on port 9040 instead of the default 8000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39"/>
          <p:cNvSpPr/>
          <p:nvPr/>
        </p:nvSpPr>
        <p:spPr>
          <a:xfrm>
            <a:off x="1047750" y="9455963"/>
            <a:ext cx="105879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Result: </a:t>
            </a:r>
            <a:r>
              <a:rPr b="0" i="0" lang="en-US" sz="195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an OpenAI-compatible server at </a:t>
            </a:r>
            <a:r>
              <a:rPr b="0" i="0" lang="en-US" sz="1800" u="none" cap="none" strike="noStrike">
                <a:solidFill>
                  <a:srgbClr val="7874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http://localhost:8000/v1 </a:t>
            </a:r>
            <a:r>
              <a:rPr b="0" i="0" lang="en-US" sz="195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— one command.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39"/>
          <p:cNvSpPr/>
          <p:nvPr/>
        </p:nvSpPr>
        <p:spPr>
          <a:xfrm>
            <a:off x="1313327" y="6814600"/>
            <a:ext cx="59193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1950"/>
              <a:buFont typeface="JetBrains Mono"/>
              <a:buNone/>
            </a:pPr>
            <a:r>
              <a:rPr b="1" lang="en-US" sz="1950">
                <a:solidFill>
                  <a:srgbClr val="4C5A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vllm serve Qwen/Qwen2.5-3B-Instruct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39"/>
          <p:cNvSpPr/>
          <p:nvPr/>
        </p:nvSpPr>
        <p:spPr>
          <a:xfrm>
            <a:off x="6834004" y="6814612"/>
            <a:ext cx="104745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lang="en-US" sz="195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Starts vLLM's inference server and loads the Qwen2.5-3B-Instruct model, pulling it from Hugging Face if it isn't already cached locally. </a:t>
            </a:r>
            <a:endParaRPr sz="1950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96" name="Google Shape;119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97" name="Google Shape;1197;p40"/>
          <p:cNvSpPr/>
          <p:nvPr/>
        </p:nvSpPr>
        <p:spPr>
          <a:xfrm>
            <a:off x="1047750" y="914363"/>
            <a:ext cx="2558188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Deployment 2 of 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40"/>
          <p:cNvSpPr/>
          <p:nvPr/>
        </p:nvSpPr>
        <p:spPr>
          <a:xfrm>
            <a:off x="1047750" y="1390613"/>
            <a:ext cx="8139299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Method 2 — Docker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40"/>
          <p:cNvSpPr/>
          <p:nvPr/>
        </p:nvSpPr>
        <p:spPr>
          <a:xfrm>
            <a:off x="1047750" y="2933600"/>
            <a:ext cx="9525000" cy="5971500"/>
          </a:xfrm>
          <a:prstGeom prst="roundRect">
            <a:avLst>
              <a:gd fmla="val 3501" name="adj"/>
            </a:avLst>
          </a:prstGeom>
          <a:solidFill>
            <a:srgbClr val="1E22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40"/>
          <p:cNvSpPr/>
          <p:nvPr/>
        </p:nvSpPr>
        <p:spPr>
          <a:xfrm>
            <a:off x="1047750" y="2933588"/>
            <a:ext cx="9525000" cy="614288"/>
          </a:xfrm>
          <a:prstGeom prst="rect">
            <a:avLst/>
          </a:prstGeom>
          <a:solidFill>
            <a:srgbClr val="2A2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40"/>
          <p:cNvSpPr/>
          <p:nvPr/>
        </p:nvSpPr>
        <p:spPr>
          <a:xfrm>
            <a:off x="1295363" y="3164458"/>
            <a:ext cx="152363" cy="152363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40"/>
          <p:cNvSpPr/>
          <p:nvPr/>
        </p:nvSpPr>
        <p:spPr>
          <a:xfrm>
            <a:off x="1542976" y="3164458"/>
            <a:ext cx="152363" cy="152363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40"/>
          <p:cNvSpPr/>
          <p:nvPr/>
        </p:nvSpPr>
        <p:spPr>
          <a:xfrm>
            <a:off x="1790588" y="3164458"/>
            <a:ext cx="152363" cy="152363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40"/>
          <p:cNvSpPr/>
          <p:nvPr/>
        </p:nvSpPr>
        <p:spPr>
          <a:xfrm>
            <a:off x="2171402" y="3085951"/>
            <a:ext cx="1508801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docker run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40"/>
          <p:cNvSpPr/>
          <p:nvPr/>
        </p:nvSpPr>
        <p:spPr>
          <a:xfrm>
            <a:off x="1390625" y="3814550"/>
            <a:ext cx="9104400" cy="42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519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FF99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-US" sz="1950">
                <a:solidFill>
                  <a:srgbClr val="A3C57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docker run -d --rm \</a:t>
            </a:r>
            <a:br>
              <a:rPr lang="en-US" sz="1950">
                <a:solidFill>
                  <a:srgbClr val="A3C57F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95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--gpus '"device=0"' \ </a:t>
            </a:r>
            <a:br>
              <a:rPr lang="en-US" sz="195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95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-p 9040:9040 \</a:t>
            </a:r>
            <a:br>
              <a:rPr lang="en-US" sz="195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95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-v ~/.cache/huggingface:/root/.cache/huggingface \ </a:t>
            </a:r>
            <a:br>
              <a:rPr lang="en-US" sz="195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95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--ipc=host \ </a:t>
            </a:r>
            <a:br>
              <a:rPr lang="en-US" sz="195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95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--name vllm-qwen \</a:t>
            </a:r>
            <a:br>
              <a:rPr lang="en-US" sz="195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95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vllm/vllm-openai:latest \</a:t>
            </a:r>
            <a:br>
              <a:rPr lang="en-US" sz="195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95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--model Qwen/Qwen2.5-3B-Instruct \ </a:t>
            </a:r>
            <a:br>
              <a:rPr lang="en-US" sz="195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95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--gpu-memory-utilization 0.25 \ </a:t>
            </a:r>
            <a:br>
              <a:rPr lang="en-US" sz="195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95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--port 9040</a:t>
            </a:r>
            <a:r>
              <a:rPr lang="en-US" sz="195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 sz="195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06" name="Google Shape;1206;p40"/>
          <p:cNvSpPr/>
          <p:nvPr/>
        </p:nvSpPr>
        <p:spPr>
          <a:xfrm>
            <a:off x="11049000" y="2933588"/>
            <a:ext cx="6191250" cy="1085701"/>
          </a:xfrm>
          <a:prstGeom prst="roundRect">
            <a:avLst>
              <a:gd fmla="val 14037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40"/>
          <p:cNvSpPr/>
          <p:nvPr/>
        </p:nvSpPr>
        <p:spPr>
          <a:xfrm>
            <a:off x="11346656" y="3228826"/>
            <a:ext cx="133201" cy="495226"/>
          </a:xfrm>
          <a:prstGeom prst="roundRect">
            <a:avLst>
              <a:gd fmla="val 50000" name="adj"/>
            </a:avLst>
          </a:prstGeom>
          <a:solidFill>
            <a:srgbClr val="7FB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40"/>
          <p:cNvSpPr/>
          <p:nvPr/>
        </p:nvSpPr>
        <p:spPr>
          <a:xfrm>
            <a:off x="11670357" y="3154970"/>
            <a:ext cx="5430403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875"/>
              <a:buFont typeface="Gabarito"/>
              <a:buNone/>
            </a:pPr>
            <a:r>
              <a:rPr b="1" i="0" lang="en-US" sz="18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--gpus</a:t>
            </a:r>
            <a:r>
              <a:rPr b="1" lang="en-US" sz="1875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 </a:t>
            </a:r>
            <a:r>
              <a:rPr b="1" lang="en-US" sz="1875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'"device=0"'</a:t>
            </a:r>
            <a:r>
              <a:rPr b="1" i="0" lang="en-US" sz="18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 </a:t>
            </a:r>
            <a:r>
              <a:rPr b="0" i="0" lang="en-US" sz="1875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— passes NVIDIA GPUs into the container (needs nvidia-container-toolkit).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40"/>
          <p:cNvSpPr/>
          <p:nvPr/>
        </p:nvSpPr>
        <p:spPr>
          <a:xfrm>
            <a:off x="11049000" y="4209790"/>
            <a:ext cx="6191250" cy="1085701"/>
          </a:xfrm>
          <a:prstGeom prst="roundRect">
            <a:avLst>
              <a:gd fmla="val 14037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40"/>
          <p:cNvSpPr/>
          <p:nvPr/>
        </p:nvSpPr>
        <p:spPr>
          <a:xfrm>
            <a:off x="11346656" y="4505027"/>
            <a:ext cx="133201" cy="495226"/>
          </a:xfrm>
          <a:prstGeom prst="roundRect">
            <a:avLst>
              <a:gd fmla="val 50000" name="adj"/>
            </a:avLst>
          </a:prstGeom>
          <a:solidFill>
            <a:srgbClr val="F0B4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40"/>
          <p:cNvSpPr/>
          <p:nvPr/>
        </p:nvSpPr>
        <p:spPr>
          <a:xfrm>
            <a:off x="11670357" y="4431171"/>
            <a:ext cx="5430403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875"/>
              <a:buFont typeface="Gabarito"/>
              <a:buNone/>
            </a:pPr>
            <a:r>
              <a:rPr b="1" i="0" lang="en-US" sz="18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-v ...huggingface </a:t>
            </a:r>
            <a:r>
              <a:rPr b="0" i="0" lang="en-US" sz="1875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— mounts the model cache so weights survive container restarts.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40"/>
          <p:cNvSpPr/>
          <p:nvPr/>
        </p:nvSpPr>
        <p:spPr>
          <a:xfrm>
            <a:off x="10495025" y="6688366"/>
            <a:ext cx="6191400" cy="938100"/>
          </a:xfrm>
          <a:prstGeom prst="roundRect">
            <a:avLst>
              <a:gd fmla="val 16248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40"/>
          <p:cNvSpPr/>
          <p:nvPr/>
        </p:nvSpPr>
        <p:spPr>
          <a:xfrm>
            <a:off x="11346656" y="5707373"/>
            <a:ext cx="133201" cy="495226"/>
          </a:xfrm>
          <a:prstGeom prst="roundRect">
            <a:avLst>
              <a:gd fmla="val 50000" name="adj"/>
            </a:avLst>
          </a:prstGeom>
          <a:solidFill>
            <a:srgbClr val="A3C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40"/>
          <p:cNvSpPr/>
          <p:nvPr/>
        </p:nvSpPr>
        <p:spPr>
          <a:xfrm>
            <a:off x="11670357" y="5794251"/>
            <a:ext cx="5412079" cy="359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875"/>
              <a:buFont typeface="Gabarito"/>
              <a:buNone/>
            </a:pPr>
            <a:r>
              <a:rPr b="1" i="0" lang="en-US" sz="18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-p </a:t>
            </a:r>
            <a:r>
              <a:rPr b="1" lang="en-US" sz="1875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9040</a:t>
            </a:r>
            <a:r>
              <a:rPr b="1" i="0" lang="en-US" sz="18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:</a:t>
            </a:r>
            <a:r>
              <a:rPr b="1" lang="en-US" sz="1875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9040</a:t>
            </a:r>
            <a:r>
              <a:rPr b="1" i="0" lang="en-US" sz="18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 </a:t>
            </a:r>
            <a:r>
              <a:rPr b="0" i="0" lang="en-US" sz="1875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— maps the API port to the host.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40"/>
          <p:cNvSpPr/>
          <p:nvPr/>
        </p:nvSpPr>
        <p:spPr>
          <a:xfrm>
            <a:off x="11049000" y="6614480"/>
            <a:ext cx="6191250" cy="1085701"/>
          </a:xfrm>
          <a:prstGeom prst="roundRect">
            <a:avLst>
              <a:gd fmla="val 14037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40"/>
          <p:cNvSpPr/>
          <p:nvPr/>
        </p:nvSpPr>
        <p:spPr>
          <a:xfrm>
            <a:off x="11346656" y="6909718"/>
            <a:ext cx="133201" cy="495226"/>
          </a:xfrm>
          <a:prstGeom prst="roundRect">
            <a:avLst>
              <a:gd fmla="val 50000" name="adj"/>
            </a:avLst>
          </a:prstGeom>
          <a:solidFill>
            <a:srgbClr val="E8A0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40"/>
          <p:cNvSpPr/>
          <p:nvPr/>
        </p:nvSpPr>
        <p:spPr>
          <a:xfrm>
            <a:off x="11670357" y="6835862"/>
            <a:ext cx="5430403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875"/>
              <a:buFont typeface="Gabarito"/>
              <a:buNone/>
            </a:pPr>
            <a:r>
              <a:rPr b="1" i="0" lang="en-US" sz="18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--ipc=host </a:t>
            </a:r>
            <a:r>
              <a:rPr b="0" i="0" lang="en-US" sz="1875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— shares host memory; PyTorch workers need it for tensor exchange.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40"/>
          <p:cNvSpPr/>
          <p:nvPr/>
        </p:nvSpPr>
        <p:spPr>
          <a:xfrm>
            <a:off x="11049000" y="7890681"/>
            <a:ext cx="6191250" cy="1014264"/>
          </a:xfrm>
          <a:prstGeom prst="roundRect">
            <a:avLst>
              <a:gd fmla="val 15026" name="adj"/>
            </a:avLst>
          </a:prstGeom>
          <a:noFill/>
          <a:ln cap="flat" cmpd="sng" w="119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40"/>
          <p:cNvSpPr/>
          <p:nvPr/>
        </p:nvSpPr>
        <p:spPr>
          <a:xfrm>
            <a:off x="11346656" y="8112137"/>
            <a:ext cx="5781675" cy="6094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75"/>
              <a:buFont typeface="Gabarito"/>
              <a:buNone/>
            </a:pPr>
            <a:r>
              <a:rPr b="1" i="0" lang="en-US" sz="1875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Why Docker? </a:t>
            </a:r>
            <a:r>
              <a:rPr b="0" i="0" lang="en-US" sz="187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CUDA, torch, and vLLM versions ship pre-matched — the #1 source of install pain, gone.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25" name="Google Shape;122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41"/>
          <p:cNvSpPr/>
          <p:nvPr/>
        </p:nvSpPr>
        <p:spPr>
          <a:xfrm>
            <a:off x="1047750" y="914363"/>
            <a:ext cx="2562485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Deployment 3 of 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41"/>
          <p:cNvSpPr/>
          <p:nvPr/>
        </p:nvSpPr>
        <p:spPr>
          <a:xfrm>
            <a:off x="1047750" y="1390613"/>
            <a:ext cx="12252536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Method 3 — Docker Compose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41"/>
          <p:cNvSpPr/>
          <p:nvPr/>
        </p:nvSpPr>
        <p:spPr>
          <a:xfrm>
            <a:off x="1047750" y="2933625"/>
            <a:ext cx="10001400" cy="8206500"/>
          </a:xfrm>
          <a:prstGeom prst="roundRect">
            <a:avLst>
              <a:gd fmla="val 2556" name="adj"/>
            </a:avLst>
          </a:prstGeom>
          <a:solidFill>
            <a:srgbClr val="1E22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41"/>
          <p:cNvSpPr/>
          <p:nvPr/>
        </p:nvSpPr>
        <p:spPr>
          <a:xfrm>
            <a:off x="1047750" y="2933600"/>
            <a:ext cx="10001400" cy="614400"/>
          </a:xfrm>
          <a:prstGeom prst="rect">
            <a:avLst/>
          </a:prstGeom>
          <a:solidFill>
            <a:srgbClr val="2A2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41"/>
          <p:cNvSpPr/>
          <p:nvPr/>
        </p:nvSpPr>
        <p:spPr>
          <a:xfrm>
            <a:off x="1295363" y="3164458"/>
            <a:ext cx="152363" cy="152363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41"/>
          <p:cNvSpPr/>
          <p:nvPr/>
        </p:nvSpPr>
        <p:spPr>
          <a:xfrm>
            <a:off x="1542976" y="3164458"/>
            <a:ext cx="152363" cy="152363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41"/>
          <p:cNvSpPr/>
          <p:nvPr/>
        </p:nvSpPr>
        <p:spPr>
          <a:xfrm>
            <a:off x="1790588" y="3164458"/>
            <a:ext cx="152363" cy="152363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41"/>
          <p:cNvSpPr/>
          <p:nvPr/>
        </p:nvSpPr>
        <p:spPr>
          <a:xfrm>
            <a:off x="2171402" y="3085951"/>
            <a:ext cx="2715964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docker-compose.yml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41"/>
          <p:cNvSpPr/>
          <p:nvPr/>
        </p:nvSpPr>
        <p:spPr>
          <a:xfrm>
            <a:off x="1390625" y="3795625"/>
            <a:ext cx="4764000" cy="57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version: "3.8"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services: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qwen2.5-0.5b: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image: vllm/vllm-openai:latest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container_name: vllm-qwen2.5-0.5b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ipc: host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ports: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- "9040:9040"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volumes: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- ~/.cache/huggingface:/root/.cache/huggingface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environment: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- HUGGING_FACE_HUB_TOKEN=${HF_TOKEN} 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25538"/>
              </a:lnSpc>
              <a:spcBef>
                <a:spcPts val="800"/>
              </a:spcBef>
              <a:spcAft>
                <a:spcPts val="0"/>
              </a:spcAft>
              <a:buClr>
                <a:srgbClr val="C792EA"/>
              </a:buClr>
              <a:buSzPts val="1800"/>
              <a:buFont typeface="JetBrains Mono"/>
              <a:buNone/>
            </a:pPr>
            <a:r>
              <a:t/>
            </a:r>
            <a:endParaRPr sz="16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538"/>
              </a:lnSpc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800"/>
              <a:buFont typeface="JetBrains Mono"/>
              <a:buNone/>
            </a:pPr>
            <a:r>
              <a:t/>
            </a:r>
            <a:endParaRPr sz="16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538"/>
              </a:lnSpc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800"/>
              <a:buFont typeface="JetBrains Mono"/>
              <a:buNone/>
            </a:pPr>
            <a:r>
              <a:t/>
            </a:r>
            <a:endParaRPr sz="16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35" name="Google Shape;1235;p41"/>
          <p:cNvSpPr/>
          <p:nvPr/>
        </p:nvSpPr>
        <p:spPr>
          <a:xfrm>
            <a:off x="11332301" y="2933600"/>
            <a:ext cx="5919300" cy="1873800"/>
          </a:xfrm>
          <a:prstGeom prst="roundRect">
            <a:avLst>
              <a:gd fmla="val 8133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41"/>
          <p:cNvSpPr/>
          <p:nvPr/>
        </p:nvSpPr>
        <p:spPr>
          <a:xfrm>
            <a:off x="11616889" y="3173957"/>
            <a:ext cx="58854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MULTIPLE MODELS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41"/>
          <p:cNvSpPr/>
          <p:nvPr/>
        </p:nvSpPr>
        <p:spPr>
          <a:xfrm>
            <a:off x="11616889" y="3566861"/>
            <a:ext cx="55107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75"/>
              <a:buFont typeface="Gabarito"/>
              <a:buNone/>
            </a:pPr>
            <a:r>
              <a:rPr b="0" i="0" lang="en-US" sz="187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One service per model, each pinned to its own GPU and port — a chat model and a code model side by side.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41"/>
          <p:cNvSpPr/>
          <p:nvPr/>
        </p:nvSpPr>
        <p:spPr>
          <a:xfrm>
            <a:off x="11332301" y="5126242"/>
            <a:ext cx="5919600" cy="1873800"/>
          </a:xfrm>
          <a:prstGeom prst="roundRect">
            <a:avLst>
              <a:gd fmla="val 8133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41"/>
          <p:cNvSpPr/>
          <p:nvPr/>
        </p:nvSpPr>
        <p:spPr>
          <a:xfrm>
            <a:off x="11616889" y="5366598"/>
            <a:ext cx="58851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SCALING &amp; RECOVERY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41"/>
          <p:cNvSpPr/>
          <p:nvPr/>
        </p:nvSpPr>
        <p:spPr>
          <a:xfrm>
            <a:off x="11616889" y="5759502"/>
            <a:ext cx="55107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5B5B5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restart: unless-stopped </a:t>
            </a:r>
            <a:r>
              <a:rPr b="0" i="0" lang="en-US" sz="1875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auto-heals crashes; add a router (nginx, LiteLLM) in front to load-balance replicas.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41"/>
          <p:cNvSpPr/>
          <p:nvPr/>
        </p:nvSpPr>
        <p:spPr>
          <a:xfrm>
            <a:off x="11332301" y="7209453"/>
            <a:ext cx="5919600" cy="752400"/>
          </a:xfrm>
          <a:prstGeom prst="roundRect">
            <a:avLst>
              <a:gd fmla="val 20257" name="adj"/>
            </a:avLst>
          </a:prstGeom>
          <a:noFill/>
          <a:ln cap="flat" cmpd="sng" w="119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41"/>
          <p:cNvSpPr/>
          <p:nvPr/>
        </p:nvSpPr>
        <p:spPr>
          <a:xfrm>
            <a:off x="11616889" y="7430909"/>
            <a:ext cx="5527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75"/>
              <a:buFont typeface="Gabarito"/>
              <a:buNone/>
            </a:pPr>
            <a:r>
              <a:rPr b="1" i="0" lang="en-US" sz="1875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One command: </a:t>
            </a:r>
            <a:r>
              <a:rPr b="0" i="0" lang="en-US" sz="1875" u="none" cap="none" strike="noStrike">
                <a:solidFill>
                  <a:srgbClr val="5B5B5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docker compose up -d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41"/>
          <p:cNvSpPr/>
          <p:nvPr/>
        </p:nvSpPr>
        <p:spPr>
          <a:xfrm>
            <a:off x="5874650" y="3795625"/>
            <a:ext cx="4627200" cy="57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deploy: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resources: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  reservations: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    devices: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      - driver: nvidia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        device_ids: ["0"]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        capabilities: [gpu]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command: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- --model=Qwen/Qwen2.5-0.5B-Instruct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- --gpu-memory-utilization=0.20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- --port=9040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restart: unless-stopped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457200" marR="0" rtl="0" algn="l">
              <a:lnSpc>
                <a:spcPct val="125538"/>
              </a:lnSpc>
              <a:spcBef>
                <a:spcPts val="800"/>
              </a:spcBef>
              <a:spcAft>
                <a:spcPts val="0"/>
              </a:spcAft>
              <a:buClr>
                <a:srgbClr val="C792EA"/>
              </a:buClr>
              <a:buSzPts val="1800"/>
              <a:buFont typeface="JetBrains Mono"/>
              <a:buNone/>
            </a:pPr>
            <a:r>
              <a:t/>
            </a:r>
            <a:endParaRPr sz="16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marR="0" rtl="0" algn="l">
              <a:lnSpc>
                <a:spcPct val="125538"/>
              </a:lnSpc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800"/>
              <a:buFont typeface="JetBrains Mono"/>
              <a:buNone/>
            </a:pPr>
            <a:r>
              <a:t/>
            </a:r>
            <a:endParaRPr sz="16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marR="0" rtl="0" algn="l">
              <a:lnSpc>
                <a:spcPct val="125538"/>
              </a:lnSpc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800"/>
              <a:buFont typeface="JetBrains Mono"/>
              <a:buNone/>
            </a:pPr>
            <a:r>
              <a:t/>
            </a:r>
            <a:endParaRPr sz="16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49" name="Google Shape;124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19"/>
          </a:xfrm>
          <a:prstGeom prst="rect">
            <a:avLst/>
          </a:prstGeom>
          <a:noFill/>
          <a:ln>
            <a:noFill/>
          </a:ln>
        </p:spPr>
      </p:pic>
      <p:sp>
        <p:nvSpPr>
          <p:cNvPr id="1250" name="Google Shape;1250;p42"/>
          <p:cNvSpPr/>
          <p:nvPr/>
        </p:nvSpPr>
        <p:spPr>
          <a:xfrm>
            <a:off x="1047750" y="914363"/>
            <a:ext cx="25626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Deployment 3 of 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42"/>
          <p:cNvSpPr/>
          <p:nvPr/>
        </p:nvSpPr>
        <p:spPr>
          <a:xfrm>
            <a:off x="1047750" y="1390625"/>
            <a:ext cx="149580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Method 3 — Docker Compose (Cont.) 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42"/>
          <p:cNvSpPr/>
          <p:nvPr/>
        </p:nvSpPr>
        <p:spPr>
          <a:xfrm>
            <a:off x="1047750" y="2654100"/>
            <a:ext cx="16221300" cy="7931400"/>
          </a:xfrm>
          <a:prstGeom prst="roundRect">
            <a:avLst>
              <a:gd fmla="val 2556" name="adj"/>
            </a:avLst>
          </a:prstGeom>
          <a:solidFill>
            <a:srgbClr val="1E22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42"/>
          <p:cNvSpPr/>
          <p:nvPr/>
        </p:nvSpPr>
        <p:spPr>
          <a:xfrm>
            <a:off x="1047750" y="2654075"/>
            <a:ext cx="16221300" cy="614400"/>
          </a:xfrm>
          <a:prstGeom prst="rect">
            <a:avLst/>
          </a:prstGeom>
          <a:solidFill>
            <a:srgbClr val="2A2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42"/>
          <p:cNvSpPr/>
          <p:nvPr/>
        </p:nvSpPr>
        <p:spPr>
          <a:xfrm>
            <a:off x="1295363" y="2884933"/>
            <a:ext cx="152400" cy="1524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42"/>
          <p:cNvSpPr/>
          <p:nvPr/>
        </p:nvSpPr>
        <p:spPr>
          <a:xfrm>
            <a:off x="1542976" y="2884933"/>
            <a:ext cx="152400" cy="1524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42"/>
          <p:cNvSpPr/>
          <p:nvPr/>
        </p:nvSpPr>
        <p:spPr>
          <a:xfrm>
            <a:off x="1790588" y="2884933"/>
            <a:ext cx="152400" cy="1524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42"/>
          <p:cNvSpPr/>
          <p:nvPr/>
        </p:nvSpPr>
        <p:spPr>
          <a:xfrm>
            <a:off x="2171402" y="2806426"/>
            <a:ext cx="27159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docker-compose.yml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42"/>
          <p:cNvSpPr/>
          <p:nvPr/>
        </p:nvSpPr>
        <p:spPr>
          <a:xfrm>
            <a:off x="1390625" y="3516100"/>
            <a:ext cx="5910900" cy="57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gemma2-2b: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image: vllm/vllm-openai:latest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container_name: vllm-gemma2-2b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ipc: host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ports: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- "9041:9041"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volumes: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- ~/.cache/huggingface:/root/.cache/huggingface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environment: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- HUGGING_FACE_HUB_TOKEN=${HF_TOKEN}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</a:t>
            </a: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deploy: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resources: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  reservations: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    devices: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      - driver: nvidia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        device_ids: ["0"]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        capabilities: [gpu]</a:t>
            </a:r>
            <a:endParaRPr sz="16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59" name="Google Shape;1259;p42"/>
          <p:cNvSpPr/>
          <p:nvPr/>
        </p:nvSpPr>
        <p:spPr>
          <a:xfrm>
            <a:off x="7983725" y="3391350"/>
            <a:ext cx="5910900" cy="57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command: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- --model=google/gemma-2-2b-it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- --gpu-memory-utilization=0.25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- --port=9041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restart: unless-stopped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deploy: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resources: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  reservations: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    devices: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      - driver: nvidia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        device_ids: ["0"]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        capabilities: [gpu]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command: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- --model=google/gemma-2-2b-it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- --gpu-memory-utilization=0.25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- --port=9041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restart: unless-stopped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457200" marR="0" rtl="0" algn="l">
              <a:lnSpc>
                <a:spcPct val="125538"/>
              </a:lnSpc>
              <a:spcBef>
                <a:spcPts val="800"/>
              </a:spcBef>
              <a:spcAft>
                <a:spcPts val="0"/>
              </a:spcAft>
              <a:buClr>
                <a:srgbClr val="C792EA"/>
              </a:buClr>
              <a:buSzPts val="1800"/>
              <a:buFont typeface="JetBrains Mono"/>
              <a:buNone/>
            </a:pPr>
            <a:r>
              <a:t/>
            </a:r>
            <a:endParaRPr sz="16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538"/>
              </a:lnSpc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800"/>
              <a:buFont typeface="JetBrains Mono"/>
              <a:buNone/>
            </a:pPr>
            <a:r>
              <a:t/>
            </a:r>
            <a:endParaRPr sz="16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538"/>
              </a:lnSpc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800"/>
              <a:buFont typeface="JetBrains Mono"/>
              <a:buNone/>
            </a:pPr>
            <a:r>
              <a:t/>
            </a:r>
            <a:endParaRPr sz="16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65" name="Google Shape;126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19"/>
          </a:xfrm>
          <a:prstGeom prst="rect">
            <a:avLst/>
          </a:prstGeom>
          <a:noFill/>
          <a:ln>
            <a:noFill/>
          </a:ln>
        </p:spPr>
      </p:pic>
      <p:sp>
        <p:nvSpPr>
          <p:cNvPr id="1266" name="Google Shape;1266;p43"/>
          <p:cNvSpPr/>
          <p:nvPr/>
        </p:nvSpPr>
        <p:spPr>
          <a:xfrm>
            <a:off x="1047750" y="914363"/>
            <a:ext cx="25626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Deployment 3 of 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43"/>
          <p:cNvSpPr/>
          <p:nvPr/>
        </p:nvSpPr>
        <p:spPr>
          <a:xfrm>
            <a:off x="1047750" y="1390625"/>
            <a:ext cx="149580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Method 3 — Docker Compose (Cont.) 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43"/>
          <p:cNvSpPr/>
          <p:nvPr/>
        </p:nvSpPr>
        <p:spPr>
          <a:xfrm>
            <a:off x="1047750" y="2933625"/>
            <a:ext cx="16221300" cy="8227200"/>
          </a:xfrm>
          <a:prstGeom prst="roundRect">
            <a:avLst>
              <a:gd fmla="val 2556" name="adj"/>
            </a:avLst>
          </a:prstGeom>
          <a:solidFill>
            <a:srgbClr val="1E22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43"/>
          <p:cNvSpPr/>
          <p:nvPr/>
        </p:nvSpPr>
        <p:spPr>
          <a:xfrm>
            <a:off x="1047750" y="2933600"/>
            <a:ext cx="16221300" cy="614400"/>
          </a:xfrm>
          <a:prstGeom prst="rect">
            <a:avLst/>
          </a:prstGeom>
          <a:solidFill>
            <a:srgbClr val="2A2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43"/>
          <p:cNvSpPr/>
          <p:nvPr/>
        </p:nvSpPr>
        <p:spPr>
          <a:xfrm>
            <a:off x="1295363" y="3164458"/>
            <a:ext cx="152400" cy="1524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43"/>
          <p:cNvSpPr/>
          <p:nvPr/>
        </p:nvSpPr>
        <p:spPr>
          <a:xfrm>
            <a:off x="1542976" y="3164458"/>
            <a:ext cx="152400" cy="1524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43"/>
          <p:cNvSpPr/>
          <p:nvPr/>
        </p:nvSpPr>
        <p:spPr>
          <a:xfrm>
            <a:off x="1790588" y="3164458"/>
            <a:ext cx="152400" cy="1524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43"/>
          <p:cNvSpPr/>
          <p:nvPr/>
        </p:nvSpPr>
        <p:spPr>
          <a:xfrm>
            <a:off x="2171402" y="3085951"/>
            <a:ext cx="27159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docker-compose.yml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43"/>
          <p:cNvSpPr/>
          <p:nvPr/>
        </p:nvSpPr>
        <p:spPr>
          <a:xfrm>
            <a:off x="1390625" y="3795625"/>
            <a:ext cx="5910900" cy="45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llama3.2-1b: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image: vllm/vllm-openai:latest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container_name: vllm-llama3.2-1b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ipc: host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ports: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- "9042:9042"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volumes: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- ~/.cache/huggingface:/root/.cache/huggingface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environment: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- HUGGING_FACE_HUB_TOKEN=${HF_TOKEN}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75" name="Google Shape;1275;p43"/>
          <p:cNvSpPr/>
          <p:nvPr/>
        </p:nvSpPr>
        <p:spPr>
          <a:xfrm>
            <a:off x="7983725" y="3670875"/>
            <a:ext cx="5910900" cy="51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deploy: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resources: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  reservations: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    devices: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      - driver: nvidia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        device_ids: ["0"]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        capabilities: [gpu]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command: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- --model=meta-llama/Llama-3.2-1B-Instruct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- --gpu-memory-utilization=0.20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  - --port=9042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   restart: unless-stopped</a:t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25538"/>
              </a:lnSpc>
              <a:spcBef>
                <a:spcPts val="800"/>
              </a:spcBef>
              <a:spcAft>
                <a:spcPts val="0"/>
              </a:spcAft>
              <a:buClr>
                <a:srgbClr val="C792EA"/>
              </a:buClr>
              <a:buSzPts val="1800"/>
              <a:buFont typeface="JetBrains Mono"/>
              <a:buNone/>
            </a:pPr>
            <a:r>
              <a:t/>
            </a:r>
            <a:endParaRPr i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44"/>
          <p:cNvSpPr/>
          <p:nvPr/>
        </p:nvSpPr>
        <p:spPr>
          <a:xfrm>
            <a:off x="15701181" y="666750"/>
            <a:ext cx="1692976" cy="14097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0800"/>
              <a:buFont typeface="Gabarito"/>
              <a:buNone/>
            </a:pPr>
            <a:r>
              <a:rPr b="1" i="0" lang="en-US" sz="1080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06</a:t>
            </a:r>
            <a:endParaRPr b="0" i="0" sz="10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44"/>
          <p:cNvSpPr/>
          <p:nvPr/>
        </p:nvSpPr>
        <p:spPr>
          <a:xfrm>
            <a:off x="1266713" y="2857500"/>
            <a:ext cx="1905000" cy="1905000"/>
          </a:xfrm>
          <a:prstGeom prst="ellipse">
            <a:avLst/>
          </a:prstGeom>
          <a:solidFill>
            <a:srgbClr val="D97757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3" name="Google Shape;128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2963" y="333375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44"/>
          <p:cNvSpPr/>
          <p:nvPr/>
        </p:nvSpPr>
        <p:spPr>
          <a:xfrm>
            <a:off x="1266713" y="5334000"/>
            <a:ext cx="14668500" cy="969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366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375"/>
              <a:buFont typeface="Gabarito"/>
              <a:buNone/>
            </a:pPr>
            <a:r>
              <a:rPr b="1" i="0" lang="en-US" sz="63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Exposing OpenAI-Compatible APIs</a:t>
            </a:r>
            <a:endParaRPr b="0" i="0" sz="6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44"/>
          <p:cNvSpPr/>
          <p:nvPr/>
        </p:nvSpPr>
        <p:spPr>
          <a:xfrm>
            <a:off x="1266713" y="6549575"/>
            <a:ext cx="13735200" cy="10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3150"/>
              <a:buFont typeface="Gabarito"/>
              <a:buNone/>
            </a:pPr>
            <a:r>
              <a:rPr b="0" i="0" lang="en-US" sz="315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Expose local models through the OpenAI API for seamless application integration.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44"/>
          <p:cNvSpPr/>
          <p:nvPr/>
        </p:nvSpPr>
        <p:spPr>
          <a:xfrm>
            <a:off x="1266713" y="9086701"/>
            <a:ext cx="990451" cy="9525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92" name="Google Shape;129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93" name="Google Shape;1293;p45"/>
          <p:cNvSpPr/>
          <p:nvPr/>
        </p:nvSpPr>
        <p:spPr>
          <a:xfrm>
            <a:off x="1047750" y="914363"/>
            <a:ext cx="2111053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Why it matters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45"/>
          <p:cNvSpPr/>
          <p:nvPr/>
        </p:nvSpPr>
        <p:spPr>
          <a:xfrm>
            <a:off x="1047750" y="1390613"/>
            <a:ext cx="11426819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Why OpenAI Compatibility?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45"/>
          <p:cNvSpPr/>
          <p:nvPr/>
        </p:nvSpPr>
        <p:spPr>
          <a:xfrm>
            <a:off x="1047750" y="2667000"/>
            <a:ext cx="15697200" cy="912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27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550"/>
              <a:buFont typeface="Gabarito"/>
              <a:buNone/>
            </a:pPr>
            <a:r>
              <a:rPr b="0" i="0" lang="en-US" sz="2850" u="none" cap="none" strike="noStrike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OpenAI's API </a:t>
            </a:r>
            <a:r>
              <a:rPr lang="en-US" sz="2850">
                <a:solidFill>
                  <a:srgbClr val="212121"/>
                </a:solidFill>
                <a:latin typeface="Gabarito"/>
                <a:ea typeface="Gabarito"/>
                <a:cs typeface="Gabarito"/>
                <a:sym typeface="Gabarito"/>
              </a:rPr>
              <a:t>is one common API format allows many tools to work with different AI providers. 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45"/>
          <p:cNvSpPr/>
          <p:nvPr/>
        </p:nvSpPr>
        <p:spPr>
          <a:xfrm>
            <a:off x="1047750" y="3579475"/>
            <a:ext cx="15662400" cy="1326900"/>
          </a:xfrm>
          <a:prstGeom prst="roundRect">
            <a:avLst>
              <a:gd fmla="val 7809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297" name="Google Shape;1297;p45"/>
          <p:cNvSpPr/>
          <p:nvPr/>
        </p:nvSpPr>
        <p:spPr>
          <a:xfrm>
            <a:off x="1453355" y="3859694"/>
            <a:ext cx="153813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950"/>
              <a:buFont typeface="Gabarito"/>
              <a:buNone/>
            </a:pPr>
            <a:r>
              <a:rPr b="1" lang="en-US" sz="2700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One Standard API 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45"/>
          <p:cNvSpPr/>
          <p:nvPr/>
        </p:nvSpPr>
        <p:spPr>
          <a:xfrm>
            <a:off x="1453350" y="4314720"/>
            <a:ext cx="144021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48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lang="en-US" sz="205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OpenAI-compatible format.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45"/>
          <p:cNvSpPr/>
          <p:nvPr/>
        </p:nvSpPr>
        <p:spPr>
          <a:xfrm>
            <a:off x="1047750" y="5092575"/>
            <a:ext cx="15662400" cy="1326900"/>
          </a:xfrm>
          <a:prstGeom prst="roundRect">
            <a:avLst>
              <a:gd fmla="val 7809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300" name="Google Shape;1300;p45"/>
          <p:cNvSpPr/>
          <p:nvPr/>
        </p:nvSpPr>
        <p:spPr>
          <a:xfrm>
            <a:off x="1453355" y="5372794"/>
            <a:ext cx="153813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950"/>
              <a:buFont typeface="Gabarito"/>
              <a:buNone/>
            </a:pPr>
            <a:r>
              <a:rPr b="1" lang="en-US" sz="2700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Works with many tools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45"/>
          <p:cNvSpPr/>
          <p:nvPr/>
        </p:nvSpPr>
        <p:spPr>
          <a:xfrm>
            <a:off x="1453350" y="5827820"/>
            <a:ext cx="144021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48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lang="en-US" sz="205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LangChain, Cursor, Open WebUI, scripts</a:t>
            </a:r>
            <a:endParaRPr sz="2050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marR="0" rtl="0" algn="l">
              <a:lnSpc>
                <a:spcPct val="11648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t/>
            </a:r>
            <a:endParaRPr sz="2050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1302" name="Google Shape;1302;p45"/>
          <p:cNvSpPr/>
          <p:nvPr/>
        </p:nvSpPr>
        <p:spPr>
          <a:xfrm>
            <a:off x="1047750" y="6605663"/>
            <a:ext cx="15662400" cy="1326900"/>
          </a:xfrm>
          <a:prstGeom prst="roundRect">
            <a:avLst>
              <a:gd fmla="val 7809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303" name="Google Shape;1303;p45"/>
          <p:cNvSpPr/>
          <p:nvPr/>
        </p:nvSpPr>
        <p:spPr>
          <a:xfrm>
            <a:off x="1453355" y="6885882"/>
            <a:ext cx="153813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950"/>
              <a:buFont typeface="Gabarito"/>
              <a:buNone/>
            </a:pPr>
            <a:r>
              <a:rPr b="1" lang="en-US" sz="2700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Easy to switch models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45"/>
          <p:cNvSpPr/>
          <p:nvPr/>
        </p:nvSpPr>
        <p:spPr>
          <a:xfrm>
            <a:off x="1453350" y="7340908"/>
            <a:ext cx="144021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48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lang="en-US" sz="205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Change the API endpoint, not your whole application </a:t>
            </a:r>
            <a:endParaRPr sz="2050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1305" name="Google Shape;1305;p45"/>
          <p:cNvSpPr/>
          <p:nvPr/>
        </p:nvSpPr>
        <p:spPr>
          <a:xfrm>
            <a:off x="1047750" y="8118763"/>
            <a:ext cx="15662400" cy="1326900"/>
          </a:xfrm>
          <a:prstGeom prst="roundRect">
            <a:avLst>
              <a:gd fmla="val 7809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306" name="Google Shape;1306;p45"/>
          <p:cNvSpPr/>
          <p:nvPr/>
        </p:nvSpPr>
        <p:spPr>
          <a:xfrm>
            <a:off x="1453355" y="8398982"/>
            <a:ext cx="153813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950"/>
              <a:buFont typeface="Gabarito"/>
              <a:buNone/>
            </a:pPr>
            <a:r>
              <a:rPr b="1" lang="en-US" sz="2700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Run Locally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45"/>
          <p:cNvSpPr/>
          <p:nvPr/>
        </p:nvSpPr>
        <p:spPr>
          <a:xfrm>
            <a:off x="1453350" y="8854008"/>
            <a:ext cx="144021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48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950"/>
              <a:buFont typeface="Gabarito"/>
              <a:buNone/>
            </a:pPr>
            <a:r>
              <a:rPr lang="en-US" sz="2050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Use Ollama or vLLM instead of the cloud </a:t>
            </a:r>
            <a:endParaRPr sz="2050">
              <a:solidFill>
                <a:srgbClr val="5B5B5B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13" name="Google Shape;131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14" name="Google Shape;1314;p46"/>
          <p:cNvSpPr/>
          <p:nvPr/>
        </p:nvSpPr>
        <p:spPr>
          <a:xfrm>
            <a:off x="1047750" y="914363"/>
            <a:ext cx="1149623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Example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46"/>
          <p:cNvSpPr/>
          <p:nvPr/>
        </p:nvSpPr>
        <p:spPr>
          <a:xfrm>
            <a:off x="1047750" y="1390613"/>
            <a:ext cx="11223203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Chat Completions with curl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46"/>
          <p:cNvSpPr/>
          <p:nvPr/>
        </p:nvSpPr>
        <p:spPr>
          <a:xfrm>
            <a:off x="1047750" y="2933588"/>
            <a:ext cx="8518550" cy="5734720"/>
          </a:xfrm>
          <a:prstGeom prst="roundRect">
            <a:avLst>
              <a:gd fmla="val 2657" name="adj"/>
            </a:avLst>
          </a:prstGeom>
          <a:solidFill>
            <a:srgbClr val="1E22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46"/>
          <p:cNvSpPr/>
          <p:nvPr/>
        </p:nvSpPr>
        <p:spPr>
          <a:xfrm>
            <a:off x="1047750" y="2933588"/>
            <a:ext cx="8518550" cy="575965"/>
          </a:xfrm>
          <a:prstGeom prst="rect">
            <a:avLst/>
          </a:prstGeom>
          <a:solidFill>
            <a:srgbClr val="2A2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46"/>
          <p:cNvSpPr/>
          <p:nvPr/>
        </p:nvSpPr>
        <p:spPr>
          <a:xfrm>
            <a:off x="1295363" y="3154970"/>
            <a:ext cx="133201" cy="133201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46"/>
          <p:cNvSpPr/>
          <p:nvPr/>
        </p:nvSpPr>
        <p:spPr>
          <a:xfrm>
            <a:off x="1523814" y="3154970"/>
            <a:ext cx="133201" cy="133201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46"/>
          <p:cNvSpPr/>
          <p:nvPr/>
        </p:nvSpPr>
        <p:spPr>
          <a:xfrm>
            <a:off x="1752265" y="3154970"/>
            <a:ext cx="133201" cy="133201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46"/>
          <p:cNvSpPr/>
          <p:nvPr/>
        </p:nvSpPr>
        <p:spPr>
          <a:xfrm>
            <a:off x="2094942" y="3066790"/>
            <a:ext cx="1036327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request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46"/>
          <p:cNvSpPr/>
          <p:nvPr/>
        </p:nvSpPr>
        <p:spPr>
          <a:xfrm>
            <a:off x="1352475" y="3757264"/>
            <a:ext cx="8146500" cy="47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538"/>
              </a:lnSpc>
              <a:spcBef>
                <a:spcPts val="0"/>
              </a:spcBef>
              <a:spcAft>
                <a:spcPts val="0"/>
              </a:spcAft>
              <a:buClr>
                <a:srgbClr val="7FB3E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99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-US" sz="1800">
                <a:solidFill>
                  <a:srgbClr val="A3C57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curl http://localhost:9040/v1/chat/completions </a:t>
            </a:r>
            <a:r>
              <a:rPr lang="en-US" sz="18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\</a:t>
            </a:r>
            <a:endParaRPr sz="18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538"/>
              </a:lnSpc>
              <a:spcBef>
                <a:spcPts val="0"/>
              </a:spcBef>
              <a:spcAft>
                <a:spcPts val="0"/>
              </a:spcAft>
              <a:buClr>
                <a:srgbClr val="7FB3E8"/>
              </a:buClr>
              <a:buSzPts val="1800"/>
              <a:buFont typeface="JetBrains Mono"/>
              <a:buNone/>
            </a:pPr>
            <a:r>
              <a:rPr lang="en-US" sz="18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-H </a:t>
            </a:r>
            <a:r>
              <a:rPr lang="en-US" sz="1800">
                <a:solidFill>
                  <a:schemeClr val="accent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"Content-Type: application/json" </a:t>
            </a:r>
            <a:r>
              <a:rPr lang="en-US" sz="18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\</a:t>
            </a:r>
            <a:endParaRPr sz="18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538"/>
              </a:lnSpc>
              <a:spcBef>
                <a:spcPts val="0"/>
              </a:spcBef>
              <a:spcAft>
                <a:spcPts val="0"/>
              </a:spcAft>
              <a:buClr>
                <a:srgbClr val="7FB3E8"/>
              </a:buClr>
              <a:buSzPts val="1800"/>
              <a:buFont typeface="JetBrains Mono"/>
              <a:buNone/>
            </a:pPr>
            <a:r>
              <a:rPr lang="en-US" sz="1800">
                <a:solidFill>
                  <a:schemeClr val="accent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8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-d</a:t>
            </a:r>
            <a:r>
              <a:rPr lang="en-US" sz="1800">
                <a:solidFill>
                  <a:schemeClr val="accent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'{</a:t>
            </a:r>
            <a:endParaRPr sz="1800">
              <a:solidFill>
                <a:schemeClr val="accent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538"/>
              </a:lnSpc>
              <a:spcBef>
                <a:spcPts val="0"/>
              </a:spcBef>
              <a:spcAft>
                <a:spcPts val="0"/>
              </a:spcAft>
              <a:buClr>
                <a:srgbClr val="7FB3E8"/>
              </a:buClr>
              <a:buSzPts val="1800"/>
              <a:buFont typeface="JetBrains Mono"/>
              <a:buNone/>
            </a:pPr>
            <a:r>
              <a:rPr lang="en-US" sz="1800">
                <a:solidFill>
                  <a:schemeClr val="accent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"model": "Qwen/Qwen2.5-0.5B-Instruct",</a:t>
            </a:r>
            <a:endParaRPr sz="1800">
              <a:solidFill>
                <a:schemeClr val="accent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538"/>
              </a:lnSpc>
              <a:spcBef>
                <a:spcPts val="0"/>
              </a:spcBef>
              <a:spcAft>
                <a:spcPts val="0"/>
              </a:spcAft>
              <a:buClr>
                <a:srgbClr val="7FB3E8"/>
              </a:buClr>
              <a:buSzPts val="1800"/>
              <a:buFont typeface="JetBrains Mono"/>
              <a:buNone/>
            </a:pPr>
            <a:r>
              <a:rPr lang="en-US" sz="1800">
                <a:solidFill>
                  <a:schemeClr val="accent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"messages": [</a:t>
            </a:r>
            <a:endParaRPr sz="1800">
              <a:solidFill>
                <a:schemeClr val="accent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538"/>
              </a:lnSpc>
              <a:spcBef>
                <a:spcPts val="0"/>
              </a:spcBef>
              <a:spcAft>
                <a:spcPts val="0"/>
              </a:spcAft>
              <a:buClr>
                <a:srgbClr val="7FB3E8"/>
              </a:buClr>
              <a:buSzPts val="1800"/>
              <a:buFont typeface="JetBrains Mono"/>
              <a:buNone/>
            </a:pPr>
            <a:r>
              <a:rPr lang="en-US" sz="1800">
                <a:solidFill>
                  <a:schemeClr val="accent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{"role": "user", "content": "What is the capital of Cambodia?"}</a:t>
            </a:r>
            <a:endParaRPr sz="1800">
              <a:solidFill>
                <a:schemeClr val="accent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538"/>
              </a:lnSpc>
              <a:spcBef>
                <a:spcPts val="0"/>
              </a:spcBef>
              <a:spcAft>
                <a:spcPts val="0"/>
              </a:spcAft>
              <a:buClr>
                <a:srgbClr val="A3C57F"/>
              </a:buClr>
              <a:buSzPts val="1800"/>
              <a:buFont typeface="JetBrains Mono"/>
              <a:buNone/>
            </a:pPr>
            <a:r>
              <a:rPr lang="en-US" sz="1800">
                <a:solidFill>
                  <a:schemeClr val="accent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],</a:t>
            </a:r>
            <a:endParaRPr sz="1800">
              <a:solidFill>
                <a:schemeClr val="accent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538"/>
              </a:lnSpc>
              <a:spcBef>
                <a:spcPts val="0"/>
              </a:spcBef>
              <a:spcAft>
                <a:spcPts val="0"/>
              </a:spcAft>
              <a:buClr>
                <a:srgbClr val="A3C57F"/>
              </a:buClr>
              <a:buSzPts val="1800"/>
              <a:buFont typeface="JetBrains Mono"/>
              <a:buNone/>
            </a:pPr>
            <a:r>
              <a:rPr lang="en-US" sz="1800">
                <a:solidFill>
                  <a:schemeClr val="accent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"max_completion_tokens": 200,</a:t>
            </a:r>
            <a:endParaRPr sz="1800">
              <a:solidFill>
                <a:schemeClr val="accent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538"/>
              </a:lnSpc>
              <a:spcBef>
                <a:spcPts val="0"/>
              </a:spcBef>
              <a:spcAft>
                <a:spcPts val="0"/>
              </a:spcAft>
              <a:buClr>
                <a:srgbClr val="A3C57F"/>
              </a:buClr>
              <a:buSzPts val="1800"/>
              <a:buFont typeface="JetBrains Mono"/>
              <a:buNone/>
            </a:pPr>
            <a:r>
              <a:rPr lang="en-US" sz="1800">
                <a:solidFill>
                  <a:schemeClr val="accent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"temperature": 0.7</a:t>
            </a:r>
            <a:endParaRPr sz="1800">
              <a:solidFill>
                <a:schemeClr val="accent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538"/>
              </a:lnSpc>
              <a:spcBef>
                <a:spcPts val="0"/>
              </a:spcBef>
              <a:spcAft>
                <a:spcPts val="0"/>
              </a:spcAft>
              <a:buClr>
                <a:srgbClr val="A3C57F"/>
              </a:buClr>
              <a:buSzPts val="1800"/>
              <a:buFont typeface="JetBrains Mono"/>
              <a:buNone/>
            </a:pPr>
            <a:r>
              <a:rPr lang="en-US" sz="1800">
                <a:solidFill>
                  <a:schemeClr val="accent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}'</a:t>
            </a:r>
            <a:endParaRPr sz="1800">
              <a:solidFill>
                <a:schemeClr val="accent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323" name="Google Shape;1323;p46"/>
          <p:cNvSpPr/>
          <p:nvPr/>
        </p:nvSpPr>
        <p:spPr>
          <a:xfrm>
            <a:off x="9832888" y="2933588"/>
            <a:ext cx="7407362" cy="5734720"/>
          </a:xfrm>
          <a:prstGeom prst="roundRect">
            <a:avLst>
              <a:gd fmla="val 2657" name="adj"/>
            </a:avLst>
          </a:prstGeom>
          <a:solidFill>
            <a:srgbClr val="1E22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46"/>
          <p:cNvSpPr/>
          <p:nvPr/>
        </p:nvSpPr>
        <p:spPr>
          <a:xfrm>
            <a:off x="9832888" y="2933588"/>
            <a:ext cx="7407362" cy="575965"/>
          </a:xfrm>
          <a:prstGeom prst="rect">
            <a:avLst/>
          </a:prstGeom>
          <a:solidFill>
            <a:srgbClr val="2A2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46"/>
          <p:cNvSpPr/>
          <p:nvPr/>
        </p:nvSpPr>
        <p:spPr>
          <a:xfrm>
            <a:off x="10080501" y="3154970"/>
            <a:ext cx="133201" cy="133201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46"/>
          <p:cNvSpPr/>
          <p:nvPr/>
        </p:nvSpPr>
        <p:spPr>
          <a:xfrm>
            <a:off x="10308952" y="3154970"/>
            <a:ext cx="133201" cy="133201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46"/>
          <p:cNvSpPr/>
          <p:nvPr/>
        </p:nvSpPr>
        <p:spPr>
          <a:xfrm>
            <a:off x="10537403" y="3154970"/>
            <a:ext cx="133201" cy="133201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46"/>
          <p:cNvSpPr/>
          <p:nvPr/>
        </p:nvSpPr>
        <p:spPr>
          <a:xfrm>
            <a:off x="10880080" y="3066790"/>
            <a:ext cx="2263304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response (JSON)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46"/>
          <p:cNvSpPr/>
          <p:nvPr/>
        </p:nvSpPr>
        <p:spPr>
          <a:xfrm>
            <a:off x="10137614" y="3757166"/>
            <a:ext cx="7001848" cy="4267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538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46"/>
          <p:cNvSpPr/>
          <p:nvPr/>
        </p:nvSpPr>
        <p:spPr>
          <a:xfrm>
            <a:off x="10137614" y="4145793"/>
            <a:ext cx="7001848" cy="4267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538"/>
              </a:lnSpc>
              <a:spcBef>
                <a:spcPts val="0"/>
              </a:spcBef>
              <a:spcAft>
                <a:spcPts val="0"/>
              </a:spcAft>
              <a:buClr>
                <a:srgbClr val="7FB3E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7FB3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"model"</a:t>
            </a:r>
            <a:r>
              <a:rPr b="0" i="0" lang="en-US" sz="1800" u="none" cap="none" strike="noStrike">
                <a:solidFill>
                  <a:srgbClr val="E8EAE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r>
              <a:rPr b="0" i="0" lang="en-US" sz="1800" u="none" cap="none" strike="noStrike">
                <a:solidFill>
                  <a:srgbClr val="F0B4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r>
              <a:rPr lang="en-US" sz="1800">
                <a:solidFill>
                  <a:srgbClr val="F0B4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Qwen/Qwen2.5-0.5B-Instruct </a:t>
            </a:r>
            <a:r>
              <a:rPr b="0" i="0" lang="en-US" sz="1800" u="none" cap="none" strike="noStrike">
                <a:solidFill>
                  <a:srgbClr val="F0B4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r>
              <a:rPr b="0" i="0" lang="en-US" sz="1800" u="none" cap="none" strike="noStrike">
                <a:solidFill>
                  <a:srgbClr val="E8EAE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46"/>
          <p:cNvSpPr/>
          <p:nvPr/>
        </p:nvSpPr>
        <p:spPr>
          <a:xfrm>
            <a:off x="10137614" y="4534421"/>
            <a:ext cx="7001848" cy="4267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538"/>
              </a:lnSpc>
              <a:spcBef>
                <a:spcPts val="0"/>
              </a:spcBef>
              <a:spcAft>
                <a:spcPts val="0"/>
              </a:spcAft>
              <a:buClr>
                <a:srgbClr val="7FB3E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7FB3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"choices"</a:t>
            </a:r>
            <a:r>
              <a:rPr b="0" i="0" lang="en-US" sz="1800" u="none" cap="none" strike="noStrike">
                <a:solidFill>
                  <a:srgbClr val="E8EAE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[{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46"/>
          <p:cNvSpPr/>
          <p:nvPr/>
        </p:nvSpPr>
        <p:spPr>
          <a:xfrm>
            <a:off x="10137614" y="4923048"/>
            <a:ext cx="7001848" cy="4267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538"/>
              </a:lnSpc>
              <a:spcBef>
                <a:spcPts val="0"/>
              </a:spcBef>
              <a:spcAft>
                <a:spcPts val="0"/>
              </a:spcAft>
              <a:buClr>
                <a:srgbClr val="7FB3E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7FB3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"message"</a:t>
            </a:r>
            <a:r>
              <a:rPr b="0" i="0" lang="en-US" sz="1800" u="none" cap="none" strike="noStrike">
                <a:solidFill>
                  <a:srgbClr val="E8EAE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{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46"/>
          <p:cNvSpPr/>
          <p:nvPr/>
        </p:nvSpPr>
        <p:spPr>
          <a:xfrm>
            <a:off x="10137614" y="5311676"/>
            <a:ext cx="7001848" cy="4267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538"/>
              </a:lnSpc>
              <a:spcBef>
                <a:spcPts val="0"/>
              </a:spcBef>
              <a:spcAft>
                <a:spcPts val="0"/>
              </a:spcAft>
              <a:buClr>
                <a:srgbClr val="7FB3E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7FB3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"role"</a:t>
            </a:r>
            <a:r>
              <a:rPr b="0" i="0" lang="en-US" sz="1800" u="none" cap="none" strike="noStrike">
                <a:solidFill>
                  <a:srgbClr val="E8EAE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r>
              <a:rPr b="0" i="0" lang="en-US" sz="1800" u="none" cap="none" strike="noStrike">
                <a:solidFill>
                  <a:srgbClr val="F0B4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r>
              <a:rPr lang="en-US" sz="1800">
                <a:solidFill>
                  <a:srgbClr val="F0B4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assistant</a:t>
            </a:r>
            <a:r>
              <a:rPr b="0" i="0" lang="en-US" sz="1800" u="none" cap="none" strike="noStrike">
                <a:solidFill>
                  <a:srgbClr val="F0B4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r>
              <a:rPr b="0" i="0" lang="en-US" sz="1800" u="none" cap="none" strike="noStrike">
                <a:solidFill>
                  <a:srgbClr val="E8EAE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46"/>
          <p:cNvSpPr/>
          <p:nvPr/>
        </p:nvSpPr>
        <p:spPr>
          <a:xfrm>
            <a:off x="10137625" y="5700297"/>
            <a:ext cx="7001700" cy="8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538"/>
              </a:lnSpc>
              <a:spcBef>
                <a:spcPts val="0"/>
              </a:spcBef>
              <a:spcAft>
                <a:spcPts val="0"/>
              </a:spcAft>
              <a:buClr>
                <a:srgbClr val="7FB3E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7FB3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"content"</a:t>
            </a:r>
            <a:r>
              <a:rPr b="0" i="0" lang="en-US" sz="1800" u="none" cap="none" strike="noStrike">
                <a:solidFill>
                  <a:srgbClr val="E8EAE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r>
              <a:rPr b="0" i="0" lang="en-US" sz="1800" u="none" cap="none" strike="noStrike">
                <a:solidFill>
                  <a:srgbClr val="A3C57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r>
              <a:rPr lang="en-US" sz="1800">
                <a:solidFill>
                  <a:srgbClr val="A3C57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capital of Cambodia is Phnom Penh. It was established in 1975...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46"/>
          <p:cNvSpPr/>
          <p:nvPr/>
        </p:nvSpPr>
        <p:spPr>
          <a:xfrm>
            <a:off x="10137614" y="6477558"/>
            <a:ext cx="7001848" cy="4267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538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46"/>
          <p:cNvSpPr/>
          <p:nvPr/>
        </p:nvSpPr>
        <p:spPr>
          <a:xfrm>
            <a:off x="10137614" y="6866186"/>
            <a:ext cx="7001848" cy="4267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538"/>
              </a:lnSpc>
              <a:spcBef>
                <a:spcPts val="0"/>
              </a:spcBef>
              <a:spcAft>
                <a:spcPts val="0"/>
              </a:spcAft>
              <a:buClr>
                <a:srgbClr val="7FB3E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7FB3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"finish_reason"</a:t>
            </a:r>
            <a:r>
              <a:rPr b="0" i="0" lang="en-US" sz="1800" u="none" cap="none" strike="noStrike">
                <a:solidFill>
                  <a:srgbClr val="E8EAE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r>
              <a:rPr b="0" i="0" lang="en-US" sz="1800" u="none" cap="none" strike="noStrike">
                <a:solidFill>
                  <a:srgbClr val="F0B4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"stop"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46"/>
          <p:cNvSpPr/>
          <p:nvPr/>
        </p:nvSpPr>
        <p:spPr>
          <a:xfrm>
            <a:off x="10137614" y="7254813"/>
            <a:ext cx="7001848" cy="4267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538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}],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46"/>
          <p:cNvSpPr/>
          <p:nvPr/>
        </p:nvSpPr>
        <p:spPr>
          <a:xfrm>
            <a:off x="10137614" y="7643440"/>
            <a:ext cx="7001848" cy="4267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538"/>
              </a:lnSpc>
              <a:spcBef>
                <a:spcPts val="0"/>
              </a:spcBef>
              <a:spcAft>
                <a:spcPts val="0"/>
              </a:spcAft>
              <a:buClr>
                <a:srgbClr val="7FB3E8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7FB3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"usage"</a:t>
            </a:r>
            <a:r>
              <a:rPr b="0" i="0" lang="en-US" sz="1800" u="none" cap="none" strike="noStrike">
                <a:solidFill>
                  <a:srgbClr val="E8EAE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{</a:t>
            </a:r>
            <a:r>
              <a:rPr b="0" i="0" lang="en-US" sz="1800" u="none" cap="none" strike="noStrike">
                <a:solidFill>
                  <a:srgbClr val="7FB3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"total_tokens"</a:t>
            </a:r>
            <a:r>
              <a:rPr b="0" i="0" lang="en-US" sz="1800" u="none" cap="none" strike="noStrike">
                <a:solidFill>
                  <a:srgbClr val="E8EAE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1800">
                <a:solidFill>
                  <a:srgbClr val="E8EAE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145</a:t>
            </a:r>
            <a:r>
              <a:rPr b="0" i="0" lang="en-US" sz="1800" u="none" cap="none" strike="noStrike">
                <a:solidFill>
                  <a:srgbClr val="E8EAE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46"/>
          <p:cNvSpPr/>
          <p:nvPr/>
        </p:nvSpPr>
        <p:spPr>
          <a:xfrm>
            <a:off x="10137614" y="8032068"/>
            <a:ext cx="7001848" cy="4267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538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p46"/>
          <p:cNvSpPr/>
          <p:nvPr/>
        </p:nvSpPr>
        <p:spPr>
          <a:xfrm>
            <a:off x="1047750" y="9029588"/>
            <a:ext cx="14449537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Anatomy: </a:t>
            </a:r>
            <a:r>
              <a:rPr b="0" i="0" lang="en-US" sz="195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plain HTTP + JSON — model, messages (with roles), sampling params in; </a:t>
            </a:r>
            <a:r>
              <a:rPr b="0" i="0" lang="en-US" sz="1800" u="none" cap="none" strike="noStrike">
                <a:solidFill>
                  <a:srgbClr val="7874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choices[0].message.content </a:t>
            </a:r>
            <a:r>
              <a:rPr b="0" i="0" lang="en-US" sz="195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out.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47"/>
          <p:cNvSpPr/>
          <p:nvPr/>
        </p:nvSpPr>
        <p:spPr>
          <a:xfrm>
            <a:off x="15806477" y="666750"/>
            <a:ext cx="1577150" cy="14097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0800"/>
              <a:buFont typeface="Gabarito"/>
              <a:buNone/>
            </a:pPr>
            <a:r>
              <a:rPr b="1" i="0" lang="en-US" sz="1080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07</a:t>
            </a:r>
            <a:endParaRPr b="0" i="0" sz="10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47"/>
          <p:cNvSpPr/>
          <p:nvPr/>
        </p:nvSpPr>
        <p:spPr>
          <a:xfrm>
            <a:off x="1266713" y="2857500"/>
            <a:ext cx="1905000" cy="1905000"/>
          </a:xfrm>
          <a:prstGeom prst="ellipse">
            <a:avLst/>
          </a:prstGeom>
          <a:solidFill>
            <a:srgbClr val="7A8A5A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8" name="Google Shape;134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2963" y="333375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9" name="Google Shape;1349;p47"/>
          <p:cNvSpPr/>
          <p:nvPr/>
        </p:nvSpPr>
        <p:spPr>
          <a:xfrm>
            <a:off x="1266713" y="5334000"/>
            <a:ext cx="14668500" cy="969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366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375"/>
              <a:buFont typeface="Gabarito"/>
              <a:buNone/>
            </a:pPr>
            <a:r>
              <a:rPr b="1" i="0" lang="en-US" sz="63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Comparing Serving Options</a:t>
            </a:r>
            <a:endParaRPr b="0" i="0" sz="6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47"/>
          <p:cNvSpPr/>
          <p:nvPr/>
        </p:nvSpPr>
        <p:spPr>
          <a:xfrm>
            <a:off x="1266713" y="6526900"/>
            <a:ext cx="146685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3150"/>
              <a:buFont typeface="Gabarito"/>
              <a:buNone/>
            </a:pPr>
            <a:r>
              <a:rPr b="0" i="0" lang="en-US" sz="315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Compare Ollama, vLLM, llama.cpp, LM Studio, TGI, and TensorRT-LLM.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47"/>
          <p:cNvSpPr/>
          <p:nvPr/>
        </p:nvSpPr>
        <p:spPr>
          <a:xfrm>
            <a:off x="1266713" y="9086701"/>
            <a:ext cx="990451" cy="9525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48"/>
          <p:cNvSpPr/>
          <p:nvPr/>
        </p:nvSpPr>
        <p:spPr>
          <a:xfrm>
            <a:off x="6515050" y="3429000"/>
            <a:ext cx="5257800" cy="2664900"/>
          </a:xfrm>
          <a:prstGeom prst="roundRect">
            <a:avLst>
              <a:gd fmla="val 5719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8" name="Google Shape;135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59" name="Google Shape;1359;p48"/>
          <p:cNvSpPr/>
          <p:nvPr/>
        </p:nvSpPr>
        <p:spPr>
          <a:xfrm>
            <a:off x="1047750" y="914363"/>
            <a:ext cx="1677219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Comparison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48"/>
          <p:cNvSpPr/>
          <p:nvPr/>
        </p:nvSpPr>
        <p:spPr>
          <a:xfrm>
            <a:off x="1047750" y="1390613"/>
            <a:ext cx="9620064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Framework Comparison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48"/>
          <p:cNvSpPr/>
          <p:nvPr/>
        </p:nvSpPr>
        <p:spPr>
          <a:xfrm>
            <a:off x="1047750" y="2667000"/>
            <a:ext cx="178119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100"/>
              <a:buFont typeface="Gabarito"/>
              <a:buNone/>
            </a:pPr>
            <a:r>
              <a:rPr b="0" i="0" lang="en-US" sz="210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Six ways to run the same model — pick by what you actually need.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48"/>
          <p:cNvSpPr/>
          <p:nvPr/>
        </p:nvSpPr>
        <p:spPr>
          <a:xfrm>
            <a:off x="1047750" y="3429000"/>
            <a:ext cx="5257800" cy="2664900"/>
          </a:xfrm>
          <a:prstGeom prst="roundRect">
            <a:avLst>
              <a:gd fmla="val 5719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48"/>
          <p:cNvSpPr/>
          <p:nvPr/>
        </p:nvSpPr>
        <p:spPr>
          <a:xfrm>
            <a:off x="1326245" y="3688519"/>
            <a:ext cx="51708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Ollama</a:t>
            </a:r>
            <a:endParaRPr b="0" i="0" sz="2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48"/>
          <p:cNvSpPr/>
          <p:nvPr/>
        </p:nvSpPr>
        <p:spPr>
          <a:xfrm>
            <a:off x="1326245" y="4090913"/>
            <a:ext cx="51708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696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Best for: personal use &amp; quick prototyping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48"/>
          <p:cNvSpPr/>
          <p:nvPr/>
        </p:nvSpPr>
        <p:spPr>
          <a:xfrm>
            <a:off x="1326245" y="4551908"/>
            <a:ext cx="51708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Setup: </a:t>
            </a:r>
            <a:r>
              <a:rPr b="1" i="0" lang="en-US" sz="1800" u="none" cap="none" strike="noStrike">
                <a:solidFill>
                  <a:srgbClr val="4C5A33"/>
                </a:solidFill>
                <a:latin typeface="Gabarito"/>
                <a:ea typeface="Gabarito"/>
                <a:cs typeface="Gabarito"/>
                <a:sym typeface="Gabarito"/>
              </a:rPr>
              <a:t>Easy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48"/>
          <p:cNvSpPr/>
          <p:nvPr/>
        </p:nvSpPr>
        <p:spPr>
          <a:xfrm>
            <a:off x="1326245" y="4901840"/>
            <a:ext cx="51708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Needs a GPU: </a:t>
            </a:r>
            <a:r>
              <a:rPr b="1" i="0" lang="en-US" sz="1800" u="none" cap="none" strike="noStrike">
                <a:solidFill>
                  <a:srgbClr val="4C5A33"/>
                </a:solidFill>
                <a:latin typeface="Gabarito"/>
                <a:ea typeface="Gabarito"/>
                <a:cs typeface="Gabarito"/>
                <a:sym typeface="Gabarito"/>
              </a:rPr>
              <a:t>No — CPU works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48"/>
          <p:cNvSpPr/>
          <p:nvPr/>
        </p:nvSpPr>
        <p:spPr>
          <a:xfrm>
            <a:off x="1326245" y="5251772"/>
            <a:ext cx="51708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OpenAI-style API: </a:t>
            </a:r>
            <a:r>
              <a:rPr b="1" i="0" lang="en-US" sz="1800" u="none" cap="none" strike="noStrike">
                <a:solidFill>
                  <a:srgbClr val="4C5A33"/>
                </a:solidFill>
                <a:latin typeface="Gabarito"/>
                <a:ea typeface="Gabarito"/>
                <a:cs typeface="Gabarito"/>
                <a:sym typeface="Gabarito"/>
              </a:rPr>
              <a:t>Yes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48"/>
          <p:cNvSpPr/>
          <p:nvPr/>
        </p:nvSpPr>
        <p:spPr>
          <a:xfrm>
            <a:off x="6793446" y="3688519"/>
            <a:ext cx="51711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vLLM</a:t>
            </a:r>
            <a:endParaRPr b="0" i="0" sz="2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48"/>
          <p:cNvSpPr/>
          <p:nvPr/>
        </p:nvSpPr>
        <p:spPr>
          <a:xfrm>
            <a:off x="6793446" y="4090913"/>
            <a:ext cx="51711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696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Best for: serving many users in production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48"/>
          <p:cNvSpPr/>
          <p:nvPr/>
        </p:nvSpPr>
        <p:spPr>
          <a:xfrm>
            <a:off x="6793446" y="4551908"/>
            <a:ext cx="51711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Setup: </a:t>
            </a:r>
            <a:r>
              <a:rPr b="1" i="0" lang="en-US" sz="1800" u="none" cap="none" strike="noStrike">
                <a:solidFill>
                  <a:srgbClr val="A8813A"/>
                </a:solidFill>
                <a:latin typeface="Gabarito"/>
                <a:ea typeface="Gabarito"/>
                <a:cs typeface="Gabarito"/>
                <a:sym typeface="Gabarito"/>
              </a:rPr>
              <a:t>Medium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48"/>
          <p:cNvSpPr/>
          <p:nvPr/>
        </p:nvSpPr>
        <p:spPr>
          <a:xfrm>
            <a:off x="6793446" y="4901840"/>
            <a:ext cx="51711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Needs a GPU: </a:t>
            </a:r>
            <a:r>
              <a:rPr b="1" i="0" lang="en-US" sz="1800" u="none" cap="none" strike="noStrike">
                <a:solidFill>
                  <a:srgbClr val="C15F3C"/>
                </a:solidFill>
                <a:latin typeface="Gabarito"/>
                <a:ea typeface="Gabarito"/>
                <a:cs typeface="Gabarito"/>
                <a:sym typeface="Gabarito"/>
              </a:rPr>
              <a:t>Yes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48"/>
          <p:cNvSpPr/>
          <p:nvPr/>
        </p:nvSpPr>
        <p:spPr>
          <a:xfrm>
            <a:off x="6793446" y="5251772"/>
            <a:ext cx="51711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OpenAI-style API: </a:t>
            </a:r>
            <a:r>
              <a:rPr b="1" i="0" lang="en-US" sz="1800" u="none" cap="none" strike="noStrike">
                <a:solidFill>
                  <a:srgbClr val="4C5A33"/>
                </a:solidFill>
                <a:latin typeface="Gabarito"/>
                <a:ea typeface="Gabarito"/>
                <a:cs typeface="Gabarito"/>
                <a:sym typeface="Gabarito"/>
              </a:rPr>
              <a:t>Yes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48"/>
          <p:cNvSpPr/>
          <p:nvPr/>
        </p:nvSpPr>
        <p:spPr>
          <a:xfrm>
            <a:off x="11982338" y="3429000"/>
            <a:ext cx="5257800" cy="2664900"/>
          </a:xfrm>
          <a:prstGeom prst="roundRect">
            <a:avLst>
              <a:gd fmla="val 5719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48"/>
          <p:cNvSpPr/>
          <p:nvPr/>
        </p:nvSpPr>
        <p:spPr>
          <a:xfrm>
            <a:off x="12260833" y="3688519"/>
            <a:ext cx="51708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llama.cpp</a:t>
            </a:r>
            <a:endParaRPr b="0" i="0" sz="2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48"/>
          <p:cNvSpPr/>
          <p:nvPr/>
        </p:nvSpPr>
        <p:spPr>
          <a:xfrm>
            <a:off x="12260833" y="4090913"/>
            <a:ext cx="48417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696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Best for: maximum control, CPU or low-end hardware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48"/>
          <p:cNvSpPr/>
          <p:nvPr/>
        </p:nvSpPr>
        <p:spPr>
          <a:xfrm>
            <a:off x="12260833" y="4860541"/>
            <a:ext cx="51708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Setup: </a:t>
            </a:r>
            <a:r>
              <a:rPr b="1" lang="en-US" sz="1800">
                <a:solidFill>
                  <a:srgbClr val="A8813A"/>
                </a:solidFill>
                <a:latin typeface="Gabarito"/>
                <a:ea typeface="Gabarito"/>
                <a:cs typeface="Gabarito"/>
                <a:sym typeface="Gabarito"/>
              </a:rPr>
              <a:t>Medium </a:t>
            </a:r>
            <a:r>
              <a:rPr b="1" i="0" lang="en-US" sz="1800" u="none" cap="none" strike="noStrike">
                <a:solidFill>
                  <a:srgbClr val="A8813A"/>
                </a:solidFill>
                <a:latin typeface="Gabarito"/>
                <a:ea typeface="Gabarito"/>
                <a:cs typeface="Gabarito"/>
                <a:sym typeface="Gabarito"/>
              </a:rPr>
              <a:t>— prebuilt or build it yourself</a:t>
            </a:r>
            <a:endParaRPr b="0" i="0" sz="1800" u="none" cap="none" strike="noStrike">
              <a:solidFill>
                <a:srgbClr val="A881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48"/>
          <p:cNvSpPr/>
          <p:nvPr/>
        </p:nvSpPr>
        <p:spPr>
          <a:xfrm>
            <a:off x="12260833" y="5210473"/>
            <a:ext cx="51708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Needs a GPU: </a:t>
            </a:r>
            <a:r>
              <a:rPr b="1" i="0" lang="en-US" sz="1800" u="none" cap="none" strike="noStrike">
                <a:solidFill>
                  <a:srgbClr val="4C5A33"/>
                </a:solidFill>
                <a:latin typeface="Gabarito"/>
                <a:ea typeface="Gabarito"/>
                <a:cs typeface="Gabarito"/>
                <a:sym typeface="Gabarito"/>
              </a:rPr>
              <a:t>No — CPU </a:t>
            </a:r>
            <a:r>
              <a:rPr b="1" lang="en-US" sz="1800">
                <a:solidFill>
                  <a:srgbClr val="4C5A33"/>
                </a:solidFill>
                <a:latin typeface="Gabarito"/>
                <a:ea typeface="Gabarito"/>
                <a:cs typeface="Gabarito"/>
                <a:sym typeface="Gabarito"/>
              </a:rPr>
              <a:t>works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48"/>
          <p:cNvSpPr/>
          <p:nvPr/>
        </p:nvSpPr>
        <p:spPr>
          <a:xfrm>
            <a:off x="12260833" y="5560405"/>
            <a:ext cx="51708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OpenAI-style API: </a:t>
            </a:r>
            <a:r>
              <a:rPr b="1" i="0" lang="en-US" sz="1800" u="none" cap="none" strike="noStrike">
                <a:solidFill>
                  <a:srgbClr val="4C5A33"/>
                </a:solidFill>
                <a:latin typeface="Gabarito"/>
                <a:ea typeface="Gabarito"/>
                <a:cs typeface="Gabarito"/>
                <a:sym typeface="Gabarito"/>
              </a:rPr>
              <a:t>Yes, via its server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48"/>
          <p:cNvSpPr/>
          <p:nvPr/>
        </p:nvSpPr>
        <p:spPr>
          <a:xfrm>
            <a:off x="1047750" y="6303243"/>
            <a:ext cx="5257800" cy="2664900"/>
          </a:xfrm>
          <a:prstGeom prst="roundRect">
            <a:avLst>
              <a:gd fmla="val 5719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48"/>
          <p:cNvSpPr/>
          <p:nvPr/>
        </p:nvSpPr>
        <p:spPr>
          <a:xfrm>
            <a:off x="1326245" y="6562762"/>
            <a:ext cx="51708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LM Studio</a:t>
            </a:r>
            <a:endParaRPr b="0" i="0" sz="2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48"/>
          <p:cNvSpPr/>
          <p:nvPr/>
        </p:nvSpPr>
        <p:spPr>
          <a:xfrm>
            <a:off x="1326245" y="6965156"/>
            <a:ext cx="51708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696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Best for: no-code desktop chatting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48"/>
          <p:cNvSpPr/>
          <p:nvPr/>
        </p:nvSpPr>
        <p:spPr>
          <a:xfrm>
            <a:off x="1326245" y="7426151"/>
            <a:ext cx="51708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Setup: </a:t>
            </a:r>
            <a:r>
              <a:rPr b="1" i="0" lang="en-US" sz="1800" u="none" cap="none" strike="noStrike">
                <a:solidFill>
                  <a:srgbClr val="4C5A33"/>
                </a:solidFill>
                <a:latin typeface="Gabarito"/>
                <a:ea typeface="Gabarito"/>
                <a:cs typeface="Gabarito"/>
                <a:sym typeface="Gabarito"/>
              </a:rPr>
              <a:t>Easiest — GUI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48"/>
          <p:cNvSpPr/>
          <p:nvPr/>
        </p:nvSpPr>
        <p:spPr>
          <a:xfrm>
            <a:off x="1326245" y="7776083"/>
            <a:ext cx="51708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Needs a GPU: </a:t>
            </a:r>
            <a:r>
              <a:rPr b="1" i="0" lang="en-US" sz="1800" u="none" cap="none" strike="noStrike">
                <a:solidFill>
                  <a:srgbClr val="4C5A33"/>
                </a:solidFill>
                <a:latin typeface="Gabarito"/>
                <a:ea typeface="Gabarito"/>
                <a:cs typeface="Gabarito"/>
                <a:sym typeface="Gabarito"/>
              </a:rPr>
              <a:t>No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48"/>
          <p:cNvSpPr/>
          <p:nvPr/>
        </p:nvSpPr>
        <p:spPr>
          <a:xfrm>
            <a:off x="1326245" y="8126016"/>
            <a:ext cx="51708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OpenAI-style API: </a:t>
            </a:r>
            <a:r>
              <a:rPr b="1" i="0" lang="en-US" sz="1800" u="none" cap="none" strike="noStrike">
                <a:solidFill>
                  <a:srgbClr val="4C5A33"/>
                </a:solidFill>
                <a:latin typeface="Gabarito"/>
                <a:ea typeface="Gabarito"/>
                <a:cs typeface="Gabarito"/>
                <a:sym typeface="Gabarito"/>
              </a:rPr>
              <a:t>Yes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48"/>
          <p:cNvSpPr/>
          <p:nvPr/>
        </p:nvSpPr>
        <p:spPr>
          <a:xfrm>
            <a:off x="6514951" y="6303243"/>
            <a:ext cx="5257800" cy="2664900"/>
          </a:xfrm>
          <a:prstGeom prst="roundRect">
            <a:avLst>
              <a:gd fmla="val 5719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48"/>
          <p:cNvSpPr/>
          <p:nvPr/>
        </p:nvSpPr>
        <p:spPr>
          <a:xfrm>
            <a:off x="6793446" y="6562762"/>
            <a:ext cx="51711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TGI</a:t>
            </a:r>
            <a:endParaRPr b="0" i="0" sz="2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48"/>
          <p:cNvSpPr/>
          <p:nvPr/>
        </p:nvSpPr>
        <p:spPr>
          <a:xfrm>
            <a:off x="6793446" y="6965156"/>
            <a:ext cx="48420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696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Best for: Hugging Face-native production pipelines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48"/>
          <p:cNvSpPr/>
          <p:nvPr/>
        </p:nvSpPr>
        <p:spPr>
          <a:xfrm>
            <a:off x="6793446" y="7734784"/>
            <a:ext cx="51711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Setup: </a:t>
            </a:r>
            <a:r>
              <a:rPr b="1" i="0" lang="en-US" sz="1800" u="none" cap="none" strike="noStrike">
                <a:solidFill>
                  <a:srgbClr val="A8813A"/>
                </a:solidFill>
                <a:latin typeface="Gabarito"/>
                <a:ea typeface="Gabarito"/>
                <a:cs typeface="Gabarito"/>
                <a:sym typeface="Gabarito"/>
              </a:rPr>
              <a:t>Medium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48"/>
          <p:cNvSpPr/>
          <p:nvPr/>
        </p:nvSpPr>
        <p:spPr>
          <a:xfrm>
            <a:off x="6793446" y="8084716"/>
            <a:ext cx="51711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Needs a GPU: </a:t>
            </a:r>
            <a:r>
              <a:rPr b="1" i="0" lang="en-US" sz="1800" u="none" cap="none" strike="noStrike">
                <a:solidFill>
                  <a:srgbClr val="C15F3C"/>
                </a:solidFill>
                <a:latin typeface="Gabarito"/>
                <a:ea typeface="Gabarito"/>
                <a:cs typeface="Gabarito"/>
                <a:sym typeface="Gabarito"/>
              </a:rPr>
              <a:t>Yes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48"/>
          <p:cNvSpPr/>
          <p:nvPr/>
        </p:nvSpPr>
        <p:spPr>
          <a:xfrm>
            <a:off x="6793446" y="8434648"/>
            <a:ext cx="51711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OpenAI-style API: </a:t>
            </a:r>
            <a:r>
              <a:rPr b="1" lang="en-US" sz="1800">
                <a:solidFill>
                  <a:srgbClr val="4C5A33"/>
                </a:solidFill>
                <a:latin typeface="Gabarito"/>
                <a:ea typeface="Gabarito"/>
                <a:cs typeface="Gabarito"/>
                <a:sym typeface="Gabarito"/>
              </a:rPr>
              <a:t>Yes (no function-calling)</a:t>
            </a:r>
            <a:endParaRPr b="1" sz="1800">
              <a:solidFill>
                <a:srgbClr val="4C5A33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1391" name="Google Shape;1391;p48"/>
          <p:cNvSpPr/>
          <p:nvPr/>
        </p:nvSpPr>
        <p:spPr>
          <a:xfrm>
            <a:off x="11982338" y="6303243"/>
            <a:ext cx="5257800" cy="2664900"/>
          </a:xfrm>
          <a:prstGeom prst="roundRect">
            <a:avLst>
              <a:gd fmla="val 5719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48"/>
          <p:cNvSpPr/>
          <p:nvPr/>
        </p:nvSpPr>
        <p:spPr>
          <a:xfrm>
            <a:off x="12260833" y="6562762"/>
            <a:ext cx="51708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TensorRT-LLM</a:t>
            </a:r>
            <a:endParaRPr b="0" i="0" sz="2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48"/>
          <p:cNvSpPr/>
          <p:nvPr/>
        </p:nvSpPr>
        <p:spPr>
          <a:xfrm>
            <a:off x="12260833" y="6965156"/>
            <a:ext cx="48417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696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5B5B5B"/>
                </a:solidFill>
                <a:latin typeface="Gabarito"/>
                <a:ea typeface="Gabarito"/>
                <a:cs typeface="Gabarito"/>
                <a:sym typeface="Gabarito"/>
              </a:rPr>
              <a:t>Best for: squeezing max speed from NVIDIA GPUs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48"/>
          <p:cNvSpPr/>
          <p:nvPr/>
        </p:nvSpPr>
        <p:spPr>
          <a:xfrm>
            <a:off x="12260833" y="7734784"/>
            <a:ext cx="51708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Setup: </a:t>
            </a:r>
            <a:r>
              <a:rPr b="1" i="0" lang="en-US" sz="1800" u="none" cap="none" strike="noStrike">
                <a:solidFill>
                  <a:srgbClr val="C15F3C"/>
                </a:solidFill>
                <a:latin typeface="Gabarito"/>
                <a:ea typeface="Gabarito"/>
                <a:cs typeface="Gabarito"/>
                <a:sym typeface="Gabarito"/>
              </a:rPr>
              <a:t>Hardest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48"/>
          <p:cNvSpPr/>
          <p:nvPr/>
        </p:nvSpPr>
        <p:spPr>
          <a:xfrm>
            <a:off x="12260833" y="8084716"/>
            <a:ext cx="51708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Needs a GPU: </a:t>
            </a:r>
            <a:r>
              <a:rPr b="1" i="0" lang="en-US" sz="1800" u="none" cap="none" strike="noStrike">
                <a:solidFill>
                  <a:srgbClr val="C15F3C"/>
                </a:solidFill>
                <a:latin typeface="Gabarito"/>
                <a:ea typeface="Gabarito"/>
                <a:cs typeface="Gabarito"/>
                <a:sym typeface="Gabarito"/>
              </a:rPr>
              <a:t>Yes — NVIDIA only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48"/>
          <p:cNvSpPr/>
          <p:nvPr/>
        </p:nvSpPr>
        <p:spPr>
          <a:xfrm>
            <a:off x="12260833" y="8434648"/>
            <a:ext cx="51708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OpenAI-style API: </a:t>
            </a:r>
            <a:r>
              <a:rPr b="1" i="0" lang="en-US" sz="1800" u="none" cap="none" strike="noStrike">
                <a:solidFill>
                  <a:srgbClr val="A8813A"/>
                </a:solidFill>
                <a:latin typeface="Gabarito"/>
                <a:ea typeface="Gabarito"/>
                <a:cs typeface="Gabarito"/>
                <a:sym typeface="Gabarito"/>
              </a:rPr>
              <a:t>Via Triton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02" name="Google Shape;140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03" name="Google Shape;1403;p49"/>
          <p:cNvSpPr/>
          <p:nvPr/>
        </p:nvSpPr>
        <p:spPr>
          <a:xfrm>
            <a:off x="1047750" y="914363"/>
            <a:ext cx="1839497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Decision tree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49"/>
          <p:cNvSpPr/>
          <p:nvPr/>
        </p:nvSpPr>
        <p:spPr>
          <a:xfrm>
            <a:off x="1047750" y="1390613"/>
            <a:ext cx="9267676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Choosing a Framework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49"/>
          <p:cNvSpPr/>
          <p:nvPr/>
        </p:nvSpPr>
        <p:spPr>
          <a:xfrm>
            <a:off x="7594141" y="2857500"/>
            <a:ext cx="3099718" cy="714375"/>
          </a:xfrm>
          <a:prstGeom prst="roundRect">
            <a:avLst>
              <a:gd fmla="val 18667" name="adj"/>
            </a:avLst>
          </a:prstGeom>
          <a:solidFill>
            <a:srgbClr val="274D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49"/>
          <p:cNvSpPr/>
          <p:nvPr/>
        </p:nvSpPr>
        <p:spPr>
          <a:xfrm>
            <a:off x="8051341" y="3048000"/>
            <a:ext cx="227830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Gabarito"/>
              <a:buNone/>
            </a:pPr>
            <a:r>
              <a:rPr b="1" i="0" lang="en-US" sz="2175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Where will it run?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p49"/>
          <p:cNvSpPr/>
          <p:nvPr/>
        </p:nvSpPr>
        <p:spPr>
          <a:xfrm>
            <a:off x="5032200" y="3928425"/>
            <a:ext cx="23700" cy="227400"/>
          </a:xfrm>
          <a:prstGeom prst="rect">
            <a:avLst/>
          </a:prstGeom>
          <a:solidFill>
            <a:srgbClr val="DAD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49"/>
          <p:cNvSpPr/>
          <p:nvPr/>
        </p:nvSpPr>
        <p:spPr>
          <a:xfrm>
            <a:off x="13368450" y="3928425"/>
            <a:ext cx="23700" cy="227400"/>
          </a:xfrm>
          <a:prstGeom prst="rect">
            <a:avLst/>
          </a:prstGeom>
          <a:solidFill>
            <a:srgbClr val="DAD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49"/>
          <p:cNvSpPr/>
          <p:nvPr/>
        </p:nvSpPr>
        <p:spPr>
          <a:xfrm>
            <a:off x="5032200" y="3887925"/>
            <a:ext cx="8359800" cy="40500"/>
          </a:xfrm>
          <a:prstGeom prst="rect">
            <a:avLst/>
          </a:prstGeom>
          <a:solidFill>
            <a:srgbClr val="DAD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49"/>
          <p:cNvSpPr/>
          <p:nvPr/>
        </p:nvSpPr>
        <p:spPr>
          <a:xfrm>
            <a:off x="9176263" y="3571876"/>
            <a:ext cx="28500" cy="323700"/>
          </a:xfrm>
          <a:prstGeom prst="rect">
            <a:avLst/>
          </a:prstGeom>
          <a:solidFill>
            <a:srgbClr val="DAD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49"/>
          <p:cNvSpPr/>
          <p:nvPr/>
        </p:nvSpPr>
        <p:spPr>
          <a:xfrm>
            <a:off x="3327425" y="4161979"/>
            <a:ext cx="3346400" cy="587871"/>
          </a:xfrm>
          <a:prstGeom prst="roundRect">
            <a:avLst>
              <a:gd fmla="val 19443" name="adj"/>
            </a:avLst>
          </a:prstGeom>
          <a:solidFill>
            <a:srgbClr val="035595">
              <a:alpha val="5098"/>
            </a:srgbClr>
          </a:solidFill>
          <a:ln cap="flat" cmpd="sng" w="11900">
            <a:solidFill>
              <a:srgbClr val="0355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49"/>
          <p:cNvSpPr/>
          <p:nvPr/>
        </p:nvSpPr>
        <p:spPr>
          <a:xfrm>
            <a:off x="3625081" y="4307235"/>
            <a:ext cx="2851480" cy="3354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My laptop / personal use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49"/>
          <p:cNvSpPr/>
          <p:nvPr/>
        </p:nvSpPr>
        <p:spPr>
          <a:xfrm>
            <a:off x="2628863" y="4864075"/>
            <a:ext cx="4743338" cy="28463"/>
          </a:xfrm>
          <a:prstGeom prst="rect">
            <a:avLst/>
          </a:prstGeom>
          <a:solidFill>
            <a:srgbClr val="DAD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49"/>
          <p:cNvSpPr/>
          <p:nvPr/>
        </p:nvSpPr>
        <p:spPr>
          <a:xfrm>
            <a:off x="2628863" y="4864075"/>
            <a:ext cx="28463" cy="285750"/>
          </a:xfrm>
          <a:prstGeom prst="rect">
            <a:avLst/>
          </a:prstGeom>
          <a:solidFill>
            <a:srgbClr val="DAD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49"/>
          <p:cNvSpPr/>
          <p:nvPr/>
        </p:nvSpPr>
        <p:spPr>
          <a:xfrm>
            <a:off x="7343738" y="4864075"/>
            <a:ext cx="28463" cy="285750"/>
          </a:xfrm>
          <a:prstGeom prst="rect">
            <a:avLst/>
          </a:prstGeom>
          <a:solidFill>
            <a:srgbClr val="DAD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49"/>
          <p:cNvSpPr/>
          <p:nvPr/>
        </p:nvSpPr>
        <p:spPr>
          <a:xfrm>
            <a:off x="1047750" y="5222638"/>
            <a:ext cx="3848100" cy="1088100"/>
          </a:xfrm>
          <a:prstGeom prst="roundRect">
            <a:avLst>
              <a:gd fmla="val 12255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49"/>
          <p:cNvSpPr/>
          <p:nvPr/>
        </p:nvSpPr>
        <p:spPr>
          <a:xfrm>
            <a:off x="1098863" y="5466457"/>
            <a:ext cx="3745911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Want a GUI, no terminal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8" name="Google Shape;1418;p49"/>
          <p:cNvSpPr/>
          <p:nvPr/>
        </p:nvSpPr>
        <p:spPr>
          <a:xfrm>
            <a:off x="1098863" y="5816389"/>
            <a:ext cx="374591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75"/>
              <a:buFont typeface="Gabarito"/>
              <a:buNone/>
            </a:pPr>
            <a:r>
              <a:rPr b="1" i="0" lang="en-US" sz="21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LM Studio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p49"/>
          <p:cNvSpPr/>
          <p:nvPr/>
        </p:nvSpPr>
        <p:spPr>
          <a:xfrm>
            <a:off x="5105363" y="5222638"/>
            <a:ext cx="3848100" cy="1088100"/>
          </a:xfrm>
          <a:prstGeom prst="roundRect">
            <a:avLst>
              <a:gd fmla="val 12255" name="adj"/>
            </a:avLst>
          </a:prstGeom>
          <a:solidFill>
            <a:srgbClr val="FF9900">
              <a:alpha val="3922"/>
            </a:srgbClr>
          </a:solidFill>
          <a:ln cap="flat" cmpd="sng" w="119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49"/>
          <p:cNvSpPr/>
          <p:nvPr/>
        </p:nvSpPr>
        <p:spPr>
          <a:xfrm>
            <a:off x="5156476" y="5466457"/>
            <a:ext cx="3745911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Comfortable with CLI / APIs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49"/>
          <p:cNvSpPr/>
          <p:nvPr/>
        </p:nvSpPr>
        <p:spPr>
          <a:xfrm>
            <a:off x="5156476" y="5816389"/>
            <a:ext cx="374591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75"/>
              <a:buFont typeface="Gabarito"/>
              <a:buNone/>
            </a:pPr>
            <a:r>
              <a:rPr b="1" i="0" lang="en-US" sz="21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Ollama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49"/>
          <p:cNvSpPr/>
          <p:nvPr/>
        </p:nvSpPr>
        <p:spPr>
          <a:xfrm>
            <a:off x="1838399" y="6542670"/>
            <a:ext cx="6324451" cy="980963"/>
          </a:xfrm>
          <a:prstGeom prst="roundRect">
            <a:avLst>
              <a:gd fmla="val 13594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49"/>
          <p:cNvSpPr/>
          <p:nvPr/>
        </p:nvSpPr>
        <p:spPr>
          <a:xfrm>
            <a:off x="1786570" y="6706939"/>
            <a:ext cx="6428110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Embedded, mobile, or exotic hardware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p49"/>
          <p:cNvSpPr/>
          <p:nvPr/>
        </p:nvSpPr>
        <p:spPr>
          <a:xfrm>
            <a:off x="1786570" y="7037896"/>
            <a:ext cx="6428110" cy="359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00"/>
              <a:buFont typeface="Gabarito"/>
              <a:buNone/>
            </a:pPr>
            <a:r>
              <a:rPr b="1" i="0" lang="en-US" sz="21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llama.cpp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49"/>
          <p:cNvSpPr/>
          <p:nvPr/>
        </p:nvSpPr>
        <p:spPr>
          <a:xfrm>
            <a:off x="11664962" y="4161979"/>
            <a:ext cx="3244825" cy="587871"/>
          </a:xfrm>
          <a:prstGeom prst="roundRect">
            <a:avLst>
              <a:gd fmla="val 19443" name="adj"/>
            </a:avLst>
          </a:prstGeom>
          <a:solidFill>
            <a:srgbClr val="7A8A5A">
              <a:alpha val="7059"/>
            </a:srgbClr>
          </a:solidFill>
          <a:ln cap="flat" cmpd="sng" w="11900">
            <a:solidFill>
              <a:srgbClr val="6E7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49"/>
          <p:cNvSpPr/>
          <p:nvPr/>
        </p:nvSpPr>
        <p:spPr>
          <a:xfrm>
            <a:off x="11962619" y="4307235"/>
            <a:ext cx="2746857" cy="3354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1950"/>
              <a:buFont typeface="Gabarito"/>
              <a:buNone/>
            </a:pPr>
            <a:r>
              <a:rPr b="1" i="0" lang="en-US" sz="1950" u="none" cap="none" strike="noStrike">
                <a:solidFill>
                  <a:srgbClr val="4C5A33"/>
                </a:solidFill>
                <a:latin typeface="Gabarito"/>
                <a:ea typeface="Gabarito"/>
                <a:cs typeface="Gabarito"/>
                <a:sym typeface="Gabarito"/>
              </a:rPr>
              <a:t>A server, for many users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7" name="Google Shape;1427;p49"/>
          <p:cNvSpPr/>
          <p:nvPr/>
        </p:nvSpPr>
        <p:spPr>
          <a:xfrm>
            <a:off x="10915613" y="4864075"/>
            <a:ext cx="4743338" cy="28463"/>
          </a:xfrm>
          <a:prstGeom prst="rect">
            <a:avLst/>
          </a:prstGeom>
          <a:solidFill>
            <a:srgbClr val="DAD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49"/>
          <p:cNvSpPr/>
          <p:nvPr/>
        </p:nvSpPr>
        <p:spPr>
          <a:xfrm>
            <a:off x="10915613" y="4864075"/>
            <a:ext cx="28463" cy="285750"/>
          </a:xfrm>
          <a:prstGeom prst="rect">
            <a:avLst/>
          </a:prstGeom>
          <a:solidFill>
            <a:srgbClr val="DAD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49"/>
          <p:cNvSpPr/>
          <p:nvPr/>
        </p:nvSpPr>
        <p:spPr>
          <a:xfrm>
            <a:off x="15630488" y="4864075"/>
            <a:ext cx="28463" cy="285750"/>
          </a:xfrm>
          <a:prstGeom prst="rect">
            <a:avLst/>
          </a:prstGeom>
          <a:solidFill>
            <a:srgbClr val="DAD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49"/>
          <p:cNvSpPr/>
          <p:nvPr/>
        </p:nvSpPr>
        <p:spPr>
          <a:xfrm>
            <a:off x="9334500" y="5222638"/>
            <a:ext cx="3848100" cy="1362000"/>
          </a:xfrm>
          <a:prstGeom prst="roundRect">
            <a:avLst>
              <a:gd fmla="val 9791" name="adj"/>
            </a:avLst>
          </a:prstGeom>
          <a:solidFill>
            <a:srgbClr val="FF9900">
              <a:alpha val="3922"/>
            </a:srgbClr>
          </a:solidFill>
          <a:ln cap="flat" cmpd="sng" w="119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49"/>
          <p:cNvSpPr/>
          <p:nvPr/>
        </p:nvSpPr>
        <p:spPr>
          <a:xfrm>
            <a:off x="9504801" y="5466457"/>
            <a:ext cx="3507535" cy="5857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Open-source default, NVIDIA/AMD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49"/>
          <p:cNvSpPr/>
          <p:nvPr/>
        </p:nvSpPr>
        <p:spPr>
          <a:xfrm>
            <a:off x="9385613" y="6090233"/>
            <a:ext cx="374591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75"/>
              <a:buFont typeface="Gabarito"/>
              <a:buNone/>
            </a:pPr>
            <a:r>
              <a:rPr b="1" i="0" lang="en-US" sz="21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vLLM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49"/>
          <p:cNvSpPr/>
          <p:nvPr/>
        </p:nvSpPr>
        <p:spPr>
          <a:xfrm>
            <a:off x="13392113" y="5222638"/>
            <a:ext cx="3848100" cy="1362000"/>
          </a:xfrm>
          <a:prstGeom prst="roundRect">
            <a:avLst>
              <a:gd fmla="val 9791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49"/>
          <p:cNvSpPr/>
          <p:nvPr/>
        </p:nvSpPr>
        <p:spPr>
          <a:xfrm>
            <a:off x="13443226" y="5466457"/>
            <a:ext cx="3745911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Deep in the Hugging Face stack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49"/>
          <p:cNvSpPr/>
          <p:nvPr/>
        </p:nvSpPr>
        <p:spPr>
          <a:xfrm>
            <a:off x="13443226" y="5816389"/>
            <a:ext cx="374591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75"/>
              <a:buFont typeface="Gabarito"/>
              <a:buNone/>
            </a:pPr>
            <a:r>
              <a:rPr b="1" i="0" lang="en-US" sz="21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TGI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49"/>
          <p:cNvSpPr/>
          <p:nvPr/>
        </p:nvSpPr>
        <p:spPr>
          <a:xfrm>
            <a:off x="10125149" y="6816514"/>
            <a:ext cx="6324451" cy="980963"/>
          </a:xfrm>
          <a:prstGeom prst="roundRect">
            <a:avLst>
              <a:gd fmla="val 13594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49"/>
          <p:cNvSpPr/>
          <p:nvPr/>
        </p:nvSpPr>
        <p:spPr>
          <a:xfrm>
            <a:off x="10073320" y="6980783"/>
            <a:ext cx="6428110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Max performance, NVIDIA-only, eng team available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49"/>
          <p:cNvSpPr/>
          <p:nvPr/>
        </p:nvSpPr>
        <p:spPr>
          <a:xfrm>
            <a:off x="10073320" y="7311740"/>
            <a:ext cx="6428110" cy="359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00"/>
              <a:buFont typeface="Gabarito"/>
              <a:buNone/>
            </a:pPr>
            <a:r>
              <a:rPr b="1" i="0" lang="en-US" sz="21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TensorRT-LLM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44" name="Google Shape;144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45" name="Google Shape;1445;p50"/>
          <p:cNvSpPr/>
          <p:nvPr/>
        </p:nvSpPr>
        <p:spPr>
          <a:xfrm>
            <a:off x="1047750" y="914363"/>
            <a:ext cx="1328105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Summary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6" name="Google Shape;1446;p50"/>
          <p:cNvSpPr/>
          <p:nvPr/>
        </p:nvSpPr>
        <p:spPr>
          <a:xfrm>
            <a:off x="1047750" y="1390613"/>
            <a:ext cx="6031111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Key Takeaways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50"/>
          <p:cNvSpPr/>
          <p:nvPr/>
        </p:nvSpPr>
        <p:spPr>
          <a:xfrm>
            <a:off x="1047750" y="3048000"/>
            <a:ext cx="16192500" cy="1128600"/>
          </a:xfrm>
          <a:prstGeom prst="roundRect">
            <a:avLst>
              <a:gd fmla="val 13505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50"/>
          <p:cNvSpPr/>
          <p:nvPr/>
        </p:nvSpPr>
        <p:spPr>
          <a:xfrm>
            <a:off x="1402519" y="3307519"/>
            <a:ext cx="609600" cy="609600"/>
          </a:xfrm>
          <a:prstGeom prst="ellipse">
            <a:avLst/>
          </a:prstGeom>
          <a:solidFill>
            <a:srgbClr val="035595">
              <a:alpha val="1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50"/>
          <p:cNvSpPr/>
          <p:nvPr/>
        </p:nvSpPr>
        <p:spPr>
          <a:xfrm>
            <a:off x="1364419" y="3307519"/>
            <a:ext cx="685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1</a:t>
            </a:r>
            <a:endParaRPr b="0" i="0" sz="2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50"/>
          <p:cNvSpPr/>
          <p:nvPr/>
        </p:nvSpPr>
        <p:spPr>
          <a:xfrm>
            <a:off x="2278559" y="3418768"/>
            <a:ext cx="96234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75"/>
              <a:buFont typeface="Gabarito"/>
              <a:buNone/>
            </a:pPr>
            <a:r>
              <a:rPr b="1" i="0" lang="en-US" sz="21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Run it yourself, keep control </a:t>
            </a:r>
            <a:r>
              <a:rPr b="0" i="0" lang="en-US" sz="2175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— of your data, your cost, and your uptime.</a:t>
            </a:r>
            <a:endParaRPr b="0" i="0" sz="21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50"/>
          <p:cNvSpPr/>
          <p:nvPr/>
        </p:nvSpPr>
        <p:spPr>
          <a:xfrm>
            <a:off x="1047750" y="4385965"/>
            <a:ext cx="16192500" cy="1128600"/>
          </a:xfrm>
          <a:prstGeom prst="roundRect">
            <a:avLst>
              <a:gd fmla="val 13505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50"/>
          <p:cNvSpPr/>
          <p:nvPr/>
        </p:nvSpPr>
        <p:spPr>
          <a:xfrm>
            <a:off x="1402519" y="4645484"/>
            <a:ext cx="609600" cy="609600"/>
          </a:xfrm>
          <a:prstGeom prst="ellipse">
            <a:avLst/>
          </a:prstGeom>
          <a:solidFill>
            <a:srgbClr val="D97757">
              <a:alpha val="141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50"/>
          <p:cNvSpPr/>
          <p:nvPr/>
        </p:nvSpPr>
        <p:spPr>
          <a:xfrm>
            <a:off x="1364419" y="4645484"/>
            <a:ext cx="685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5F3C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C15F3C"/>
                </a:solidFill>
                <a:latin typeface="Gabarito"/>
                <a:ea typeface="Gabarito"/>
                <a:cs typeface="Gabarito"/>
                <a:sym typeface="Gabarito"/>
              </a:rPr>
              <a:t>2</a:t>
            </a:r>
            <a:endParaRPr b="0" i="0" sz="2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50"/>
          <p:cNvSpPr/>
          <p:nvPr/>
        </p:nvSpPr>
        <p:spPr>
          <a:xfrm>
            <a:off x="2278559" y="4756733"/>
            <a:ext cx="114408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75"/>
              <a:buFont typeface="Gabarito"/>
              <a:buNone/>
            </a:pPr>
            <a:r>
              <a:rPr b="1" i="0" lang="en-US" sz="21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Ollama to try things out, vLLM to serve many people </a:t>
            </a:r>
            <a:r>
              <a:rPr b="0" i="0" lang="en-US" sz="2175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— same models, different scale.</a:t>
            </a:r>
            <a:endParaRPr b="0" i="0" sz="21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50"/>
          <p:cNvSpPr/>
          <p:nvPr/>
        </p:nvSpPr>
        <p:spPr>
          <a:xfrm>
            <a:off x="1047750" y="5723930"/>
            <a:ext cx="16192500" cy="1128600"/>
          </a:xfrm>
          <a:prstGeom prst="roundRect">
            <a:avLst>
              <a:gd fmla="val 13505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50"/>
          <p:cNvSpPr/>
          <p:nvPr/>
        </p:nvSpPr>
        <p:spPr>
          <a:xfrm>
            <a:off x="1402519" y="5983449"/>
            <a:ext cx="609600" cy="609600"/>
          </a:xfrm>
          <a:prstGeom prst="ellipse">
            <a:avLst/>
          </a:prstGeom>
          <a:solidFill>
            <a:srgbClr val="7A8A5A">
              <a:alpha val="16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7" name="Google Shape;1457;p50"/>
          <p:cNvSpPr/>
          <p:nvPr/>
        </p:nvSpPr>
        <p:spPr>
          <a:xfrm>
            <a:off x="1364419" y="5983449"/>
            <a:ext cx="685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D4C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6E7D4C"/>
                </a:solidFill>
                <a:latin typeface="Gabarito"/>
                <a:ea typeface="Gabarito"/>
                <a:cs typeface="Gabarito"/>
                <a:sym typeface="Gabarito"/>
              </a:rPr>
              <a:t>3</a:t>
            </a:r>
            <a:endParaRPr b="0" i="0" sz="2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50"/>
          <p:cNvSpPr/>
          <p:nvPr/>
        </p:nvSpPr>
        <p:spPr>
          <a:xfrm>
            <a:off x="2278559" y="6094698"/>
            <a:ext cx="116817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75"/>
              <a:buFont typeface="Gabarito"/>
              <a:buNone/>
            </a:pPr>
            <a:r>
              <a:rPr b="1" i="0" lang="en-US" sz="21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The system prompt controls behavior </a:t>
            </a:r>
            <a:r>
              <a:rPr b="0" i="0" lang="en-US" sz="2175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— write it carefully, and guard it against injection.</a:t>
            </a:r>
            <a:endParaRPr b="0" i="0" sz="21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50"/>
          <p:cNvSpPr/>
          <p:nvPr/>
        </p:nvSpPr>
        <p:spPr>
          <a:xfrm>
            <a:off x="1047750" y="7061895"/>
            <a:ext cx="16192500" cy="1128600"/>
          </a:xfrm>
          <a:prstGeom prst="roundRect">
            <a:avLst>
              <a:gd fmla="val 13505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50"/>
          <p:cNvSpPr/>
          <p:nvPr/>
        </p:nvSpPr>
        <p:spPr>
          <a:xfrm>
            <a:off x="1402519" y="7321414"/>
            <a:ext cx="609600" cy="609600"/>
          </a:xfrm>
          <a:prstGeom prst="ellipse">
            <a:avLst/>
          </a:prstGeom>
          <a:solidFill>
            <a:srgbClr val="B08A3E">
              <a:alpha val="1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50"/>
          <p:cNvSpPr/>
          <p:nvPr/>
        </p:nvSpPr>
        <p:spPr>
          <a:xfrm>
            <a:off x="1364419" y="7321414"/>
            <a:ext cx="685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813A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A8813A"/>
                </a:solidFill>
                <a:latin typeface="Gabarito"/>
                <a:ea typeface="Gabarito"/>
                <a:cs typeface="Gabarito"/>
                <a:sym typeface="Gabarito"/>
              </a:rPr>
              <a:t>4</a:t>
            </a:r>
            <a:endParaRPr b="0" i="0" sz="2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50"/>
          <p:cNvSpPr/>
          <p:nvPr/>
        </p:nvSpPr>
        <p:spPr>
          <a:xfrm>
            <a:off x="2278559" y="7432663"/>
            <a:ext cx="122844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75"/>
              <a:buFont typeface="Gabarito"/>
              <a:buNone/>
            </a:pPr>
            <a:r>
              <a:rPr b="1" i="0" lang="en-US" sz="217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A model's name tells you what it is </a:t>
            </a:r>
            <a:r>
              <a:rPr b="0" i="0" lang="en-US" sz="2175" u="none" cap="none" strike="noStrike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— size, variant, and compression. Check the license first.</a:t>
            </a:r>
            <a:endParaRPr b="0" i="0" sz="21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68" name="Google Shape;146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19"/>
          </a:xfrm>
          <a:prstGeom prst="rect">
            <a:avLst/>
          </a:prstGeom>
          <a:noFill/>
          <a:ln>
            <a:noFill/>
          </a:ln>
        </p:spPr>
      </p:pic>
      <p:sp>
        <p:nvSpPr>
          <p:cNvPr id="1469" name="Google Shape;1469;p51"/>
          <p:cNvSpPr/>
          <p:nvPr/>
        </p:nvSpPr>
        <p:spPr>
          <a:xfrm>
            <a:off x="1047750" y="914363"/>
            <a:ext cx="20826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Check yourself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51"/>
          <p:cNvSpPr/>
          <p:nvPr/>
        </p:nvSpPr>
        <p:spPr>
          <a:xfrm>
            <a:off x="1047750" y="1390613"/>
            <a:ext cx="72615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Review Questions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51"/>
          <p:cNvSpPr/>
          <p:nvPr/>
        </p:nvSpPr>
        <p:spPr>
          <a:xfrm>
            <a:off x="1047750" y="3048000"/>
            <a:ext cx="16192500" cy="1071300"/>
          </a:xfrm>
          <a:prstGeom prst="roundRect">
            <a:avLst>
              <a:gd fmla="val 14225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51"/>
          <p:cNvSpPr/>
          <p:nvPr/>
        </p:nvSpPr>
        <p:spPr>
          <a:xfrm>
            <a:off x="1402519" y="3307519"/>
            <a:ext cx="552300" cy="552300"/>
          </a:xfrm>
          <a:prstGeom prst="ellipse">
            <a:avLst/>
          </a:prstGeom>
          <a:solidFill>
            <a:srgbClr val="274D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51"/>
          <p:cNvSpPr/>
          <p:nvPr/>
        </p:nvSpPr>
        <p:spPr>
          <a:xfrm>
            <a:off x="1364419" y="3307519"/>
            <a:ext cx="6285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Gabarito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Q1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4" name="Google Shape;1474;p51"/>
          <p:cNvSpPr/>
          <p:nvPr/>
        </p:nvSpPr>
        <p:spPr>
          <a:xfrm>
            <a:off x="2202470" y="3397002"/>
            <a:ext cx="1372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48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2100"/>
              <a:buFont typeface="Gabarito"/>
              <a:buNone/>
            </a:pPr>
            <a:r>
              <a:rPr lang="en-US" sz="2100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N</a:t>
            </a:r>
            <a:r>
              <a:rPr lang="en-US" sz="2100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ame two frameworks/tools that can run LLMs locally. </a:t>
            </a:r>
            <a:endParaRPr sz="2100">
              <a:solidFill>
                <a:srgbClr val="37474F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marR="0" rtl="0" algn="l">
              <a:lnSpc>
                <a:spcPct val="116148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2100"/>
              <a:buFont typeface="Gabarito"/>
              <a:buNone/>
            </a:pPr>
            <a:r>
              <a:t/>
            </a:r>
            <a:endParaRPr sz="2100">
              <a:solidFill>
                <a:srgbClr val="37474F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1475" name="Google Shape;1475;p51"/>
          <p:cNvSpPr/>
          <p:nvPr/>
        </p:nvSpPr>
        <p:spPr>
          <a:xfrm>
            <a:off x="1047750" y="4328852"/>
            <a:ext cx="16192500" cy="1265700"/>
          </a:xfrm>
          <a:prstGeom prst="roundRect">
            <a:avLst>
              <a:gd fmla="val 12040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51"/>
          <p:cNvSpPr/>
          <p:nvPr/>
        </p:nvSpPr>
        <p:spPr>
          <a:xfrm>
            <a:off x="1402519" y="4685481"/>
            <a:ext cx="552300" cy="552300"/>
          </a:xfrm>
          <a:prstGeom prst="ellipse">
            <a:avLst/>
          </a:prstGeom>
          <a:solidFill>
            <a:srgbClr val="274D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51"/>
          <p:cNvSpPr/>
          <p:nvPr/>
        </p:nvSpPr>
        <p:spPr>
          <a:xfrm>
            <a:off x="1364419" y="4685481"/>
            <a:ext cx="6285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Gabarito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Q2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51"/>
          <p:cNvSpPr/>
          <p:nvPr/>
        </p:nvSpPr>
        <p:spPr>
          <a:xfrm>
            <a:off x="2202475" y="4775061"/>
            <a:ext cx="15123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48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2100"/>
              <a:buFont typeface="Gabarito"/>
              <a:buNone/>
            </a:pPr>
            <a:r>
              <a:rPr lang="en-US" sz="2100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Which framework is commonly used for high-throughput LLM serving 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51"/>
          <p:cNvSpPr/>
          <p:nvPr/>
        </p:nvSpPr>
        <p:spPr>
          <a:xfrm>
            <a:off x="1047750" y="5804111"/>
            <a:ext cx="16192500" cy="1071300"/>
          </a:xfrm>
          <a:prstGeom prst="roundRect">
            <a:avLst>
              <a:gd fmla="val 14225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51"/>
          <p:cNvSpPr/>
          <p:nvPr/>
        </p:nvSpPr>
        <p:spPr>
          <a:xfrm>
            <a:off x="1402519" y="6063630"/>
            <a:ext cx="552300" cy="552300"/>
          </a:xfrm>
          <a:prstGeom prst="ellipse">
            <a:avLst/>
          </a:prstGeom>
          <a:solidFill>
            <a:srgbClr val="274D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51"/>
          <p:cNvSpPr/>
          <p:nvPr/>
        </p:nvSpPr>
        <p:spPr>
          <a:xfrm>
            <a:off x="1364419" y="6063630"/>
            <a:ext cx="6285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Gabarito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Q3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2" name="Google Shape;1482;p51"/>
          <p:cNvSpPr/>
          <p:nvPr/>
        </p:nvSpPr>
        <p:spPr>
          <a:xfrm>
            <a:off x="2202470" y="6153113"/>
            <a:ext cx="9386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48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2100"/>
              <a:buFont typeface="Gabarito"/>
              <a:buNone/>
            </a:pPr>
            <a:r>
              <a:rPr lang="en-US" sz="2100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Why would you choose vLLM instead of Ollama?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p51"/>
          <p:cNvSpPr/>
          <p:nvPr/>
        </p:nvSpPr>
        <p:spPr>
          <a:xfrm>
            <a:off x="1047750" y="7084963"/>
            <a:ext cx="16192500" cy="1071300"/>
          </a:xfrm>
          <a:prstGeom prst="roundRect">
            <a:avLst>
              <a:gd fmla="val 14225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51"/>
          <p:cNvSpPr/>
          <p:nvPr/>
        </p:nvSpPr>
        <p:spPr>
          <a:xfrm>
            <a:off x="1402519" y="7344482"/>
            <a:ext cx="552300" cy="552300"/>
          </a:xfrm>
          <a:prstGeom prst="ellipse">
            <a:avLst/>
          </a:prstGeom>
          <a:solidFill>
            <a:srgbClr val="274D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51"/>
          <p:cNvSpPr/>
          <p:nvPr/>
        </p:nvSpPr>
        <p:spPr>
          <a:xfrm>
            <a:off x="1364419" y="7344482"/>
            <a:ext cx="6285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Gabarito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Q4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6" name="Google Shape;1486;p51"/>
          <p:cNvSpPr/>
          <p:nvPr/>
        </p:nvSpPr>
        <p:spPr>
          <a:xfrm>
            <a:off x="2202470" y="7433965"/>
            <a:ext cx="12631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48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2100"/>
              <a:buFont typeface="Gabarito"/>
              <a:buNone/>
            </a:pPr>
            <a:r>
              <a:rPr lang="en-US" sz="2100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What is the difference between GGUF and SafeTensors? </a:t>
            </a:r>
            <a:endParaRPr sz="2100">
              <a:solidFill>
                <a:srgbClr val="37474F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1487" name="Google Shape;1487;p51"/>
          <p:cNvSpPr/>
          <p:nvPr/>
        </p:nvSpPr>
        <p:spPr>
          <a:xfrm>
            <a:off x="1047750" y="8365815"/>
            <a:ext cx="16192500" cy="1071300"/>
          </a:xfrm>
          <a:prstGeom prst="roundRect">
            <a:avLst>
              <a:gd fmla="val 14225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8" name="Google Shape;1488;p51"/>
          <p:cNvSpPr/>
          <p:nvPr/>
        </p:nvSpPr>
        <p:spPr>
          <a:xfrm>
            <a:off x="1402519" y="8625334"/>
            <a:ext cx="552300" cy="552300"/>
          </a:xfrm>
          <a:prstGeom prst="ellipse">
            <a:avLst/>
          </a:prstGeom>
          <a:solidFill>
            <a:srgbClr val="274D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51"/>
          <p:cNvSpPr/>
          <p:nvPr/>
        </p:nvSpPr>
        <p:spPr>
          <a:xfrm>
            <a:off x="1364419" y="8625334"/>
            <a:ext cx="6285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Gabarito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Gabarito"/>
                <a:ea typeface="Gabarito"/>
                <a:cs typeface="Gabarito"/>
                <a:sym typeface="Gabarito"/>
              </a:rPr>
              <a:t>Q5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51"/>
          <p:cNvSpPr/>
          <p:nvPr/>
        </p:nvSpPr>
        <p:spPr>
          <a:xfrm>
            <a:off x="2202470" y="8714817"/>
            <a:ext cx="15404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48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2100"/>
              <a:buFont typeface="Gabarito"/>
              <a:buNone/>
            </a:pPr>
            <a:r>
              <a:rPr lang="en-US" sz="2100">
                <a:solidFill>
                  <a:srgbClr val="37474F"/>
                </a:solidFill>
                <a:latin typeface="Gabarito"/>
                <a:ea typeface="Gabarito"/>
                <a:cs typeface="Gabarito"/>
                <a:sym typeface="Gabarito"/>
              </a:rPr>
              <a:t>If 100 users send requests at the same time, why might vLLM be a better choice than a simple local setup?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96" name="Google Shape;149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97" name="Google Shape;1497;p52"/>
          <p:cNvSpPr/>
          <p:nvPr/>
        </p:nvSpPr>
        <p:spPr>
          <a:xfrm>
            <a:off x="1047750" y="914375"/>
            <a:ext cx="45867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50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Practice — after class</a:t>
            </a:r>
            <a:endParaRPr b="1" sz="2250">
              <a:solidFill>
                <a:srgbClr val="FF9900"/>
              </a:solidFill>
              <a:latin typeface="Gabarito"/>
              <a:ea typeface="Gabarito"/>
              <a:cs typeface="Gabarito"/>
              <a:sym typeface="Gabar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t/>
            </a:r>
            <a:endParaRPr b="1" sz="2250">
              <a:solidFill>
                <a:srgbClr val="FF9900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1498" name="Google Shape;1498;p52"/>
          <p:cNvSpPr/>
          <p:nvPr/>
        </p:nvSpPr>
        <p:spPr>
          <a:xfrm>
            <a:off x="1047750" y="1390625"/>
            <a:ext cx="118326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Hands-on Lab - vLLM Setup 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52"/>
          <p:cNvSpPr/>
          <p:nvPr/>
        </p:nvSpPr>
        <p:spPr>
          <a:xfrm>
            <a:off x="1047750" y="2667000"/>
            <a:ext cx="16764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75"/>
              <a:buFont typeface="Gabarito"/>
              <a:buNone/>
            </a:pPr>
            <a:r>
              <a:rPr lang="en-US" sz="2200">
                <a:solidFill>
                  <a:srgbClr val="212121"/>
                </a:solidFill>
                <a:highlight>
                  <a:srgbClr val="FFFFFF"/>
                </a:highlight>
                <a:latin typeface="Gabarito"/>
                <a:ea typeface="Gabarito"/>
                <a:cs typeface="Gabarito"/>
                <a:sym typeface="Gabarito"/>
              </a:rPr>
              <a:t>Get the same model running with vLLM, three different ways.  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52"/>
          <p:cNvSpPr/>
          <p:nvPr/>
        </p:nvSpPr>
        <p:spPr>
          <a:xfrm>
            <a:off x="1047750" y="3352726"/>
            <a:ext cx="5245200" cy="3925200"/>
          </a:xfrm>
          <a:prstGeom prst="roundRect">
            <a:avLst>
              <a:gd fmla="val 3882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52"/>
          <p:cNvSpPr/>
          <p:nvPr/>
        </p:nvSpPr>
        <p:spPr>
          <a:xfrm>
            <a:off x="1059656" y="3364632"/>
            <a:ext cx="5221200" cy="578700"/>
          </a:xfrm>
          <a:prstGeom prst="rect">
            <a:avLst/>
          </a:prstGeom>
          <a:solidFill>
            <a:srgbClr val="035595">
              <a:alpha val="5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2" name="Google Shape;1502;p52"/>
          <p:cNvSpPr/>
          <p:nvPr/>
        </p:nvSpPr>
        <p:spPr>
          <a:xfrm>
            <a:off x="1288256" y="3517032"/>
            <a:ext cx="49206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650"/>
              <a:buFont typeface="Gabarito"/>
              <a:buNone/>
            </a:pPr>
            <a:r>
              <a:rPr b="1" i="0" lang="en-US" sz="1650" u="none" cap="none" strike="noStrike">
                <a:solidFill>
                  <a:srgbClr val="035595"/>
                </a:solidFill>
                <a:latin typeface="Gabarito"/>
                <a:ea typeface="Gabarito"/>
                <a:cs typeface="Gabarito"/>
                <a:sym typeface="Gabarito"/>
              </a:rPr>
              <a:t>1</a:t>
            </a:r>
            <a:r>
              <a:rPr b="1" i="0" lang="en-US" sz="18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· </a:t>
            </a:r>
            <a:r>
              <a:rPr b="1" lang="en-US" sz="1800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CLI </a:t>
            </a:r>
            <a:r>
              <a:rPr b="1" i="0" lang="en-US" sz="18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command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52"/>
          <p:cNvSpPr/>
          <p:nvPr/>
        </p:nvSpPr>
        <p:spPr>
          <a:xfrm>
            <a:off x="1059650" y="3943199"/>
            <a:ext cx="5221200" cy="5711700"/>
          </a:xfrm>
          <a:prstGeom prst="rect">
            <a:avLst/>
          </a:prstGeom>
          <a:solidFill>
            <a:srgbClr val="1E22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4" name="Google Shape;1504;p52"/>
          <p:cNvSpPr/>
          <p:nvPr/>
        </p:nvSpPr>
        <p:spPr>
          <a:xfrm>
            <a:off x="1288107" y="4152677"/>
            <a:ext cx="4907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575"/>
              <a:buFont typeface="JetBrains Mono"/>
              <a:buNone/>
            </a:pPr>
            <a:r>
              <a:rPr b="0" i="0" lang="en-US" sz="1575" u="none" cap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install &amp; serve</a:t>
            </a:r>
            <a:endParaRPr b="0" i="0" sz="15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5" name="Google Shape;1505;p52"/>
          <p:cNvSpPr/>
          <p:nvPr/>
        </p:nvSpPr>
        <p:spPr>
          <a:xfrm>
            <a:off x="1288107" y="4502609"/>
            <a:ext cx="4907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rgbClr val="28C840"/>
              </a:buClr>
              <a:buSzPts val="1575"/>
              <a:buFont typeface="JetBrains Mono"/>
              <a:buNone/>
            </a:pPr>
            <a:r>
              <a:rPr b="0" i="0" lang="en-US" sz="1575" u="none" cap="none" strike="noStrike">
                <a:solidFill>
                  <a:srgbClr val="28C84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 </a:t>
            </a:r>
            <a:r>
              <a:rPr b="0" i="0" lang="en-US" sz="1575" u="none" cap="none" strike="noStrike">
                <a:solidFill>
                  <a:srgbClr val="E6E9E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pip install vllm</a:t>
            </a:r>
            <a:endParaRPr b="0" i="0" sz="15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6" name="Google Shape;1506;p52"/>
          <p:cNvSpPr/>
          <p:nvPr/>
        </p:nvSpPr>
        <p:spPr>
          <a:xfrm>
            <a:off x="1288107" y="4852541"/>
            <a:ext cx="4907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rgbClr val="28C840"/>
              </a:buClr>
              <a:buSzPts val="1575"/>
              <a:buFont typeface="JetBrains Mono"/>
              <a:buNone/>
            </a:pPr>
            <a:r>
              <a:rPr b="0" i="0" lang="en-US" sz="1575" u="none" cap="none" strike="noStrike">
                <a:solidFill>
                  <a:srgbClr val="28C84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 </a:t>
            </a:r>
            <a:r>
              <a:rPr b="0" i="0" lang="en-US" sz="1575" u="none" cap="none" strike="noStrike">
                <a:solidFill>
                  <a:srgbClr val="E6E9E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vllm serve \</a:t>
            </a:r>
            <a:endParaRPr b="0" i="0" sz="15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7" name="Google Shape;1507;p52"/>
          <p:cNvSpPr/>
          <p:nvPr/>
        </p:nvSpPr>
        <p:spPr>
          <a:xfrm>
            <a:off x="1459557" y="5202473"/>
            <a:ext cx="47358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rgbClr val="E6E9EC"/>
              </a:buClr>
              <a:buSzPts val="1575"/>
              <a:buFont typeface="JetBrains Mono"/>
              <a:buNone/>
            </a:pPr>
            <a:r>
              <a:rPr b="0" i="0" lang="en-US" sz="1575" u="none" cap="none" strike="noStrike">
                <a:solidFill>
                  <a:srgbClr val="E6E9E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Qwen/Qwen2.5-1.5B-Instruct \</a:t>
            </a:r>
            <a:endParaRPr b="0" i="0" sz="15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8" name="Google Shape;1508;p52"/>
          <p:cNvSpPr/>
          <p:nvPr/>
        </p:nvSpPr>
        <p:spPr>
          <a:xfrm>
            <a:off x="1459557" y="5552405"/>
            <a:ext cx="47358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rgbClr val="E6E9EC"/>
              </a:buClr>
              <a:buSzPts val="1575"/>
              <a:buFont typeface="JetBrains Mono"/>
              <a:buNone/>
            </a:pPr>
            <a:r>
              <a:rPr b="0" i="0" lang="en-US" sz="1575" u="none" cap="none" strike="noStrike">
                <a:solidFill>
                  <a:srgbClr val="E6E9E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--port 8000</a:t>
            </a:r>
            <a:endParaRPr b="0" i="0" sz="15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9" name="Google Shape;1509;p52"/>
          <p:cNvSpPr/>
          <p:nvPr/>
        </p:nvSpPr>
        <p:spPr>
          <a:xfrm>
            <a:off x="6521275" y="3352724"/>
            <a:ext cx="5245200" cy="6302100"/>
          </a:xfrm>
          <a:prstGeom prst="roundRect">
            <a:avLst>
              <a:gd fmla="val 3882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52"/>
          <p:cNvSpPr/>
          <p:nvPr/>
        </p:nvSpPr>
        <p:spPr>
          <a:xfrm>
            <a:off x="6533183" y="3364632"/>
            <a:ext cx="5221500" cy="578700"/>
          </a:xfrm>
          <a:prstGeom prst="rect">
            <a:avLst/>
          </a:prstGeom>
          <a:solidFill>
            <a:srgbClr val="FF9900">
              <a:alpha val="5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52"/>
          <p:cNvSpPr/>
          <p:nvPr/>
        </p:nvSpPr>
        <p:spPr>
          <a:xfrm>
            <a:off x="6761783" y="3517032"/>
            <a:ext cx="49209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6B00"/>
              </a:buClr>
              <a:buSzPts val="1650"/>
              <a:buFont typeface="Gabarito"/>
              <a:buNone/>
            </a:pPr>
            <a:r>
              <a:rPr b="1" i="0" lang="en-US" sz="1650" u="none" cap="none" strike="noStrike">
                <a:solidFill>
                  <a:srgbClr val="B36B00"/>
                </a:solidFill>
                <a:latin typeface="Gabarito"/>
                <a:ea typeface="Gabarito"/>
                <a:cs typeface="Gabarito"/>
                <a:sym typeface="Gabarito"/>
              </a:rPr>
              <a:t>2</a:t>
            </a:r>
            <a:r>
              <a:rPr b="1" i="0" lang="en-US" sz="18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· Docker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2" name="Google Shape;1512;p52"/>
          <p:cNvSpPr/>
          <p:nvPr/>
        </p:nvSpPr>
        <p:spPr>
          <a:xfrm>
            <a:off x="6533175" y="3943199"/>
            <a:ext cx="5221500" cy="5711700"/>
          </a:xfrm>
          <a:prstGeom prst="rect">
            <a:avLst/>
          </a:prstGeom>
          <a:solidFill>
            <a:srgbClr val="1E22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52"/>
          <p:cNvSpPr/>
          <p:nvPr/>
        </p:nvSpPr>
        <p:spPr>
          <a:xfrm>
            <a:off x="6761634" y="4152677"/>
            <a:ext cx="4907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575"/>
              <a:buFont typeface="JetBrains Mono"/>
              <a:buNone/>
            </a:pPr>
            <a:r>
              <a:rPr b="0" i="0" lang="en-US" sz="1575" u="none" cap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one container, no local install</a:t>
            </a:r>
            <a:endParaRPr b="0" i="0" sz="15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p52"/>
          <p:cNvSpPr/>
          <p:nvPr/>
        </p:nvSpPr>
        <p:spPr>
          <a:xfrm>
            <a:off x="6761634" y="4502609"/>
            <a:ext cx="4907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rgbClr val="28C840"/>
              </a:buClr>
              <a:buSzPts val="1575"/>
              <a:buFont typeface="JetBrains Mono"/>
              <a:buNone/>
            </a:pPr>
            <a:r>
              <a:rPr b="0" i="0" lang="en-US" sz="1575" u="none" cap="none" strike="noStrike">
                <a:solidFill>
                  <a:srgbClr val="28C84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 </a:t>
            </a:r>
            <a:r>
              <a:rPr b="0" i="0" lang="en-US" sz="1575" u="none" cap="none" strike="noStrike">
                <a:solidFill>
                  <a:srgbClr val="E6E9E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docker run --gpus all \</a:t>
            </a:r>
            <a:endParaRPr b="0" i="0" sz="15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5" name="Google Shape;1515;p52"/>
          <p:cNvSpPr/>
          <p:nvPr/>
        </p:nvSpPr>
        <p:spPr>
          <a:xfrm>
            <a:off x="6933084" y="4852541"/>
            <a:ext cx="47361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rgbClr val="E6E9EC"/>
              </a:buClr>
              <a:buSzPts val="1575"/>
              <a:buFont typeface="JetBrains Mono"/>
              <a:buNone/>
            </a:pPr>
            <a:r>
              <a:rPr b="0" i="0" lang="en-US" sz="1575" u="none" cap="none" strike="noStrike">
                <a:solidFill>
                  <a:srgbClr val="E6E9E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-p 8000:8000 \</a:t>
            </a:r>
            <a:endParaRPr b="0" i="0" sz="15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6" name="Google Shape;1516;p52"/>
          <p:cNvSpPr/>
          <p:nvPr/>
        </p:nvSpPr>
        <p:spPr>
          <a:xfrm>
            <a:off x="6933084" y="5202473"/>
            <a:ext cx="47361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rgbClr val="E6E9EC"/>
              </a:buClr>
              <a:buSzPts val="1575"/>
              <a:buFont typeface="JetBrains Mono"/>
              <a:buNone/>
            </a:pPr>
            <a:r>
              <a:rPr b="0" i="0" lang="en-US" sz="1575" u="none" cap="none" strike="noStrike">
                <a:solidFill>
                  <a:srgbClr val="E6E9E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vllm/vllm-openai:latest \</a:t>
            </a:r>
            <a:endParaRPr b="0" i="0" sz="15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p52"/>
          <p:cNvSpPr/>
          <p:nvPr/>
        </p:nvSpPr>
        <p:spPr>
          <a:xfrm>
            <a:off x="6933084" y="5552405"/>
            <a:ext cx="47361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rgbClr val="E6E9EC"/>
              </a:buClr>
              <a:buSzPts val="1575"/>
              <a:buFont typeface="JetBrains Mono"/>
              <a:buNone/>
            </a:pPr>
            <a:r>
              <a:rPr b="0" i="0" lang="en-US" sz="1575" u="none" cap="none" strike="noStrike">
                <a:solidFill>
                  <a:srgbClr val="E6E9E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--model Qwen/Qwen2.5-1.5B-Instruct</a:t>
            </a:r>
            <a:endParaRPr b="0" i="0" sz="15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8" name="Google Shape;1518;p52"/>
          <p:cNvSpPr/>
          <p:nvPr/>
        </p:nvSpPr>
        <p:spPr>
          <a:xfrm>
            <a:off x="11994989" y="3352726"/>
            <a:ext cx="5245200" cy="3925200"/>
          </a:xfrm>
          <a:prstGeom prst="roundRect">
            <a:avLst>
              <a:gd fmla="val 3882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9" name="Google Shape;1519;p52"/>
          <p:cNvSpPr/>
          <p:nvPr/>
        </p:nvSpPr>
        <p:spPr>
          <a:xfrm>
            <a:off x="12006895" y="3364632"/>
            <a:ext cx="5221500" cy="578700"/>
          </a:xfrm>
          <a:prstGeom prst="rect">
            <a:avLst/>
          </a:prstGeom>
          <a:solidFill>
            <a:srgbClr val="6E7D4C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0" name="Google Shape;1520;p52"/>
          <p:cNvSpPr/>
          <p:nvPr/>
        </p:nvSpPr>
        <p:spPr>
          <a:xfrm>
            <a:off x="12235495" y="3517032"/>
            <a:ext cx="49209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A33"/>
              </a:buClr>
              <a:buSzPts val="1650"/>
              <a:buFont typeface="Gabarito"/>
              <a:buNone/>
            </a:pPr>
            <a:r>
              <a:rPr b="1" i="0" lang="en-US" sz="1650" u="none" cap="none" strike="noStrike">
                <a:solidFill>
                  <a:srgbClr val="4C5A33"/>
                </a:solidFill>
                <a:latin typeface="Gabarito"/>
                <a:ea typeface="Gabarito"/>
                <a:cs typeface="Gabarito"/>
                <a:sym typeface="Gabarito"/>
              </a:rPr>
              <a:t>3</a:t>
            </a:r>
            <a:r>
              <a:rPr b="1" i="0" lang="en-US" sz="18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· Docker Compose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52"/>
          <p:cNvSpPr/>
          <p:nvPr/>
        </p:nvSpPr>
        <p:spPr>
          <a:xfrm>
            <a:off x="12006900" y="3943199"/>
            <a:ext cx="5221500" cy="5711700"/>
          </a:xfrm>
          <a:prstGeom prst="rect">
            <a:avLst/>
          </a:prstGeom>
          <a:solidFill>
            <a:srgbClr val="1E22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p52"/>
          <p:cNvSpPr/>
          <p:nvPr/>
        </p:nvSpPr>
        <p:spPr>
          <a:xfrm>
            <a:off x="12235346" y="4152677"/>
            <a:ext cx="49074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docker-compose.yml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3" name="Google Shape;1523;p52"/>
          <p:cNvSpPr/>
          <p:nvPr/>
        </p:nvSpPr>
        <p:spPr>
          <a:xfrm>
            <a:off x="12235350" y="4467049"/>
            <a:ext cx="4907400" cy="4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E6E9E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services:</a:t>
            </a:r>
            <a:endParaRPr sz="1500">
              <a:solidFill>
                <a:srgbClr val="E6E9E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E6E9E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vllm:</a:t>
            </a:r>
            <a:endParaRPr sz="1500">
              <a:solidFill>
                <a:srgbClr val="E6E9E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E6E9E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image: vllm/vllm-openai:latest</a:t>
            </a:r>
            <a:endParaRPr sz="1500">
              <a:solidFill>
                <a:srgbClr val="E6E9E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E6E9E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ports:</a:t>
            </a:r>
            <a:endParaRPr sz="1500">
              <a:solidFill>
                <a:srgbClr val="E6E9E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E6E9E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- "8000:8000"</a:t>
            </a:r>
            <a:endParaRPr sz="1500">
              <a:solidFill>
                <a:srgbClr val="E6E9E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E6E9E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command:</a:t>
            </a:r>
            <a:endParaRPr sz="1500">
              <a:solidFill>
                <a:srgbClr val="E6E9E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E6E9E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- --model</a:t>
            </a:r>
            <a:endParaRPr sz="1500">
              <a:solidFill>
                <a:srgbClr val="E6E9E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E6E9E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- Qwen/Qwen2.5-1.5B-Instruct</a:t>
            </a:r>
            <a:endParaRPr sz="1500">
              <a:solidFill>
                <a:srgbClr val="E6E9E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E6E9E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deploy:</a:t>
            </a:r>
            <a:endParaRPr sz="1500">
              <a:solidFill>
                <a:srgbClr val="E6E9E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E6E9E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resources:</a:t>
            </a:r>
            <a:endParaRPr sz="1500">
              <a:solidFill>
                <a:srgbClr val="E6E9E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E6E9E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reservations:</a:t>
            </a:r>
            <a:endParaRPr sz="1500">
              <a:solidFill>
                <a:srgbClr val="E6E9E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E6E9E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devices:</a:t>
            </a:r>
            <a:endParaRPr sz="1500">
              <a:solidFill>
                <a:srgbClr val="E6E9E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E6E9E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- driver: nvidia</a:t>
            </a:r>
            <a:endParaRPr sz="1500">
              <a:solidFill>
                <a:srgbClr val="E6E9E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E6E9E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count: all</a:t>
            </a:r>
            <a:endParaRPr sz="1500">
              <a:solidFill>
                <a:srgbClr val="E6E9E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E6E9E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capabilities: [gpu]</a:t>
            </a:r>
            <a:endParaRPr sz="1500">
              <a:solidFill>
                <a:srgbClr val="E6E9E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524" name="Google Shape;1524;p52"/>
          <p:cNvSpPr/>
          <p:nvPr/>
        </p:nvSpPr>
        <p:spPr>
          <a:xfrm>
            <a:off x="12235346" y="8744559"/>
            <a:ext cx="49074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then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5" name="Google Shape;1525;p52"/>
          <p:cNvSpPr/>
          <p:nvPr/>
        </p:nvSpPr>
        <p:spPr>
          <a:xfrm>
            <a:off x="12235346" y="9058772"/>
            <a:ext cx="49074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8C840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28C84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 </a:t>
            </a:r>
            <a:r>
              <a:rPr b="0" i="0" lang="en-US" sz="1500" u="none" cap="none" strike="noStrike">
                <a:solidFill>
                  <a:srgbClr val="E6E9E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docker compose up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31" name="Google Shape;153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174" y="952500"/>
            <a:ext cx="1066726" cy="1303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32" name="Google Shape;1532;p53"/>
          <p:cNvSpPr/>
          <p:nvPr/>
        </p:nvSpPr>
        <p:spPr>
          <a:xfrm>
            <a:off x="1047750" y="914363"/>
            <a:ext cx="2157301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50"/>
              <a:buFont typeface="Gabarito"/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Gabarito"/>
                <a:ea typeface="Gabarito"/>
                <a:cs typeface="Gabarito"/>
                <a:sym typeface="Gabarito"/>
              </a:rPr>
              <a:t>Further reading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53"/>
          <p:cNvSpPr/>
          <p:nvPr/>
        </p:nvSpPr>
        <p:spPr>
          <a:xfrm>
            <a:off x="1047750" y="1390613"/>
            <a:ext cx="4500414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i="0" lang="en-US" sz="66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References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4" name="Google Shape;1534;p53"/>
          <p:cNvSpPr/>
          <p:nvPr/>
        </p:nvSpPr>
        <p:spPr>
          <a:xfrm>
            <a:off x="1047750" y="3048000"/>
            <a:ext cx="7962863" cy="1564184"/>
          </a:xfrm>
          <a:prstGeom prst="roundRect">
            <a:avLst>
              <a:gd fmla="val 9743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53"/>
          <p:cNvSpPr/>
          <p:nvPr/>
        </p:nvSpPr>
        <p:spPr>
          <a:xfrm>
            <a:off x="1364382" y="3307519"/>
            <a:ext cx="8062559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025"/>
              <a:buFont typeface="Gabarito"/>
              <a:buNone/>
            </a:pPr>
            <a:r>
              <a:rPr b="1" i="0" lang="en-US" sz="202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Ollama documentation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p53"/>
          <p:cNvSpPr/>
          <p:nvPr/>
        </p:nvSpPr>
        <p:spPr>
          <a:xfrm>
            <a:off x="1364382" y="3693170"/>
            <a:ext cx="8062559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800"/>
              <a:buFont typeface="JetBrains Mono"/>
              <a:buNone/>
            </a:pPr>
            <a:r>
              <a:rPr b="0" i="0" lang="en-US" sz="1800" u="sng" cap="none" strike="noStrike">
                <a:solidFill>
                  <a:schemeClr val="hlink"/>
                </a:solidFill>
                <a:latin typeface="JetBrains Mono"/>
                <a:ea typeface="JetBrains Mono"/>
                <a:cs typeface="JetBrains Mono"/>
                <a:sym typeface="JetBrains Mono"/>
                <a:hlinkClick r:id="rId4"/>
              </a:rPr>
              <a:t>docs.ollama.com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</a:t>
            </a:r>
            <a:r>
              <a:rPr lang="en-US" sz="1800" u="sng">
                <a:solidFill>
                  <a:schemeClr val="hlink"/>
                </a:solidFill>
                <a:latin typeface="JetBrains Mono"/>
                <a:ea typeface="JetBrains Mono"/>
                <a:cs typeface="JetBrains Mono"/>
                <a:sym typeface="JetBrains Mono"/>
                <a:hlinkClick r:id="rId5"/>
              </a:rPr>
              <a:t>GPU memory requirements</a:t>
            </a:r>
            <a:endParaRPr i="0" sz="18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537" name="Google Shape;1537;p53"/>
          <p:cNvSpPr/>
          <p:nvPr/>
        </p:nvSpPr>
        <p:spPr>
          <a:xfrm>
            <a:off x="1364382" y="4078821"/>
            <a:ext cx="8062559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CLI reference, Modelfile spec, API docs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53"/>
          <p:cNvSpPr/>
          <p:nvPr/>
        </p:nvSpPr>
        <p:spPr>
          <a:xfrm>
            <a:off x="9277201" y="3048000"/>
            <a:ext cx="7963049" cy="1564184"/>
          </a:xfrm>
          <a:prstGeom prst="roundRect">
            <a:avLst>
              <a:gd fmla="val 9743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Google Shape;1539;p53"/>
          <p:cNvSpPr/>
          <p:nvPr/>
        </p:nvSpPr>
        <p:spPr>
          <a:xfrm>
            <a:off x="9593833" y="3307519"/>
            <a:ext cx="8062764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025"/>
              <a:buFont typeface="Gabarito"/>
              <a:buNone/>
            </a:pPr>
            <a:r>
              <a:rPr b="1" i="0" lang="en-US" sz="202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vLLM documentation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53"/>
          <p:cNvSpPr/>
          <p:nvPr/>
        </p:nvSpPr>
        <p:spPr>
          <a:xfrm>
            <a:off x="9593833" y="3693170"/>
            <a:ext cx="8062764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800"/>
              <a:buFont typeface="JetBrains Mono"/>
              <a:buNone/>
            </a:pPr>
            <a:r>
              <a:rPr b="0" i="0" lang="en-US" sz="1800" u="sng" cap="none" strike="noStrike">
                <a:solidFill>
                  <a:schemeClr val="hlink"/>
                </a:solidFill>
                <a:latin typeface="JetBrains Mono"/>
                <a:ea typeface="JetBrains Mono"/>
                <a:cs typeface="JetBrains Mono"/>
                <a:sym typeface="JetBrains Mono"/>
                <a:hlinkClick r:id="rId6"/>
              </a:rPr>
              <a:t>docs.vllm.ai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53"/>
          <p:cNvSpPr/>
          <p:nvPr/>
        </p:nvSpPr>
        <p:spPr>
          <a:xfrm>
            <a:off x="9593833" y="4078821"/>
            <a:ext cx="8062764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Serving guide, engine args, metrics reference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p53"/>
          <p:cNvSpPr/>
          <p:nvPr/>
        </p:nvSpPr>
        <p:spPr>
          <a:xfrm>
            <a:off x="1047750" y="4821659"/>
            <a:ext cx="7962863" cy="1564184"/>
          </a:xfrm>
          <a:prstGeom prst="roundRect">
            <a:avLst>
              <a:gd fmla="val 9743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3" name="Google Shape;1543;p53"/>
          <p:cNvSpPr/>
          <p:nvPr/>
        </p:nvSpPr>
        <p:spPr>
          <a:xfrm>
            <a:off x="1364382" y="5081178"/>
            <a:ext cx="7549487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025"/>
              <a:buFont typeface="Gabarito"/>
              <a:buNone/>
            </a:pPr>
            <a:r>
              <a:rPr b="1" i="0" lang="en-US" sz="202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"Efficient Memory Management for LLM Serving with PagedAttention"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53"/>
          <p:cNvSpPr/>
          <p:nvPr/>
        </p:nvSpPr>
        <p:spPr>
          <a:xfrm>
            <a:off x="1364382" y="5776392"/>
            <a:ext cx="8062559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800"/>
              <a:buFont typeface="JetBrains Mono"/>
              <a:buNone/>
            </a:pPr>
            <a:r>
              <a:rPr b="0" i="0" lang="en-US" sz="1800" u="sng" cap="none" strike="noStrike">
                <a:solidFill>
                  <a:schemeClr val="hlink"/>
                </a:solidFill>
                <a:latin typeface="JetBrains Mono"/>
                <a:ea typeface="JetBrains Mono"/>
                <a:cs typeface="JetBrains Mono"/>
                <a:sym typeface="JetBrains Mono"/>
                <a:hlinkClick r:id="rId7"/>
              </a:rPr>
              <a:t>Kwon et al., SOSP 2023 — arxiv.org/abs/2309.06180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53"/>
          <p:cNvSpPr/>
          <p:nvPr/>
        </p:nvSpPr>
        <p:spPr>
          <a:xfrm>
            <a:off x="9277201" y="4821659"/>
            <a:ext cx="7963049" cy="1564184"/>
          </a:xfrm>
          <a:prstGeom prst="roundRect">
            <a:avLst>
              <a:gd fmla="val 9743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6" name="Google Shape;1546;p53"/>
          <p:cNvSpPr/>
          <p:nvPr/>
        </p:nvSpPr>
        <p:spPr>
          <a:xfrm>
            <a:off x="9593833" y="5081178"/>
            <a:ext cx="8062764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025"/>
              <a:buFont typeface="Gabarito"/>
              <a:buNone/>
            </a:pPr>
            <a:r>
              <a:rPr b="1" i="0" lang="en-US" sz="202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Hugging Face Hub docs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53"/>
          <p:cNvSpPr/>
          <p:nvPr/>
        </p:nvSpPr>
        <p:spPr>
          <a:xfrm>
            <a:off x="9593833" y="5466829"/>
            <a:ext cx="8062764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800"/>
              <a:buFont typeface="JetBrains Mono"/>
              <a:buNone/>
            </a:pPr>
            <a:r>
              <a:rPr b="0" i="0" lang="en-US" sz="1800" u="sng" cap="none" strike="noStrike">
                <a:solidFill>
                  <a:schemeClr val="hlink"/>
                </a:solidFill>
                <a:latin typeface="JetBrains Mono"/>
                <a:ea typeface="JetBrains Mono"/>
                <a:cs typeface="JetBrains Mono"/>
                <a:sym typeface="JetBrains Mono"/>
                <a:hlinkClick r:id="rId8"/>
              </a:rPr>
              <a:t>huggingface.co/docs/hub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p53"/>
          <p:cNvSpPr/>
          <p:nvPr/>
        </p:nvSpPr>
        <p:spPr>
          <a:xfrm>
            <a:off x="9593833" y="5852480"/>
            <a:ext cx="8062764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Model cards, licenses, safetensors format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53"/>
          <p:cNvSpPr/>
          <p:nvPr/>
        </p:nvSpPr>
        <p:spPr>
          <a:xfrm>
            <a:off x="1047750" y="6595318"/>
            <a:ext cx="7962863" cy="1564184"/>
          </a:xfrm>
          <a:prstGeom prst="roundRect">
            <a:avLst>
              <a:gd fmla="val 9743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0" name="Google Shape;1550;p53"/>
          <p:cNvSpPr/>
          <p:nvPr/>
        </p:nvSpPr>
        <p:spPr>
          <a:xfrm>
            <a:off x="1364382" y="6854837"/>
            <a:ext cx="8062559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025"/>
              <a:buFont typeface="Gabarito"/>
              <a:buNone/>
            </a:pPr>
            <a:r>
              <a:rPr b="1" i="0" lang="en-US" sz="202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GGUF specification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53"/>
          <p:cNvSpPr/>
          <p:nvPr/>
        </p:nvSpPr>
        <p:spPr>
          <a:xfrm>
            <a:off x="1364382" y="7240488"/>
            <a:ext cx="8062559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800"/>
              <a:buFont typeface="JetBrains Mono"/>
              <a:buNone/>
            </a:pPr>
            <a:r>
              <a:rPr lang="en-US" sz="1800" u="sng">
                <a:solidFill>
                  <a:schemeClr val="hlink"/>
                </a:solidFill>
                <a:latin typeface="JetBrains Mono"/>
                <a:ea typeface="JetBrains Mono"/>
                <a:cs typeface="JetBrains Mono"/>
                <a:sym typeface="JetBrains Mono"/>
                <a:hlinkClick r:id="rId9"/>
              </a:rPr>
              <a:t>github.com/ggml-org/ggml</a:t>
            </a:r>
            <a:r>
              <a:rPr b="0" i="0" lang="en-US" sz="1800" u="none" cap="none" strike="noStrike">
                <a:solidFill>
                  <a:srgbClr val="03559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800" u="none" cap="none" strike="noStrike">
                <a:solidFill>
                  <a:srgbClr val="03559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— docs/gguf.md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p53"/>
          <p:cNvSpPr/>
          <p:nvPr/>
        </p:nvSpPr>
        <p:spPr>
          <a:xfrm>
            <a:off x="9277201" y="6595318"/>
            <a:ext cx="7963049" cy="1564184"/>
          </a:xfrm>
          <a:prstGeom prst="roundRect">
            <a:avLst>
              <a:gd fmla="val 9743" name="adj"/>
            </a:avLst>
          </a:prstGeom>
          <a:noFill/>
          <a:ln cap="flat" cmpd="sng" w="11900">
            <a:solidFill>
              <a:srgbClr val="DAD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53"/>
          <p:cNvSpPr/>
          <p:nvPr/>
        </p:nvSpPr>
        <p:spPr>
          <a:xfrm>
            <a:off x="9593833" y="6854837"/>
            <a:ext cx="8062764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025"/>
              <a:buFont typeface="Gabarito"/>
              <a:buNone/>
            </a:pPr>
            <a:r>
              <a:rPr b="1" i="0" lang="en-US" sz="2025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OpenAI API reference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4" name="Google Shape;1554;p53"/>
          <p:cNvSpPr/>
          <p:nvPr/>
        </p:nvSpPr>
        <p:spPr>
          <a:xfrm>
            <a:off x="9593833" y="7240488"/>
            <a:ext cx="8062764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5595"/>
              </a:buClr>
              <a:buSzPts val="1800"/>
              <a:buFont typeface="JetBrains Mono"/>
              <a:buNone/>
            </a:pPr>
            <a:r>
              <a:rPr b="0" i="0" lang="en-US" sz="1800" u="sng" cap="none" strike="noStrike">
                <a:solidFill>
                  <a:schemeClr val="hlink"/>
                </a:solidFill>
                <a:latin typeface="JetBrains Mono"/>
                <a:ea typeface="JetBrains Mono"/>
                <a:cs typeface="JetBrains Mono"/>
                <a:sym typeface="JetBrains Mono"/>
                <a:hlinkClick r:id="rId10"/>
              </a:rPr>
              <a:t>platform.openai.com/docs/api-reference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p53"/>
          <p:cNvSpPr/>
          <p:nvPr/>
        </p:nvSpPr>
        <p:spPr>
          <a:xfrm>
            <a:off x="9593833" y="7626139"/>
            <a:ext cx="8062764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46A"/>
              </a:buClr>
              <a:buSzPts val="1800"/>
              <a:buFont typeface="Gabarito"/>
              <a:buNone/>
            </a:pPr>
            <a:r>
              <a:rPr b="0" i="0" lang="en-US" sz="180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The interface everything else imitates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Google Shape;1556;p53"/>
          <p:cNvSpPr/>
          <p:nvPr/>
        </p:nvSpPr>
        <p:spPr>
          <a:xfrm>
            <a:off x="1047750" y="9029588"/>
            <a:ext cx="11809902" cy="359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2100"/>
              <a:buFont typeface="Gabarito"/>
              <a:buNone/>
            </a:pPr>
            <a:r>
              <a:rPr b="1" i="0" lang="en-US" sz="2100" u="none" cap="none" strike="noStrike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Thank you — questions welcome. </a:t>
            </a:r>
            <a:r>
              <a:rPr b="0" i="0" lang="en-US" sz="2100" u="none" cap="none" strike="noStrike">
                <a:solidFill>
                  <a:srgbClr val="78746A"/>
                </a:solidFill>
                <a:latin typeface="Gabarito"/>
                <a:ea typeface="Gabarito"/>
                <a:cs typeface="Gabarito"/>
                <a:sym typeface="Gabarito"/>
              </a:rPr>
              <a:t>Prepared by Instructor Team · Korea Software HRD Center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54"/>
          <p:cNvSpPr/>
          <p:nvPr/>
        </p:nvSpPr>
        <p:spPr>
          <a:xfrm>
            <a:off x="6204150" y="3845850"/>
            <a:ext cx="5879700" cy="15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4D71"/>
              </a:buClr>
              <a:buSzPts val="6600"/>
              <a:buFont typeface="Gabarito"/>
              <a:buNone/>
            </a:pPr>
            <a:r>
              <a:rPr b="1" lang="en-US" sz="10000">
                <a:solidFill>
                  <a:srgbClr val="274D71"/>
                </a:solidFill>
                <a:latin typeface="Gabarito"/>
                <a:ea typeface="Gabarito"/>
                <a:cs typeface="Gabarito"/>
                <a:sym typeface="Gabarito"/>
              </a:rPr>
              <a:t>Thank you</a:t>
            </a:r>
            <a:endParaRPr b="0" i="0" sz="1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54"/>
          <p:cNvSpPr/>
          <p:nvPr/>
        </p:nvSpPr>
        <p:spPr>
          <a:xfrm>
            <a:off x="6927300" y="5410050"/>
            <a:ext cx="4433400" cy="1031100"/>
          </a:xfrm>
          <a:prstGeom prst="roundRect">
            <a:avLst>
              <a:gd fmla="val 9743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rgbClr val="FF0000"/>
                </a:solidFill>
                <a:latin typeface="Gabarito"/>
                <a:ea typeface="Gabarito"/>
                <a:cs typeface="Gabarito"/>
                <a:sym typeface="Gabarito"/>
              </a:rPr>
              <a:t>Practice makes perfect</a:t>
            </a:r>
            <a:r>
              <a:rPr lang="en-US" sz="100" u="sng">
                <a:solidFill>
                  <a:srgbClr val="FF0000"/>
                </a:solidFill>
              </a:rPr>
              <a:t> </a:t>
            </a:r>
            <a:endParaRPr sz="100" u="sng">
              <a:solidFill>
                <a:srgbClr val="FF0000"/>
              </a:solidFill>
            </a:endParaRPr>
          </a:p>
        </p:txBody>
      </p:sp>
      <p:pic>
        <p:nvPicPr>
          <p:cNvPr descr="Ollama" id="1564" name="Google Shape;1564;p54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13855927" y="4767172"/>
            <a:ext cx="905950" cy="1281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5" name="Google Shape;1565;p54"/>
          <p:cNvPicPr preferRelativeResize="0"/>
          <p:nvPr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14117403" y="6282048"/>
            <a:ext cx="3363050" cy="336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6" name="Google Shape;1566;p54"/>
          <p:cNvPicPr preferRelativeResize="0"/>
          <p:nvPr/>
        </p:nvPicPr>
        <p:blipFill rotWithShape="1">
          <a:blip r:embed="rId5">
            <a:alphaModFix amt="20000"/>
          </a:blip>
          <a:srcRect b="17338" l="12791" r="12627" t="15435"/>
          <a:stretch/>
        </p:blipFill>
        <p:spPr>
          <a:xfrm>
            <a:off x="12434471" y="6542322"/>
            <a:ext cx="1421458" cy="12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