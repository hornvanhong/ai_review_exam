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embeddedFontLst>
    <p:embeddedFont>
      <p:font typeface="Nunito SemiBold"/>
      <p:regular r:id="rId58"/>
      <p:bold r:id="rId59"/>
      <p:italic r:id="rId60"/>
      <p:boldItalic r:id="rId61"/>
    </p:embeddedFont>
    <p:embeddedFont>
      <p:font typeface="Nunito"/>
      <p:regular r:id="rId62"/>
      <p:bold r:id="rId63"/>
      <p:italic r:id="rId64"/>
      <p:boldItalic r:id="rId65"/>
    </p:embeddedFont>
    <p:embeddedFont>
      <p:font typeface="Nunito Medium"/>
      <p:regular r:id="rId66"/>
      <p:bold r:id="rId67"/>
      <p:italic r:id="rId68"/>
      <p:boldItalic r:id="rId69"/>
    </p:embeddedFont>
    <p:embeddedFont>
      <p:font typeface="Comfortaa"/>
      <p:regular r:id="rId70"/>
      <p:bold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97">
          <p15:clr>
            <a:srgbClr val="747775"/>
          </p15:clr>
        </p15:guide>
        <p15:guide id="2" pos="406">
          <p15:clr>
            <a:srgbClr val="747775"/>
          </p15:clr>
        </p15:guide>
        <p15:guide id="3" orient="horz" pos="691">
          <p15:clr>
            <a:srgbClr val="747775"/>
          </p15:clr>
        </p15:guide>
        <p15:guide id="4" pos="272">
          <p15:clr>
            <a:srgbClr val="747775"/>
          </p15:clr>
        </p15:guide>
        <p15:guide id="5" orient="horz" pos="907">
          <p15:clr>
            <a:srgbClr val="747775"/>
          </p15:clr>
        </p15:guide>
        <p15:guide id="6" pos="694">
          <p15:clr>
            <a:srgbClr val="747775"/>
          </p15:clr>
        </p15:guide>
        <p15:guide id="7" pos="483">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0E1801-D99D-4A61-A178-4185A3932480}">
  <a:tblStyle styleId="{230E1801-D99D-4A61-A178-4185A393248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97" orient="horz"/>
        <p:guide pos="406"/>
        <p:guide pos="691" orient="horz"/>
        <p:guide pos="272"/>
        <p:guide pos="907" orient="horz"/>
        <p:guide pos="694"/>
        <p:guide pos="483"/>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Comfortaa-bold.fntdata"/><Relationship Id="rId70" Type="http://schemas.openxmlformats.org/officeDocument/2006/relationships/font" Target="fonts/Comfortaa-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Nunito-regular.fntdata"/><Relationship Id="rId61" Type="http://schemas.openxmlformats.org/officeDocument/2006/relationships/font" Target="fonts/NunitoSemiBold-boldItalic.fntdata"/><Relationship Id="rId20" Type="http://schemas.openxmlformats.org/officeDocument/2006/relationships/slide" Target="slides/slide14.xml"/><Relationship Id="rId64" Type="http://schemas.openxmlformats.org/officeDocument/2006/relationships/font" Target="fonts/Nunito-italic.fntdata"/><Relationship Id="rId63" Type="http://schemas.openxmlformats.org/officeDocument/2006/relationships/font" Target="fonts/Nunito-bold.fntdata"/><Relationship Id="rId22" Type="http://schemas.openxmlformats.org/officeDocument/2006/relationships/slide" Target="slides/slide16.xml"/><Relationship Id="rId66" Type="http://schemas.openxmlformats.org/officeDocument/2006/relationships/font" Target="fonts/NunitoMedium-regular.fntdata"/><Relationship Id="rId21" Type="http://schemas.openxmlformats.org/officeDocument/2006/relationships/slide" Target="slides/slide15.xml"/><Relationship Id="rId65" Type="http://schemas.openxmlformats.org/officeDocument/2006/relationships/font" Target="fonts/Nunito-boldItalic.fntdata"/><Relationship Id="rId24" Type="http://schemas.openxmlformats.org/officeDocument/2006/relationships/slide" Target="slides/slide18.xml"/><Relationship Id="rId68" Type="http://schemas.openxmlformats.org/officeDocument/2006/relationships/font" Target="fonts/NunitoMedium-italic.fntdata"/><Relationship Id="rId23" Type="http://schemas.openxmlformats.org/officeDocument/2006/relationships/slide" Target="slides/slide17.xml"/><Relationship Id="rId67" Type="http://schemas.openxmlformats.org/officeDocument/2006/relationships/font" Target="fonts/NunitoMedium-bold.fntdata"/><Relationship Id="rId60" Type="http://schemas.openxmlformats.org/officeDocument/2006/relationships/font" Target="fonts/NunitoSemi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NunitoMedium-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NunitoSemiBold-bold.fntdata"/><Relationship Id="rId14" Type="http://schemas.openxmlformats.org/officeDocument/2006/relationships/slide" Target="slides/slide8.xml"/><Relationship Id="rId58" Type="http://schemas.openxmlformats.org/officeDocument/2006/relationships/font" Target="fonts/NunitoSemiBold-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9" name="Google Shape;489;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0" name="Google Shape;500;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6" name="Google Shape;586;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hyperlink" Target="https://apxml.com/tools/vram-calculato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13"/>
          <p:cNvSpPr txBox="1"/>
          <p:nvPr/>
        </p:nvSpPr>
        <p:spPr>
          <a:xfrm>
            <a:off x="1058550" y="1774826"/>
            <a:ext cx="70269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990"/>
              <a:buFont typeface="Arial"/>
              <a:buNone/>
            </a:pPr>
            <a:r>
              <a:rPr b="1" i="0" lang="en" sz="4000" u="none" cap="none" strike="noStrike">
                <a:solidFill>
                  <a:srgbClr val="274D71"/>
                </a:solidFill>
                <a:latin typeface="Nunito"/>
                <a:ea typeface="Nunito"/>
                <a:cs typeface="Nunito"/>
                <a:sym typeface="Nunito"/>
              </a:rPr>
              <a:t>Local AI Infra Foundations</a:t>
            </a:r>
            <a:endParaRPr b="1" i="0" sz="4400" u="none" cap="none" strike="noStrike">
              <a:solidFill>
                <a:srgbClr val="274D71"/>
              </a:solidFill>
              <a:latin typeface="Comfortaa"/>
              <a:ea typeface="Comfortaa"/>
              <a:cs typeface="Comfortaa"/>
              <a:sym typeface="Comfortaa"/>
            </a:endParaRPr>
          </a:p>
        </p:txBody>
      </p:sp>
      <p:sp>
        <p:nvSpPr>
          <p:cNvPr id="55" name="Google Shape;55;p13"/>
          <p:cNvSpPr/>
          <p:nvPr/>
        </p:nvSpPr>
        <p:spPr>
          <a:xfrm>
            <a:off x="1193900" y="2645325"/>
            <a:ext cx="1614600" cy="200700"/>
          </a:xfrm>
          <a:prstGeom prst="roundRect">
            <a:avLst>
              <a:gd fmla="val 27093"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3"/>
          <p:cNvSpPr/>
          <p:nvPr/>
        </p:nvSpPr>
        <p:spPr>
          <a:xfrm>
            <a:off x="2855175" y="2645324"/>
            <a:ext cx="498300" cy="200700"/>
          </a:xfrm>
          <a:prstGeom prst="roundRect">
            <a:avLst>
              <a:gd fmla="val 27093" name="adj"/>
            </a:avLst>
          </a:prstGeom>
          <a:solidFill>
            <a:srgbClr val="FF99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3"/>
          <p:cNvSpPr txBox="1"/>
          <p:nvPr/>
        </p:nvSpPr>
        <p:spPr>
          <a:xfrm>
            <a:off x="1105450" y="2968474"/>
            <a:ext cx="305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400" u="none" cap="none" strike="noStrike">
                <a:solidFill>
                  <a:srgbClr val="274D71"/>
                </a:solidFill>
                <a:latin typeface="Nunito Medium"/>
                <a:ea typeface="Nunito Medium"/>
                <a:cs typeface="Nunito Medium"/>
                <a:sym typeface="Nunito Medium"/>
              </a:rPr>
              <a:t>Prepared by Instructor Team</a:t>
            </a:r>
            <a:endParaRPr b="0" i="0" sz="1400" u="none" cap="none" strike="noStrike">
              <a:solidFill>
                <a:srgbClr val="274D71"/>
              </a:solidFill>
              <a:latin typeface="Nunito Medium"/>
              <a:ea typeface="Nunito Medium"/>
              <a:cs typeface="Nunito Medium"/>
              <a:sym typeface="Nunito Medium"/>
            </a:endParaRPr>
          </a:p>
        </p:txBody>
      </p:sp>
      <p:pic>
        <p:nvPicPr>
          <p:cNvPr id="58" name="Google Shape;58;p13"/>
          <p:cNvPicPr preferRelativeResize="0"/>
          <p:nvPr/>
        </p:nvPicPr>
        <p:blipFill rotWithShape="1">
          <a:blip r:embed="rId3">
            <a:alphaModFix/>
          </a:blip>
          <a:srcRect b="13300" l="0" r="0" t="-13300"/>
          <a:stretch/>
        </p:blipFill>
        <p:spPr>
          <a:xfrm>
            <a:off x="6469450" y="2583604"/>
            <a:ext cx="2625000" cy="2625000"/>
          </a:xfrm>
          <a:prstGeom prst="rect">
            <a:avLst/>
          </a:prstGeom>
          <a:noFill/>
          <a:ln>
            <a:noFill/>
          </a:ln>
        </p:spPr>
      </p:pic>
      <p:grpSp>
        <p:nvGrpSpPr>
          <p:cNvPr id="59" name="Google Shape;59;p13"/>
          <p:cNvGrpSpPr/>
          <p:nvPr/>
        </p:nvGrpSpPr>
        <p:grpSpPr>
          <a:xfrm>
            <a:off x="1193903" y="699127"/>
            <a:ext cx="3310747" cy="636138"/>
            <a:chOff x="1555228" y="466302"/>
            <a:chExt cx="3310747" cy="636138"/>
          </a:xfrm>
        </p:grpSpPr>
        <p:pic>
          <p:nvPicPr>
            <p:cNvPr descr="logos/logo/KSGA-logo.png" id="60" name="Google Shape;60;p13"/>
            <p:cNvPicPr preferRelativeResize="0"/>
            <p:nvPr/>
          </p:nvPicPr>
          <p:blipFill rotWithShape="1">
            <a:blip r:embed="rId4">
              <a:alphaModFix/>
            </a:blip>
            <a:srcRect b="0" l="0" r="0" t="0"/>
            <a:stretch/>
          </p:blipFill>
          <p:spPr>
            <a:xfrm>
              <a:off x="2409296" y="466302"/>
              <a:ext cx="1509416" cy="603766"/>
            </a:xfrm>
            <a:prstGeom prst="rect">
              <a:avLst/>
            </a:prstGeom>
            <a:noFill/>
            <a:ln>
              <a:noFill/>
            </a:ln>
          </p:spPr>
        </p:pic>
        <p:pic>
          <p:nvPicPr>
            <p:cNvPr descr="logos/logo/HRD-logo.png" id="61" name="Google Shape;61;p13"/>
            <p:cNvPicPr preferRelativeResize="0"/>
            <p:nvPr/>
          </p:nvPicPr>
          <p:blipFill rotWithShape="1">
            <a:blip r:embed="rId5">
              <a:alphaModFix/>
            </a:blip>
            <a:srcRect b="0" l="0" r="0" t="0"/>
            <a:stretch/>
          </p:blipFill>
          <p:spPr>
            <a:xfrm>
              <a:off x="1555228" y="474861"/>
              <a:ext cx="510573" cy="627579"/>
            </a:xfrm>
            <a:prstGeom prst="rect">
              <a:avLst/>
            </a:prstGeom>
            <a:noFill/>
            <a:ln>
              <a:noFill/>
            </a:ln>
          </p:spPr>
        </p:pic>
        <p:pic>
          <p:nvPicPr>
            <p:cNvPr descr="logos/logo/AICLab-logo.png" id="62" name="Google Shape;62;p13"/>
            <p:cNvPicPr preferRelativeResize="0"/>
            <p:nvPr/>
          </p:nvPicPr>
          <p:blipFill rotWithShape="1">
            <a:blip r:embed="rId6">
              <a:alphaModFix/>
            </a:blip>
            <a:srcRect b="0" l="0" r="0" t="0"/>
            <a:stretch/>
          </p:blipFill>
          <p:spPr>
            <a:xfrm>
              <a:off x="4262208" y="474861"/>
              <a:ext cx="603767" cy="603767"/>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pic>
        <p:nvPicPr>
          <p:cNvPr id="67" name="Google Shape;67;p14"/>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68" name="Google Shape;68;p14"/>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Contents</a:t>
            </a:r>
            <a:endParaRPr b="1" i="0" sz="2300" u="none" cap="none" strike="noStrike">
              <a:solidFill>
                <a:srgbClr val="274D71"/>
              </a:solidFill>
              <a:latin typeface="Nunito"/>
              <a:ea typeface="Nunito"/>
              <a:cs typeface="Nunito"/>
              <a:sym typeface="Nunito"/>
            </a:endParaRPr>
          </a:p>
        </p:txBody>
      </p:sp>
      <p:sp>
        <p:nvSpPr>
          <p:cNvPr id="69" name="Google Shape;69;p14"/>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4"/>
          <p:cNvSpPr txBox="1"/>
          <p:nvPr/>
        </p:nvSpPr>
        <p:spPr>
          <a:xfrm>
            <a:off x="544950" y="885688"/>
            <a:ext cx="8276100" cy="28014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50000"/>
              </a:lnSpc>
              <a:spcBef>
                <a:spcPts val="0"/>
              </a:spcBef>
              <a:spcAft>
                <a:spcPts val="0"/>
              </a:spcAft>
              <a:buClr>
                <a:srgbClr val="274D71"/>
              </a:buClr>
              <a:buSzPts val="2000"/>
              <a:buFont typeface="Nunito"/>
              <a:buAutoNum type="arabicPeriod"/>
            </a:pPr>
            <a:r>
              <a:rPr b="0" i="0" lang="en" sz="2000" u="none" cap="none" strike="noStrike">
                <a:solidFill>
                  <a:srgbClr val="274D71"/>
                </a:solidFill>
                <a:latin typeface="Nunito SemiBold"/>
                <a:ea typeface="Nunito SemiBold"/>
                <a:cs typeface="Nunito SemiBold"/>
                <a:sym typeface="Nunito SemiBold"/>
              </a:rPr>
              <a:t>Linux environment preparation for AI workloads</a:t>
            </a:r>
            <a:endParaRPr b="0" i="0" sz="2000" u="none" cap="none" strike="noStrike">
              <a:solidFill>
                <a:srgbClr val="274D71"/>
              </a:solidFill>
              <a:latin typeface="Nunito SemiBold"/>
              <a:ea typeface="Nunito SemiBold"/>
              <a:cs typeface="Nunito SemiBold"/>
              <a:sym typeface="Nunito SemiBold"/>
            </a:endParaRPr>
          </a:p>
          <a:p>
            <a:pPr indent="-355600" lvl="0" marL="457200" marR="0" rtl="0" algn="l">
              <a:lnSpc>
                <a:spcPct val="150000"/>
              </a:lnSpc>
              <a:spcBef>
                <a:spcPts val="0"/>
              </a:spcBef>
              <a:spcAft>
                <a:spcPts val="0"/>
              </a:spcAft>
              <a:buClr>
                <a:srgbClr val="274D71"/>
              </a:buClr>
              <a:buSzPts val="2000"/>
              <a:buFont typeface="Nunito"/>
              <a:buAutoNum type="arabicPeriod"/>
            </a:pPr>
            <a:r>
              <a:rPr b="0" i="0" lang="en" sz="2000" u="none" cap="none" strike="noStrike">
                <a:solidFill>
                  <a:srgbClr val="274D71"/>
                </a:solidFill>
                <a:latin typeface="Nunito SemiBold"/>
                <a:ea typeface="Nunito SemiBold"/>
                <a:cs typeface="Nunito SemiBold"/>
                <a:sym typeface="Nunito SemiBold"/>
              </a:rPr>
              <a:t>GPU driver / runtime setup</a:t>
            </a:r>
            <a:endParaRPr b="0" i="0" sz="2000" u="none" cap="none" strike="noStrike">
              <a:solidFill>
                <a:srgbClr val="274D71"/>
              </a:solidFill>
              <a:latin typeface="Nunito SemiBold"/>
              <a:ea typeface="Nunito SemiBold"/>
              <a:cs typeface="Nunito SemiBold"/>
              <a:sym typeface="Nunito SemiBold"/>
            </a:endParaRPr>
          </a:p>
          <a:p>
            <a:pPr indent="-355600" lvl="0" marL="457200" marR="0" rtl="0" algn="l">
              <a:lnSpc>
                <a:spcPct val="150000"/>
              </a:lnSpc>
              <a:spcBef>
                <a:spcPts val="0"/>
              </a:spcBef>
              <a:spcAft>
                <a:spcPts val="0"/>
              </a:spcAft>
              <a:buClr>
                <a:srgbClr val="274D71"/>
              </a:buClr>
              <a:buSzPts val="2000"/>
              <a:buFont typeface="Nunito"/>
              <a:buAutoNum type="arabicPeriod"/>
            </a:pPr>
            <a:r>
              <a:rPr b="0" i="0" lang="en" sz="2000" u="none" cap="none" strike="noStrike">
                <a:solidFill>
                  <a:srgbClr val="274D71"/>
                </a:solidFill>
                <a:latin typeface="Nunito SemiBold"/>
                <a:ea typeface="Nunito SemiBold"/>
                <a:cs typeface="Nunito SemiBold"/>
                <a:sym typeface="Nunito SemiBold"/>
              </a:rPr>
              <a:t>CUDA concepts</a:t>
            </a:r>
            <a:endParaRPr b="0" i="0" sz="2000" u="none" cap="none" strike="noStrike">
              <a:solidFill>
                <a:srgbClr val="274D71"/>
              </a:solidFill>
              <a:latin typeface="Nunito SemiBold"/>
              <a:ea typeface="Nunito SemiBold"/>
              <a:cs typeface="Nunito SemiBold"/>
              <a:sym typeface="Nunito SemiBold"/>
            </a:endParaRPr>
          </a:p>
          <a:p>
            <a:pPr indent="-355600" lvl="0" marL="457200" marR="0" rtl="0" algn="l">
              <a:lnSpc>
                <a:spcPct val="150000"/>
              </a:lnSpc>
              <a:spcBef>
                <a:spcPts val="0"/>
              </a:spcBef>
              <a:spcAft>
                <a:spcPts val="0"/>
              </a:spcAft>
              <a:buClr>
                <a:srgbClr val="274D71"/>
              </a:buClr>
              <a:buSzPts val="2000"/>
              <a:buFont typeface="Nunito"/>
              <a:buAutoNum type="arabicPeriod"/>
            </a:pPr>
            <a:r>
              <a:rPr b="0" i="0" lang="en" sz="2000" u="none" cap="none" strike="noStrike">
                <a:solidFill>
                  <a:srgbClr val="274D71"/>
                </a:solidFill>
                <a:latin typeface="Nunito SemiBold"/>
                <a:ea typeface="Nunito SemiBold"/>
                <a:cs typeface="Nunito SemiBold"/>
                <a:sym typeface="Nunito SemiBold"/>
              </a:rPr>
              <a:t>System paths and environment validation</a:t>
            </a:r>
            <a:endParaRPr b="0" i="0" sz="2000" u="none" cap="none" strike="noStrike">
              <a:solidFill>
                <a:srgbClr val="274D71"/>
              </a:solidFill>
              <a:latin typeface="Nunito SemiBold"/>
              <a:ea typeface="Nunito SemiBold"/>
              <a:cs typeface="Nunito SemiBold"/>
              <a:sym typeface="Nunito SemiBold"/>
            </a:endParaRPr>
          </a:p>
          <a:p>
            <a:pPr indent="-355600" lvl="0" marL="457200" marR="0" rtl="0" algn="l">
              <a:lnSpc>
                <a:spcPct val="150000"/>
              </a:lnSpc>
              <a:spcBef>
                <a:spcPts val="0"/>
              </a:spcBef>
              <a:spcAft>
                <a:spcPts val="0"/>
              </a:spcAft>
              <a:buClr>
                <a:srgbClr val="274D71"/>
              </a:buClr>
              <a:buSzPts val="2000"/>
              <a:buFont typeface="Nunito"/>
              <a:buAutoNum type="arabicPeriod"/>
            </a:pPr>
            <a:r>
              <a:rPr b="0" i="0" lang="en" sz="2000" u="none" cap="none" strike="noStrike">
                <a:solidFill>
                  <a:srgbClr val="274D71"/>
                </a:solidFill>
                <a:latin typeface="Nunito SemiBold"/>
                <a:ea typeface="Nunito SemiBold"/>
                <a:cs typeface="Nunito SemiBold"/>
                <a:sym typeface="Nunito SemiBold"/>
              </a:rPr>
              <a:t>Local deployment use cases</a:t>
            </a:r>
            <a:endParaRPr b="0" i="0" sz="2000" u="none" cap="none" strike="noStrike">
              <a:solidFill>
                <a:srgbClr val="274D71"/>
              </a:solidFill>
              <a:latin typeface="Nunito SemiBold"/>
              <a:ea typeface="Nunito SemiBold"/>
              <a:cs typeface="Nunito SemiBold"/>
              <a:sym typeface="Nunito SemiBold"/>
            </a:endParaRPr>
          </a:p>
          <a:p>
            <a:pPr indent="-355600" lvl="0" marL="457200" marR="0" rtl="0" algn="l">
              <a:lnSpc>
                <a:spcPct val="150000"/>
              </a:lnSpc>
              <a:spcBef>
                <a:spcPts val="0"/>
              </a:spcBef>
              <a:spcAft>
                <a:spcPts val="0"/>
              </a:spcAft>
              <a:buClr>
                <a:srgbClr val="274D71"/>
              </a:buClr>
              <a:buSzPts val="2000"/>
              <a:buFont typeface="Nunito SemiBold"/>
              <a:buAutoNum type="arabicPeriod"/>
            </a:pPr>
            <a:r>
              <a:rPr b="0" i="0" lang="en" sz="2000" u="none" cap="none" strike="noStrike">
                <a:solidFill>
                  <a:srgbClr val="274D71"/>
                </a:solidFill>
                <a:latin typeface="Nunito SemiBold"/>
                <a:ea typeface="Nunito SemiBold"/>
                <a:cs typeface="Nunito SemiBold"/>
                <a:sym typeface="Nunito SemiBold"/>
              </a:rPr>
              <a:t>Privacy, cost, and compliance considerations</a:t>
            </a:r>
            <a:endParaRPr b="0" i="0" sz="2000" u="none" cap="none" strike="noStrike">
              <a:solidFill>
                <a:srgbClr val="274D71"/>
              </a:solidFill>
              <a:latin typeface="Nunito SemiBold"/>
              <a:ea typeface="Nunito SemiBold"/>
              <a:cs typeface="Nunito SemiBold"/>
              <a:sym typeface="Nunito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pic>
        <p:nvPicPr>
          <p:cNvPr id="75" name="Google Shape;75;p15"/>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76" name="Google Shape;76;p15"/>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Linux environment preparation for AI workloads </a:t>
            </a:r>
            <a:endParaRPr b="1" i="0" sz="2300" u="none" cap="none" strike="noStrike">
              <a:solidFill>
                <a:srgbClr val="274D71"/>
              </a:solidFill>
              <a:latin typeface="Nunito"/>
              <a:ea typeface="Nunito"/>
              <a:cs typeface="Nunito"/>
              <a:sym typeface="Nunito"/>
            </a:endParaRPr>
          </a:p>
        </p:txBody>
      </p:sp>
      <p:sp>
        <p:nvSpPr>
          <p:cNvPr id="77" name="Google Shape;77;p15"/>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5"/>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Why Linux is the right OS for AI workloads</a:t>
            </a:r>
            <a:endParaRPr b="1" i="0" sz="1800" u="none" cap="none" strike="noStrike">
              <a:solidFill>
                <a:srgbClr val="274D71"/>
              </a:solidFill>
              <a:latin typeface="Nunito"/>
              <a:ea typeface="Nunito"/>
              <a:cs typeface="Nunito"/>
              <a:sym typeface="Nunito"/>
            </a:endParaRPr>
          </a:p>
        </p:txBody>
      </p:sp>
      <p:sp>
        <p:nvSpPr>
          <p:cNvPr id="79" name="Google Shape;79;p15"/>
          <p:cNvSpPr txBox="1"/>
          <p:nvPr/>
        </p:nvSpPr>
        <p:spPr>
          <a:xfrm>
            <a:off x="544950" y="1248213"/>
            <a:ext cx="8276100" cy="37557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Flexibility &amp; Architecture:</a:t>
            </a:r>
            <a:r>
              <a:rPr b="0" i="0" lang="en" sz="1600" u="none" cap="none" strike="noStrike">
                <a:solidFill>
                  <a:srgbClr val="274D71"/>
                </a:solidFill>
                <a:latin typeface="Nunito SemiBold"/>
                <a:ea typeface="Nunito SemiBold"/>
                <a:cs typeface="Nunito SemiBold"/>
                <a:sym typeface="Nunito SemiBold"/>
              </a:rPr>
              <a:t> Linux supports generative AI frameworks and agentic patterns without locking you into a single control plane.</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Hardware &amp; Performance:</a:t>
            </a:r>
            <a:r>
              <a:rPr b="0" i="0" lang="en" sz="1600" u="none" cap="none" strike="noStrike">
                <a:solidFill>
                  <a:srgbClr val="274D71"/>
                </a:solidFill>
                <a:latin typeface="Nunito SemiBold"/>
                <a:ea typeface="Nunito SemiBold"/>
                <a:cs typeface="Nunito SemiBold"/>
                <a:sym typeface="Nunito SemiBold"/>
              </a:rPr>
              <a:t> Its driver ecosystem aligns with GPU vendors to ease integration, and it offers robust performance tuning for memory-intensive workloads and big data pipelines.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Security &amp; Scaling</a:t>
            </a:r>
            <a:r>
              <a:rPr b="0" i="0" lang="en" sz="1600" u="none" cap="none" strike="noStrike">
                <a:solidFill>
                  <a:srgbClr val="274D71"/>
                </a:solidFill>
                <a:latin typeface="Nunito SemiBold"/>
                <a:ea typeface="Nunito SemiBold"/>
                <a:cs typeface="Nunito SemiBold"/>
                <a:sym typeface="Nunito SemiBold"/>
              </a:rPr>
              <a:t>: Kernel-level security makes enforcing signed binaries and admission control smoother, while container runtimes natively integrate with GPU-optimizing schedulers.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Financial &amp; Operational Freedom</a:t>
            </a:r>
            <a:r>
              <a:rPr b="0" i="0" lang="en" sz="1600" u="none" cap="none" strike="noStrike">
                <a:solidFill>
                  <a:srgbClr val="274D71"/>
                </a:solidFill>
                <a:latin typeface="Nunito SemiBold"/>
                <a:ea typeface="Nunito SemiBold"/>
                <a:cs typeface="Nunito SemiBold"/>
                <a:sym typeface="Nunito SemiBold"/>
              </a:rPr>
              <a:t>: Moving workloads seamlessly across clouds and on-premises clusters avoids recertification and helps rightsize GPU spending.</a:t>
            </a:r>
            <a:endParaRPr b="0" i="0" sz="1600" u="none" cap="none" strike="noStrike">
              <a:solidFill>
                <a:srgbClr val="274D71"/>
              </a:solidFill>
              <a:latin typeface="Nunito SemiBold"/>
              <a:ea typeface="Nunito SemiBold"/>
              <a:cs typeface="Nunito SemiBold"/>
              <a:sym typeface="Nunito SemiBold"/>
            </a:endParaRPr>
          </a:p>
        </p:txBody>
      </p:sp>
      <p:sp>
        <p:nvSpPr>
          <p:cNvPr id="80" name="Google Shape;80;p15"/>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id="85" name="Google Shape;85;p16"/>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86" name="Google Shape;86;p16"/>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Linux environment preparation for AI workloads </a:t>
            </a:r>
            <a:endParaRPr b="1" i="0" sz="2300" u="none" cap="none" strike="noStrike">
              <a:solidFill>
                <a:srgbClr val="274D71"/>
              </a:solidFill>
              <a:latin typeface="Nunito"/>
              <a:ea typeface="Nunito"/>
              <a:cs typeface="Nunito"/>
              <a:sym typeface="Nunito"/>
            </a:endParaRPr>
          </a:p>
        </p:txBody>
      </p:sp>
      <p:sp>
        <p:nvSpPr>
          <p:cNvPr id="87" name="Google Shape;87;p16"/>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8" name="Google Shape;88;p16" title="images.jpg"/>
          <p:cNvPicPr preferRelativeResize="0"/>
          <p:nvPr/>
        </p:nvPicPr>
        <p:blipFill rotWithShape="1">
          <a:blip r:embed="rId4">
            <a:alphaModFix/>
          </a:blip>
          <a:srcRect b="0" l="0" r="0" t="0"/>
          <a:stretch/>
        </p:blipFill>
        <p:spPr>
          <a:xfrm>
            <a:off x="1314450" y="1053300"/>
            <a:ext cx="6515100" cy="3524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pic>
        <p:nvPicPr>
          <p:cNvPr id="93" name="Google Shape;93;p17"/>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94" name="Google Shape;94;p17"/>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Linux environment preparation for AI workloads </a:t>
            </a:r>
            <a:endParaRPr b="1" i="0" sz="2300" u="none" cap="none" strike="noStrike">
              <a:solidFill>
                <a:srgbClr val="274D71"/>
              </a:solidFill>
              <a:latin typeface="Nunito"/>
              <a:ea typeface="Nunito"/>
              <a:cs typeface="Nunito"/>
              <a:sym typeface="Nunito"/>
            </a:endParaRPr>
          </a:p>
        </p:txBody>
      </p:sp>
      <p:sp>
        <p:nvSpPr>
          <p:cNvPr id="95" name="Google Shape;95;p17"/>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7"/>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rgbClr val="274D71"/>
              </a:buClr>
              <a:buSzPts val="1800"/>
              <a:buFont typeface="Nunito"/>
              <a:buAutoNum type="arabicPeriod"/>
            </a:pPr>
            <a:r>
              <a:rPr b="1" i="0" lang="en" sz="1800" u="none" cap="none" strike="noStrike">
                <a:solidFill>
                  <a:srgbClr val="274D71"/>
                </a:solidFill>
                <a:latin typeface="Nunito"/>
                <a:ea typeface="Nunito"/>
                <a:cs typeface="Nunito"/>
                <a:sym typeface="Nunito"/>
              </a:rPr>
              <a:t>Choice Of Distribution: The Ubuntu Standard</a:t>
            </a:r>
            <a:endParaRPr b="1" i="0" sz="1800" u="none" cap="none" strike="noStrike">
              <a:solidFill>
                <a:srgbClr val="274D71"/>
              </a:solidFill>
              <a:latin typeface="Nunito"/>
              <a:ea typeface="Nunito"/>
              <a:cs typeface="Nunito"/>
              <a:sym typeface="Nunito"/>
            </a:endParaRPr>
          </a:p>
        </p:txBody>
      </p:sp>
      <p:sp>
        <p:nvSpPr>
          <p:cNvPr id="97" name="Google Shape;97;p17"/>
          <p:cNvSpPr txBox="1"/>
          <p:nvPr/>
        </p:nvSpPr>
        <p:spPr>
          <a:xfrm>
            <a:off x="544950" y="1725881"/>
            <a:ext cx="8276100" cy="22779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Clr>
                <a:srgbClr val="303030"/>
              </a:buClr>
              <a:buSzPts val="1200"/>
              <a:buFont typeface="Arial"/>
              <a:buChar char="⎊"/>
            </a:pPr>
            <a:r>
              <a:rPr b="1" i="0" lang="en" sz="1600" u="none" cap="none" strike="noStrike">
                <a:solidFill>
                  <a:srgbClr val="274D71"/>
                </a:solidFill>
                <a:latin typeface="Nunito"/>
                <a:ea typeface="Nunito"/>
                <a:cs typeface="Nunito"/>
                <a:sym typeface="Nunito"/>
              </a:rPr>
              <a:t>Official Support:</a:t>
            </a:r>
            <a:r>
              <a:rPr b="0" i="0" lang="en" sz="1600" u="none" cap="none" strike="noStrike">
                <a:solidFill>
                  <a:srgbClr val="274D71"/>
                </a:solidFill>
                <a:latin typeface="Nunito SemiBold"/>
                <a:ea typeface="Nunito SemiBold"/>
                <a:cs typeface="Nunito SemiBold"/>
                <a:sym typeface="Nunito SemiBold"/>
              </a:rPr>
              <a:t> NVIDIA provides dedicated .deb packages and repository configurations for every Ubuntu LTS release.</a:t>
            </a:r>
            <a:endParaRPr b="0" i="0" sz="1600" u="none" cap="none" strike="noStrike">
              <a:solidFill>
                <a:srgbClr val="274D71"/>
              </a:solidFill>
              <a:latin typeface="Nunito SemiBold"/>
              <a:ea typeface="Nunito SemiBold"/>
              <a:cs typeface="Nunito SemiBold"/>
              <a:sym typeface="Nunito SemiBold"/>
            </a:endParaRPr>
          </a:p>
          <a:p>
            <a:pPr indent="-304800" lvl="0" marL="457200" marR="0" rtl="0" algn="l">
              <a:lnSpc>
                <a:spcPct val="150000"/>
              </a:lnSpc>
              <a:spcBef>
                <a:spcPts val="0"/>
              </a:spcBef>
              <a:spcAft>
                <a:spcPts val="0"/>
              </a:spcAft>
              <a:buClr>
                <a:srgbClr val="303030"/>
              </a:buClr>
              <a:buSzPts val="1200"/>
              <a:buFont typeface="Arial"/>
              <a:buChar char="⎊"/>
            </a:pPr>
            <a:r>
              <a:rPr b="1" i="0" lang="en" sz="1600" u="none" cap="none" strike="noStrike">
                <a:solidFill>
                  <a:srgbClr val="274D71"/>
                </a:solidFill>
                <a:latin typeface="Nunito"/>
                <a:ea typeface="Nunito"/>
                <a:cs typeface="Nunito"/>
                <a:sym typeface="Nunito"/>
              </a:rPr>
              <a:t>Modern Kernels:</a:t>
            </a:r>
            <a:r>
              <a:rPr b="0" i="0" lang="en" sz="1600" u="none" cap="none" strike="noStrike">
                <a:solidFill>
                  <a:srgbClr val="274D71"/>
                </a:solidFill>
                <a:latin typeface="Nunito SemiBold"/>
                <a:ea typeface="Nunito SemiBold"/>
                <a:cs typeface="Nunito SemiBold"/>
                <a:sym typeface="Nunito SemiBold"/>
              </a:rPr>
              <a:t> Ubuntu 24.04 LTS ships with </a:t>
            </a:r>
            <a:r>
              <a:rPr b="1" i="0" lang="en" sz="1600" u="none" cap="none" strike="noStrike">
                <a:solidFill>
                  <a:srgbClr val="274D71"/>
                </a:solidFill>
                <a:latin typeface="Nunito"/>
                <a:ea typeface="Nunito"/>
                <a:cs typeface="Nunito"/>
                <a:sym typeface="Nunito"/>
              </a:rPr>
              <a:t>Linux kernel 6.8</a:t>
            </a:r>
            <a:r>
              <a:rPr b="0" i="0" lang="en" sz="1600" u="none" cap="none" strike="noStrike">
                <a:solidFill>
                  <a:srgbClr val="274D71"/>
                </a:solidFill>
                <a:latin typeface="Nunito SemiBold"/>
                <a:ea typeface="Nunito SemiBold"/>
                <a:cs typeface="Nunito SemiBold"/>
                <a:sym typeface="Nunito SemiBold"/>
              </a:rPr>
              <a:t> by default, which offers improved hardware support tested against recent NVIDIA drivers.</a:t>
            </a:r>
            <a:endParaRPr b="0" i="0" sz="1600" u="none" cap="none" strike="noStrike">
              <a:solidFill>
                <a:srgbClr val="274D71"/>
              </a:solidFill>
              <a:latin typeface="Nunito SemiBold"/>
              <a:ea typeface="Nunito SemiBold"/>
              <a:cs typeface="Nunito SemiBold"/>
              <a:sym typeface="Nunito SemiBold"/>
            </a:endParaRPr>
          </a:p>
          <a:p>
            <a:pPr indent="-304800" lvl="0" marL="457200" marR="0" rtl="0" algn="l">
              <a:lnSpc>
                <a:spcPct val="150000"/>
              </a:lnSpc>
              <a:spcBef>
                <a:spcPts val="0"/>
              </a:spcBef>
              <a:spcAft>
                <a:spcPts val="0"/>
              </a:spcAft>
              <a:buClr>
                <a:srgbClr val="303030"/>
              </a:buClr>
              <a:buSzPts val="1200"/>
              <a:buFont typeface="Arial"/>
              <a:buChar char="⎊"/>
            </a:pPr>
            <a:r>
              <a:rPr b="1" i="0" lang="en" sz="1600" u="none" cap="none" strike="noStrike">
                <a:solidFill>
                  <a:srgbClr val="274D71"/>
                </a:solidFill>
                <a:latin typeface="Nunito"/>
                <a:ea typeface="Nunito"/>
                <a:cs typeface="Nunito"/>
                <a:sym typeface="Nunito"/>
              </a:rPr>
              <a:t>Ecosystem:</a:t>
            </a:r>
            <a:r>
              <a:rPr b="0" i="0" lang="en" sz="1600" u="none" cap="none" strike="noStrike">
                <a:solidFill>
                  <a:srgbClr val="274D71"/>
                </a:solidFill>
                <a:latin typeface="Nunito SemiBold"/>
                <a:ea typeface="Nunito SemiBold"/>
                <a:cs typeface="Nunito SemiBold"/>
                <a:sym typeface="Nunito SemiBold"/>
              </a:rPr>
              <a:t> The vast majority of Docker containers and deep learning tutorials are built and tested on Ubuntu.</a:t>
            </a:r>
            <a:endParaRPr b="0" i="0" sz="1600" u="none" cap="none" strike="noStrike">
              <a:solidFill>
                <a:srgbClr val="274D71"/>
              </a:solidFill>
              <a:latin typeface="Nunito SemiBold"/>
              <a:ea typeface="Nunito SemiBold"/>
              <a:cs typeface="Nunito SemiBold"/>
              <a:sym typeface="Nunito SemiBold"/>
            </a:endParaRPr>
          </a:p>
        </p:txBody>
      </p:sp>
      <p:sp>
        <p:nvSpPr>
          <p:cNvPr id="98" name="Google Shape;98;p17"/>
          <p:cNvSpPr txBox="1"/>
          <p:nvPr/>
        </p:nvSpPr>
        <p:spPr>
          <a:xfrm>
            <a:off x="554726" y="1287009"/>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Ubuntu LTS</a:t>
            </a:r>
            <a:r>
              <a:rPr b="0" i="0" lang="en" sz="1600" u="none" cap="none" strike="noStrike">
                <a:solidFill>
                  <a:srgbClr val="274D71"/>
                </a:solidFill>
                <a:latin typeface="Nunito SemiBold"/>
                <a:ea typeface="Nunito SemiBold"/>
                <a:cs typeface="Nunito SemiBold"/>
                <a:sym typeface="Nunito SemiBold"/>
              </a:rPr>
              <a:t> is the industry standard for AI infrastructure. It is preferred because:</a:t>
            </a:r>
            <a:endParaRPr b="0" i="0" sz="1800" u="none" cap="none" strike="noStrike">
              <a:solidFill>
                <a:srgbClr val="274D71"/>
              </a:solidFill>
              <a:latin typeface="Nunito"/>
              <a:ea typeface="Nunito"/>
              <a:cs typeface="Nunito"/>
              <a:sym typeface="Nunito"/>
            </a:endParaRPr>
          </a:p>
        </p:txBody>
      </p:sp>
      <p:sp>
        <p:nvSpPr>
          <p:cNvPr id="99" name="Google Shape;99;p17"/>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pic>
        <p:nvPicPr>
          <p:cNvPr id="104" name="Google Shape;104;p18"/>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105" name="Google Shape;105;p18"/>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Linux environment preparation for AI workloads (Cont.) </a:t>
            </a:r>
            <a:endParaRPr b="1" i="0" sz="2300" u="none" cap="none" strike="noStrike">
              <a:solidFill>
                <a:srgbClr val="274D71"/>
              </a:solidFill>
              <a:latin typeface="Nunito"/>
              <a:ea typeface="Nunito"/>
              <a:cs typeface="Nunito"/>
              <a:sym typeface="Nunito"/>
            </a:endParaRPr>
          </a:p>
        </p:txBody>
      </p:sp>
      <p:sp>
        <p:nvSpPr>
          <p:cNvPr id="106" name="Google Shape;106;p18"/>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8"/>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2.	GPU Hardware Requirements</a:t>
            </a:r>
            <a:endParaRPr b="1" i="0" sz="1800" u="none" cap="none" strike="noStrike">
              <a:solidFill>
                <a:srgbClr val="274D71"/>
              </a:solidFill>
              <a:latin typeface="Nunito"/>
              <a:ea typeface="Nunito"/>
              <a:cs typeface="Nunito"/>
              <a:sym typeface="Nunito"/>
            </a:endParaRPr>
          </a:p>
        </p:txBody>
      </p:sp>
      <p:sp>
        <p:nvSpPr>
          <p:cNvPr id="108" name="Google Shape;108;p18"/>
          <p:cNvSpPr txBox="1"/>
          <p:nvPr/>
        </p:nvSpPr>
        <p:spPr>
          <a:xfrm>
            <a:off x="544950" y="2087406"/>
            <a:ext cx="8276100" cy="22779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Microarchitectures:</a:t>
            </a:r>
            <a:r>
              <a:rPr b="0" i="0" lang="en" sz="1600" u="none" cap="none" strike="noStrike">
                <a:solidFill>
                  <a:srgbClr val="274D71"/>
                </a:solidFill>
                <a:latin typeface="Nunito SemiBold"/>
                <a:ea typeface="Nunito SemiBold"/>
                <a:cs typeface="Nunito SemiBold"/>
                <a:sym typeface="Nunito SemiBold"/>
              </a:rPr>
              <a:t> Modern LLM workloads typically require Volta, Turing, Ampere, Ada Lovelace, or Hopper architectures.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Compute Capability (CC):</a:t>
            </a:r>
            <a:r>
              <a:rPr b="0" i="0" lang="en" sz="1600" u="none" cap="none" strike="noStrike">
                <a:solidFill>
                  <a:srgbClr val="274D71"/>
                </a:solidFill>
                <a:latin typeface="Nunito SemiBold"/>
                <a:ea typeface="Nunito SemiBold"/>
                <a:cs typeface="Nunito SemiBold"/>
                <a:sym typeface="Nunito SemiBold"/>
              </a:rPr>
              <a:t> This defines the computing features supported by a GPU generation. For CUDA 12.x, a minimum CC of 3.5 is required, but 7.0 or higher is strongly recommended for deep learning to leverage modern optimizations </a:t>
            </a:r>
            <a:endParaRPr b="0" i="0" sz="1600" u="none" cap="none" strike="noStrike">
              <a:solidFill>
                <a:srgbClr val="274D71"/>
              </a:solidFill>
              <a:latin typeface="Nunito SemiBold"/>
              <a:ea typeface="Nunito SemiBold"/>
              <a:cs typeface="Nunito SemiBold"/>
              <a:sym typeface="Nunito SemiBold"/>
            </a:endParaRPr>
          </a:p>
        </p:txBody>
      </p:sp>
      <p:sp>
        <p:nvSpPr>
          <p:cNvPr id="109" name="Google Shape;109;p18"/>
          <p:cNvSpPr txBox="1"/>
          <p:nvPr/>
        </p:nvSpPr>
        <p:spPr>
          <a:xfrm>
            <a:off x="554726" y="1242707"/>
            <a:ext cx="8138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The most critical component is a CUDA-capable NVIDIA GPU. while older cards may work, the software capacities are determined by the architecture's Compute Capacity:</a:t>
            </a:r>
            <a:endParaRPr b="0" i="0" sz="1800" u="none" cap="none" strike="noStrike">
              <a:solidFill>
                <a:srgbClr val="274D71"/>
              </a:solidFill>
              <a:latin typeface="Nunito"/>
              <a:ea typeface="Nunito"/>
              <a:cs typeface="Nunito"/>
              <a:sym typeface="Nunito"/>
            </a:endParaRPr>
          </a:p>
        </p:txBody>
      </p:sp>
      <p:sp>
        <p:nvSpPr>
          <p:cNvPr id="110" name="Google Shape;110;p18"/>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pic>
        <p:nvPicPr>
          <p:cNvPr id="115" name="Google Shape;115;p19"/>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116" name="Google Shape;116;p19"/>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9"/>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2.	GPU Hardware Requirements</a:t>
            </a:r>
            <a:endParaRPr b="1" i="0" sz="1800" u="none" cap="none" strike="noStrike">
              <a:solidFill>
                <a:srgbClr val="274D71"/>
              </a:solidFill>
              <a:latin typeface="Nunito"/>
              <a:ea typeface="Nunito"/>
              <a:cs typeface="Nunito"/>
              <a:sym typeface="Nunito"/>
            </a:endParaRPr>
          </a:p>
        </p:txBody>
      </p:sp>
      <p:graphicFrame>
        <p:nvGraphicFramePr>
          <p:cNvPr id="118" name="Google Shape;118;p19"/>
          <p:cNvGraphicFramePr/>
          <p:nvPr/>
        </p:nvGraphicFramePr>
        <p:xfrm>
          <a:off x="644800" y="1428750"/>
          <a:ext cx="3000000" cy="3000000"/>
        </p:xfrm>
        <a:graphic>
          <a:graphicData uri="http://schemas.openxmlformats.org/drawingml/2006/table">
            <a:tbl>
              <a:tblPr>
                <a:noFill/>
                <a:tableStyleId>{230E1801-D99D-4A61-A178-4185A3932480}</a:tableStyleId>
              </a:tblPr>
              <a:tblGrid>
                <a:gridCol w="2624450"/>
                <a:gridCol w="1460000"/>
                <a:gridCol w="3788875"/>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Nunito"/>
                          <a:ea typeface="Nunito"/>
                          <a:cs typeface="Nunito"/>
                          <a:sym typeface="Nunito"/>
                        </a:rPr>
                        <a:t>Microarchitecture</a:t>
                      </a:r>
                      <a:endParaRPr b="1" sz="1400" u="none" cap="none" strike="noStrike">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Nunito"/>
                          <a:ea typeface="Nunito"/>
                          <a:cs typeface="Nunito"/>
                          <a:sym typeface="Nunito"/>
                        </a:rPr>
                        <a:t>Release Era</a:t>
                      </a:r>
                      <a:endParaRPr b="1" sz="1400" u="none" cap="none" strike="noStrike">
                        <a:latin typeface="Nunito"/>
                        <a:ea typeface="Nunito"/>
                        <a:cs typeface="Nunito"/>
                        <a:sym typeface="Nuni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Nunito"/>
                          <a:ea typeface="Nunito"/>
                          <a:cs typeface="Nunito"/>
                          <a:sym typeface="Nunito"/>
                        </a:rPr>
                        <a:t>Example Chips</a:t>
                      </a:r>
                      <a:endParaRPr b="1" sz="1400" u="none" cap="none" strike="noStrike">
                        <a:latin typeface="Nunito"/>
                        <a:ea typeface="Nunito"/>
                        <a:cs typeface="Nunito"/>
                        <a:sym typeface="Nunito"/>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Ampere</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2020</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RTX 3060-3090, A100</a:t>
                      </a:r>
                      <a:endParaRPr sz="1400" u="none" cap="none" strike="noStrike">
                        <a:latin typeface="Nunito"/>
                        <a:ea typeface="Nunito"/>
                        <a:cs typeface="Nunito"/>
                        <a:sym typeface="Nunito"/>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Ada Lovelace</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2022</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RTX 4060-4090, L4, L40</a:t>
                      </a:r>
                      <a:endParaRPr sz="1400" u="none" cap="none" strike="noStrike">
                        <a:latin typeface="Nunito"/>
                        <a:ea typeface="Nunito"/>
                        <a:cs typeface="Nunito"/>
                        <a:sym typeface="Nunito"/>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Hopper</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2022</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H100, H200</a:t>
                      </a:r>
                      <a:endParaRPr sz="1400" u="none" cap="none" strike="noStrike">
                        <a:latin typeface="Nunito"/>
                        <a:ea typeface="Nunito"/>
                        <a:cs typeface="Nunito"/>
                        <a:sym typeface="Nunito"/>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Blackwell</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2024</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B200, B300, RTX 50-series, RTX PRO 6000</a:t>
                      </a:r>
                      <a:endParaRPr sz="1400" u="none" cap="none" strike="noStrike">
                        <a:latin typeface="Nunito"/>
                        <a:ea typeface="Nunito"/>
                        <a:cs typeface="Nunito"/>
                        <a:sym typeface="Nunito"/>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Vera Rubin</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2026</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Rubin GPU, Vera Rubin Superchip (NVL72)</a:t>
                      </a:r>
                      <a:endParaRPr sz="1400" u="none" cap="none" strike="noStrike">
                        <a:latin typeface="Nunito"/>
                        <a:ea typeface="Nunito"/>
                        <a:cs typeface="Nunito"/>
                        <a:sym typeface="Nunito"/>
                      </a:endParaRPr>
                    </a:p>
                  </a:txBody>
                  <a:tcPr marT="91425" marB="91425" marR="91425" marL="91425"/>
                </a:tc>
              </a:tr>
            </a:tbl>
          </a:graphicData>
        </a:graphic>
      </p:graphicFrame>
      <p:sp>
        <p:nvSpPr>
          <p:cNvPr id="119" name="Google Shape;119;p19"/>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Linux environment preparation for AI workloads (Cont.) </a:t>
            </a:r>
            <a:endParaRPr b="1" i="0" sz="2300" u="none" cap="none" strike="noStrike">
              <a:solidFill>
                <a:srgbClr val="274D71"/>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pic>
        <p:nvPicPr>
          <p:cNvPr id="124" name="Google Shape;124;p20"/>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125" name="Google Shape;125;p20"/>
          <p:cNvSpPr txBox="1"/>
          <p:nvPr/>
        </p:nvSpPr>
        <p:spPr>
          <a:xfrm>
            <a:off x="544950" y="256150"/>
            <a:ext cx="79731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Linux environment preparation for AI workloads (Cont.) </a:t>
            </a:r>
            <a:endParaRPr b="1" i="0" sz="2300" u="none" cap="none" strike="noStrike">
              <a:solidFill>
                <a:srgbClr val="274D71"/>
              </a:solidFill>
              <a:latin typeface="Nunito"/>
              <a:ea typeface="Nunito"/>
              <a:cs typeface="Nunito"/>
              <a:sym typeface="Nunito"/>
            </a:endParaRPr>
          </a:p>
        </p:txBody>
      </p:sp>
      <p:sp>
        <p:nvSpPr>
          <p:cNvPr id="126" name="Google Shape;126;p20"/>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0"/>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2.	GPU Hardware Requirements</a:t>
            </a:r>
            <a:endParaRPr b="1" i="0" sz="1800" u="none" cap="none" strike="noStrike">
              <a:solidFill>
                <a:srgbClr val="274D71"/>
              </a:solidFill>
              <a:latin typeface="Nunito"/>
              <a:ea typeface="Nunito"/>
              <a:cs typeface="Nunito"/>
              <a:sym typeface="Nunito"/>
            </a:endParaRPr>
          </a:p>
        </p:txBody>
      </p:sp>
      <p:sp>
        <p:nvSpPr>
          <p:cNvPr id="128" name="Google Shape;128;p20"/>
          <p:cNvSpPr txBox="1"/>
          <p:nvPr/>
        </p:nvSpPr>
        <p:spPr>
          <a:xfrm>
            <a:off x="544950" y="1242181"/>
            <a:ext cx="8276100" cy="37557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VRAM (Video RAM): </a:t>
            </a:r>
            <a:r>
              <a:rPr b="0" i="0" lang="en" sz="1600" u="none" cap="none" strike="noStrike">
                <a:solidFill>
                  <a:srgbClr val="274D71"/>
                </a:solidFill>
                <a:latin typeface="Nunito SemiBold"/>
                <a:ea typeface="Nunito SemiBold"/>
                <a:cs typeface="Nunito SemiBold"/>
                <a:sym typeface="Nunito SemiBold"/>
              </a:rPr>
              <a:t>This determines the size of the model you can load. Quantization can reduce VRAM requirements by up to 4x (e.g., an INT4 quantized 70B model requires ~35GB instead of 140GB).</a:t>
            </a:r>
            <a:endParaRPr b="0" i="0" sz="1600" u="none" cap="none" strike="noStrike">
              <a:solidFill>
                <a:srgbClr val="274D71"/>
              </a:solidFill>
              <a:latin typeface="Nunito SemiBold"/>
              <a:ea typeface="Nunito SemiBold"/>
              <a:cs typeface="Nunito SemiBold"/>
              <a:sym typeface="Nunito SemiBold"/>
            </a:endParaRPr>
          </a:p>
          <a:p>
            <a:pPr indent="-330200" lvl="1" marL="9144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3B Models:</a:t>
            </a:r>
            <a:r>
              <a:rPr b="0" i="0" lang="en" sz="1600" u="none" cap="none" strike="noStrike">
                <a:solidFill>
                  <a:srgbClr val="274D71"/>
                </a:solidFill>
                <a:latin typeface="Nunito SemiBold"/>
                <a:ea typeface="Nunito SemiBold"/>
                <a:cs typeface="Nunito SemiBold"/>
                <a:sym typeface="Nunito SemiBold"/>
              </a:rPr>
              <a:t> ~2B VRAM.</a:t>
            </a:r>
            <a:endParaRPr b="0" i="0" sz="1600" u="none" cap="none" strike="noStrike">
              <a:solidFill>
                <a:srgbClr val="274D71"/>
              </a:solidFill>
              <a:latin typeface="Nunito SemiBold"/>
              <a:ea typeface="Nunito SemiBold"/>
              <a:cs typeface="Nunito SemiBold"/>
              <a:sym typeface="Nunito SemiBold"/>
            </a:endParaRPr>
          </a:p>
          <a:p>
            <a:pPr indent="-330200" lvl="1" marL="9144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7B-8B Models:</a:t>
            </a:r>
            <a:r>
              <a:rPr b="0" i="0" lang="en" sz="1600" u="none" cap="none" strike="noStrike">
                <a:solidFill>
                  <a:srgbClr val="274D71"/>
                </a:solidFill>
                <a:latin typeface="Nunito SemiBold"/>
                <a:ea typeface="Nunito SemiBold"/>
                <a:cs typeface="Nunito SemiBold"/>
                <a:sym typeface="Nunito SemiBold"/>
              </a:rPr>
              <a:t> ~4GB VRAM (quantized) to 16GB (FB16)</a:t>
            </a:r>
            <a:endParaRPr b="0" i="0" sz="1600" u="none" cap="none" strike="noStrike">
              <a:solidFill>
                <a:srgbClr val="274D71"/>
              </a:solidFill>
              <a:latin typeface="Nunito SemiBold"/>
              <a:ea typeface="Nunito SemiBold"/>
              <a:cs typeface="Nunito SemiBold"/>
              <a:sym typeface="Nunito SemiBold"/>
            </a:endParaRPr>
          </a:p>
          <a:p>
            <a:pPr indent="-330200" lvl="1" marL="9144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70B Models:</a:t>
            </a:r>
            <a:r>
              <a:rPr b="0" i="0" lang="en" sz="1600" u="none" cap="none" strike="noStrike">
                <a:solidFill>
                  <a:srgbClr val="274D71"/>
                </a:solidFill>
                <a:latin typeface="Nunito SemiBold"/>
                <a:ea typeface="Nunito SemiBold"/>
                <a:cs typeface="Nunito SemiBold"/>
                <a:sym typeface="Nunito SemiBold"/>
              </a:rPr>
              <a:t> ~35GB VRAM (quantized), requiring high-end card like the A100 or dual RTX 4090s.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Blackwell (RTX 50-series) Exception:</a:t>
            </a:r>
            <a:r>
              <a:rPr b="0" i="0" lang="en" sz="1600" u="none" cap="none" strike="noStrike">
                <a:solidFill>
                  <a:srgbClr val="274D71"/>
                </a:solidFill>
                <a:latin typeface="Nunito SemiBold"/>
                <a:ea typeface="Nunito SemiBold"/>
                <a:cs typeface="Nunito SemiBold"/>
                <a:sym typeface="Nunito SemiBold"/>
              </a:rPr>
              <a:t> These newer cards require the open kernel module variant of the driver; using the proprietary module will cause initialization failure.</a:t>
            </a:r>
            <a:endParaRPr b="0" i="0" sz="1600" u="none" cap="none" strike="noStrike">
              <a:solidFill>
                <a:srgbClr val="274D71"/>
              </a:solidFill>
              <a:latin typeface="Nunito SemiBold"/>
              <a:ea typeface="Nunito SemiBold"/>
              <a:cs typeface="Nunito SemiBold"/>
              <a:sym typeface="Nunito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pic>
        <p:nvPicPr>
          <p:cNvPr id="133" name="Google Shape;133;p21"/>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134" name="Google Shape;134;p21"/>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Linux environment preparation for AI workloads (Cont.) </a:t>
            </a:r>
            <a:endParaRPr b="1" i="0" sz="2300" u="none" cap="none" strike="noStrike">
              <a:solidFill>
                <a:srgbClr val="274D71"/>
              </a:solidFill>
              <a:latin typeface="Nunito"/>
              <a:ea typeface="Nunito"/>
              <a:cs typeface="Nunito"/>
              <a:sym typeface="Nunito"/>
            </a:endParaRPr>
          </a:p>
        </p:txBody>
      </p:sp>
      <p:sp>
        <p:nvSpPr>
          <p:cNvPr id="135" name="Google Shape;135;p21"/>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1"/>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System Hardware Requirements</a:t>
            </a:r>
            <a:endParaRPr b="1" i="0" sz="1800" u="none" cap="none" strike="noStrike">
              <a:solidFill>
                <a:srgbClr val="274D71"/>
              </a:solidFill>
              <a:latin typeface="Nunito"/>
              <a:ea typeface="Nunito"/>
              <a:cs typeface="Nunito"/>
              <a:sym typeface="Nunito"/>
            </a:endParaRPr>
          </a:p>
        </p:txBody>
      </p:sp>
      <p:sp>
        <p:nvSpPr>
          <p:cNvPr id="137" name="Google Shape;137;p21"/>
          <p:cNvSpPr txBox="1"/>
          <p:nvPr/>
        </p:nvSpPr>
        <p:spPr>
          <a:xfrm>
            <a:off x="544950" y="1503527"/>
            <a:ext cx="8422800" cy="3386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System RAM: </a:t>
            </a:r>
            <a:r>
              <a:rPr b="0" i="0" lang="en" sz="1600" u="none" cap="none" strike="noStrike">
                <a:solidFill>
                  <a:srgbClr val="274D71"/>
                </a:solidFill>
                <a:latin typeface="Nunito SemiBold"/>
                <a:ea typeface="Nunito SemiBold"/>
                <a:cs typeface="Nunito SemiBold"/>
                <a:sym typeface="Nunito SemiBold"/>
              </a:rPr>
              <a:t>A minimum of </a:t>
            </a:r>
            <a:r>
              <a:rPr b="1" i="0" lang="en" sz="1600" u="none" cap="none" strike="noStrike">
                <a:solidFill>
                  <a:srgbClr val="274D71"/>
                </a:solidFill>
                <a:latin typeface="Nunito"/>
                <a:ea typeface="Nunito"/>
                <a:cs typeface="Nunito"/>
                <a:sym typeface="Nunito"/>
              </a:rPr>
              <a:t>8 GB</a:t>
            </a:r>
            <a:r>
              <a:rPr b="0" i="0" lang="en" sz="1600" u="none" cap="none" strike="noStrike">
                <a:solidFill>
                  <a:srgbClr val="274D71"/>
                </a:solidFill>
                <a:latin typeface="Nunito SemiBold"/>
                <a:ea typeface="Nunito SemiBold"/>
                <a:cs typeface="Nunito SemiBold"/>
                <a:sym typeface="Nunito SemiBold"/>
              </a:rPr>
              <a:t> is required but 1</a:t>
            </a:r>
            <a:r>
              <a:rPr b="1" i="0" lang="en" sz="1600" u="none" cap="none" strike="noStrike">
                <a:solidFill>
                  <a:srgbClr val="274D71"/>
                </a:solidFill>
                <a:latin typeface="Nunito"/>
                <a:ea typeface="Nunito"/>
                <a:cs typeface="Nunito"/>
                <a:sym typeface="Nunito"/>
              </a:rPr>
              <a:t>6 GB+</a:t>
            </a:r>
            <a:r>
              <a:rPr b="0" i="0" lang="en" sz="1600" u="none" cap="none" strike="noStrike">
                <a:solidFill>
                  <a:srgbClr val="274D71"/>
                </a:solidFill>
                <a:latin typeface="Nunito SemiBold"/>
                <a:ea typeface="Nunito SemiBold"/>
                <a:cs typeface="Nunito SemiBold"/>
                <a:sym typeface="Nunito SemiBold"/>
              </a:rPr>
              <a:t> is recommended. For massive models, system RAM should ideally be </a:t>
            </a:r>
            <a:r>
              <a:rPr b="1" i="0" lang="en" sz="1600" u="none" cap="none" strike="noStrike">
                <a:solidFill>
                  <a:srgbClr val="274D71"/>
                </a:solidFill>
                <a:latin typeface="Nunito"/>
                <a:ea typeface="Nunito"/>
                <a:cs typeface="Nunito"/>
                <a:sym typeface="Nunito"/>
              </a:rPr>
              <a:t>1.5x the model size</a:t>
            </a:r>
            <a:r>
              <a:rPr b="0" i="0" lang="en" sz="1600" u="none" cap="none" strike="noStrike">
                <a:solidFill>
                  <a:srgbClr val="274D71"/>
                </a:solidFill>
                <a:latin typeface="Nunito SemiBold"/>
                <a:ea typeface="Nunito SemiBold"/>
                <a:cs typeface="Nunito SemiBold"/>
                <a:sym typeface="Nunito SemiBold"/>
              </a:rPr>
              <a:t> to prevent slow performance due to swap usage (e.g., 65GB RAM for a 70B quantized model).</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Storage:</a:t>
            </a:r>
            <a:r>
              <a:rPr b="0" i="0" lang="en" sz="1600" u="none" cap="none" strike="noStrike">
                <a:solidFill>
                  <a:srgbClr val="274D71"/>
                </a:solidFill>
                <a:latin typeface="Nunito SemiBold"/>
                <a:ea typeface="Nunito SemiBold"/>
                <a:cs typeface="Nunito SemiBold"/>
                <a:sym typeface="Nunito SemiBold"/>
              </a:rPr>
              <a:t> At least </a:t>
            </a:r>
            <a:r>
              <a:rPr b="1" i="0" lang="en" sz="1600" u="none" cap="none" strike="noStrike">
                <a:solidFill>
                  <a:srgbClr val="274D71"/>
                </a:solidFill>
                <a:latin typeface="Nunito"/>
                <a:ea typeface="Nunito"/>
                <a:cs typeface="Nunito"/>
                <a:sym typeface="Nunito"/>
              </a:rPr>
              <a:t>20 GB of free disk space</a:t>
            </a:r>
            <a:r>
              <a:rPr b="0" i="0" lang="en" sz="1600" u="none" cap="none" strike="noStrike">
                <a:solidFill>
                  <a:srgbClr val="274D71"/>
                </a:solidFill>
                <a:latin typeface="Nunito SemiBold"/>
                <a:ea typeface="Nunito SemiBold"/>
                <a:cs typeface="Nunito SemiBold"/>
                <a:sym typeface="Nunito SemiBold"/>
              </a:rPr>
              <a:t> is required for the CUDA toolkit and drivers. Note that LLM weights themselves require significant additional space (e.g., ~35GB for a 70B quantized model)</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CPU:</a:t>
            </a:r>
            <a:r>
              <a:rPr b="0" i="0" lang="en" sz="1600" u="none" cap="none" strike="noStrike">
                <a:solidFill>
                  <a:srgbClr val="274D71"/>
                </a:solidFill>
                <a:latin typeface="Nunito SemiBold"/>
                <a:ea typeface="Nunito SemiBold"/>
                <a:cs typeface="Nunito SemiBold"/>
                <a:sym typeface="Nunito SemiBold"/>
              </a:rPr>
              <a:t> While the GPU handles the “heavy lifting”, the CPU manages sequential tasks and data processing. If CPU is too slow to tokenize or decode data, it can create a bottleneck where GPU utilization drop while waiting for the CPU.</a:t>
            </a:r>
            <a:endParaRPr b="0" i="0" sz="1600" u="none" cap="none" strike="noStrike">
              <a:solidFill>
                <a:srgbClr val="274D71"/>
              </a:solidFill>
              <a:latin typeface="Nunito SemiBold"/>
              <a:ea typeface="Nunito SemiBold"/>
              <a:cs typeface="Nunito SemiBold"/>
              <a:sym typeface="Nunito SemiBold"/>
            </a:endParaRPr>
          </a:p>
        </p:txBody>
      </p:sp>
      <p:sp>
        <p:nvSpPr>
          <p:cNvPr id="138" name="Google Shape;138;p21"/>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The rest of  your system must support the GPU’s data throughput needs:</a:t>
            </a:r>
            <a:endParaRPr b="0" i="0" sz="1800" u="none" cap="none" strike="noStrike">
              <a:solidFill>
                <a:srgbClr val="274D71"/>
              </a:solidFill>
              <a:latin typeface="Nunito"/>
              <a:ea typeface="Nunito"/>
              <a:cs typeface="Nunito"/>
              <a:sym typeface="Nunito"/>
            </a:endParaRPr>
          </a:p>
        </p:txBody>
      </p:sp>
      <p:sp>
        <p:nvSpPr>
          <p:cNvPr id="139" name="Google Shape;139;p21"/>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pic>
        <p:nvPicPr>
          <p:cNvPr id="144" name="Google Shape;144;p22"/>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145" name="Google Shape;145;p22"/>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Linux environment preparation for AI workloads (Cont.) </a:t>
            </a:r>
            <a:endParaRPr b="1" i="0" sz="2300" u="none" cap="none" strike="noStrike">
              <a:solidFill>
                <a:srgbClr val="274D71"/>
              </a:solidFill>
              <a:latin typeface="Nunito"/>
              <a:ea typeface="Nunito"/>
              <a:cs typeface="Nunito"/>
              <a:sym typeface="Nunito"/>
            </a:endParaRPr>
          </a:p>
        </p:txBody>
      </p:sp>
      <p:sp>
        <p:nvSpPr>
          <p:cNvPr id="146" name="Google Shape;146;p22"/>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2"/>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4.	Firmware Requirements</a:t>
            </a:r>
            <a:endParaRPr b="1" i="0" sz="1800" u="none" cap="none" strike="noStrike">
              <a:solidFill>
                <a:srgbClr val="274D71"/>
              </a:solidFill>
              <a:latin typeface="Nunito"/>
              <a:ea typeface="Nunito"/>
              <a:cs typeface="Nunito"/>
              <a:sym typeface="Nunito"/>
            </a:endParaRPr>
          </a:p>
        </p:txBody>
      </p:sp>
      <p:sp>
        <p:nvSpPr>
          <p:cNvPr id="148" name="Google Shape;148;p22"/>
          <p:cNvSpPr txBox="1"/>
          <p:nvPr/>
        </p:nvSpPr>
        <p:spPr>
          <a:xfrm>
            <a:off x="544950" y="1503527"/>
            <a:ext cx="8422800" cy="30168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Secure Boot:</a:t>
            </a:r>
            <a:r>
              <a:rPr b="0" i="0" lang="en" sz="1600" u="none" cap="none" strike="noStrike">
                <a:solidFill>
                  <a:srgbClr val="274D71"/>
                </a:solidFill>
                <a:latin typeface="Nunito SemiBold"/>
                <a:ea typeface="Nunito SemiBold"/>
                <a:cs typeface="Nunito SemiBold"/>
                <a:sym typeface="Nunito SemiBold"/>
              </a:rPr>
              <a:t> The primary hurdle for custom kernel modules (like NVIDIA drivers). It should ideally be disabled in BIOS/UEFI, or alternatively bypassed by using signed modules/manual MOK signing.</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Privacy &amp; Security Hardware:</a:t>
            </a:r>
            <a:r>
              <a:rPr b="0" i="0" lang="en" sz="1600" u="none" cap="none" strike="noStrike">
                <a:solidFill>
                  <a:srgbClr val="274D71"/>
                </a:solidFill>
                <a:latin typeface="Nunito SemiBold"/>
                <a:ea typeface="Nunito SemiBold"/>
                <a:cs typeface="Nunito SemiBold"/>
                <a:sym typeface="Nunito SemiBold"/>
              </a:rPr>
              <a:t> High-security/air-gapped environments may require TPM 2.0, Self-Encrypting Drives (SEDs), or physical removal of network components.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Hardware Interconnects: </a:t>
            </a:r>
            <a:r>
              <a:rPr b="0" i="0" lang="en" sz="1600" u="none" cap="none" strike="noStrike">
                <a:solidFill>
                  <a:srgbClr val="274D71"/>
                </a:solidFill>
                <a:latin typeface="Nunito SemiBold"/>
                <a:ea typeface="Nunito SemiBold"/>
                <a:cs typeface="Nunito SemiBold"/>
                <a:sym typeface="Nunito SemiBold"/>
              </a:rPr>
              <a:t>Datacenter setups may utilize high-speed links like NVLink for multi-GPU communication, significantly outperforming standard PCIe.</a:t>
            </a:r>
            <a:endParaRPr b="0" i="0" sz="1600" u="none" cap="none" strike="noStrike">
              <a:solidFill>
                <a:srgbClr val="274D71"/>
              </a:solidFill>
              <a:latin typeface="Nunito SemiBold"/>
              <a:ea typeface="Nunito SemiBold"/>
              <a:cs typeface="Nunito SemiBold"/>
              <a:sym typeface="Nunito SemiBold"/>
            </a:endParaRPr>
          </a:p>
        </p:txBody>
      </p:sp>
      <p:sp>
        <p:nvSpPr>
          <p:cNvPr id="149" name="Google Shape;149;p22"/>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Firmware settings can often prevent drivers from loading correctly."</a:t>
            </a:r>
            <a:endParaRPr b="0" i="0" sz="1800" u="none" cap="none" strike="noStrike">
              <a:solidFill>
                <a:srgbClr val="274D71"/>
              </a:solidFill>
              <a:latin typeface="Nunito"/>
              <a:ea typeface="Nunito"/>
              <a:cs typeface="Nunito"/>
              <a:sym typeface="Nunito"/>
            </a:endParaRPr>
          </a:p>
        </p:txBody>
      </p:sp>
      <p:sp>
        <p:nvSpPr>
          <p:cNvPr id="150" name="Google Shape;150;p22"/>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pic>
        <p:nvPicPr>
          <p:cNvPr id="155" name="Google Shape;155;p23"/>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156" name="Google Shape;156;p23"/>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GPU driver/runtime setup</a:t>
            </a:r>
            <a:endParaRPr b="1" i="0" sz="2300" u="none" cap="none" strike="noStrike">
              <a:solidFill>
                <a:srgbClr val="274D71"/>
              </a:solidFill>
              <a:latin typeface="Nunito"/>
              <a:ea typeface="Nunito"/>
              <a:cs typeface="Nunito"/>
              <a:sym typeface="Nunito"/>
            </a:endParaRPr>
          </a:p>
        </p:txBody>
      </p:sp>
      <p:sp>
        <p:nvSpPr>
          <p:cNvPr id="157" name="Google Shape;157;p23"/>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1.	The Architecture Of GPU Execution</a:t>
            </a:r>
            <a:endParaRPr b="1" i="0" sz="1800" u="none" cap="none" strike="noStrike">
              <a:solidFill>
                <a:srgbClr val="274D71"/>
              </a:solidFill>
              <a:latin typeface="Nunito"/>
              <a:ea typeface="Nunito"/>
              <a:cs typeface="Nunito"/>
              <a:sym typeface="Nunito"/>
            </a:endParaRPr>
          </a:p>
        </p:txBody>
      </p:sp>
      <p:sp>
        <p:nvSpPr>
          <p:cNvPr id="158" name="Google Shape;158;p23"/>
          <p:cNvSpPr txBox="1"/>
          <p:nvPr/>
        </p:nvSpPr>
        <p:spPr>
          <a:xfrm>
            <a:off x="544950" y="1881527"/>
            <a:ext cx="8422800" cy="2647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The NVIDIA Driver: </a:t>
            </a:r>
            <a:r>
              <a:rPr b="0" i="0" lang="en" sz="1600" u="none" cap="none" strike="noStrike">
                <a:solidFill>
                  <a:srgbClr val="274D71"/>
                </a:solidFill>
                <a:latin typeface="Nunito SemiBold"/>
                <a:ea typeface="Nunito SemiBold"/>
                <a:cs typeface="Nunito SemiBold"/>
                <a:sym typeface="Nunito SemiBold"/>
              </a:rPr>
              <a:t>Talks to the physical GPU. Must be installed directly on the host. The only layer that's version-sensitive at the kernel level — everything else builds on top of it.</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a:buChar char="⎊"/>
            </a:pPr>
            <a:r>
              <a:rPr b="1" i="0" lang="en" sz="1600" u="none" cap="none" strike="noStrike">
                <a:solidFill>
                  <a:srgbClr val="274D71"/>
                </a:solidFill>
                <a:latin typeface="Nunito"/>
                <a:ea typeface="Nunito"/>
                <a:cs typeface="Nunito"/>
                <a:sym typeface="Nunito"/>
              </a:rPr>
              <a:t>The CUDA Toolkit:</a:t>
            </a:r>
            <a:r>
              <a:rPr b="0" i="0" lang="en" sz="1600" u="none" cap="none" strike="noStrike">
                <a:solidFill>
                  <a:srgbClr val="274D71"/>
                </a:solidFill>
                <a:latin typeface="Nunito SemiBold"/>
                <a:ea typeface="Nunito SemiBold"/>
                <a:cs typeface="Nunito SemiBold"/>
                <a:sym typeface="Nunito SemiBold"/>
              </a:rPr>
              <a:t> The compiler and development headers (</a:t>
            </a:r>
            <a:r>
              <a:rPr b="1" i="0" lang="en" sz="1600" u="none" cap="none" strike="noStrike">
                <a:solidFill>
                  <a:srgbClr val="274D71"/>
                </a:solidFill>
                <a:latin typeface="Nunito"/>
                <a:ea typeface="Nunito"/>
                <a:cs typeface="Nunito"/>
                <a:sym typeface="Nunito"/>
              </a:rPr>
              <a:t>nvcc</a:t>
            </a:r>
            <a:r>
              <a:rPr b="0" i="0" lang="en" sz="1600" u="none" cap="none" strike="noStrike">
                <a:solidFill>
                  <a:srgbClr val="274D71"/>
                </a:solidFill>
                <a:latin typeface="Nunito SemiBold"/>
                <a:ea typeface="Nunito SemiBold"/>
                <a:cs typeface="Nunito SemiBold"/>
                <a:sym typeface="Nunito SemiBold"/>
              </a:rPr>
              <a:t>). Only needed on the host if you are compiling custom CUDA kernels natively.  Avoid installing "just in case" — toolkit installers can bundle their own driver and silently conflict with an existing one, especially on shared/lab machines.</a:t>
            </a:r>
            <a:endParaRPr b="0" i="0" sz="1600" u="none" cap="none" strike="noStrike">
              <a:solidFill>
                <a:srgbClr val="274D71"/>
              </a:solidFill>
              <a:latin typeface="Nunito SemiBold"/>
              <a:ea typeface="Nunito SemiBold"/>
              <a:cs typeface="Nunito SemiBold"/>
              <a:sym typeface="Nunito SemiBold"/>
            </a:endParaRPr>
          </a:p>
        </p:txBody>
      </p:sp>
      <p:sp>
        <p:nvSpPr>
          <p:cNvPr id="159" name="Google Shape;159;p23"/>
          <p:cNvSpPr txBox="1"/>
          <p:nvPr/>
        </p:nvSpPr>
        <p:spPr>
          <a:xfrm>
            <a:off x="554726" y="1138781"/>
            <a:ext cx="8138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To prevent dependency hell, you must understand how the layers interact. You do not need to install every layer on the host OS:</a:t>
            </a:r>
            <a:endParaRPr b="0" i="0" sz="1800" u="none" cap="none" strike="noStrike">
              <a:solidFill>
                <a:srgbClr val="274D71"/>
              </a:solidFill>
              <a:latin typeface="Nunito"/>
              <a:ea typeface="Nunito"/>
              <a:cs typeface="Nunito"/>
              <a:sym typeface="Nunito"/>
            </a:endParaRPr>
          </a:p>
        </p:txBody>
      </p:sp>
      <p:sp>
        <p:nvSpPr>
          <p:cNvPr id="160" name="Google Shape;160;p23"/>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3"/>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pic>
        <p:nvPicPr>
          <p:cNvPr id="166" name="Google Shape;166;p24"/>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167" name="Google Shape;167;p24"/>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GPU driver/runtime setup</a:t>
            </a:r>
            <a:endParaRPr b="1" i="0" sz="2300" u="none" cap="none" strike="noStrike">
              <a:solidFill>
                <a:srgbClr val="274D71"/>
              </a:solidFill>
              <a:latin typeface="Nunito"/>
              <a:ea typeface="Nunito"/>
              <a:cs typeface="Nunito"/>
              <a:sym typeface="Nunito"/>
            </a:endParaRPr>
          </a:p>
        </p:txBody>
      </p:sp>
      <p:sp>
        <p:nvSpPr>
          <p:cNvPr id="168" name="Google Shape;168;p24"/>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1.	The Architecture Of GPU Execution (cont.)</a:t>
            </a:r>
            <a:endParaRPr b="1" i="0" sz="1800" u="none" cap="none" strike="noStrike">
              <a:solidFill>
                <a:srgbClr val="274D71"/>
              </a:solidFill>
              <a:latin typeface="Nunito"/>
              <a:ea typeface="Nunito"/>
              <a:cs typeface="Nunito"/>
              <a:sym typeface="Nunito"/>
            </a:endParaRPr>
          </a:p>
        </p:txBody>
      </p:sp>
      <p:sp>
        <p:nvSpPr>
          <p:cNvPr id="169" name="Google Shape;169;p24"/>
          <p:cNvSpPr txBox="1"/>
          <p:nvPr/>
        </p:nvSpPr>
        <p:spPr>
          <a:xfrm>
            <a:off x="544950" y="1147305"/>
            <a:ext cx="8422800" cy="3132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The Framework Runtime:</a:t>
            </a:r>
            <a:r>
              <a:rPr b="0" i="0" lang="en" sz="1600" u="none" cap="none" strike="noStrike">
                <a:solidFill>
                  <a:srgbClr val="274D71"/>
                </a:solidFill>
                <a:latin typeface="Nunito SemiBold"/>
                <a:ea typeface="Nunito SemiBold"/>
                <a:cs typeface="Nunito SemiBold"/>
                <a:sym typeface="Nunito SemiBold"/>
              </a:rPr>
              <a:t> PyTorch, TensorFlow, or JAX. Modern frameworks bundle their own CUDA runtime in their Python wheels. They only require the host to have compatible drivers — this is why you don't need the Toolkit just to run models, only to build new custom ops.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NVIDIA Container Toolkit:</a:t>
            </a:r>
            <a:r>
              <a:rPr b="0" i="0" lang="en" sz="1600" u="none" cap="none" strike="noStrike">
                <a:solidFill>
                  <a:srgbClr val="274D71"/>
                </a:solidFill>
                <a:latin typeface="Nunito SemiBold"/>
                <a:ea typeface="Nunito SemiBold"/>
                <a:cs typeface="Nunito SemiBold"/>
                <a:sym typeface="Nunito SemiBold"/>
              </a:rPr>
              <a:t> The bridge that allows Docker/containerd to access the host's GPU. Relevant once workloads move into containers (later in Optimization/Deployment).</a:t>
            </a:r>
            <a:endParaRPr b="0" i="0" sz="1100" u="none" cap="none" strike="noStrike">
              <a:solidFill>
                <a:schemeClr val="dk1"/>
              </a:solidFill>
              <a:latin typeface="Arial"/>
              <a:ea typeface="Arial"/>
              <a:cs typeface="Arial"/>
              <a:sym typeface="Arial"/>
            </a:endParaRPr>
          </a:p>
          <a:p>
            <a:pPr indent="0" lvl="0" marL="0" marR="0" rtl="0" algn="l">
              <a:lnSpc>
                <a:spcPct val="150000"/>
              </a:lnSpc>
              <a:spcBef>
                <a:spcPts val="900"/>
              </a:spcBef>
              <a:spcAft>
                <a:spcPts val="900"/>
              </a:spcAft>
              <a:buClr>
                <a:srgbClr val="000000"/>
              </a:buClr>
              <a:buSzPts val="1600"/>
              <a:buFont typeface="Arial"/>
              <a:buNone/>
            </a:pPr>
            <a:r>
              <a:t/>
            </a:r>
            <a:endParaRPr b="1" i="0" sz="1600" u="none" cap="none" strike="noStrike">
              <a:solidFill>
                <a:srgbClr val="274D71"/>
              </a:solidFill>
              <a:latin typeface="Nunito"/>
              <a:ea typeface="Nunito"/>
              <a:cs typeface="Nunito"/>
              <a:sym typeface="Nunito"/>
            </a:endParaRPr>
          </a:p>
        </p:txBody>
      </p:sp>
      <p:sp>
        <p:nvSpPr>
          <p:cNvPr id="170" name="Google Shape;170;p24"/>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pic>
        <p:nvPicPr>
          <p:cNvPr id="175" name="Google Shape;175;p25"/>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176" name="Google Shape;176;p25"/>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GPU driver/runtime setup</a:t>
            </a:r>
            <a:endParaRPr b="1" i="0" sz="2300" u="none" cap="none" strike="noStrike">
              <a:solidFill>
                <a:srgbClr val="274D71"/>
              </a:solidFill>
              <a:latin typeface="Nunito"/>
              <a:ea typeface="Nunito"/>
              <a:cs typeface="Nunito"/>
              <a:sym typeface="Nunito"/>
            </a:endParaRPr>
          </a:p>
        </p:txBody>
      </p:sp>
      <p:sp>
        <p:nvSpPr>
          <p:cNvPr id="177" name="Google Shape;177;p25"/>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2.	Verifying Before You Install</a:t>
            </a:r>
            <a:endParaRPr b="1" i="0" sz="1800" u="none" cap="none" strike="noStrike">
              <a:solidFill>
                <a:srgbClr val="274D71"/>
              </a:solidFill>
              <a:latin typeface="Nunito"/>
              <a:ea typeface="Nunito"/>
              <a:cs typeface="Nunito"/>
              <a:sym typeface="Nunito"/>
            </a:endParaRPr>
          </a:p>
        </p:txBody>
      </p:sp>
      <p:sp>
        <p:nvSpPr>
          <p:cNvPr id="178" name="Google Shape;178;p25"/>
          <p:cNvSpPr txBox="1"/>
          <p:nvPr/>
        </p:nvSpPr>
        <p:spPr>
          <a:xfrm>
            <a:off x="544950" y="1147305"/>
            <a:ext cx="8422800" cy="431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Before touching any layer, check what’s already there:</a:t>
            </a:r>
            <a:endParaRPr b="0" i="0" sz="1600" u="none" cap="none" strike="noStrike">
              <a:solidFill>
                <a:srgbClr val="274D71"/>
              </a:solidFill>
              <a:latin typeface="Nunito SemiBold"/>
              <a:ea typeface="Nunito SemiBold"/>
              <a:cs typeface="Nunito SemiBold"/>
              <a:sym typeface="Nunito SemiBold"/>
            </a:endParaRPr>
          </a:p>
        </p:txBody>
      </p:sp>
      <p:pic>
        <p:nvPicPr>
          <p:cNvPr id="179" name="Google Shape;179;p25" title="index.java (1).png"/>
          <p:cNvPicPr preferRelativeResize="0"/>
          <p:nvPr/>
        </p:nvPicPr>
        <p:blipFill rotWithShape="1">
          <a:blip r:embed="rId4">
            <a:alphaModFix/>
          </a:blip>
          <a:srcRect b="8465" l="1311" r="1592" t="7888"/>
          <a:stretch/>
        </p:blipFill>
        <p:spPr>
          <a:xfrm>
            <a:off x="267900" y="1528775"/>
            <a:ext cx="8582426" cy="1379150"/>
          </a:xfrm>
          <a:prstGeom prst="rect">
            <a:avLst/>
          </a:prstGeom>
          <a:noFill/>
          <a:ln>
            <a:noFill/>
          </a:ln>
        </p:spPr>
      </p:pic>
      <p:sp>
        <p:nvSpPr>
          <p:cNvPr id="180" name="Google Shape;180;p25"/>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pic>
        <p:nvPicPr>
          <p:cNvPr id="185" name="Google Shape;185;p26"/>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186" name="Google Shape;186;p26"/>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CUDA Concepts (Conceptual)</a:t>
            </a:r>
            <a:endParaRPr b="1" i="0" sz="2300" u="none" cap="none" strike="noStrike">
              <a:solidFill>
                <a:srgbClr val="274D71"/>
              </a:solidFill>
              <a:latin typeface="Nunito"/>
              <a:ea typeface="Nunito"/>
              <a:cs typeface="Nunito"/>
              <a:sym typeface="Nunito"/>
            </a:endParaRPr>
          </a:p>
        </p:txBody>
      </p:sp>
      <p:sp>
        <p:nvSpPr>
          <p:cNvPr id="187" name="Google Shape;187;p26"/>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6"/>
          <p:cNvSpPr txBox="1"/>
          <p:nvPr/>
        </p:nvSpPr>
        <p:spPr>
          <a:xfrm>
            <a:off x="527114"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rgbClr val="274D71"/>
              </a:solidFill>
              <a:latin typeface="Nunito"/>
              <a:ea typeface="Nunito"/>
              <a:cs typeface="Nunito"/>
              <a:sym typeface="Nunito"/>
            </a:endParaRPr>
          </a:p>
        </p:txBody>
      </p:sp>
      <p:sp>
        <p:nvSpPr>
          <p:cNvPr id="189" name="Google Shape;189;p26"/>
          <p:cNvSpPr txBox="1"/>
          <p:nvPr/>
        </p:nvSpPr>
        <p:spPr>
          <a:xfrm>
            <a:off x="544950" y="810706"/>
            <a:ext cx="8590500" cy="3386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a:buChar char="●"/>
            </a:pPr>
            <a:r>
              <a:rPr b="1" i="0" lang="en" sz="1600" u="none" cap="none" strike="noStrike">
                <a:solidFill>
                  <a:srgbClr val="274D71"/>
                </a:solidFill>
                <a:latin typeface="Nunito"/>
                <a:ea typeface="Nunito"/>
                <a:cs typeface="Nunito"/>
                <a:sym typeface="Nunito"/>
              </a:rPr>
              <a:t>What CUDA is: </a:t>
            </a:r>
            <a:r>
              <a:rPr b="0" i="0" lang="en" sz="1600" u="none" cap="none" strike="noStrike">
                <a:solidFill>
                  <a:srgbClr val="274D71"/>
                </a:solidFill>
                <a:latin typeface="Nunito SemiBold"/>
                <a:ea typeface="Nunito SemiBold"/>
                <a:cs typeface="Nunito SemiBold"/>
                <a:sym typeface="Nunito SemiBold"/>
              </a:rPr>
              <a:t>NVIDIA's parallel computing platform—it lets GPU cores run thousands of threads concurrently, which is why matrix-heavy LLM inference/training is fast on GPU vs CPU. </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Compute Capability:</a:t>
            </a:r>
            <a:r>
              <a:rPr b="0" i="0" lang="en" sz="1600" u="none" cap="none" strike="noStrike">
                <a:solidFill>
                  <a:srgbClr val="274D71"/>
                </a:solidFill>
                <a:latin typeface="Nunito SemiBold"/>
                <a:ea typeface="Nunito SemiBold"/>
                <a:cs typeface="Nunito SemiBold"/>
                <a:sym typeface="Nunito SemiBold"/>
              </a:rPr>
              <a:t> Every GPU has a version number (e.g., 8.9 for RTX 4090, 9.0 for RTX 5090-class Blackwell)—frameworks/prebuilt binaries target minimum compute capabilities; a mismatch causes "unsupported GPU" errors even with correct drivers. </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CUDA vs. driver version compatibility:</a:t>
            </a:r>
            <a:r>
              <a:rPr b="0" i="0" lang="en" sz="1600" u="none" cap="none" strike="noStrike">
                <a:solidFill>
                  <a:srgbClr val="274D71"/>
                </a:solidFill>
                <a:latin typeface="Nunito SemiBold"/>
                <a:ea typeface="Nunito SemiBold"/>
                <a:cs typeface="Nunito SemiBold"/>
                <a:sym typeface="Nunito SemiBold"/>
              </a:rPr>
              <a:t> the driver has a maximum supported CUDA version; toolkits/frameworks below that are fine. Worth showing nvidia-smi's reported "CUDA Version" field is a ceiling, not what's installed. </a:t>
            </a:r>
            <a:endParaRPr b="0" i="0" sz="1600" u="none" cap="none" strike="noStrike">
              <a:solidFill>
                <a:srgbClr val="274D71"/>
              </a:solidFill>
              <a:latin typeface="Nunito SemiBold"/>
              <a:ea typeface="Nunito SemiBold"/>
              <a:cs typeface="Nunito SemiBold"/>
              <a:sym typeface="Nunito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pic>
        <p:nvPicPr>
          <p:cNvPr id="194" name="Google Shape;194;p27"/>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195" name="Google Shape;195;p27"/>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CUDA Concepts (Conceptual)</a:t>
            </a:r>
            <a:endParaRPr b="1" i="0" sz="2300" u="none" cap="none" strike="noStrike">
              <a:solidFill>
                <a:srgbClr val="274D71"/>
              </a:solidFill>
              <a:latin typeface="Nunito"/>
              <a:ea typeface="Nunito"/>
              <a:cs typeface="Nunito"/>
              <a:sym typeface="Nunito"/>
            </a:endParaRPr>
          </a:p>
        </p:txBody>
      </p:sp>
      <p:sp>
        <p:nvSpPr>
          <p:cNvPr id="196" name="Google Shape;196;p27"/>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7"/>
          <p:cNvSpPr txBox="1"/>
          <p:nvPr/>
        </p:nvSpPr>
        <p:spPr>
          <a:xfrm>
            <a:off x="527114"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rgbClr val="274D71"/>
              </a:solidFill>
              <a:latin typeface="Nunito"/>
              <a:ea typeface="Nunito"/>
              <a:cs typeface="Nunito"/>
              <a:sym typeface="Nunito"/>
            </a:endParaRPr>
          </a:p>
        </p:txBody>
      </p:sp>
      <p:sp>
        <p:nvSpPr>
          <p:cNvPr id="198" name="Google Shape;198;p27"/>
          <p:cNvSpPr txBox="1"/>
          <p:nvPr/>
        </p:nvSpPr>
        <p:spPr>
          <a:xfrm>
            <a:off x="544950" y="810706"/>
            <a:ext cx="8590500" cy="1539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VRAM as the real constraint:</a:t>
            </a:r>
            <a:r>
              <a:rPr b="0" i="0" lang="en" sz="1600" u="none" cap="none" strike="noStrike">
                <a:solidFill>
                  <a:srgbClr val="274D71"/>
                </a:solidFill>
                <a:latin typeface="Nunito SemiBold"/>
                <a:ea typeface="Nunito SemiBold"/>
                <a:cs typeface="Nunito SemiBold"/>
                <a:sym typeface="Nunito SemiBold"/>
              </a:rPr>
              <a:t> GPU memory is fixed—unlike system RAM, you can't casually add more—and everything the model needs while running has to share that same fixed pool</a:t>
            </a:r>
            <a:endParaRPr b="0" i="0" sz="1600" u="none" cap="none" strike="noStrike">
              <a:solidFill>
                <a:srgbClr val="274D71"/>
              </a:solidFill>
              <a:latin typeface="Nunito SemiBold"/>
              <a:ea typeface="Nunito SemiBold"/>
              <a:cs typeface="Nunito SemiBold"/>
              <a:sym typeface="Nunito SemiBold"/>
            </a:endParaRPr>
          </a:p>
          <a:p>
            <a:pPr indent="-330200" lvl="1" marL="9144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VRAM Calculation : </a:t>
            </a:r>
            <a:r>
              <a:rPr b="0" i="0" lang="en" sz="1600" u="sng" cap="none" strike="noStrike">
                <a:solidFill>
                  <a:schemeClr val="hlink"/>
                </a:solidFill>
                <a:latin typeface="Nunito SemiBold"/>
                <a:ea typeface="Nunito SemiBold"/>
                <a:cs typeface="Nunito SemiBold"/>
                <a:sym typeface="Nunito SemiBold"/>
                <a:hlinkClick r:id="rId4"/>
              </a:rPr>
              <a:t>https://apxml.com/tools/vram-calculator</a:t>
            </a:r>
            <a:endParaRPr b="0" i="0" sz="1600" u="none" cap="none" strike="noStrike">
              <a:solidFill>
                <a:srgbClr val="274D71"/>
              </a:solidFill>
              <a:latin typeface="Nunito SemiBold"/>
              <a:ea typeface="Nunito SemiBold"/>
              <a:cs typeface="Nunito SemiBold"/>
              <a:sym typeface="Nunito Semi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pic>
        <p:nvPicPr>
          <p:cNvPr id="203" name="Google Shape;203;p28"/>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204" name="Google Shape;204;p28"/>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CUDA Concepts</a:t>
            </a:r>
            <a:endParaRPr b="1" i="0" sz="2300" u="none" cap="none" strike="noStrike">
              <a:solidFill>
                <a:srgbClr val="274D71"/>
              </a:solidFill>
              <a:latin typeface="Nunito"/>
              <a:ea typeface="Nunito"/>
              <a:cs typeface="Nunito"/>
              <a:sym typeface="Nunito"/>
            </a:endParaRPr>
          </a:p>
        </p:txBody>
      </p:sp>
      <p:sp>
        <p:nvSpPr>
          <p:cNvPr id="205" name="Google Shape;205;p28"/>
          <p:cNvSpPr txBox="1"/>
          <p:nvPr/>
        </p:nvSpPr>
        <p:spPr>
          <a:xfrm>
            <a:off x="527114"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1.	Core Architectural Concepts</a:t>
            </a:r>
            <a:endParaRPr b="1" i="0" sz="1800" u="none" cap="none" strike="noStrike">
              <a:solidFill>
                <a:srgbClr val="274D71"/>
              </a:solidFill>
              <a:latin typeface="Nunito"/>
              <a:ea typeface="Nunito"/>
              <a:cs typeface="Nunito"/>
              <a:sym typeface="Nunito"/>
            </a:endParaRPr>
          </a:p>
        </p:txBody>
      </p:sp>
      <p:sp>
        <p:nvSpPr>
          <p:cNvPr id="206" name="Google Shape;206;p28"/>
          <p:cNvSpPr txBox="1"/>
          <p:nvPr/>
        </p:nvSpPr>
        <p:spPr>
          <a:xfrm>
            <a:off x="544950" y="1127484"/>
            <a:ext cx="8422800" cy="2370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800" u="none" cap="none" strike="noStrike">
                <a:solidFill>
                  <a:srgbClr val="274D71"/>
                </a:solidFill>
                <a:latin typeface="Nunito"/>
                <a:ea typeface="Nunito"/>
                <a:cs typeface="Nunito"/>
                <a:sym typeface="Nunito"/>
              </a:rPr>
              <a:t>Streaming Multiprocessors (SM)</a:t>
            </a:r>
            <a:r>
              <a:rPr b="0" i="0" lang="en" sz="1800" u="none" cap="none" strike="noStrike">
                <a:solidFill>
                  <a:srgbClr val="274D71"/>
                </a:solidFill>
                <a:latin typeface="Nunito"/>
                <a:ea typeface="Nunito"/>
                <a:cs typeface="Nunito"/>
                <a:sym typeface="Nunito"/>
              </a:rPr>
              <a:t>: </a:t>
            </a:r>
            <a:r>
              <a:rPr b="0" i="0" lang="en" sz="1600" u="none" cap="none" strike="noStrike">
                <a:solidFill>
                  <a:srgbClr val="274D71"/>
                </a:solidFill>
                <a:latin typeface="Nunito SemiBold"/>
                <a:ea typeface="Nunito SemiBold"/>
                <a:cs typeface="Nunito SemiBold"/>
                <a:sym typeface="Nunito SemiBold"/>
              </a:rPr>
              <a:t>These are the core execution units inside the GPU. An SM contains the CUDA cores, tensor cores, and registers. Block of thread are scheduled onto the SM for processing.</a:t>
            </a:r>
            <a:endParaRPr b="0" i="0" sz="1800" u="none" cap="none" strike="noStrike">
              <a:solidFill>
                <a:srgbClr val="274D71"/>
              </a:solidFill>
              <a:latin typeface="Nunito"/>
              <a:ea typeface="Nunito"/>
              <a:cs typeface="Nunito"/>
              <a:sym typeface="Nunito"/>
            </a:endParaRPr>
          </a:p>
          <a:p>
            <a:pPr indent="-342900" lvl="0" marL="457200" marR="0" rtl="0" algn="l">
              <a:lnSpc>
                <a:spcPct val="150000"/>
              </a:lnSpc>
              <a:spcBef>
                <a:spcPts val="0"/>
              </a:spcBef>
              <a:spcAft>
                <a:spcPts val="0"/>
              </a:spcAft>
              <a:buClr>
                <a:srgbClr val="274D71"/>
              </a:buClr>
              <a:buSzPts val="1800"/>
              <a:buFont typeface="Nunito"/>
              <a:buChar char="⎊"/>
            </a:pPr>
            <a:r>
              <a:rPr b="1" i="0" lang="en" sz="1800" u="none" cap="none" strike="noStrike">
                <a:solidFill>
                  <a:srgbClr val="274D71"/>
                </a:solidFill>
                <a:latin typeface="Nunito"/>
                <a:ea typeface="Nunito"/>
                <a:cs typeface="Nunito"/>
                <a:sym typeface="Nunito"/>
              </a:rPr>
              <a:t>CUDA Cores</a:t>
            </a:r>
            <a:r>
              <a:rPr b="0" i="0" lang="en" sz="1800" u="none" cap="none" strike="noStrike">
                <a:solidFill>
                  <a:srgbClr val="274D71"/>
                </a:solidFill>
                <a:latin typeface="Nunito"/>
                <a:ea typeface="Nunito"/>
                <a:cs typeface="Nunito"/>
                <a:sym typeface="Nunito"/>
              </a:rPr>
              <a:t>: </a:t>
            </a:r>
            <a:r>
              <a:rPr b="0" i="0" lang="en" sz="1600" u="none" cap="none" strike="noStrike">
                <a:solidFill>
                  <a:srgbClr val="274D71"/>
                </a:solidFill>
                <a:latin typeface="Nunito SemiBold"/>
                <a:ea typeface="Nunito SemiBold"/>
                <a:cs typeface="Nunito SemiBold"/>
                <a:sym typeface="Nunito SemiBold"/>
              </a:rPr>
              <a:t>Unlike complex CPU cores designed for the sequential tasks, CUDA cores are simpler arithmetic units designed to perform massive amounts of integer and floating-point math simultaneously.</a:t>
            </a:r>
            <a:endParaRPr b="0" i="0" sz="1600" u="none" cap="none" strike="noStrike">
              <a:solidFill>
                <a:srgbClr val="274D71"/>
              </a:solidFill>
              <a:latin typeface="Nunito SemiBold"/>
              <a:ea typeface="Nunito SemiBold"/>
              <a:cs typeface="Nunito SemiBold"/>
              <a:sym typeface="Nunito SemiBold"/>
            </a:endParaRPr>
          </a:p>
        </p:txBody>
      </p:sp>
      <p:sp>
        <p:nvSpPr>
          <p:cNvPr id="207" name="Google Shape;207;p28"/>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pic>
        <p:nvPicPr>
          <p:cNvPr id="212" name="Google Shape;212;p29"/>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213" name="Google Shape;213;p29"/>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CUDA Concepts</a:t>
            </a:r>
            <a:endParaRPr b="1" i="0" sz="2300" u="none" cap="none" strike="noStrike">
              <a:solidFill>
                <a:srgbClr val="274D71"/>
              </a:solidFill>
              <a:latin typeface="Nunito"/>
              <a:ea typeface="Nunito"/>
              <a:cs typeface="Nunito"/>
              <a:sym typeface="Nunito"/>
            </a:endParaRPr>
          </a:p>
        </p:txBody>
      </p:sp>
      <p:sp>
        <p:nvSpPr>
          <p:cNvPr id="214" name="Google Shape;214;p29"/>
          <p:cNvSpPr txBox="1"/>
          <p:nvPr/>
        </p:nvSpPr>
        <p:spPr>
          <a:xfrm>
            <a:off x="527114" y="780484"/>
            <a:ext cx="5952600" cy="461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rgbClr val="274D71"/>
              </a:buClr>
              <a:buSzPts val="1800"/>
              <a:buFont typeface="Nunito"/>
              <a:buAutoNum type="arabicPeriod"/>
            </a:pPr>
            <a:r>
              <a:rPr b="1" i="0" lang="en" sz="1800" u="none" cap="none" strike="noStrike">
                <a:solidFill>
                  <a:srgbClr val="274D71"/>
                </a:solidFill>
                <a:latin typeface="Nunito"/>
                <a:ea typeface="Nunito"/>
                <a:cs typeface="Nunito"/>
                <a:sym typeface="Nunito"/>
              </a:rPr>
              <a:t>Core Architectural Concepts</a:t>
            </a:r>
            <a:endParaRPr b="1" i="0" sz="1800" u="none" cap="none" strike="noStrike">
              <a:solidFill>
                <a:srgbClr val="274D71"/>
              </a:solidFill>
              <a:latin typeface="Nunito"/>
              <a:ea typeface="Nunito"/>
              <a:cs typeface="Nunito"/>
              <a:sym typeface="Nunito"/>
            </a:endParaRPr>
          </a:p>
        </p:txBody>
      </p:sp>
      <p:sp>
        <p:nvSpPr>
          <p:cNvPr id="215" name="Google Shape;215;p29"/>
          <p:cNvSpPr txBox="1"/>
          <p:nvPr/>
        </p:nvSpPr>
        <p:spPr>
          <a:xfrm>
            <a:off x="544950" y="1951325"/>
            <a:ext cx="8590500" cy="22779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Clr>
                <a:srgbClr val="303030"/>
              </a:buClr>
              <a:buSzPts val="1200"/>
              <a:buFont typeface="Arial"/>
              <a:buChar char="⎊"/>
            </a:pPr>
            <a:r>
              <a:rPr b="1" i="0" lang="en" sz="1600" u="none" cap="none" strike="noStrike">
                <a:solidFill>
                  <a:srgbClr val="274D71"/>
                </a:solidFill>
                <a:latin typeface="Nunito"/>
                <a:ea typeface="Nunito"/>
                <a:cs typeface="Nunito"/>
                <a:sym typeface="Nunito"/>
              </a:rPr>
              <a:t>Host </a:t>
            </a:r>
            <a:r>
              <a:rPr b="0" i="0" lang="en" sz="1600" u="none" cap="none" strike="noStrike">
                <a:solidFill>
                  <a:srgbClr val="274D71"/>
                </a:solidFill>
                <a:latin typeface="Nunito SemiBold"/>
                <a:ea typeface="Nunito SemiBold"/>
                <a:cs typeface="Nunito SemiBold"/>
                <a:sym typeface="Nunito SemiBold"/>
              </a:rPr>
              <a:t>vs. </a:t>
            </a:r>
            <a:r>
              <a:rPr b="1" i="0" lang="en" sz="1600" u="none" cap="none" strike="noStrike">
                <a:solidFill>
                  <a:srgbClr val="274D71"/>
                </a:solidFill>
                <a:latin typeface="Nunito"/>
                <a:ea typeface="Nunito"/>
                <a:cs typeface="Nunito"/>
                <a:sym typeface="Nunito"/>
              </a:rPr>
              <a:t>Device</a:t>
            </a:r>
            <a:r>
              <a:rPr b="0" i="0" lang="en" sz="1600" u="none" cap="none" strike="noStrike">
                <a:solidFill>
                  <a:srgbClr val="274D71"/>
                </a:solidFill>
                <a:latin typeface="Nunito SemiBold"/>
                <a:ea typeface="Nunito SemiBold"/>
                <a:cs typeface="Nunito SemiBold"/>
                <a:sym typeface="Nunito SemiBold"/>
              </a:rPr>
              <a:t>: In the CUDA ecosystem, the </a:t>
            </a:r>
            <a:r>
              <a:rPr b="1" i="0" lang="en" sz="1600" u="none" cap="none" strike="noStrike">
                <a:solidFill>
                  <a:srgbClr val="274D71"/>
                </a:solidFill>
                <a:latin typeface="Nunito"/>
                <a:ea typeface="Nunito"/>
                <a:cs typeface="Nunito"/>
                <a:sym typeface="Nunito"/>
              </a:rPr>
              <a:t>Host </a:t>
            </a:r>
            <a:r>
              <a:rPr b="0" i="0" lang="en" sz="1600" u="none" cap="none" strike="noStrike">
                <a:solidFill>
                  <a:srgbClr val="274D71"/>
                </a:solidFill>
                <a:latin typeface="Nunito SemiBold"/>
                <a:ea typeface="Nunito SemiBold"/>
                <a:cs typeface="Nunito SemiBold"/>
                <a:sym typeface="Nunito SemiBold"/>
              </a:rPr>
              <a:t>refers to the CPU and its system</a:t>
            </a:r>
            <a:br>
              <a:rPr b="0" i="0" lang="en" sz="1600" u="none" cap="none" strike="noStrike">
                <a:solidFill>
                  <a:srgbClr val="274D71"/>
                </a:solidFill>
                <a:latin typeface="Nunito SemiBold"/>
                <a:ea typeface="Nunito SemiBold"/>
                <a:cs typeface="Nunito SemiBold"/>
                <a:sym typeface="Nunito SemiBold"/>
              </a:rPr>
            </a:br>
            <a:r>
              <a:rPr b="0" i="0" lang="en" sz="1600" u="none" cap="none" strike="noStrike">
                <a:solidFill>
                  <a:srgbClr val="274D71"/>
                </a:solidFill>
                <a:latin typeface="Nunito SemiBold"/>
                <a:ea typeface="Nunito SemiBold"/>
                <a:cs typeface="Nunito SemiBold"/>
                <a:sym typeface="Nunito SemiBold"/>
              </a:rPr>
              <a:t>RAM, while the </a:t>
            </a:r>
            <a:r>
              <a:rPr b="1" i="0" lang="en" sz="1600" u="none" cap="none" strike="noStrike">
                <a:solidFill>
                  <a:srgbClr val="274D71"/>
                </a:solidFill>
                <a:latin typeface="Nunito"/>
                <a:ea typeface="Nunito"/>
                <a:cs typeface="Nunito"/>
                <a:sym typeface="Nunito"/>
              </a:rPr>
              <a:t>Device </a:t>
            </a:r>
            <a:r>
              <a:rPr b="0" i="0" lang="en" sz="1600" u="none" cap="none" strike="noStrike">
                <a:solidFill>
                  <a:srgbClr val="274D71"/>
                </a:solidFill>
                <a:latin typeface="Nunito SemiBold"/>
                <a:ea typeface="Nunito SemiBold"/>
                <a:cs typeface="Nunito SemiBold"/>
                <a:sym typeface="Nunito SemiBold"/>
              </a:rPr>
              <a:t>refers to the GPU and its VRAM. </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The Hierarchy of Execution:</a:t>
            </a:r>
            <a:endParaRPr b="0" i="0" sz="1600" u="none" cap="none" strike="noStrike">
              <a:solidFill>
                <a:srgbClr val="274D71"/>
              </a:solidFill>
              <a:latin typeface="Nunito SemiBold"/>
              <a:ea typeface="Nunito SemiBold"/>
              <a:cs typeface="Nunito SemiBold"/>
              <a:sym typeface="Nunito SemiBold"/>
            </a:endParaRPr>
          </a:p>
          <a:p>
            <a:pPr indent="-330200" lvl="1" marL="9144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Thread</a:t>
            </a:r>
            <a:r>
              <a:rPr b="0" i="0" lang="en" sz="1600" u="none" cap="none" strike="noStrike">
                <a:solidFill>
                  <a:srgbClr val="274D71"/>
                </a:solidFill>
                <a:latin typeface="Nunito SemiBold"/>
                <a:ea typeface="Nunito SemiBold"/>
                <a:cs typeface="Nunito SemiBold"/>
                <a:sym typeface="Nunito SemiBold"/>
              </a:rPr>
              <a:t>: the lowest-level unit of parallel execution.</a:t>
            </a:r>
            <a:endParaRPr b="0" i="0" sz="1600" u="none" cap="none" strike="noStrike">
              <a:solidFill>
                <a:srgbClr val="274D71"/>
              </a:solidFill>
              <a:latin typeface="Nunito SemiBold"/>
              <a:ea typeface="Nunito SemiBold"/>
              <a:cs typeface="Nunito SemiBold"/>
              <a:sym typeface="Nunito SemiBold"/>
            </a:endParaRPr>
          </a:p>
          <a:p>
            <a:pPr indent="-330200" lvl="1" marL="9144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Block</a:t>
            </a:r>
            <a:r>
              <a:rPr b="0" i="0" lang="en" sz="1600" u="none" cap="none" strike="noStrike">
                <a:solidFill>
                  <a:srgbClr val="274D71"/>
                </a:solidFill>
                <a:latin typeface="Nunito SemiBold"/>
                <a:ea typeface="Nunito SemiBold"/>
                <a:cs typeface="Nunito SemiBold"/>
                <a:sym typeface="Nunito SemiBold"/>
              </a:rPr>
              <a:t>: A collection of threads (typically in groups of 32, known as a </a:t>
            </a:r>
            <a:r>
              <a:rPr b="1" i="0" lang="en" sz="1600" u="none" cap="none" strike="noStrike">
                <a:solidFill>
                  <a:srgbClr val="274D71"/>
                </a:solidFill>
                <a:latin typeface="Nunito"/>
                <a:ea typeface="Nunito"/>
                <a:cs typeface="Nunito"/>
                <a:sym typeface="Nunito"/>
              </a:rPr>
              <a:t>Warp</a:t>
            </a:r>
            <a:r>
              <a:rPr b="0" i="0" lang="en" sz="1600" u="none" cap="none" strike="noStrike">
                <a:solidFill>
                  <a:srgbClr val="274D71"/>
                </a:solidFill>
                <a:latin typeface="Nunito SemiBold"/>
                <a:ea typeface="Nunito SemiBold"/>
                <a:cs typeface="Nunito SemiBold"/>
                <a:sym typeface="Nunito SemiBold"/>
              </a:rPr>
              <a:t>)</a:t>
            </a:r>
            <a:endParaRPr b="0" i="0" sz="1200" u="none" cap="none" strike="noStrike">
              <a:solidFill>
                <a:srgbClr val="C7C7C7"/>
              </a:solidFill>
              <a:highlight>
                <a:srgbClr val="22262B"/>
              </a:highlight>
              <a:latin typeface="Arial"/>
              <a:ea typeface="Arial"/>
              <a:cs typeface="Arial"/>
              <a:sym typeface="Arial"/>
            </a:endParaRPr>
          </a:p>
          <a:p>
            <a:pPr indent="-330200" lvl="1" marL="914400" marR="0" rtl="0" algn="l">
              <a:lnSpc>
                <a:spcPct val="150000"/>
              </a:lnSpc>
              <a:spcBef>
                <a:spcPts val="0"/>
              </a:spcBef>
              <a:spcAft>
                <a:spcPts val="0"/>
              </a:spcAft>
              <a:buClr>
                <a:srgbClr val="274D71"/>
              </a:buClr>
              <a:buSzPts val="1600"/>
              <a:buFont typeface="Nunito"/>
              <a:buChar char="○"/>
            </a:pPr>
            <a:r>
              <a:rPr b="1" i="0" lang="en" sz="1600" u="none" cap="none" strike="noStrike">
                <a:solidFill>
                  <a:srgbClr val="274D71"/>
                </a:solidFill>
                <a:latin typeface="Nunito"/>
                <a:ea typeface="Nunito"/>
                <a:cs typeface="Nunito"/>
                <a:sym typeface="Nunito"/>
              </a:rPr>
              <a:t>Grid</a:t>
            </a:r>
            <a:r>
              <a:rPr b="0" i="0" lang="en" sz="1600" u="none" cap="none" strike="noStrike">
                <a:solidFill>
                  <a:srgbClr val="274D71"/>
                </a:solidFill>
                <a:latin typeface="Nunito SemiBold"/>
                <a:ea typeface="Nunito SemiBold"/>
                <a:cs typeface="Nunito SemiBold"/>
                <a:sym typeface="Nunito SemiBold"/>
              </a:rPr>
              <a:t>: A collection of blocks that maps to an entire GPU </a:t>
            </a:r>
            <a:endParaRPr b="1" i="0" sz="1600" u="none" cap="none" strike="noStrike">
              <a:solidFill>
                <a:srgbClr val="274D71"/>
              </a:solidFill>
              <a:latin typeface="Nunito"/>
              <a:ea typeface="Nunito"/>
              <a:cs typeface="Nunito"/>
              <a:sym typeface="Nunito"/>
            </a:endParaRPr>
          </a:p>
        </p:txBody>
      </p:sp>
      <p:sp>
        <p:nvSpPr>
          <p:cNvPr id="216" name="Google Shape;216;p29"/>
          <p:cNvSpPr txBox="1"/>
          <p:nvPr/>
        </p:nvSpPr>
        <p:spPr>
          <a:xfrm>
            <a:off x="1010067" y="1150927"/>
            <a:ext cx="8138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To understand how CUDA runs LLM workloads, you must understand how it organizes hardware and software:</a:t>
            </a:r>
            <a:endParaRPr b="0" i="0" sz="1800" u="none" cap="none" strike="noStrike">
              <a:solidFill>
                <a:srgbClr val="274D71"/>
              </a:solidFill>
              <a:latin typeface="Nunito"/>
              <a:ea typeface="Nunito"/>
              <a:cs typeface="Nunito"/>
              <a:sym typeface="Nunito"/>
            </a:endParaRPr>
          </a:p>
        </p:txBody>
      </p:sp>
      <p:sp>
        <p:nvSpPr>
          <p:cNvPr id="217" name="Google Shape;217;p29"/>
          <p:cNvSpPr/>
          <p:nvPr/>
        </p:nvSpPr>
        <p:spPr>
          <a:xfrm rot="5400000">
            <a:off x="364670" y="1365346"/>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9"/>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pic>
        <p:nvPicPr>
          <p:cNvPr id="223" name="Google Shape;223;p30"/>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224" name="Google Shape;224;p30"/>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CUDA Concepts</a:t>
            </a:r>
            <a:endParaRPr b="1" i="0" sz="2300" u="none" cap="none" strike="noStrike">
              <a:solidFill>
                <a:srgbClr val="274D71"/>
              </a:solidFill>
              <a:latin typeface="Nunito"/>
              <a:ea typeface="Nunito"/>
              <a:cs typeface="Nunito"/>
              <a:sym typeface="Nunito"/>
            </a:endParaRPr>
          </a:p>
        </p:txBody>
      </p:sp>
      <p:sp>
        <p:nvSpPr>
          <p:cNvPr id="225" name="Google Shape;225;p30"/>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0"/>
          <p:cNvSpPr txBox="1"/>
          <p:nvPr/>
        </p:nvSpPr>
        <p:spPr>
          <a:xfrm>
            <a:off x="549526"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2.	The Processing Flow</a:t>
            </a:r>
            <a:endParaRPr b="1" i="0" sz="1800" u="none" cap="none" strike="noStrike">
              <a:solidFill>
                <a:srgbClr val="274D71"/>
              </a:solidFill>
              <a:latin typeface="Nunito"/>
              <a:ea typeface="Nunito"/>
              <a:cs typeface="Nunito"/>
              <a:sym typeface="Nunito"/>
            </a:endParaRPr>
          </a:p>
        </p:txBody>
      </p:sp>
      <p:sp>
        <p:nvSpPr>
          <p:cNvPr id="227" name="Google Shape;227;p30"/>
          <p:cNvSpPr txBox="1"/>
          <p:nvPr/>
        </p:nvSpPr>
        <p:spPr>
          <a:xfrm>
            <a:off x="544950" y="1582025"/>
            <a:ext cx="8590500" cy="1539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AutoNum type="arabicPeriod"/>
            </a:pPr>
            <a:r>
              <a:rPr b="1" i="0" lang="en" sz="1600" u="none" cap="none" strike="noStrike">
                <a:solidFill>
                  <a:srgbClr val="274D71"/>
                </a:solidFill>
                <a:latin typeface="Nunito"/>
                <a:ea typeface="Nunito"/>
                <a:cs typeface="Nunito"/>
                <a:sym typeface="Nunito"/>
              </a:rPr>
              <a:t>Copy </a:t>
            </a:r>
            <a:r>
              <a:rPr b="0" i="0" lang="en" sz="1600" u="none" cap="none" strike="noStrike">
                <a:solidFill>
                  <a:srgbClr val="274D71"/>
                </a:solidFill>
                <a:latin typeface="Nunito SemiBold"/>
                <a:ea typeface="Nunito SemiBold"/>
                <a:cs typeface="Nunito SemiBold"/>
                <a:sym typeface="Nunito SemiBold"/>
              </a:rPr>
              <a:t>input data from the Host (CPU) memory to the device (GPU) memory.</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AutoNum type="arabicPeriod"/>
            </a:pPr>
            <a:r>
              <a:rPr b="0" i="0" lang="en" sz="1600" u="none" cap="none" strike="noStrike">
                <a:solidFill>
                  <a:srgbClr val="274D71"/>
                </a:solidFill>
                <a:latin typeface="Nunito SemiBold"/>
                <a:ea typeface="Nunito SemiBold"/>
                <a:cs typeface="Nunito SemiBold"/>
                <a:sym typeface="Nunito SemiBold"/>
              </a:rPr>
              <a:t>The CPU initiates a </a:t>
            </a:r>
            <a:r>
              <a:rPr b="1" i="0" lang="en" sz="1600" u="none" cap="none" strike="noStrike">
                <a:solidFill>
                  <a:srgbClr val="274D71"/>
                </a:solidFill>
                <a:latin typeface="Nunito"/>
                <a:ea typeface="Nunito"/>
                <a:cs typeface="Nunito"/>
                <a:sym typeface="Nunito"/>
              </a:rPr>
              <a:t>compute kernel</a:t>
            </a:r>
            <a:r>
              <a:rPr b="0" i="0" lang="en" sz="1600" u="none" cap="none" strike="noStrike">
                <a:solidFill>
                  <a:srgbClr val="274D71"/>
                </a:solidFill>
                <a:latin typeface="Nunito SemiBold"/>
                <a:ea typeface="Nunito SemiBold"/>
                <a:cs typeface="Nunito SemiBold"/>
                <a:sym typeface="Nunito SemiBold"/>
              </a:rPr>
              <a:t> (a parallel function) on the GPU.</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AutoNum type="arabicPeriod"/>
            </a:pPr>
            <a:r>
              <a:rPr b="0" i="0" lang="en" sz="1600" u="none" cap="none" strike="noStrike">
                <a:solidFill>
                  <a:srgbClr val="274D71"/>
                </a:solidFill>
                <a:latin typeface="Nunito SemiBold"/>
                <a:ea typeface="Nunito SemiBold"/>
                <a:cs typeface="Nunito SemiBold"/>
                <a:sym typeface="Nunito SemiBold"/>
              </a:rPr>
              <a:t>The GPU’s CUDA core executes the kernel in parallel across the grid of threads.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AutoNum type="arabicPeriod"/>
            </a:pPr>
            <a:r>
              <a:rPr b="1" i="0" lang="en" sz="1600" u="none" cap="none" strike="noStrike">
                <a:solidFill>
                  <a:srgbClr val="274D71"/>
                </a:solidFill>
                <a:latin typeface="Nunito"/>
                <a:ea typeface="Nunito"/>
                <a:cs typeface="Nunito"/>
                <a:sym typeface="Nunito"/>
              </a:rPr>
              <a:t>Copy </a:t>
            </a:r>
            <a:r>
              <a:rPr b="0" i="0" lang="en" sz="1600" u="none" cap="none" strike="noStrike">
                <a:solidFill>
                  <a:srgbClr val="274D71"/>
                </a:solidFill>
                <a:latin typeface="Nunito SemiBold"/>
                <a:ea typeface="Nunito SemiBold"/>
                <a:cs typeface="Nunito SemiBold"/>
                <a:sym typeface="Nunito SemiBold"/>
              </a:rPr>
              <a:t>the resulting data from the device memory back to the Host memory.</a:t>
            </a:r>
            <a:endParaRPr b="0" i="0" sz="1600" u="none" cap="none" strike="noStrike">
              <a:solidFill>
                <a:srgbClr val="274D71"/>
              </a:solidFill>
              <a:latin typeface="Nunito SemiBold"/>
              <a:ea typeface="Nunito SemiBold"/>
              <a:cs typeface="Nunito SemiBold"/>
              <a:sym typeface="Nunito SemiBold"/>
            </a:endParaRPr>
          </a:p>
        </p:txBody>
      </p:sp>
      <p:sp>
        <p:nvSpPr>
          <p:cNvPr id="228" name="Google Shape;228;p30"/>
          <p:cNvSpPr txBox="1"/>
          <p:nvPr/>
        </p:nvSpPr>
        <p:spPr>
          <a:xfrm>
            <a:off x="1010067" y="1150927"/>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A typical CUDA program follows a four-step cycle to process data:</a:t>
            </a:r>
            <a:endParaRPr b="0" i="0" sz="1800" u="none" cap="none" strike="noStrike">
              <a:solidFill>
                <a:srgbClr val="274D71"/>
              </a:solidFill>
              <a:latin typeface="Nunito"/>
              <a:ea typeface="Nunito"/>
              <a:cs typeface="Nunito"/>
              <a:sym typeface="Nunito"/>
            </a:endParaRPr>
          </a:p>
        </p:txBody>
      </p:sp>
      <p:sp>
        <p:nvSpPr>
          <p:cNvPr id="229" name="Google Shape;229;p30"/>
          <p:cNvSpPr/>
          <p:nvPr/>
        </p:nvSpPr>
        <p:spPr>
          <a:xfrm rot="5400000">
            <a:off x="364670" y="1365346"/>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pic>
        <p:nvPicPr>
          <p:cNvPr id="234" name="Google Shape;234;p31"/>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235" name="Google Shape;235;p31"/>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CUDA Concepts</a:t>
            </a:r>
            <a:endParaRPr b="1" i="0" sz="2300" u="none" cap="none" strike="noStrike">
              <a:solidFill>
                <a:srgbClr val="274D71"/>
              </a:solidFill>
              <a:latin typeface="Nunito"/>
              <a:ea typeface="Nunito"/>
              <a:cs typeface="Nunito"/>
              <a:sym typeface="Nunito"/>
            </a:endParaRPr>
          </a:p>
        </p:txBody>
      </p:sp>
      <p:sp>
        <p:nvSpPr>
          <p:cNvPr id="236" name="Google Shape;236;p31"/>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1"/>
          <p:cNvSpPr txBox="1"/>
          <p:nvPr/>
        </p:nvSpPr>
        <p:spPr>
          <a:xfrm>
            <a:off x="549526"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Memory Hierarchy</a:t>
            </a:r>
            <a:endParaRPr b="1" i="0" sz="1800" u="none" cap="none" strike="noStrike">
              <a:solidFill>
                <a:srgbClr val="274D71"/>
              </a:solidFill>
              <a:latin typeface="Nunito"/>
              <a:ea typeface="Nunito"/>
              <a:cs typeface="Nunito"/>
              <a:sym typeface="Nunito"/>
            </a:endParaRPr>
          </a:p>
        </p:txBody>
      </p:sp>
      <p:sp>
        <p:nvSpPr>
          <p:cNvPr id="238" name="Google Shape;238;p31"/>
          <p:cNvSpPr txBox="1"/>
          <p:nvPr/>
        </p:nvSpPr>
        <p:spPr>
          <a:xfrm>
            <a:off x="544950" y="1582025"/>
            <a:ext cx="8590500" cy="22779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Registers</a:t>
            </a:r>
            <a:r>
              <a:rPr b="0" i="0" lang="en" sz="1600" u="none" cap="none" strike="noStrike">
                <a:solidFill>
                  <a:srgbClr val="274D71"/>
                </a:solidFill>
                <a:latin typeface="Nunito SemiBold"/>
                <a:ea typeface="Nunito SemiBold"/>
                <a:cs typeface="Nunito SemiBold"/>
                <a:sym typeface="Nunito SemiBold"/>
              </a:rPr>
              <a:t>: The fastest memory, private to each thread.</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Shared Memory:</a:t>
            </a:r>
            <a:r>
              <a:rPr b="0" i="0" lang="en" sz="1600" u="none" cap="none" strike="noStrike">
                <a:solidFill>
                  <a:srgbClr val="274D71"/>
                </a:solidFill>
                <a:latin typeface="Nunito SemiBold"/>
                <a:ea typeface="Nunito SemiBold"/>
                <a:cs typeface="Nunito SemiBold"/>
                <a:sym typeface="Nunito SemiBold"/>
              </a:rPr>
              <a:t> Very fast memory shared among all threads within a single block; it acts as a user-managed cache.</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L2 Cache</a:t>
            </a:r>
            <a:r>
              <a:rPr b="0" i="0" lang="en" sz="1600" u="none" cap="none" strike="noStrike">
                <a:solidFill>
                  <a:srgbClr val="274D71"/>
                </a:solidFill>
                <a:latin typeface="Nunito SemiBold"/>
                <a:ea typeface="Nunito SemiBold"/>
                <a:cs typeface="Nunito SemiBold"/>
                <a:sym typeface="Nunito SemiBold"/>
              </a:rPr>
              <a:t>: Shared across all SMs on the GPU.</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Global Memory:</a:t>
            </a:r>
            <a:r>
              <a:rPr b="0" i="0" lang="en" sz="1600" u="none" cap="none" strike="noStrike">
                <a:solidFill>
                  <a:srgbClr val="274D71"/>
                </a:solidFill>
                <a:latin typeface="Nunito SemiBold"/>
                <a:ea typeface="Nunito SemiBold"/>
                <a:cs typeface="Nunito SemiBold"/>
                <a:sym typeface="Nunito SemiBold"/>
              </a:rPr>
              <a:t> The largest capacity (your VRAM) but the slowest tier. This is where model weights are stored.</a:t>
            </a:r>
            <a:endParaRPr b="0" i="0" sz="1600" u="none" cap="none" strike="noStrike">
              <a:solidFill>
                <a:srgbClr val="274D71"/>
              </a:solidFill>
              <a:latin typeface="Nunito SemiBold"/>
              <a:ea typeface="Nunito SemiBold"/>
              <a:cs typeface="Nunito SemiBold"/>
              <a:sym typeface="Nunito SemiBold"/>
            </a:endParaRPr>
          </a:p>
        </p:txBody>
      </p:sp>
      <p:sp>
        <p:nvSpPr>
          <p:cNvPr id="239" name="Google Shape;239;p31"/>
          <p:cNvSpPr txBox="1"/>
          <p:nvPr/>
        </p:nvSpPr>
        <p:spPr>
          <a:xfrm>
            <a:off x="1010067" y="1150927"/>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Managing memory is critical for AI performance. CUDA uses several memory tiers:</a:t>
            </a:r>
            <a:endParaRPr b="0" i="0" sz="1800" u="none" cap="none" strike="noStrike">
              <a:solidFill>
                <a:srgbClr val="274D71"/>
              </a:solidFill>
              <a:latin typeface="Nunito"/>
              <a:ea typeface="Nunito"/>
              <a:cs typeface="Nunito"/>
              <a:sym typeface="Nunito"/>
            </a:endParaRPr>
          </a:p>
        </p:txBody>
      </p:sp>
      <p:sp>
        <p:nvSpPr>
          <p:cNvPr id="240" name="Google Shape;240;p31"/>
          <p:cNvSpPr/>
          <p:nvPr/>
        </p:nvSpPr>
        <p:spPr>
          <a:xfrm rot="5400000">
            <a:off x="364670" y="1319346"/>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pic>
        <p:nvPicPr>
          <p:cNvPr id="245" name="Google Shape;245;p32"/>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246" name="Google Shape;246;p32"/>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CUDA Concepts</a:t>
            </a:r>
            <a:endParaRPr b="1" i="0" sz="2300" u="none" cap="none" strike="noStrike">
              <a:solidFill>
                <a:srgbClr val="274D71"/>
              </a:solidFill>
              <a:latin typeface="Nunito"/>
              <a:ea typeface="Nunito"/>
              <a:cs typeface="Nunito"/>
              <a:sym typeface="Nunito"/>
            </a:endParaRPr>
          </a:p>
        </p:txBody>
      </p:sp>
      <p:sp>
        <p:nvSpPr>
          <p:cNvPr id="247" name="Google Shape;247;p32"/>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2"/>
          <p:cNvSpPr txBox="1"/>
          <p:nvPr/>
        </p:nvSpPr>
        <p:spPr>
          <a:xfrm>
            <a:off x="549526"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4.	Compute Capability</a:t>
            </a:r>
            <a:endParaRPr b="1" i="0" sz="1800" u="none" cap="none" strike="noStrike">
              <a:solidFill>
                <a:srgbClr val="274D71"/>
              </a:solidFill>
              <a:latin typeface="Nunito"/>
              <a:ea typeface="Nunito"/>
              <a:cs typeface="Nunito"/>
              <a:sym typeface="Nunito"/>
            </a:endParaRPr>
          </a:p>
        </p:txBody>
      </p:sp>
      <p:sp>
        <p:nvSpPr>
          <p:cNvPr id="249" name="Google Shape;249;p32"/>
          <p:cNvSpPr txBox="1"/>
          <p:nvPr/>
        </p:nvSpPr>
        <p:spPr>
          <a:xfrm>
            <a:off x="544950" y="1951325"/>
            <a:ext cx="8590500" cy="19086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Why it matters: it determines which instructions (like specialized FP16, INT8 operations)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Requirement: For modern LLMs and CUDA 12.x, a minimum compute capability of 3.5 is required but 7.0 or higher is strongly recommended for deep learning to leverage modern optimization.</a:t>
            </a:r>
            <a:endParaRPr b="0" i="0" sz="1600" u="none" cap="none" strike="noStrike">
              <a:solidFill>
                <a:srgbClr val="274D71"/>
              </a:solidFill>
              <a:latin typeface="Nunito SemiBold"/>
              <a:ea typeface="Nunito SemiBold"/>
              <a:cs typeface="Nunito SemiBold"/>
              <a:sym typeface="Nunito SemiBold"/>
            </a:endParaRPr>
          </a:p>
        </p:txBody>
      </p:sp>
      <p:sp>
        <p:nvSpPr>
          <p:cNvPr id="250" name="Google Shape;250;p32"/>
          <p:cNvSpPr txBox="1"/>
          <p:nvPr/>
        </p:nvSpPr>
        <p:spPr>
          <a:xfrm>
            <a:off x="1010067" y="1150927"/>
            <a:ext cx="8138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Compute Capability (e.g., 8.0, 8.9, 9.0) defines the computing features supported by a specific GPU generation.</a:t>
            </a:r>
            <a:endParaRPr b="0" i="0" sz="1800" u="none" cap="none" strike="noStrike">
              <a:solidFill>
                <a:srgbClr val="274D71"/>
              </a:solidFill>
              <a:latin typeface="Nunito"/>
              <a:ea typeface="Nunito"/>
              <a:cs typeface="Nunito"/>
              <a:sym typeface="Nunito"/>
            </a:endParaRPr>
          </a:p>
        </p:txBody>
      </p:sp>
      <p:sp>
        <p:nvSpPr>
          <p:cNvPr id="251" name="Google Shape;251;p32"/>
          <p:cNvSpPr/>
          <p:nvPr/>
        </p:nvSpPr>
        <p:spPr>
          <a:xfrm rot="5400000">
            <a:off x="364670" y="1319346"/>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pic>
        <p:nvPicPr>
          <p:cNvPr id="256" name="Google Shape;256;p33"/>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257" name="Google Shape;257;p33"/>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a:t>
            </a:r>
            <a:endParaRPr b="1" i="0" sz="2300" u="none" cap="none" strike="noStrike">
              <a:solidFill>
                <a:srgbClr val="274D71"/>
              </a:solidFill>
              <a:latin typeface="Nunito"/>
              <a:ea typeface="Nunito"/>
              <a:cs typeface="Nunito"/>
              <a:sym typeface="Nunito"/>
            </a:endParaRPr>
          </a:p>
        </p:txBody>
      </p:sp>
      <p:sp>
        <p:nvSpPr>
          <p:cNvPr id="258" name="Google Shape;258;p33"/>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3"/>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1.	Understanding PATH &amp; AI Tooling Variables</a:t>
            </a:r>
            <a:endParaRPr b="1" i="0" sz="1800" u="none" cap="none" strike="noStrike">
              <a:solidFill>
                <a:srgbClr val="274D71"/>
              </a:solidFill>
              <a:latin typeface="Nunito"/>
              <a:ea typeface="Nunito"/>
              <a:cs typeface="Nunito"/>
              <a:sym typeface="Nunito"/>
            </a:endParaRPr>
          </a:p>
        </p:txBody>
      </p:sp>
      <p:sp>
        <p:nvSpPr>
          <p:cNvPr id="260" name="Google Shape;260;p33"/>
          <p:cNvSpPr txBox="1"/>
          <p:nvPr/>
        </p:nvSpPr>
        <p:spPr>
          <a:xfrm>
            <a:off x="541154" y="1152353"/>
            <a:ext cx="81387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PATH is an environment variable, an ordered, colon-separated list of directories. When you type a command, your shell searches these directories in order and runs the first match it finds.</a:t>
            </a:r>
            <a:endParaRPr b="0" i="0" sz="1800" u="none" cap="none" strike="noStrike">
              <a:solidFill>
                <a:srgbClr val="274D71"/>
              </a:solidFill>
              <a:latin typeface="Nunito"/>
              <a:ea typeface="Nunito"/>
              <a:cs typeface="Nunito"/>
              <a:sym typeface="Nunito"/>
            </a:endParaRPr>
          </a:p>
        </p:txBody>
      </p:sp>
      <p:sp>
        <p:nvSpPr>
          <p:cNvPr id="261" name="Google Shape;261;p33"/>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2" name="Google Shape;262;p33"/>
          <p:cNvPicPr preferRelativeResize="0"/>
          <p:nvPr/>
        </p:nvPicPr>
        <p:blipFill rotWithShape="1">
          <a:blip r:embed="rId4">
            <a:alphaModFix/>
          </a:blip>
          <a:srcRect b="6712" l="1707" r="1852" t="5784"/>
          <a:stretch/>
        </p:blipFill>
        <p:spPr>
          <a:xfrm>
            <a:off x="1466548" y="2444800"/>
            <a:ext cx="6210903" cy="1642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pic>
        <p:nvPicPr>
          <p:cNvPr id="267" name="Google Shape;267;p34"/>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268" name="Google Shape;268;p34"/>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269" name="Google Shape;269;p34"/>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34"/>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1.	Understanding PATH &amp; AI Tooling Variables</a:t>
            </a:r>
            <a:endParaRPr b="1" i="0" sz="1800" u="none" cap="none" strike="noStrike">
              <a:solidFill>
                <a:srgbClr val="274D71"/>
              </a:solidFill>
              <a:latin typeface="Nunito"/>
              <a:ea typeface="Nunito"/>
              <a:cs typeface="Nunito"/>
              <a:sym typeface="Nunito"/>
            </a:endParaRPr>
          </a:p>
        </p:txBody>
      </p:sp>
      <p:sp>
        <p:nvSpPr>
          <p:cNvPr id="271" name="Google Shape;271;p34"/>
          <p:cNvSpPr txBox="1"/>
          <p:nvPr/>
        </p:nvSpPr>
        <p:spPr>
          <a:xfrm>
            <a:off x="554726" y="1138781"/>
            <a:ext cx="8138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PATH controls executables. A separate set of variables controls where AI frameworks store/find things.</a:t>
            </a:r>
            <a:endParaRPr b="0" i="0" sz="1600" u="none" cap="none" strike="noStrike">
              <a:solidFill>
                <a:srgbClr val="274D71"/>
              </a:solidFill>
              <a:latin typeface="Nunito SemiBold"/>
              <a:ea typeface="Nunito SemiBold"/>
              <a:cs typeface="Nunito SemiBold"/>
              <a:sym typeface="Nunito SemiBold"/>
            </a:endParaRPr>
          </a:p>
        </p:txBody>
      </p:sp>
      <p:sp>
        <p:nvSpPr>
          <p:cNvPr id="272" name="Google Shape;272;p34"/>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73" name="Google Shape;273;p34"/>
          <p:cNvGraphicFramePr/>
          <p:nvPr/>
        </p:nvGraphicFramePr>
        <p:xfrm>
          <a:off x="389250" y="1939163"/>
          <a:ext cx="3000000" cy="3000000"/>
        </p:xfrm>
        <a:graphic>
          <a:graphicData uri="http://schemas.openxmlformats.org/drawingml/2006/table">
            <a:tbl>
              <a:tblPr>
                <a:noFill/>
                <a:tableStyleId>{230E1801-D99D-4A61-A178-4185A3932480}</a:tableStyleId>
              </a:tblPr>
              <a:tblGrid>
                <a:gridCol w="1777475"/>
                <a:gridCol w="1842025"/>
                <a:gridCol w="4745975"/>
              </a:tblGrid>
              <a:tr h="547600">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Environment Variable</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Target System / Tool</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Purpose</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530800">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PYTHONPATH</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Python Interpreter</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Adds custom module directories to Python's import search path</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2245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CUDA_HOME / CUDA_PATH</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PyTorch, TF, llama.cpp </a:t>
                      </a:r>
                      <a:endParaRPr sz="1200" u="none" cap="none" strike="noStrike">
                        <a:solidFill>
                          <a:srgbClr val="274D71"/>
                        </a:solidFill>
                        <a:latin typeface="Nunito"/>
                        <a:ea typeface="Nunito"/>
                        <a:cs typeface="Nunito"/>
                        <a:sym typeface="Nunito"/>
                      </a:endParaRPr>
                    </a:p>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(CUDA build)</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Points to root CUDA installation for compiling custom C++/CUDA kernels</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605325">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LD_LIBRARY_PATH</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Linux C++ Linker</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Specifies directories for runtime shared libraries are searched for (.so files)</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60175">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DYLD_LIBRARY_PATH</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MacOS Dynamic Linker</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Specifies directories where runtime shared libraries are searched for (.dylib files)</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pic>
        <p:nvPicPr>
          <p:cNvPr id="278" name="Google Shape;278;p35"/>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279" name="Google Shape;279;p35"/>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280" name="Google Shape;280;p35"/>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35"/>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1.	Understanding PATH &amp; AI Tooling Variables</a:t>
            </a:r>
            <a:endParaRPr b="1" i="0" sz="1800" u="none" cap="none" strike="noStrike">
              <a:solidFill>
                <a:srgbClr val="274D71"/>
              </a:solidFill>
              <a:latin typeface="Nunito"/>
              <a:ea typeface="Nunito"/>
              <a:cs typeface="Nunito"/>
              <a:sym typeface="Nunito"/>
            </a:endParaRPr>
          </a:p>
        </p:txBody>
      </p:sp>
      <p:graphicFrame>
        <p:nvGraphicFramePr>
          <p:cNvPr id="282" name="Google Shape;282;p35"/>
          <p:cNvGraphicFramePr/>
          <p:nvPr/>
        </p:nvGraphicFramePr>
        <p:xfrm>
          <a:off x="389263" y="1403413"/>
          <a:ext cx="3000000" cy="3000000"/>
        </p:xfrm>
        <a:graphic>
          <a:graphicData uri="http://schemas.openxmlformats.org/drawingml/2006/table">
            <a:tbl>
              <a:tblPr>
                <a:noFill/>
                <a:tableStyleId>{230E1801-D99D-4A61-A178-4185A3932480}</a:tableStyleId>
              </a:tblPr>
              <a:tblGrid>
                <a:gridCol w="2142450"/>
                <a:gridCol w="1646175"/>
                <a:gridCol w="4576850"/>
              </a:tblGrid>
              <a:tr h="547600">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Environment Variable</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Target System / Tool</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Purpose</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530800">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HF_HOME</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Hugging Face Hub</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Overrides default storage (~/.cache) for downloaded transformer model weights.</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2245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OLLAMA_MODELS</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Ollama Engine</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Defines directory where local GGUF model blobs are saved and accessed.</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605325">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NVIDIA_VISIBLE_DEVICES</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Docker Container Runtime</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Restricts which specific physical host GPUs are passed into a container.</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pic>
        <p:nvPicPr>
          <p:cNvPr id="287" name="Google Shape;287;p36"/>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288" name="Google Shape;288;p36"/>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289" name="Google Shape;289;p36"/>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36"/>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1.	Understanding PATH &amp; AI Tooling Variables</a:t>
            </a:r>
            <a:endParaRPr b="1" i="0" sz="1800" u="none" cap="none" strike="noStrike">
              <a:solidFill>
                <a:srgbClr val="274D71"/>
              </a:solidFill>
              <a:latin typeface="Nunito"/>
              <a:ea typeface="Nunito"/>
              <a:cs typeface="Nunito"/>
              <a:sym typeface="Nunito"/>
            </a:endParaRPr>
          </a:p>
        </p:txBody>
      </p:sp>
      <p:sp>
        <p:nvSpPr>
          <p:cNvPr id="291" name="Google Shape;291;p36"/>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Example 1:</a:t>
            </a:r>
            <a:endParaRPr b="0" i="0" sz="1600" u="none" cap="none" strike="noStrike">
              <a:solidFill>
                <a:srgbClr val="274D71"/>
              </a:solidFill>
              <a:latin typeface="Nunito SemiBold"/>
              <a:ea typeface="Nunito SemiBold"/>
              <a:cs typeface="Nunito SemiBold"/>
              <a:sym typeface="Nunito SemiBold"/>
            </a:endParaRPr>
          </a:p>
        </p:txBody>
      </p:sp>
      <p:sp>
        <p:nvSpPr>
          <p:cNvPr id="292" name="Google Shape;292;p36"/>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36"/>
          <p:cNvSpPr txBox="1"/>
          <p:nvPr/>
        </p:nvSpPr>
        <p:spPr>
          <a:xfrm>
            <a:off x="554725" y="3449000"/>
            <a:ext cx="8267100" cy="153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Explanation:</a:t>
            </a:r>
            <a:endParaRPr b="0" i="0" sz="1600" u="none" cap="none" strike="noStrike">
              <a:solidFill>
                <a:srgbClr val="274D71"/>
              </a:solidFill>
              <a:latin typeface="Nunito SemiBold"/>
              <a:ea typeface="Nunito SemiBold"/>
              <a:cs typeface="Nunito SemiBold"/>
              <a:sym typeface="Nunito SemiBold"/>
            </a:endParaRPr>
          </a:p>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[2]:   All Hugging Face models and cache will be stored in the</a:t>
            </a:r>
            <a:endParaRPr b="0" i="0" sz="1600" u="none" cap="none" strike="noStrike">
              <a:solidFill>
                <a:srgbClr val="274D71"/>
              </a:solidFill>
              <a:latin typeface="Nunito SemiBold"/>
              <a:ea typeface="Nunito SemiBold"/>
              <a:cs typeface="Nunito SemiBold"/>
              <a:sym typeface="Nunito SemiBold"/>
            </a:endParaRPr>
          </a:p>
          <a:p>
            <a:pPr indent="45720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/mnt/fast_storage/huggingface folder.</a:t>
            </a:r>
            <a:endParaRPr b="0" i="0" sz="1600" u="none" cap="none" strike="noStrike">
              <a:solidFill>
                <a:srgbClr val="274D71"/>
              </a:solidFill>
              <a:latin typeface="Nunito SemiBold"/>
              <a:ea typeface="Nunito SemiBold"/>
              <a:cs typeface="Nunito SemiBold"/>
              <a:sym typeface="Nunito SemiBold"/>
            </a:endParaRPr>
          </a:p>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[3]:   Only GPU 0 and GPU 1 are visible and can be used by this program.</a:t>
            </a:r>
            <a:endParaRPr b="0" i="0" sz="1600" u="none" cap="none" strike="noStrike">
              <a:solidFill>
                <a:srgbClr val="274D71"/>
              </a:solidFill>
              <a:latin typeface="Nunito SemiBold"/>
              <a:ea typeface="Nunito SemiBold"/>
              <a:cs typeface="Nunito SemiBold"/>
              <a:sym typeface="Nunito SemiBold"/>
            </a:endParaRPr>
          </a:p>
        </p:txBody>
      </p:sp>
      <p:pic>
        <p:nvPicPr>
          <p:cNvPr id="294" name="Google Shape;294;p36"/>
          <p:cNvPicPr preferRelativeResize="0"/>
          <p:nvPr/>
        </p:nvPicPr>
        <p:blipFill rotWithShape="1">
          <a:blip r:embed="rId4">
            <a:alphaModFix/>
          </a:blip>
          <a:srcRect b="8176" l="2530" r="2359" t="8226"/>
          <a:stretch/>
        </p:blipFill>
        <p:spPr>
          <a:xfrm>
            <a:off x="1544063" y="1688150"/>
            <a:ext cx="6055875" cy="16425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pic>
        <p:nvPicPr>
          <p:cNvPr id="299" name="Google Shape;299;p37"/>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300" name="Google Shape;300;p37"/>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301" name="Google Shape;301;p37"/>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37"/>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1.	Understanding PATH &amp; AI Tooling Variables</a:t>
            </a:r>
            <a:endParaRPr b="1" i="0" sz="1800" u="none" cap="none" strike="noStrike">
              <a:solidFill>
                <a:srgbClr val="274D71"/>
              </a:solidFill>
              <a:latin typeface="Nunito"/>
              <a:ea typeface="Nunito"/>
              <a:cs typeface="Nunito"/>
              <a:sym typeface="Nunito"/>
            </a:endParaRPr>
          </a:p>
        </p:txBody>
      </p:sp>
      <p:sp>
        <p:nvSpPr>
          <p:cNvPr id="303" name="Google Shape;303;p37"/>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Example 2: The common environment paths for Local AI Infra</a:t>
            </a:r>
            <a:endParaRPr b="0" i="0" sz="1600" u="none" cap="none" strike="noStrike">
              <a:solidFill>
                <a:srgbClr val="274D71"/>
              </a:solidFill>
              <a:latin typeface="Nunito SemiBold"/>
              <a:ea typeface="Nunito SemiBold"/>
              <a:cs typeface="Nunito SemiBold"/>
              <a:sym typeface="Nunito SemiBold"/>
            </a:endParaRPr>
          </a:p>
        </p:txBody>
      </p:sp>
      <p:sp>
        <p:nvSpPr>
          <p:cNvPr id="304" name="Google Shape;304;p37"/>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5" name="Google Shape;305;p37"/>
          <p:cNvPicPr preferRelativeResize="0"/>
          <p:nvPr/>
        </p:nvPicPr>
        <p:blipFill rotWithShape="1">
          <a:blip r:embed="rId4">
            <a:alphaModFix/>
          </a:blip>
          <a:srcRect b="13853" l="6618" r="6644" t="13234"/>
          <a:stretch/>
        </p:blipFill>
        <p:spPr>
          <a:xfrm>
            <a:off x="981901" y="1664850"/>
            <a:ext cx="7326602" cy="29595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 name="Shape 309"/>
        <p:cNvGrpSpPr/>
        <p:nvPr/>
      </p:nvGrpSpPr>
      <p:grpSpPr>
        <a:xfrm>
          <a:off x="0" y="0"/>
          <a:ext cx="0" cy="0"/>
          <a:chOff x="0" y="0"/>
          <a:chExt cx="0" cy="0"/>
        </a:xfrm>
      </p:grpSpPr>
      <p:pic>
        <p:nvPicPr>
          <p:cNvPr id="310" name="Google Shape;310;p38"/>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311" name="Google Shape;311;p38"/>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312" name="Google Shape;312;p38"/>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38"/>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1.	Understanding PATH &amp; AI Tooling Variables</a:t>
            </a:r>
            <a:endParaRPr b="1" i="0" sz="1800" u="none" cap="none" strike="noStrike">
              <a:solidFill>
                <a:srgbClr val="274D71"/>
              </a:solidFill>
              <a:latin typeface="Nunito"/>
              <a:ea typeface="Nunito"/>
              <a:cs typeface="Nunito"/>
              <a:sym typeface="Nunito"/>
            </a:endParaRPr>
          </a:p>
        </p:txBody>
      </p:sp>
      <p:sp>
        <p:nvSpPr>
          <p:cNvPr id="314" name="Google Shape;314;p38"/>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Example 2: The common environment paths for Local AI Infra</a:t>
            </a:r>
            <a:endParaRPr b="0" i="0" sz="1600" u="none" cap="none" strike="noStrike">
              <a:solidFill>
                <a:srgbClr val="274D71"/>
              </a:solidFill>
              <a:latin typeface="Nunito SemiBold"/>
              <a:ea typeface="Nunito SemiBold"/>
              <a:cs typeface="Nunito SemiBold"/>
              <a:sym typeface="Nunito SemiBold"/>
            </a:endParaRPr>
          </a:p>
        </p:txBody>
      </p:sp>
      <p:sp>
        <p:nvSpPr>
          <p:cNvPr id="315" name="Google Shape;315;p38"/>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6" name="Google Shape;316;p38"/>
          <p:cNvPicPr preferRelativeResize="0"/>
          <p:nvPr/>
        </p:nvPicPr>
        <p:blipFill rotWithShape="1">
          <a:blip r:embed="rId4">
            <a:alphaModFix/>
          </a:blip>
          <a:srcRect b="13657" l="6565" r="6591" t="13774"/>
          <a:stretch/>
        </p:blipFill>
        <p:spPr>
          <a:xfrm>
            <a:off x="981900" y="1673838"/>
            <a:ext cx="7326602" cy="294151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0" name="Shape 320"/>
        <p:cNvGrpSpPr/>
        <p:nvPr/>
      </p:nvGrpSpPr>
      <p:grpSpPr>
        <a:xfrm>
          <a:off x="0" y="0"/>
          <a:ext cx="0" cy="0"/>
          <a:chOff x="0" y="0"/>
          <a:chExt cx="0" cy="0"/>
        </a:xfrm>
      </p:grpSpPr>
      <p:pic>
        <p:nvPicPr>
          <p:cNvPr id="321" name="Google Shape;321;p39"/>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322" name="Google Shape;322;p39"/>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323" name="Google Shape;323;p39"/>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39"/>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2.	Configure Paths</a:t>
            </a:r>
            <a:endParaRPr b="1" i="0" sz="1800" u="none" cap="none" strike="noStrike">
              <a:solidFill>
                <a:srgbClr val="274D71"/>
              </a:solidFill>
              <a:latin typeface="Nunito"/>
              <a:ea typeface="Nunito"/>
              <a:cs typeface="Nunito"/>
              <a:sym typeface="Nunito"/>
            </a:endParaRPr>
          </a:p>
        </p:txBody>
      </p:sp>
      <p:sp>
        <p:nvSpPr>
          <p:cNvPr id="325" name="Google Shape;325;p39"/>
          <p:cNvSpPr txBox="1"/>
          <p:nvPr/>
        </p:nvSpPr>
        <p:spPr>
          <a:xfrm>
            <a:off x="554726" y="1138781"/>
            <a:ext cx="8138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Configure CUDA Environment Paths:</a:t>
            </a:r>
            <a:r>
              <a:rPr b="0" i="0" lang="en" sz="1600" u="none" cap="none" strike="noStrike">
                <a:solidFill>
                  <a:srgbClr val="274D71"/>
                </a:solidFill>
                <a:latin typeface="Nunito SemiBold"/>
                <a:ea typeface="Nunito SemiBold"/>
                <a:cs typeface="Nunito SemiBold"/>
                <a:sym typeface="Nunito SemiBold"/>
              </a:rPr>
              <a:t> After installing the CUDA Toolkit, you have to register its binary executables and shared C/C++ libraries with the shell. </a:t>
            </a:r>
            <a:endParaRPr b="0" i="0" sz="1600" u="none" cap="none" strike="noStrike">
              <a:solidFill>
                <a:srgbClr val="274D71"/>
              </a:solidFill>
              <a:latin typeface="Nunito SemiBold"/>
              <a:ea typeface="Nunito SemiBold"/>
              <a:cs typeface="Nunito SemiBold"/>
              <a:sym typeface="Nunito SemiBold"/>
            </a:endParaRPr>
          </a:p>
        </p:txBody>
      </p:sp>
      <p:sp>
        <p:nvSpPr>
          <p:cNvPr id="326" name="Google Shape;326;p39"/>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39"/>
          <p:cNvSpPr txBox="1"/>
          <p:nvPr/>
        </p:nvSpPr>
        <p:spPr>
          <a:xfrm>
            <a:off x="554725" y="3576775"/>
            <a:ext cx="82671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Explanation:</a:t>
            </a:r>
            <a:endParaRPr b="0" i="0" sz="1600" u="none" cap="none" strike="noStrike">
              <a:solidFill>
                <a:srgbClr val="274D71"/>
              </a:solidFill>
              <a:latin typeface="Nunito SemiBold"/>
              <a:ea typeface="Nunito SemiBold"/>
              <a:cs typeface="Nunito SemiBold"/>
              <a:sym typeface="Nunito SemiBold"/>
            </a:endParaRPr>
          </a:p>
          <a:p>
            <a:pPr indent="0" lvl="0" marL="0" marR="0" rtl="0" algn="l">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[3]:   Reloads the shell configuration file.</a:t>
            </a:r>
            <a:endParaRPr b="0" i="0" sz="1600" u="none" cap="none" strike="noStrike">
              <a:solidFill>
                <a:srgbClr val="274D71"/>
              </a:solidFill>
              <a:latin typeface="Nunito SemiBold"/>
              <a:ea typeface="Nunito SemiBold"/>
              <a:cs typeface="Nunito SemiBold"/>
              <a:sym typeface="Nunito SemiBold"/>
            </a:endParaRPr>
          </a:p>
        </p:txBody>
      </p:sp>
      <p:pic>
        <p:nvPicPr>
          <p:cNvPr id="328" name="Google Shape;328;p39"/>
          <p:cNvPicPr preferRelativeResize="0"/>
          <p:nvPr/>
        </p:nvPicPr>
        <p:blipFill rotWithShape="1">
          <a:blip r:embed="rId4">
            <a:alphaModFix/>
          </a:blip>
          <a:srcRect b="13290" l="3591" r="3628" t="11159"/>
          <a:stretch/>
        </p:blipFill>
        <p:spPr>
          <a:xfrm>
            <a:off x="1090421" y="1913900"/>
            <a:ext cx="7109555" cy="15603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id="333" name="Google Shape;333;p40"/>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334" name="Google Shape;334;p40"/>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335" name="Google Shape;335;p40"/>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40"/>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Validation Reference</a:t>
            </a:r>
            <a:endParaRPr b="1" i="0" sz="1800" u="none" cap="none" strike="noStrike">
              <a:solidFill>
                <a:srgbClr val="274D71"/>
              </a:solidFill>
              <a:latin typeface="Nunito"/>
              <a:ea typeface="Nunito"/>
              <a:cs typeface="Nunito"/>
              <a:sym typeface="Nunito"/>
            </a:endParaRPr>
          </a:p>
        </p:txBody>
      </p:sp>
      <p:sp>
        <p:nvSpPr>
          <p:cNvPr id="337" name="Google Shape;337;p40"/>
          <p:cNvSpPr txBox="1"/>
          <p:nvPr/>
        </p:nvSpPr>
        <p:spPr>
          <a:xfrm>
            <a:off x="554726" y="1138781"/>
            <a:ext cx="8138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Driver Validation:</a:t>
            </a:r>
            <a:r>
              <a:rPr b="0" i="0" lang="en" sz="1600" u="none" cap="none" strike="noStrike">
                <a:solidFill>
                  <a:srgbClr val="274D71"/>
                </a:solidFill>
                <a:latin typeface="Nunito SemiBold"/>
                <a:ea typeface="Nunito SemiBold"/>
                <a:cs typeface="Nunito SemiBold"/>
                <a:sym typeface="Nunito SemiBold"/>
              </a:rPr>
              <a:t> It confirms the NVIDIA driver is not just loaded but functioning, reporting live GPU state.</a:t>
            </a:r>
            <a:endParaRPr b="0" i="0" sz="1600" u="none" cap="none" strike="noStrike">
              <a:solidFill>
                <a:srgbClr val="274D71"/>
              </a:solidFill>
              <a:latin typeface="Nunito SemiBold"/>
              <a:ea typeface="Nunito SemiBold"/>
              <a:cs typeface="Nunito SemiBold"/>
              <a:sym typeface="Nunito SemiBold"/>
            </a:endParaRPr>
          </a:p>
        </p:txBody>
      </p:sp>
      <p:sp>
        <p:nvSpPr>
          <p:cNvPr id="338" name="Google Shape;338;p40"/>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40"/>
          <p:cNvSpPr txBox="1"/>
          <p:nvPr/>
        </p:nvSpPr>
        <p:spPr>
          <a:xfrm>
            <a:off x="564501" y="1917361"/>
            <a:ext cx="8138700" cy="104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chemeClr val="dk1"/>
              </a:buClr>
              <a:buSzPts val="1100"/>
              <a:buFont typeface="Arial"/>
              <a:buNone/>
            </a:pPr>
            <a:r>
              <a:rPr b="1" i="0" lang="en" sz="1600" u="none" cap="none" strike="noStrike">
                <a:solidFill>
                  <a:srgbClr val="274D71"/>
                </a:solidFill>
                <a:latin typeface="Nunito"/>
                <a:ea typeface="Nunito"/>
                <a:cs typeface="Nunito"/>
                <a:sym typeface="Nunito"/>
              </a:rPr>
              <a:t>i. nvidia-smi</a:t>
            </a:r>
            <a:endParaRPr b="1" i="0" sz="1100" u="none" cap="none" strike="noStrike">
              <a:solidFill>
                <a:srgbClr val="1F3A5F"/>
              </a:solidFill>
              <a:latin typeface="Consolas"/>
              <a:ea typeface="Consolas"/>
              <a:cs typeface="Consolas"/>
              <a:sym typeface="Consolas"/>
            </a:endParaRPr>
          </a:p>
          <a:p>
            <a:pPr indent="0" lvl="0" marL="0" marR="0" rtl="0" algn="l">
              <a:lnSpc>
                <a:spcPct val="115000"/>
              </a:lnSpc>
              <a:spcBef>
                <a:spcPts val="400"/>
              </a:spcBef>
              <a:spcAft>
                <a:spcPts val="50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Purpose:</a:t>
            </a:r>
            <a:r>
              <a:rPr b="0" i="0" lang="en" sz="1600" u="none" cap="none" strike="noStrike">
                <a:solidFill>
                  <a:srgbClr val="274D71"/>
                </a:solidFill>
                <a:latin typeface="Nunito SemiBold"/>
                <a:ea typeface="Nunito SemiBold"/>
                <a:cs typeface="Nunito SemiBold"/>
                <a:sym typeface="Nunito SemiBold"/>
              </a:rPr>
              <a:t> The primary GPU health check: driver version, live utilization, memory, and active processes.</a:t>
            </a:r>
            <a:endParaRPr b="0" i="0" sz="1600" u="none" cap="none" strike="noStrike">
              <a:solidFill>
                <a:srgbClr val="274D71"/>
              </a:solidFill>
              <a:latin typeface="Nunito SemiBold"/>
              <a:ea typeface="Nunito SemiBold"/>
              <a:cs typeface="Nunito SemiBold"/>
              <a:sym typeface="Nunito SemiBold"/>
            </a:endParaRPr>
          </a:p>
        </p:txBody>
      </p:sp>
      <p:sp>
        <p:nvSpPr>
          <p:cNvPr id="340" name="Google Shape;340;p40"/>
          <p:cNvSpPr/>
          <p:nvPr/>
        </p:nvSpPr>
        <p:spPr>
          <a:xfrm>
            <a:off x="2997300" y="3001379"/>
            <a:ext cx="3149400" cy="761700"/>
          </a:xfrm>
          <a:prstGeom prst="roundRect">
            <a:avLst>
              <a:gd fmla="val 11991" name="adj"/>
            </a:avLst>
          </a:prstGeom>
          <a:solidFill>
            <a:srgbClr val="444444"/>
          </a:solidFill>
          <a:ln>
            <a:noFill/>
          </a:ln>
        </p:spPr>
        <p:txBody>
          <a:bodyPr anchorCtr="0" anchor="ctr" bIns="91425" lIns="91425" spcFirstLastPara="1" rIns="91425" wrap="square" tIns="91425">
            <a:noAutofit/>
          </a:bodyPr>
          <a:lstStyle/>
          <a:p>
            <a:pPr indent="0" lvl="0" marL="0" marR="127000" rtl="0" algn="ctr">
              <a:lnSpc>
                <a:spcPct val="115000"/>
              </a:lnSpc>
              <a:spcBef>
                <a:spcPts val="500"/>
              </a:spcBef>
              <a:spcAft>
                <a:spcPts val="0"/>
              </a:spcAft>
              <a:buClr>
                <a:srgbClr val="000000"/>
              </a:buClr>
              <a:buSzPts val="1400"/>
              <a:buFont typeface="Arial"/>
              <a:buNone/>
            </a:pPr>
            <a:r>
              <a:rPr b="0" i="0" lang="en" sz="1400" u="none" cap="none" strike="noStrike">
                <a:solidFill>
                  <a:schemeClr val="lt2"/>
                </a:solidFill>
                <a:latin typeface="Consolas"/>
                <a:ea typeface="Consolas"/>
                <a:cs typeface="Consolas"/>
                <a:sym typeface="Consolas"/>
              </a:rPr>
              <a:t>nvidia-smi</a:t>
            </a:r>
            <a:endParaRPr b="0" i="0" sz="1400" u="none" cap="none" strike="noStrike">
              <a:solidFill>
                <a:schemeClr val="lt2"/>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1"/>
          <p:cNvSpPr/>
          <p:nvPr/>
        </p:nvSpPr>
        <p:spPr>
          <a:xfrm>
            <a:off x="0" y="0"/>
            <a:ext cx="9144000" cy="5143500"/>
          </a:xfrm>
          <a:prstGeom prst="roundRect">
            <a:avLst>
              <a:gd fmla="val 0" name="adj"/>
            </a:avLst>
          </a:prstGeom>
          <a:solidFill>
            <a:srgbClr val="444444"/>
          </a:solidFill>
          <a:ln>
            <a:noFill/>
          </a:ln>
        </p:spPr>
        <p:txBody>
          <a:bodyPr anchorCtr="0" anchor="ctr" bIns="91425" lIns="91425" spcFirstLastPara="1" rIns="91425" wrap="square" tIns="91425">
            <a:noAutofit/>
          </a:bodyPr>
          <a:lstStyle/>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nvidia-smi</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Mon Jul 20 10:15:42 2026</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NVIDIA-SMI 550.90.07              Driver Version: 550.90.07      CUDA Version: 13.0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GPU  Name                  Persistence-M| Bus-Id          Disp.A | Volatile Uncorr. ECC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Fan  Temp   Perf           Pwr:Usage/Cap|           Memory-Usage | GPU-Util  Compute M.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                        |               MIG M.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0  NVIDIA GeForce RTX 4070        Off | 00000000:01:00.0  Off  |                  N/A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48%   69C    P2              173W / 200W|    9428MiB / 12282MiB  |     96%      Default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                        |                  N/A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Processes: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GPU   GI   CI        PID   Type   Process name                              GPU Memory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ID   ID                                                               Usage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0   N/A  N/A      1845      G   /usr/lib/xorg/Xorg                            185MiB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0   N/A  N/A      2110      G   /usr/bin/gnome-shell                          142MiB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0   N/A  N/A      5982      C   ollama serve                                 4520MiB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0   N/A  N/A      9534      C   python monitor_gpu.py                         283MiB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a:t>
            </a:r>
            <a:endParaRPr b="0" i="0" sz="1200" u="none" cap="none" strike="noStrike">
              <a:solidFill>
                <a:schemeClr val="lt2"/>
              </a:solidFill>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pic>
        <p:nvPicPr>
          <p:cNvPr id="350" name="Google Shape;350;p42"/>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351" name="Google Shape;351;p42"/>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352" name="Google Shape;352;p42"/>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42"/>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Validation Reference</a:t>
            </a:r>
            <a:endParaRPr b="1" i="0" sz="1800" u="none" cap="none" strike="noStrike">
              <a:solidFill>
                <a:srgbClr val="274D71"/>
              </a:solidFill>
              <a:latin typeface="Nunito"/>
              <a:ea typeface="Nunito"/>
              <a:cs typeface="Nunito"/>
              <a:sym typeface="Nunito"/>
            </a:endParaRPr>
          </a:p>
        </p:txBody>
      </p:sp>
      <p:sp>
        <p:nvSpPr>
          <p:cNvPr id="354" name="Google Shape;354;p42"/>
          <p:cNvSpPr txBox="1"/>
          <p:nvPr/>
        </p:nvSpPr>
        <p:spPr>
          <a:xfrm>
            <a:off x="564500" y="1470007"/>
            <a:ext cx="8341800" cy="26187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274D71"/>
              </a:buClr>
              <a:buSzPts val="1600"/>
              <a:buFont typeface="Nunito"/>
              <a:buChar char="●"/>
            </a:pPr>
            <a:r>
              <a:rPr b="1" i="0" lang="en" sz="1600" u="none" cap="none" strike="noStrike">
                <a:solidFill>
                  <a:srgbClr val="274D71"/>
                </a:solidFill>
                <a:latin typeface="Nunito"/>
                <a:ea typeface="Nunito"/>
                <a:cs typeface="Nunito"/>
                <a:sym typeface="Nunito"/>
              </a:rPr>
              <a:t>NVIDIA-SMI 550.90.07: </a:t>
            </a:r>
            <a:r>
              <a:rPr b="0" i="0" lang="en" sz="1600" u="none" cap="none" strike="noStrike">
                <a:solidFill>
                  <a:srgbClr val="274D71"/>
                </a:solidFill>
                <a:latin typeface="Nunito SemiBold"/>
                <a:ea typeface="Nunito SemiBold"/>
                <a:cs typeface="Nunito SemiBold"/>
                <a:sym typeface="Nunito SemiBold"/>
              </a:rPr>
              <a:t>The version of the NVIDIA System Management Interface utility.</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15000"/>
              </a:lnSpc>
              <a:spcBef>
                <a:spcPts val="0"/>
              </a:spcBef>
              <a:spcAft>
                <a:spcPts val="0"/>
              </a:spcAft>
              <a:buClr>
                <a:srgbClr val="274D71"/>
              </a:buClr>
              <a:buSzPts val="1600"/>
              <a:buFont typeface="Nunito"/>
              <a:buChar char="●"/>
            </a:pPr>
            <a:r>
              <a:rPr b="1" i="0" lang="en" sz="1600" u="none" cap="none" strike="noStrike">
                <a:solidFill>
                  <a:srgbClr val="274D71"/>
                </a:solidFill>
                <a:latin typeface="Nunito"/>
                <a:ea typeface="Nunito"/>
                <a:cs typeface="Nunito"/>
                <a:sym typeface="Nunito"/>
              </a:rPr>
              <a:t>Driver Version: </a:t>
            </a:r>
            <a:r>
              <a:rPr b="0" i="0" lang="en" sz="1600" u="none" cap="none" strike="noStrike">
                <a:solidFill>
                  <a:srgbClr val="274D71"/>
                </a:solidFill>
                <a:latin typeface="Nunito SemiBold"/>
                <a:ea typeface="Nunito SemiBold"/>
                <a:cs typeface="Nunito SemiBold"/>
                <a:sym typeface="Nunito SemiBold"/>
              </a:rPr>
              <a:t>The version of the installed NVIDIA GPU driver.</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15000"/>
              </a:lnSpc>
              <a:spcBef>
                <a:spcPts val="400"/>
              </a:spcBef>
              <a:spcAft>
                <a:spcPts val="0"/>
              </a:spcAft>
              <a:buClr>
                <a:srgbClr val="274D71"/>
              </a:buClr>
              <a:buSzPts val="1600"/>
              <a:buFont typeface="Nunito"/>
              <a:buChar char="●"/>
            </a:pPr>
            <a:r>
              <a:rPr b="1" i="0" lang="en" sz="1600" u="none" cap="none" strike="noStrike">
                <a:solidFill>
                  <a:srgbClr val="274D71"/>
                </a:solidFill>
                <a:latin typeface="Nunito"/>
                <a:ea typeface="Nunito"/>
                <a:cs typeface="Nunito"/>
                <a:sym typeface="Nunito"/>
              </a:rPr>
              <a:t>CUDA Version: 13.0: </a:t>
            </a:r>
            <a:r>
              <a:rPr b="0" i="0" lang="en" sz="1600" u="none" cap="none" strike="noStrike">
                <a:solidFill>
                  <a:srgbClr val="274D71"/>
                </a:solidFill>
                <a:latin typeface="Nunito SemiBold"/>
                <a:ea typeface="Nunito SemiBold"/>
                <a:cs typeface="Nunito SemiBold"/>
                <a:sym typeface="Nunito SemiBold"/>
              </a:rPr>
              <a:t>The maximum CUDA version this driver supports at runtime. </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15000"/>
              </a:lnSpc>
              <a:spcBef>
                <a:spcPts val="40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Persistence-M (Persistence Mode): </a:t>
            </a:r>
            <a:r>
              <a:rPr b="0" i="0" lang="en" sz="1600" u="none" cap="none" strike="noStrike">
                <a:solidFill>
                  <a:srgbClr val="274D71"/>
                </a:solidFill>
                <a:latin typeface="Nunito SemiBold"/>
                <a:ea typeface="Nunito SemiBold"/>
                <a:cs typeface="Nunito SemiBold"/>
                <a:sym typeface="Nunito SemiBold"/>
              </a:rPr>
              <a:t>Shows whether the GPU driver stays loaded even when no applications are running.</a:t>
            </a:r>
            <a:endParaRPr b="0" i="0" sz="1600" u="none" cap="none" strike="noStrike">
              <a:solidFill>
                <a:srgbClr val="274D71"/>
              </a:solidFill>
              <a:latin typeface="Nunito SemiBold"/>
              <a:ea typeface="Nunito SemiBold"/>
              <a:cs typeface="Nunito SemiBold"/>
              <a:sym typeface="Nunito SemiBold"/>
            </a:endParaRPr>
          </a:p>
          <a:p>
            <a:pPr indent="-330200" lvl="1" marL="914400" marR="0" rtl="0" algn="l">
              <a:lnSpc>
                <a:spcPct val="115000"/>
              </a:lnSpc>
              <a:spcBef>
                <a:spcPts val="40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Off (default): Driver unloads when GPU becomes idle.</a:t>
            </a:r>
            <a:endParaRPr b="0" i="0" sz="1600" u="none" cap="none" strike="noStrike">
              <a:solidFill>
                <a:srgbClr val="274D71"/>
              </a:solidFill>
              <a:latin typeface="Nunito SemiBold"/>
              <a:ea typeface="Nunito SemiBold"/>
              <a:cs typeface="Nunito SemiBold"/>
              <a:sym typeface="Nunito SemiBold"/>
            </a:endParaRPr>
          </a:p>
          <a:p>
            <a:pPr indent="-330200" lvl="1" marL="914400" marR="0" rtl="0" algn="l">
              <a:lnSpc>
                <a:spcPct val="115000"/>
              </a:lnSpc>
              <a:spcBef>
                <a:spcPts val="400"/>
              </a:spcBef>
              <a:spcAft>
                <a:spcPts val="40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On: Driver remains resident in memory.</a:t>
            </a:r>
            <a:endParaRPr b="1" i="0" sz="1600" u="none" cap="none" strike="noStrike">
              <a:solidFill>
                <a:srgbClr val="274D71"/>
              </a:solidFill>
              <a:latin typeface="Nunito"/>
              <a:ea typeface="Nunito"/>
              <a:cs typeface="Nunito"/>
              <a:sym typeface="Nunito"/>
            </a:endParaRPr>
          </a:p>
        </p:txBody>
      </p:sp>
      <p:sp>
        <p:nvSpPr>
          <p:cNvPr id="355" name="Google Shape;355;p42"/>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Driver Validation: </a:t>
            </a:r>
            <a:r>
              <a:rPr b="0" i="0" lang="en" sz="1600" u="none" cap="none" strike="noStrike">
                <a:solidFill>
                  <a:srgbClr val="274D71"/>
                </a:solidFill>
                <a:latin typeface="Nunito SemiBold"/>
                <a:ea typeface="Nunito SemiBold"/>
                <a:cs typeface="Nunito SemiBold"/>
                <a:sym typeface="Nunito SemiBold"/>
              </a:rPr>
              <a:t>Output Breakdown of </a:t>
            </a:r>
            <a:r>
              <a:rPr b="1" i="0" lang="en" sz="1600" u="none" cap="none" strike="noStrike">
                <a:solidFill>
                  <a:srgbClr val="274D71"/>
                </a:solidFill>
                <a:latin typeface="Nunito"/>
                <a:ea typeface="Nunito"/>
                <a:cs typeface="Nunito"/>
                <a:sym typeface="Nunito"/>
              </a:rPr>
              <a:t>nvidia-smi</a:t>
            </a:r>
            <a:endParaRPr b="1" i="0" sz="1600" u="none" cap="none" strike="noStrike">
              <a:solidFill>
                <a:srgbClr val="274D71"/>
              </a:solidFill>
              <a:latin typeface="Nunito"/>
              <a:ea typeface="Nunito"/>
              <a:cs typeface="Nunito"/>
              <a:sym typeface="Nunito"/>
            </a:endParaRPr>
          </a:p>
        </p:txBody>
      </p:sp>
      <p:sp>
        <p:nvSpPr>
          <p:cNvPr id="356" name="Google Shape;356;p42"/>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pic>
        <p:nvPicPr>
          <p:cNvPr id="361" name="Google Shape;361;p43"/>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362" name="Google Shape;362;p43"/>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363" name="Google Shape;363;p43"/>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43"/>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Validation Reference</a:t>
            </a:r>
            <a:endParaRPr b="1" i="0" sz="1800" u="none" cap="none" strike="noStrike">
              <a:solidFill>
                <a:srgbClr val="274D71"/>
              </a:solidFill>
              <a:latin typeface="Nunito"/>
              <a:ea typeface="Nunito"/>
              <a:cs typeface="Nunito"/>
              <a:sym typeface="Nunito"/>
            </a:endParaRPr>
          </a:p>
        </p:txBody>
      </p:sp>
      <p:sp>
        <p:nvSpPr>
          <p:cNvPr id="365" name="Google Shape;365;p43"/>
          <p:cNvSpPr txBox="1"/>
          <p:nvPr/>
        </p:nvSpPr>
        <p:spPr>
          <a:xfrm>
            <a:off x="554725" y="1478813"/>
            <a:ext cx="8341800" cy="431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274D71"/>
              </a:buClr>
              <a:buSzPts val="1600"/>
              <a:buFont typeface="Nunito"/>
              <a:buChar char="●"/>
            </a:pPr>
            <a:r>
              <a:rPr b="1" i="0" lang="en" sz="1600" u="none" cap="none" strike="noStrike">
                <a:solidFill>
                  <a:srgbClr val="274D71"/>
                </a:solidFill>
                <a:latin typeface="Nunito"/>
                <a:ea typeface="Nunito"/>
                <a:cs typeface="Nunito"/>
                <a:sym typeface="Nunito"/>
              </a:rPr>
              <a:t>Fan: </a:t>
            </a:r>
            <a:r>
              <a:rPr b="0" i="0" lang="en" sz="1600" u="none" cap="none" strike="noStrike">
                <a:solidFill>
                  <a:srgbClr val="274D71"/>
                </a:solidFill>
                <a:latin typeface="Nunito SemiBold"/>
                <a:ea typeface="Nunito SemiBold"/>
                <a:cs typeface="Nunito SemiBold"/>
                <a:sym typeface="Nunito SemiBold"/>
              </a:rPr>
              <a:t>Shows the current cooling fan speed as a percentage of its maximum RPM.</a:t>
            </a:r>
            <a:endParaRPr b="1" i="0" sz="1600" u="none" cap="none" strike="noStrike">
              <a:solidFill>
                <a:srgbClr val="274D71"/>
              </a:solidFill>
              <a:latin typeface="Nunito"/>
              <a:ea typeface="Nunito"/>
              <a:cs typeface="Nunito"/>
              <a:sym typeface="Nunito"/>
            </a:endParaRPr>
          </a:p>
        </p:txBody>
      </p:sp>
      <p:graphicFrame>
        <p:nvGraphicFramePr>
          <p:cNvPr id="366" name="Google Shape;366;p43"/>
          <p:cNvGraphicFramePr/>
          <p:nvPr/>
        </p:nvGraphicFramePr>
        <p:xfrm>
          <a:off x="1398125" y="1974486"/>
          <a:ext cx="3000000" cy="3000000"/>
        </p:xfrm>
        <a:graphic>
          <a:graphicData uri="http://schemas.openxmlformats.org/drawingml/2006/table">
            <a:tbl>
              <a:tblPr>
                <a:noFill/>
                <a:tableStyleId>{230E1801-D99D-4A61-A178-4185A3932480}</a:tableStyleId>
              </a:tblPr>
              <a:tblGrid>
                <a:gridCol w="2889100"/>
                <a:gridCol w="3458650"/>
              </a:tblGrid>
              <a:tr h="501350">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Fan Speed</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Meaning</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53080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0-20%</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Idle or light workload</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2245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20-50%</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Moderate workload</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54060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50-80%</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Heavy AI or gaming workload</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595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80-100%</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Maximum cooling during sustained load</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bl>
          </a:graphicData>
        </a:graphic>
      </p:graphicFrame>
      <p:sp>
        <p:nvSpPr>
          <p:cNvPr id="367" name="Google Shape;367;p43"/>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Driver Validation: </a:t>
            </a:r>
            <a:r>
              <a:rPr b="0" i="0" lang="en" sz="1600" u="none" cap="none" strike="noStrike">
                <a:solidFill>
                  <a:srgbClr val="274D71"/>
                </a:solidFill>
                <a:latin typeface="Nunito SemiBold"/>
                <a:ea typeface="Nunito SemiBold"/>
                <a:cs typeface="Nunito SemiBold"/>
                <a:sym typeface="Nunito SemiBold"/>
              </a:rPr>
              <a:t>Output Breakdown of </a:t>
            </a:r>
            <a:r>
              <a:rPr b="1" i="0" lang="en" sz="1600" u="none" cap="none" strike="noStrike">
                <a:solidFill>
                  <a:srgbClr val="274D71"/>
                </a:solidFill>
                <a:latin typeface="Nunito"/>
                <a:ea typeface="Nunito"/>
                <a:cs typeface="Nunito"/>
                <a:sym typeface="Nunito"/>
              </a:rPr>
              <a:t>nvidia-smi</a:t>
            </a:r>
            <a:endParaRPr b="1" i="0" sz="1600" u="none" cap="none" strike="noStrike">
              <a:solidFill>
                <a:srgbClr val="274D71"/>
              </a:solidFill>
              <a:latin typeface="Nunito"/>
              <a:ea typeface="Nunito"/>
              <a:cs typeface="Nunito"/>
              <a:sym typeface="Nunito"/>
            </a:endParaRPr>
          </a:p>
        </p:txBody>
      </p:sp>
      <p:sp>
        <p:nvSpPr>
          <p:cNvPr id="368" name="Google Shape;368;p43"/>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pic>
        <p:nvPicPr>
          <p:cNvPr id="373" name="Google Shape;373;p44"/>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374" name="Google Shape;374;p44"/>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375" name="Google Shape;375;p44"/>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44"/>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Validation Reference</a:t>
            </a:r>
            <a:endParaRPr b="1" i="0" sz="1800" u="none" cap="none" strike="noStrike">
              <a:solidFill>
                <a:srgbClr val="274D71"/>
              </a:solidFill>
              <a:latin typeface="Nunito"/>
              <a:ea typeface="Nunito"/>
              <a:cs typeface="Nunito"/>
              <a:sym typeface="Nunito"/>
            </a:endParaRPr>
          </a:p>
        </p:txBody>
      </p:sp>
      <p:sp>
        <p:nvSpPr>
          <p:cNvPr id="377" name="Google Shape;377;p44"/>
          <p:cNvSpPr txBox="1"/>
          <p:nvPr/>
        </p:nvSpPr>
        <p:spPr>
          <a:xfrm>
            <a:off x="554725" y="1478813"/>
            <a:ext cx="8341800" cy="431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Temp (Temperature):</a:t>
            </a:r>
            <a:r>
              <a:rPr b="0" i="0" lang="en" sz="1600" u="none" cap="none" strike="noStrike">
                <a:solidFill>
                  <a:srgbClr val="274D71"/>
                </a:solidFill>
                <a:latin typeface="Nunito SemiBold"/>
                <a:ea typeface="Nunito SemiBold"/>
                <a:cs typeface="Nunito SemiBold"/>
                <a:sym typeface="Nunito SemiBold"/>
              </a:rPr>
              <a:t> Current GPU core temperature.</a:t>
            </a:r>
            <a:endParaRPr b="1" i="0" sz="1600" u="none" cap="none" strike="noStrike">
              <a:solidFill>
                <a:srgbClr val="274D71"/>
              </a:solidFill>
              <a:latin typeface="Nunito"/>
              <a:ea typeface="Nunito"/>
              <a:cs typeface="Nunito"/>
              <a:sym typeface="Nunito"/>
            </a:endParaRPr>
          </a:p>
        </p:txBody>
      </p:sp>
      <p:sp>
        <p:nvSpPr>
          <p:cNvPr id="378" name="Google Shape;378;p44"/>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Driver Validation: </a:t>
            </a:r>
            <a:r>
              <a:rPr b="0" i="0" lang="en" sz="1600" u="none" cap="none" strike="noStrike">
                <a:solidFill>
                  <a:srgbClr val="274D71"/>
                </a:solidFill>
                <a:latin typeface="Nunito SemiBold"/>
                <a:ea typeface="Nunito SemiBold"/>
                <a:cs typeface="Nunito SemiBold"/>
                <a:sym typeface="Nunito SemiBold"/>
              </a:rPr>
              <a:t>Output Breakdown of </a:t>
            </a:r>
            <a:r>
              <a:rPr b="1" i="0" lang="en" sz="1600" u="none" cap="none" strike="noStrike">
                <a:solidFill>
                  <a:srgbClr val="274D71"/>
                </a:solidFill>
                <a:latin typeface="Nunito"/>
                <a:ea typeface="Nunito"/>
                <a:cs typeface="Nunito"/>
                <a:sym typeface="Nunito"/>
              </a:rPr>
              <a:t>nvidia-smi</a:t>
            </a:r>
            <a:endParaRPr b="1" i="0" sz="1600" u="none" cap="none" strike="noStrike">
              <a:solidFill>
                <a:srgbClr val="274D71"/>
              </a:solidFill>
              <a:latin typeface="Nunito"/>
              <a:ea typeface="Nunito"/>
              <a:cs typeface="Nunito"/>
              <a:sym typeface="Nunito"/>
            </a:endParaRPr>
          </a:p>
        </p:txBody>
      </p:sp>
      <p:sp>
        <p:nvSpPr>
          <p:cNvPr id="379" name="Google Shape;379;p44"/>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380" name="Google Shape;380;p44"/>
          <p:cNvGraphicFramePr/>
          <p:nvPr/>
        </p:nvGraphicFramePr>
        <p:xfrm>
          <a:off x="1398125" y="2007099"/>
          <a:ext cx="3000000" cy="3000000"/>
        </p:xfrm>
        <a:graphic>
          <a:graphicData uri="http://schemas.openxmlformats.org/drawingml/2006/table">
            <a:tbl>
              <a:tblPr>
                <a:noFill/>
                <a:tableStyleId>{230E1801-D99D-4A61-A178-4185A3932480}</a:tableStyleId>
              </a:tblPr>
              <a:tblGrid>
                <a:gridCol w="2889100"/>
                <a:gridCol w="3458650"/>
              </a:tblGrid>
              <a:tr h="386325">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Temperature</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Status</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447475">
                <a:tc>
                  <a:txBody>
                    <a:bodyPr/>
                    <a:lstStyle/>
                    <a:p>
                      <a:pPr indent="0" lvl="0" marL="0" marR="0" rtl="0" algn="l">
                        <a:lnSpc>
                          <a:spcPct val="100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25-40°C</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Very cool (idle)</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2720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40-75°C</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Normal usage</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46915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75-90°C</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High but generally safe</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02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Above 90°C</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Too hot; cooling should be checked</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402600">
                <a:tc>
                  <a:txBody>
                    <a:bodyPr/>
                    <a:lstStyle/>
                    <a:p>
                      <a:pPr indent="0" lvl="0" marL="0" marR="0" rtl="0" algn="l">
                        <a:lnSpc>
                          <a:spcPct val="100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95°C up</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Thermal throttling likely</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4" name="Shape 384"/>
        <p:cNvGrpSpPr/>
        <p:nvPr/>
      </p:nvGrpSpPr>
      <p:grpSpPr>
        <a:xfrm>
          <a:off x="0" y="0"/>
          <a:ext cx="0" cy="0"/>
          <a:chOff x="0" y="0"/>
          <a:chExt cx="0" cy="0"/>
        </a:xfrm>
      </p:grpSpPr>
      <p:pic>
        <p:nvPicPr>
          <p:cNvPr id="385" name="Google Shape;385;p45"/>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386" name="Google Shape;386;p45"/>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387" name="Google Shape;387;p45"/>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5"/>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Validation Reference</a:t>
            </a:r>
            <a:endParaRPr b="1" i="0" sz="1800" u="none" cap="none" strike="noStrike">
              <a:solidFill>
                <a:srgbClr val="274D71"/>
              </a:solidFill>
              <a:latin typeface="Nunito"/>
              <a:ea typeface="Nunito"/>
              <a:cs typeface="Nunito"/>
              <a:sym typeface="Nunito"/>
            </a:endParaRPr>
          </a:p>
        </p:txBody>
      </p:sp>
      <p:sp>
        <p:nvSpPr>
          <p:cNvPr id="389" name="Google Shape;389;p45"/>
          <p:cNvSpPr txBox="1"/>
          <p:nvPr/>
        </p:nvSpPr>
        <p:spPr>
          <a:xfrm>
            <a:off x="554725" y="1478813"/>
            <a:ext cx="8341800" cy="714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Perf (Performance State):</a:t>
            </a:r>
            <a:r>
              <a:rPr b="0" i="0" lang="en" sz="1600" u="none" cap="none" strike="noStrike">
                <a:solidFill>
                  <a:srgbClr val="274D71"/>
                </a:solidFill>
                <a:latin typeface="Nunito SemiBold"/>
                <a:ea typeface="Nunito SemiBold"/>
                <a:cs typeface="Nunito SemiBold"/>
                <a:sym typeface="Nunito SemiBold"/>
              </a:rPr>
              <a:t> Performance states range from P0 (highest performance) to P8 (lowest power).</a:t>
            </a:r>
            <a:endParaRPr b="1" i="0" sz="1600" u="none" cap="none" strike="noStrike">
              <a:solidFill>
                <a:srgbClr val="274D71"/>
              </a:solidFill>
              <a:latin typeface="Nunito"/>
              <a:ea typeface="Nunito"/>
              <a:cs typeface="Nunito"/>
              <a:sym typeface="Nunito"/>
            </a:endParaRPr>
          </a:p>
        </p:txBody>
      </p:sp>
      <p:sp>
        <p:nvSpPr>
          <p:cNvPr id="390" name="Google Shape;390;p45"/>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Driver Validation: </a:t>
            </a:r>
            <a:r>
              <a:rPr b="0" i="0" lang="en" sz="1600" u="none" cap="none" strike="noStrike">
                <a:solidFill>
                  <a:srgbClr val="274D71"/>
                </a:solidFill>
                <a:latin typeface="Nunito SemiBold"/>
                <a:ea typeface="Nunito SemiBold"/>
                <a:cs typeface="Nunito SemiBold"/>
                <a:sym typeface="Nunito SemiBold"/>
              </a:rPr>
              <a:t>Output Breakdown of </a:t>
            </a:r>
            <a:r>
              <a:rPr b="1" i="0" lang="en" sz="1600" u="none" cap="none" strike="noStrike">
                <a:solidFill>
                  <a:srgbClr val="274D71"/>
                </a:solidFill>
                <a:latin typeface="Nunito"/>
                <a:ea typeface="Nunito"/>
                <a:cs typeface="Nunito"/>
                <a:sym typeface="Nunito"/>
              </a:rPr>
              <a:t>nvidia-smi</a:t>
            </a:r>
            <a:endParaRPr b="1" i="0" sz="1600" u="none" cap="none" strike="noStrike">
              <a:solidFill>
                <a:srgbClr val="274D71"/>
              </a:solidFill>
              <a:latin typeface="Nunito"/>
              <a:ea typeface="Nunito"/>
              <a:cs typeface="Nunito"/>
              <a:sym typeface="Nunito"/>
            </a:endParaRPr>
          </a:p>
        </p:txBody>
      </p:sp>
      <p:sp>
        <p:nvSpPr>
          <p:cNvPr id="391" name="Google Shape;391;p45"/>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392" name="Google Shape;392;p45"/>
          <p:cNvGraphicFramePr/>
          <p:nvPr/>
        </p:nvGraphicFramePr>
        <p:xfrm>
          <a:off x="904025" y="2272199"/>
          <a:ext cx="3000000" cy="3000000"/>
        </p:xfrm>
        <a:graphic>
          <a:graphicData uri="http://schemas.openxmlformats.org/drawingml/2006/table">
            <a:tbl>
              <a:tblPr>
                <a:noFill/>
                <a:tableStyleId>{230E1801-D99D-4A61-A178-4185A3932480}</a:tableStyleId>
              </a:tblPr>
              <a:tblGrid>
                <a:gridCol w="1576900"/>
                <a:gridCol w="2641400"/>
                <a:gridCol w="3117650"/>
              </a:tblGrid>
              <a:tr h="386325">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State</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Meaning</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chemeClr val="dk1"/>
                        </a:buClr>
                        <a:buSzPts val="1100"/>
                        <a:buFont typeface="Arial"/>
                        <a:buNone/>
                      </a:pPr>
                      <a:r>
                        <a:rPr b="1" lang="en" sz="1200" u="none" cap="none" strike="noStrike">
                          <a:solidFill>
                            <a:srgbClr val="274D71"/>
                          </a:solidFill>
                          <a:latin typeface="Nunito"/>
                          <a:ea typeface="Nunito"/>
                          <a:cs typeface="Nunito"/>
                          <a:sym typeface="Nunito"/>
                        </a:rPr>
                        <a:t>Typical Usage</a:t>
                      </a:r>
                      <a:endParaRPr b="1"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4474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P0</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Maximum performance</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Heavy AI training, CUDA benchmarks</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915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P3-P4</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Medium performance</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Moderate GPU load</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402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P5-P7</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Light Workload</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Desktop acceleration</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02600">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P8</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Idle power-saving mode</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Desktop with almost no GPU activity</a:t>
                      </a:r>
                      <a:endParaRPr sz="1200" u="none" cap="none" strike="noStrike">
                        <a:solidFill>
                          <a:srgbClr val="274D71"/>
                        </a:solidFill>
                        <a:latin typeface="Nunito"/>
                        <a:ea typeface="Nunito"/>
                        <a:cs typeface="Nunito"/>
                        <a:sym typeface="Nuni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6" name="Shape 396"/>
        <p:cNvGrpSpPr/>
        <p:nvPr/>
      </p:nvGrpSpPr>
      <p:grpSpPr>
        <a:xfrm>
          <a:off x="0" y="0"/>
          <a:ext cx="0" cy="0"/>
          <a:chOff x="0" y="0"/>
          <a:chExt cx="0" cy="0"/>
        </a:xfrm>
      </p:grpSpPr>
      <p:pic>
        <p:nvPicPr>
          <p:cNvPr id="397" name="Google Shape;397;p46"/>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398" name="Google Shape;398;p46"/>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399" name="Google Shape;399;p46"/>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Validation Reference</a:t>
            </a:r>
            <a:endParaRPr b="1" i="0" sz="1800" u="none" cap="none" strike="noStrike">
              <a:solidFill>
                <a:srgbClr val="274D71"/>
              </a:solidFill>
              <a:latin typeface="Nunito"/>
              <a:ea typeface="Nunito"/>
              <a:cs typeface="Nunito"/>
              <a:sym typeface="Nunito"/>
            </a:endParaRPr>
          </a:p>
        </p:txBody>
      </p:sp>
      <p:sp>
        <p:nvSpPr>
          <p:cNvPr id="401" name="Google Shape;401;p46"/>
          <p:cNvSpPr txBox="1"/>
          <p:nvPr/>
        </p:nvSpPr>
        <p:spPr>
          <a:xfrm>
            <a:off x="554725" y="1478813"/>
            <a:ext cx="8341800" cy="23868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173W / 200W: </a:t>
            </a:r>
            <a:r>
              <a:rPr b="0" i="0" lang="en" sz="1600" u="none" cap="none" strike="noStrike">
                <a:solidFill>
                  <a:srgbClr val="274D71"/>
                </a:solidFill>
                <a:latin typeface="Nunito SemiBold"/>
                <a:ea typeface="Nunito SemiBold"/>
                <a:cs typeface="Nunito SemiBold"/>
                <a:sym typeface="Nunito SemiBold"/>
              </a:rPr>
              <a:t>Current GPU power usage and the maximum power limit.</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15000"/>
              </a:lnSpc>
              <a:spcBef>
                <a:spcPts val="40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9428 MiB / 12282 MiB:</a:t>
            </a:r>
            <a:r>
              <a:rPr b="0" i="0" lang="en" sz="1600" u="none" cap="none" strike="noStrike">
                <a:solidFill>
                  <a:srgbClr val="274D71"/>
                </a:solidFill>
                <a:latin typeface="Nunito SemiBold"/>
                <a:ea typeface="Nunito SemiBold"/>
                <a:cs typeface="Nunito SemiBold"/>
                <a:sym typeface="Nunito SemiBold"/>
              </a:rPr>
              <a:t> The memory usage (GPU VRAM).</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15000"/>
              </a:lnSpc>
              <a:spcBef>
                <a:spcPts val="40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96%:</a:t>
            </a:r>
            <a:r>
              <a:rPr b="0" i="0" lang="en" sz="1600" u="none" cap="none" strike="noStrike">
                <a:solidFill>
                  <a:srgbClr val="274D71"/>
                </a:solidFill>
                <a:latin typeface="Nunito SemiBold"/>
                <a:ea typeface="Nunito SemiBold"/>
                <a:cs typeface="Nunito SemiBold"/>
                <a:sym typeface="Nunito SemiBold"/>
              </a:rPr>
              <a:t> Measures how busy the GPU's compute cores were during the last sampling interval.</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15000"/>
              </a:lnSpc>
              <a:spcBef>
                <a:spcPts val="40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Processes Table:</a:t>
            </a:r>
            <a:r>
              <a:rPr b="0" i="0" lang="en" sz="1600" u="none" cap="none" strike="noStrike">
                <a:solidFill>
                  <a:srgbClr val="274D71"/>
                </a:solidFill>
                <a:latin typeface="Nunito SemiBold"/>
                <a:ea typeface="Nunito SemiBold"/>
                <a:cs typeface="Nunito SemiBold"/>
                <a:sym typeface="Nunito SemiBold"/>
              </a:rPr>
              <a:t> Lists every process currently using GPU memory.</a:t>
            </a:r>
            <a:endParaRPr b="0" i="0" sz="1600" u="none" cap="none" strike="noStrike">
              <a:solidFill>
                <a:srgbClr val="274D71"/>
              </a:solidFill>
              <a:latin typeface="Nunito SemiBold"/>
              <a:ea typeface="Nunito SemiBold"/>
              <a:cs typeface="Nunito SemiBold"/>
              <a:sym typeface="Nunito SemiBold"/>
            </a:endParaRPr>
          </a:p>
          <a:p>
            <a:pPr indent="-330200" lvl="1" marL="914400" marR="0" rtl="0" algn="l">
              <a:lnSpc>
                <a:spcPct val="115000"/>
              </a:lnSpc>
              <a:spcBef>
                <a:spcPts val="40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G:</a:t>
            </a:r>
            <a:r>
              <a:rPr b="0" i="0" lang="en" sz="1600" u="none" cap="none" strike="noStrike">
                <a:solidFill>
                  <a:srgbClr val="274D71"/>
                </a:solidFill>
                <a:latin typeface="Nunito SemiBold"/>
                <a:ea typeface="Nunito SemiBold"/>
                <a:cs typeface="Nunito SemiBold"/>
                <a:sym typeface="Nunito SemiBold"/>
              </a:rPr>
              <a:t> Graphics application (desktop, browser, display server)</a:t>
            </a:r>
            <a:endParaRPr b="0" i="0" sz="1600" u="none" cap="none" strike="noStrike">
              <a:solidFill>
                <a:srgbClr val="274D71"/>
              </a:solidFill>
              <a:latin typeface="Nunito SemiBold"/>
              <a:ea typeface="Nunito SemiBold"/>
              <a:cs typeface="Nunito SemiBold"/>
              <a:sym typeface="Nunito SemiBold"/>
            </a:endParaRPr>
          </a:p>
          <a:p>
            <a:pPr indent="-330200" lvl="1" marL="914400" marR="0" rtl="0" algn="l">
              <a:lnSpc>
                <a:spcPct val="115000"/>
              </a:lnSpc>
              <a:spcBef>
                <a:spcPts val="400"/>
              </a:spcBef>
              <a:spcAft>
                <a:spcPts val="40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C:</a:t>
            </a:r>
            <a:r>
              <a:rPr b="0" i="0" lang="en" sz="1600" u="none" cap="none" strike="noStrike">
                <a:solidFill>
                  <a:srgbClr val="274D71"/>
                </a:solidFill>
                <a:latin typeface="Nunito SemiBold"/>
                <a:ea typeface="Nunito SemiBold"/>
                <a:cs typeface="Nunito SemiBold"/>
                <a:sym typeface="Nunito SemiBold"/>
              </a:rPr>
              <a:t> CUDA compute application</a:t>
            </a:r>
            <a:endParaRPr b="1" i="0" sz="1600" u="none" cap="none" strike="noStrike">
              <a:solidFill>
                <a:srgbClr val="274D71"/>
              </a:solidFill>
              <a:latin typeface="Nunito"/>
              <a:ea typeface="Nunito"/>
              <a:cs typeface="Nunito"/>
              <a:sym typeface="Nunito"/>
            </a:endParaRPr>
          </a:p>
        </p:txBody>
      </p:sp>
      <p:sp>
        <p:nvSpPr>
          <p:cNvPr id="402" name="Google Shape;402;p46"/>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Driver Validation: </a:t>
            </a:r>
            <a:r>
              <a:rPr b="0" i="0" lang="en" sz="1600" u="none" cap="none" strike="noStrike">
                <a:solidFill>
                  <a:srgbClr val="274D71"/>
                </a:solidFill>
                <a:latin typeface="Nunito SemiBold"/>
                <a:ea typeface="Nunito SemiBold"/>
                <a:cs typeface="Nunito SemiBold"/>
                <a:sym typeface="Nunito SemiBold"/>
              </a:rPr>
              <a:t>Output Breakdown of </a:t>
            </a:r>
            <a:r>
              <a:rPr b="1" i="0" lang="en" sz="1600" u="none" cap="none" strike="noStrike">
                <a:solidFill>
                  <a:srgbClr val="274D71"/>
                </a:solidFill>
                <a:latin typeface="Nunito"/>
                <a:ea typeface="Nunito"/>
                <a:cs typeface="Nunito"/>
                <a:sym typeface="Nunito"/>
              </a:rPr>
              <a:t>nvidia-smi</a:t>
            </a:r>
            <a:endParaRPr b="1" i="0" sz="1600" u="none" cap="none" strike="noStrike">
              <a:solidFill>
                <a:srgbClr val="274D71"/>
              </a:solidFill>
              <a:latin typeface="Nunito"/>
              <a:ea typeface="Nunito"/>
              <a:cs typeface="Nunito"/>
              <a:sym typeface="Nunito"/>
            </a:endParaRPr>
          </a:p>
        </p:txBody>
      </p:sp>
      <p:sp>
        <p:nvSpPr>
          <p:cNvPr id="403" name="Google Shape;403;p46"/>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7" name="Shape 407"/>
        <p:cNvGrpSpPr/>
        <p:nvPr/>
      </p:nvGrpSpPr>
      <p:grpSpPr>
        <a:xfrm>
          <a:off x="0" y="0"/>
          <a:ext cx="0" cy="0"/>
          <a:chOff x="0" y="0"/>
          <a:chExt cx="0" cy="0"/>
        </a:xfrm>
      </p:grpSpPr>
      <p:pic>
        <p:nvPicPr>
          <p:cNvPr id="408" name="Google Shape;408;p47"/>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409" name="Google Shape;409;p47"/>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410" name="Google Shape;410;p47"/>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7"/>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Validation Reference</a:t>
            </a:r>
            <a:endParaRPr b="1" i="0" sz="1800" u="none" cap="none" strike="noStrike">
              <a:solidFill>
                <a:srgbClr val="274D71"/>
              </a:solidFill>
              <a:latin typeface="Nunito"/>
              <a:ea typeface="Nunito"/>
              <a:cs typeface="Nunito"/>
              <a:sym typeface="Nunito"/>
            </a:endParaRPr>
          </a:p>
        </p:txBody>
      </p:sp>
      <p:sp>
        <p:nvSpPr>
          <p:cNvPr id="412" name="Google Shape;412;p47"/>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CUDA Toolkit &amp; Environment Paths Validation</a:t>
            </a:r>
            <a:endParaRPr b="0" i="0" sz="1600" u="none" cap="none" strike="noStrike">
              <a:solidFill>
                <a:srgbClr val="274D71"/>
              </a:solidFill>
              <a:latin typeface="Nunito SemiBold"/>
              <a:ea typeface="Nunito SemiBold"/>
              <a:cs typeface="Nunito SemiBold"/>
              <a:sym typeface="Nunito SemiBold"/>
            </a:endParaRPr>
          </a:p>
        </p:txBody>
      </p:sp>
      <p:sp>
        <p:nvSpPr>
          <p:cNvPr id="413" name="Google Shape;413;p47"/>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7"/>
          <p:cNvSpPr txBox="1"/>
          <p:nvPr/>
        </p:nvSpPr>
        <p:spPr>
          <a:xfrm>
            <a:off x="575851" y="1473005"/>
            <a:ext cx="8138700" cy="104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chemeClr val="dk1"/>
              </a:buClr>
              <a:buSzPts val="1100"/>
              <a:buFont typeface="Arial"/>
              <a:buNone/>
            </a:pPr>
            <a:r>
              <a:rPr b="1" i="0" lang="en" sz="1600" u="none" cap="none" strike="noStrike">
                <a:solidFill>
                  <a:srgbClr val="274D71"/>
                </a:solidFill>
                <a:latin typeface="Nunito"/>
                <a:ea typeface="Nunito"/>
                <a:cs typeface="Nunito"/>
                <a:sym typeface="Nunito"/>
              </a:rPr>
              <a:t>ii. nvcc --version</a:t>
            </a:r>
            <a:endParaRPr b="1" i="0" sz="1100" u="none" cap="none" strike="noStrike">
              <a:solidFill>
                <a:srgbClr val="1F3A5F"/>
              </a:solidFill>
              <a:latin typeface="Consolas"/>
              <a:ea typeface="Consolas"/>
              <a:cs typeface="Consolas"/>
              <a:sym typeface="Consolas"/>
            </a:endParaRPr>
          </a:p>
          <a:p>
            <a:pPr indent="0" lvl="0" marL="0" marR="0" rtl="0" algn="l">
              <a:lnSpc>
                <a:spcPct val="115000"/>
              </a:lnSpc>
              <a:spcBef>
                <a:spcPts val="400"/>
              </a:spcBef>
              <a:spcAft>
                <a:spcPts val="50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Purpose:</a:t>
            </a:r>
            <a:r>
              <a:rPr b="0" i="0" lang="en" sz="1600" u="none" cap="none" strike="noStrike">
                <a:solidFill>
                  <a:srgbClr val="274D71"/>
                </a:solidFill>
                <a:latin typeface="Nunito SemiBold"/>
                <a:ea typeface="Nunito SemiBold"/>
                <a:cs typeface="Nunito SemiBold"/>
                <a:sym typeface="Nunito SemiBold"/>
              </a:rPr>
              <a:t> Confirms the CUDA Toolkit compiler is installed and shows the version code will be compiled against.</a:t>
            </a:r>
            <a:endParaRPr b="0" i="0" sz="1600" u="none" cap="none" strike="noStrike">
              <a:solidFill>
                <a:srgbClr val="274D71"/>
              </a:solidFill>
              <a:latin typeface="Nunito SemiBold"/>
              <a:ea typeface="Nunito SemiBold"/>
              <a:cs typeface="Nunito SemiBold"/>
              <a:sym typeface="Nunito SemiBold"/>
            </a:endParaRPr>
          </a:p>
        </p:txBody>
      </p:sp>
      <p:sp>
        <p:nvSpPr>
          <p:cNvPr id="415" name="Google Shape;415;p47"/>
          <p:cNvSpPr/>
          <p:nvPr/>
        </p:nvSpPr>
        <p:spPr>
          <a:xfrm>
            <a:off x="1316050" y="2611390"/>
            <a:ext cx="6534600" cy="1673700"/>
          </a:xfrm>
          <a:prstGeom prst="roundRect">
            <a:avLst>
              <a:gd fmla="val 11991" name="adj"/>
            </a:avLst>
          </a:prstGeom>
          <a:solidFill>
            <a:srgbClr val="444444"/>
          </a:solidFill>
          <a:ln>
            <a:noFill/>
          </a:ln>
        </p:spPr>
        <p:txBody>
          <a:bodyPr anchorCtr="0" anchor="ctr" bIns="91425" lIns="91425" spcFirstLastPara="1" rIns="91425" wrap="square" tIns="91425">
            <a:noAutofit/>
          </a:bodyPr>
          <a:lstStyle/>
          <a:p>
            <a:pPr indent="0" lvl="0" marL="0" marR="127000" rtl="0" algn="l">
              <a:lnSpc>
                <a:spcPct val="115000"/>
              </a:lnSpc>
              <a:spcBef>
                <a:spcPts val="50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 nvcc -–version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500"/>
              </a:spcBef>
              <a:spcAft>
                <a:spcPts val="100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nvcc: NVIDIA (R) Cuda compiler driver</a:t>
            </a:r>
            <a:br>
              <a:rPr b="0" i="0" lang="en" sz="1200" u="none" cap="none" strike="noStrike">
                <a:solidFill>
                  <a:schemeClr val="lt2"/>
                </a:solidFill>
                <a:latin typeface="Consolas"/>
                <a:ea typeface="Consolas"/>
                <a:cs typeface="Consolas"/>
                <a:sym typeface="Consolas"/>
              </a:rPr>
            </a:br>
            <a:r>
              <a:rPr b="0" i="0" lang="en" sz="1200" u="none" cap="none" strike="noStrike">
                <a:solidFill>
                  <a:schemeClr val="lt2"/>
                </a:solidFill>
                <a:latin typeface="Consolas"/>
                <a:ea typeface="Consolas"/>
                <a:cs typeface="Consolas"/>
                <a:sym typeface="Consolas"/>
              </a:rPr>
              <a:t> Copyright (c) 2005-2024 NVIDIA Corporation</a:t>
            </a:r>
            <a:br>
              <a:rPr b="0" i="0" lang="en" sz="1200" u="none" cap="none" strike="noStrike">
                <a:solidFill>
                  <a:schemeClr val="lt2"/>
                </a:solidFill>
                <a:latin typeface="Consolas"/>
                <a:ea typeface="Consolas"/>
                <a:cs typeface="Consolas"/>
                <a:sym typeface="Consolas"/>
              </a:rPr>
            </a:br>
            <a:r>
              <a:rPr b="0" i="0" lang="en" sz="1200" u="none" cap="none" strike="noStrike">
                <a:solidFill>
                  <a:schemeClr val="lt2"/>
                </a:solidFill>
                <a:latin typeface="Consolas"/>
                <a:ea typeface="Consolas"/>
                <a:cs typeface="Consolas"/>
                <a:sym typeface="Consolas"/>
              </a:rPr>
              <a:t> Built on Thu_Mar_28_02:18:24_PDT_2024</a:t>
            </a:r>
            <a:br>
              <a:rPr b="0" i="0" lang="en" sz="1200" u="none" cap="none" strike="noStrike">
                <a:solidFill>
                  <a:schemeClr val="lt2"/>
                </a:solidFill>
                <a:latin typeface="Consolas"/>
                <a:ea typeface="Consolas"/>
                <a:cs typeface="Consolas"/>
                <a:sym typeface="Consolas"/>
              </a:rPr>
            </a:br>
            <a:r>
              <a:rPr b="0" i="0" lang="en" sz="1200" u="none" cap="none" strike="noStrike">
                <a:solidFill>
                  <a:schemeClr val="lt2"/>
                </a:solidFill>
                <a:latin typeface="Consolas"/>
                <a:ea typeface="Consolas"/>
                <a:cs typeface="Consolas"/>
                <a:sym typeface="Consolas"/>
              </a:rPr>
              <a:t> Cuda compilation tools, release 12.4, V12.4.131</a:t>
            </a:r>
            <a:br>
              <a:rPr b="0" i="0" lang="en" sz="1200" u="none" cap="none" strike="noStrike">
                <a:solidFill>
                  <a:schemeClr val="lt2"/>
                </a:solidFill>
                <a:latin typeface="Consolas"/>
                <a:ea typeface="Consolas"/>
                <a:cs typeface="Consolas"/>
                <a:sym typeface="Consolas"/>
              </a:rPr>
            </a:br>
            <a:r>
              <a:rPr b="0" i="0" lang="en" sz="1200" u="none" cap="none" strike="noStrike">
                <a:solidFill>
                  <a:schemeClr val="lt2"/>
                </a:solidFill>
                <a:latin typeface="Consolas"/>
                <a:ea typeface="Consolas"/>
                <a:cs typeface="Consolas"/>
                <a:sym typeface="Consolas"/>
              </a:rPr>
              <a:t> Build cuda_12.4.r12.4/compiler.34097967_0</a:t>
            </a:r>
            <a:endParaRPr b="0" i="0" sz="1200" u="none" cap="none" strike="noStrike">
              <a:solidFill>
                <a:schemeClr val="lt2"/>
              </a:solidFill>
              <a:latin typeface="Consolas"/>
              <a:ea typeface="Consolas"/>
              <a:cs typeface="Consolas"/>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pic>
        <p:nvPicPr>
          <p:cNvPr id="420" name="Google Shape;420;p48"/>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421" name="Google Shape;421;p48"/>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422" name="Google Shape;422;p48"/>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8"/>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Validation Reference</a:t>
            </a:r>
            <a:endParaRPr b="1" i="0" sz="1800" u="none" cap="none" strike="noStrike">
              <a:solidFill>
                <a:srgbClr val="274D71"/>
              </a:solidFill>
              <a:latin typeface="Nunito"/>
              <a:ea typeface="Nunito"/>
              <a:cs typeface="Nunito"/>
              <a:sym typeface="Nunito"/>
            </a:endParaRPr>
          </a:p>
        </p:txBody>
      </p:sp>
      <p:sp>
        <p:nvSpPr>
          <p:cNvPr id="424" name="Google Shape;424;p48"/>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CUDA Toolkit &amp; Environment Paths Validation</a:t>
            </a:r>
            <a:endParaRPr b="0" i="0" sz="1600" u="none" cap="none" strike="noStrike">
              <a:solidFill>
                <a:srgbClr val="274D71"/>
              </a:solidFill>
              <a:latin typeface="Nunito SemiBold"/>
              <a:ea typeface="Nunito SemiBold"/>
              <a:cs typeface="Nunito SemiBold"/>
              <a:sym typeface="Nunito SemiBold"/>
            </a:endParaRPr>
          </a:p>
        </p:txBody>
      </p:sp>
      <p:sp>
        <p:nvSpPr>
          <p:cNvPr id="425" name="Google Shape;425;p48"/>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8"/>
          <p:cNvSpPr txBox="1"/>
          <p:nvPr/>
        </p:nvSpPr>
        <p:spPr>
          <a:xfrm>
            <a:off x="575851" y="1473005"/>
            <a:ext cx="8138700" cy="104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chemeClr val="dk1"/>
              </a:buClr>
              <a:buSzPts val="1100"/>
              <a:buFont typeface="Arial"/>
              <a:buNone/>
            </a:pPr>
            <a:r>
              <a:rPr b="1" i="0" lang="en" sz="1600" u="none" cap="none" strike="noStrike">
                <a:solidFill>
                  <a:srgbClr val="274D71"/>
                </a:solidFill>
                <a:latin typeface="Nunito"/>
                <a:ea typeface="Nunito"/>
                <a:cs typeface="Nunito"/>
                <a:sym typeface="Nunito"/>
              </a:rPr>
              <a:t>iii. which nvcc</a:t>
            </a:r>
            <a:endParaRPr b="1" i="0" sz="1100" u="none" cap="none" strike="noStrike">
              <a:solidFill>
                <a:srgbClr val="1F3A5F"/>
              </a:solidFill>
              <a:latin typeface="Consolas"/>
              <a:ea typeface="Consolas"/>
              <a:cs typeface="Consolas"/>
              <a:sym typeface="Consolas"/>
            </a:endParaRPr>
          </a:p>
          <a:p>
            <a:pPr indent="0" lvl="0" marL="0" marR="0" rtl="0" algn="l">
              <a:lnSpc>
                <a:spcPct val="115000"/>
              </a:lnSpc>
              <a:spcBef>
                <a:spcPts val="400"/>
              </a:spcBef>
              <a:spcAft>
                <a:spcPts val="50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Purpose:</a:t>
            </a:r>
            <a:r>
              <a:rPr b="0" i="0" lang="en" sz="1600" u="none" cap="none" strike="noStrike">
                <a:solidFill>
                  <a:srgbClr val="274D71"/>
                </a:solidFill>
                <a:latin typeface="Nunito SemiBold"/>
                <a:ea typeface="Nunito SemiBold"/>
                <a:cs typeface="Nunito SemiBold"/>
                <a:sym typeface="Nunito SemiBold"/>
              </a:rPr>
              <a:t> Shows exactly which NVCC binary the shell will execute and resolves ambiguity when multiple CUDA versions are installed side by side.</a:t>
            </a:r>
            <a:endParaRPr b="0" i="0" sz="1600" u="none" cap="none" strike="noStrike">
              <a:solidFill>
                <a:srgbClr val="274D71"/>
              </a:solidFill>
              <a:latin typeface="Nunito SemiBold"/>
              <a:ea typeface="Nunito SemiBold"/>
              <a:cs typeface="Nunito SemiBold"/>
              <a:sym typeface="Nunito SemiBold"/>
            </a:endParaRPr>
          </a:p>
        </p:txBody>
      </p:sp>
      <p:sp>
        <p:nvSpPr>
          <p:cNvPr id="427" name="Google Shape;427;p48"/>
          <p:cNvSpPr/>
          <p:nvPr/>
        </p:nvSpPr>
        <p:spPr>
          <a:xfrm>
            <a:off x="1304700" y="2611400"/>
            <a:ext cx="6534600" cy="1102200"/>
          </a:xfrm>
          <a:prstGeom prst="roundRect">
            <a:avLst>
              <a:gd fmla="val 11991" name="adj"/>
            </a:avLst>
          </a:prstGeom>
          <a:solidFill>
            <a:srgbClr val="444444"/>
          </a:solidFill>
          <a:ln>
            <a:noFill/>
          </a:ln>
        </p:spPr>
        <p:txBody>
          <a:bodyPr anchorCtr="0" anchor="ctr" bIns="91425" lIns="91425" spcFirstLastPara="1" rIns="91425" wrap="square" tIns="91425">
            <a:noAutofit/>
          </a:bodyPr>
          <a:lstStyle/>
          <a:p>
            <a:pPr indent="0" lvl="0" marL="0" marR="127000" rtl="0" algn="l">
              <a:lnSpc>
                <a:spcPct val="115000"/>
              </a:lnSpc>
              <a:spcBef>
                <a:spcPts val="50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 which nvcc </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500"/>
              </a:spcBef>
              <a:spcAft>
                <a:spcPts val="100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/usr/local/cuda-12.4/bin/nvcc</a:t>
            </a:r>
            <a:endParaRPr b="0" i="0" sz="1200" u="none" cap="none" strike="noStrike">
              <a:solidFill>
                <a:schemeClr val="lt2"/>
              </a:solidFill>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pic>
        <p:nvPicPr>
          <p:cNvPr id="432" name="Google Shape;432;p49"/>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433" name="Google Shape;433;p49"/>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434" name="Google Shape;434;p49"/>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49"/>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Validation Reference</a:t>
            </a:r>
            <a:endParaRPr b="1" i="0" sz="1800" u="none" cap="none" strike="noStrike">
              <a:solidFill>
                <a:srgbClr val="274D71"/>
              </a:solidFill>
              <a:latin typeface="Nunito"/>
              <a:ea typeface="Nunito"/>
              <a:cs typeface="Nunito"/>
              <a:sym typeface="Nunito"/>
            </a:endParaRPr>
          </a:p>
        </p:txBody>
      </p:sp>
      <p:sp>
        <p:nvSpPr>
          <p:cNvPr id="436" name="Google Shape;436;p49"/>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CUDA Toolkit &amp; Environment Paths Validation</a:t>
            </a:r>
            <a:endParaRPr b="0" i="0" sz="1600" u="none" cap="none" strike="noStrike">
              <a:solidFill>
                <a:srgbClr val="274D71"/>
              </a:solidFill>
              <a:latin typeface="Nunito SemiBold"/>
              <a:ea typeface="Nunito SemiBold"/>
              <a:cs typeface="Nunito SemiBold"/>
              <a:sym typeface="Nunito SemiBold"/>
            </a:endParaRPr>
          </a:p>
        </p:txBody>
      </p:sp>
      <p:sp>
        <p:nvSpPr>
          <p:cNvPr id="437" name="Google Shape;437;p49"/>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49"/>
          <p:cNvSpPr txBox="1"/>
          <p:nvPr/>
        </p:nvSpPr>
        <p:spPr>
          <a:xfrm>
            <a:off x="575851" y="1473005"/>
            <a:ext cx="8138700" cy="104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chemeClr val="dk1"/>
              </a:buClr>
              <a:buSzPts val="1100"/>
              <a:buFont typeface="Arial"/>
              <a:buNone/>
            </a:pPr>
            <a:r>
              <a:rPr b="1" i="0" lang="en" sz="1600" u="none" cap="none" strike="noStrike">
                <a:solidFill>
                  <a:srgbClr val="274D71"/>
                </a:solidFill>
                <a:latin typeface="Nunito"/>
                <a:ea typeface="Nunito"/>
                <a:cs typeface="Nunito"/>
                <a:sym typeface="Nunito"/>
              </a:rPr>
              <a:t>iv. echo $PATH | tr ':' '\n' | grep cuda</a:t>
            </a:r>
            <a:endParaRPr b="1" i="0" sz="1600" u="none" cap="none" strike="noStrike">
              <a:solidFill>
                <a:srgbClr val="274D71"/>
              </a:solidFill>
              <a:latin typeface="Nunito"/>
              <a:ea typeface="Nunito"/>
              <a:cs typeface="Nunito"/>
              <a:sym typeface="Nunito"/>
            </a:endParaRPr>
          </a:p>
          <a:p>
            <a:pPr indent="0" lvl="0" marL="0" marR="0" rtl="0" algn="l">
              <a:lnSpc>
                <a:spcPct val="115000"/>
              </a:lnSpc>
              <a:spcBef>
                <a:spcPts val="400"/>
              </a:spcBef>
              <a:spcAft>
                <a:spcPts val="50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Purpose:</a:t>
            </a:r>
            <a:r>
              <a:rPr b="0" i="0" lang="en" sz="1600" u="none" cap="none" strike="noStrike">
                <a:solidFill>
                  <a:srgbClr val="274D71"/>
                </a:solidFill>
                <a:latin typeface="Nunito SemiBold"/>
                <a:ea typeface="Nunito SemiBold"/>
                <a:cs typeface="Nunito SemiBold"/>
                <a:sym typeface="Nunito SemiBold"/>
              </a:rPr>
              <a:t> Verifies CUDA's bin directory (where nvcc lives) is on the executable search path.</a:t>
            </a:r>
            <a:endParaRPr b="0" i="0" sz="1600" u="none" cap="none" strike="noStrike">
              <a:solidFill>
                <a:srgbClr val="274D71"/>
              </a:solidFill>
              <a:latin typeface="Nunito SemiBold"/>
              <a:ea typeface="Nunito SemiBold"/>
              <a:cs typeface="Nunito SemiBold"/>
              <a:sym typeface="Nunito SemiBold"/>
            </a:endParaRPr>
          </a:p>
        </p:txBody>
      </p:sp>
      <p:sp>
        <p:nvSpPr>
          <p:cNvPr id="439" name="Google Shape;439;p49"/>
          <p:cNvSpPr/>
          <p:nvPr/>
        </p:nvSpPr>
        <p:spPr>
          <a:xfrm>
            <a:off x="1304700" y="2592253"/>
            <a:ext cx="6534600" cy="1102200"/>
          </a:xfrm>
          <a:prstGeom prst="roundRect">
            <a:avLst>
              <a:gd fmla="val 11991" name="adj"/>
            </a:avLst>
          </a:prstGeom>
          <a:solidFill>
            <a:srgbClr val="444444"/>
          </a:solidFill>
          <a:ln>
            <a:noFill/>
          </a:ln>
        </p:spPr>
        <p:txBody>
          <a:bodyPr anchorCtr="0" anchor="ctr" bIns="91425" lIns="91425" spcFirstLastPara="1" rIns="91425" wrap="square" tIns="91425">
            <a:noAutofit/>
          </a:bodyPr>
          <a:lstStyle/>
          <a:p>
            <a:pPr indent="0" lvl="0" marL="0" marR="127000" rtl="0" algn="l">
              <a:lnSpc>
                <a:spcPct val="115000"/>
              </a:lnSpc>
              <a:spcBef>
                <a:spcPts val="50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 echo $PATH | tr ':' '\n' | grep cuda</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500"/>
              </a:spcBef>
              <a:spcAft>
                <a:spcPts val="100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/usr/local/cuda/bin</a:t>
            </a:r>
            <a:br>
              <a:rPr b="0" i="0" lang="en" sz="1200" u="none" cap="none" strike="noStrike">
                <a:solidFill>
                  <a:schemeClr val="lt2"/>
                </a:solidFill>
                <a:latin typeface="Consolas"/>
                <a:ea typeface="Consolas"/>
                <a:cs typeface="Consolas"/>
                <a:sym typeface="Consolas"/>
              </a:rPr>
            </a:br>
            <a:r>
              <a:rPr b="0" i="0" lang="en" sz="1200" u="none" cap="none" strike="noStrike">
                <a:solidFill>
                  <a:schemeClr val="lt2"/>
                </a:solidFill>
                <a:latin typeface="Consolas"/>
                <a:ea typeface="Consolas"/>
                <a:cs typeface="Consolas"/>
                <a:sym typeface="Consolas"/>
              </a:rPr>
              <a:t> /usr/local/cuda-12.4/bin</a:t>
            </a:r>
            <a:endParaRPr b="0" i="0" sz="1200" u="none" cap="none" strike="noStrike">
              <a:solidFill>
                <a:schemeClr val="lt2"/>
              </a:solidFill>
              <a:latin typeface="Consolas"/>
              <a:ea typeface="Consolas"/>
              <a:cs typeface="Consolas"/>
              <a:sym typeface="Consolas"/>
            </a:endParaRPr>
          </a:p>
        </p:txBody>
      </p:sp>
      <p:sp>
        <p:nvSpPr>
          <p:cNvPr id="440" name="Google Shape;440;p49"/>
          <p:cNvSpPr txBox="1"/>
          <p:nvPr/>
        </p:nvSpPr>
        <p:spPr>
          <a:xfrm>
            <a:off x="575850" y="3805747"/>
            <a:ext cx="8341800" cy="104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60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Output Breakdown:</a:t>
            </a:r>
            <a:endParaRPr b="1" i="0" sz="1600" u="none" cap="none" strike="noStrike">
              <a:solidFill>
                <a:srgbClr val="274D71"/>
              </a:solidFill>
              <a:latin typeface="Nunito"/>
              <a:ea typeface="Nunito"/>
              <a:cs typeface="Nunito"/>
              <a:sym typeface="Nunito"/>
            </a:endParaRPr>
          </a:p>
          <a:p>
            <a:pPr indent="-330200" lvl="0" marL="457200" marR="0" rtl="0" algn="l">
              <a:lnSpc>
                <a:spcPct val="115000"/>
              </a:lnSpc>
              <a:spcBef>
                <a:spcPts val="400"/>
              </a:spcBef>
              <a:spcAft>
                <a:spcPts val="40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$PATH is normally one colon-separated string; tr ':' '\n' splits it into one entry per line so grep can search line by line.</a:t>
            </a:r>
            <a:endParaRPr b="0" i="0" sz="1600" u="none" cap="none" strike="noStrike">
              <a:solidFill>
                <a:srgbClr val="274D71"/>
              </a:solidFill>
              <a:latin typeface="Nunito SemiBold"/>
              <a:ea typeface="Nunito SemiBold"/>
              <a:cs typeface="Nunito SemiBold"/>
              <a:sym typeface="Nunito SemiBo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4" name="Shape 444"/>
        <p:cNvGrpSpPr/>
        <p:nvPr/>
      </p:nvGrpSpPr>
      <p:grpSpPr>
        <a:xfrm>
          <a:off x="0" y="0"/>
          <a:ext cx="0" cy="0"/>
          <a:chOff x="0" y="0"/>
          <a:chExt cx="0" cy="0"/>
        </a:xfrm>
      </p:grpSpPr>
      <p:pic>
        <p:nvPicPr>
          <p:cNvPr id="445" name="Google Shape;445;p50"/>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446" name="Google Shape;446;p50"/>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447" name="Google Shape;447;p50"/>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50"/>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Validation Reference</a:t>
            </a:r>
            <a:endParaRPr b="1" i="0" sz="1800" u="none" cap="none" strike="noStrike">
              <a:solidFill>
                <a:srgbClr val="274D71"/>
              </a:solidFill>
              <a:latin typeface="Nunito"/>
              <a:ea typeface="Nunito"/>
              <a:cs typeface="Nunito"/>
              <a:sym typeface="Nunito"/>
            </a:endParaRPr>
          </a:p>
        </p:txBody>
      </p:sp>
      <p:sp>
        <p:nvSpPr>
          <p:cNvPr id="449" name="Google Shape;449;p50"/>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CUDA Toolkit &amp; Environment Paths Validation</a:t>
            </a:r>
            <a:endParaRPr b="0" i="0" sz="1600" u="none" cap="none" strike="noStrike">
              <a:solidFill>
                <a:srgbClr val="274D71"/>
              </a:solidFill>
              <a:latin typeface="Nunito SemiBold"/>
              <a:ea typeface="Nunito SemiBold"/>
              <a:cs typeface="Nunito SemiBold"/>
              <a:sym typeface="Nunito SemiBold"/>
            </a:endParaRPr>
          </a:p>
        </p:txBody>
      </p:sp>
      <p:sp>
        <p:nvSpPr>
          <p:cNvPr id="450" name="Google Shape;450;p50"/>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50"/>
          <p:cNvSpPr txBox="1"/>
          <p:nvPr/>
        </p:nvSpPr>
        <p:spPr>
          <a:xfrm>
            <a:off x="575851" y="1473005"/>
            <a:ext cx="8138700" cy="104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chemeClr val="dk1"/>
              </a:buClr>
              <a:buSzPts val="1100"/>
              <a:buFont typeface="Arial"/>
              <a:buNone/>
            </a:pPr>
            <a:r>
              <a:rPr b="1" i="0" lang="en" sz="1600" u="none" cap="none" strike="noStrike">
                <a:solidFill>
                  <a:srgbClr val="274D71"/>
                </a:solidFill>
                <a:latin typeface="Nunito"/>
                <a:ea typeface="Nunito"/>
                <a:cs typeface="Nunito"/>
                <a:sym typeface="Nunito"/>
              </a:rPr>
              <a:t>v. echo $LD_LIBRARY_PATH | tr ':' '\n' | grep cuda</a:t>
            </a:r>
            <a:endParaRPr b="1" i="0" sz="1600" u="none" cap="none" strike="noStrike">
              <a:solidFill>
                <a:srgbClr val="274D71"/>
              </a:solidFill>
              <a:latin typeface="Nunito"/>
              <a:ea typeface="Nunito"/>
              <a:cs typeface="Nunito"/>
              <a:sym typeface="Nunito"/>
            </a:endParaRPr>
          </a:p>
          <a:p>
            <a:pPr indent="0" lvl="0" marL="0" marR="0" rtl="0" algn="l">
              <a:lnSpc>
                <a:spcPct val="115000"/>
              </a:lnSpc>
              <a:spcBef>
                <a:spcPts val="400"/>
              </a:spcBef>
              <a:spcAft>
                <a:spcPts val="50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Purpose:</a:t>
            </a:r>
            <a:r>
              <a:rPr b="0" i="0" lang="en" sz="1600" u="none" cap="none" strike="noStrike">
                <a:solidFill>
                  <a:srgbClr val="274D71"/>
                </a:solidFill>
                <a:latin typeface="Nunito SemiBold"/>
                <a:ea typeface="Nunito SemiBold"/>
                <a:cs typeface="Nunito SemiBold"/>
                <a:sym typeface="Nunito SemiBold"/>
              </a:rPr>
              <a:t> Verifies CUDA's shared libraries (libcudart.so, libcublas.so, etc.) are discoverable by the dynamic linker at runtime.</a:t>
            </a:r>
            <a:endParaRPr b="0" i="0" sz="1600" u="none" cap="none" strike="noStrike">
              <a:solidFill>
                <a:srgbClr val="274D71"/>
              </a:solidFill>
              <a:latin typeface="Nunito SemiBold"/>
              <a:ea typeface="Nunito SemiBold"/>
              <a:cs typeface="Nunito SemiBold"/>
              <a:sym typeface="Nunito SemiBold"/>
            </a:endParaRPr>
          </a:p>
        </p:txBody>
      </p:sp>
      <p:sp>
        <p:nvSpPr>
          <p:cNvPr id="452" name="Google Shape;452;p50"/>
          <p:cNvSpPr/>
          <p:nvPr/>
        </p:nvSpPr>
        <p:spPr>
          <a:xfrm>
            <a:off x="1304700" y="2595060"/>
            <a:ext cx="6534600" cy="1102200"/>
          </a:xfrm>
          <a:prstGeom prst="roundRect">
            <a:avLst>
              <a:gd fmla="val 11991" name="adj"/>
            </a:avLst>
          </a:prstGeom>
          <a:solidFill>
            <a:srgbClr val="444444"/>
          </a:solidFill>
          <a:ln>
            <a:noFill/>
          </a:ln>
        </p:spPr>
        <p:txBody>
          <a:bodyPr anchorCtr="0" anchor="ctr" bIns="91425" lIns="91425" spcFirstLastPara="1" rIns="91425" wrap="square" tIns="91425">
            <a:noAutofit/>
          </a:bodyPr>
          <a:lstStyle/>
          <a:p>
            <a:pPr indent="0" lvl="0" marL="0" marR="127000" rtl="0" algn="l">
              <a:lnSpc>
                <a:spcPct val="115000"/>
              </a:lnSpc>
              <a:spcBef>
                <a:spcPts val="500"/>
              </a:spcBef>
              <a:spcAft>
                <a:spcPts val="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 echo $LD_LIBRARY_PATH | tr ':' '\n' | grep cuda</a:t>
            </a:r>
            <a:endParaRPr b="0" i="0" sz="1200" u="none" cap="none" strike="noStrike">
              <a:solidFill>
                <a:schemeClr val="lt2"/>
              </a:solidFill>
              <a:latin typeface="Consolas"/>
              <a:ea typeface="Consolas"/>
              <a:cs typeface="Consolas"/>
              <a:sym typeface="Consolas"/>
            </a:endParaRPr>
          </a:p>
          <a:p>
            <a:pPr indent="0" lvl="0" marL="0" marR="127000" rtl="0" algn="l">
              <a:lnSpc>
                <a:spcPct val="115000"/>
              </a:lnSpc>
              <a:spcBef>
                <a:spcPts val="500"/>
              </a:spcBef>
              <a:spcAft>
                <a:spcPts val="1000"/>
              </a:spcAft>
              <a:buClr>
                <a:srgbClr val="000000"/>
              </a:buClr>
              <a:buSzPts val="1200"/>
              <a:buFont typeface="Arial"/>
              <a:buNone/>
            </a:pPr>
            <a:r>
              <a:rPr b="0" i="0" lang="en" sz="1200" u="none" cap="none" strike="noStrike">
                <a:solidFill>
                  <a:schemeClr val="lt2"/>
                </a:solidFill>
                <a:latin typeface="Consolas"/>
                <a:ea typeface="Consolas"/>
                <a:cs typeface="Consolas"/>
                <a:sym typeface="Consolas"/>
              </a:rPr>
              <a:t> /usr/local/cuda/lib64</a:t>
            </a:r>
            <a:br>
              <a:rPr b="0" i="0" lang="en" sz="1200" u="none" cap="none" strike="noStrike">
                <a:solidFill>
                  <a:schemeClr val="lt2"/>
                </a:solidFill>
                <a:latin typeface="Consolas"/>
                <a:ea typeface="Consolas"/>
                <a:cs typeface="Consolas"/>
                <a:sym typeface="Consolas"/>
              </a:rPr>
            </a:br>
            <a:r>
              <a:rPr b="0" i="0" lang="en" sz="1200" u="none" cap="none" strike="noStrike">
                <a:solidFill>
                  <a:schemeClr val="lt2"/>
                </a:solidFill>
                <a:latin typeface="Consolas"/>
                <a:ea typeface="Consolas"/>
                <a:cs typeface="Consolas"/>
                <a:sym typeface="Consolas"/>
              </a:rPr>
              <a:t> /usr/local/cuda-12.4/lib64</a:t>
            </a:r>
            <a:endParaRPr b="0" i="0" sz="1200" u="none" cap="none" strike="noStrike">
              <a:solidFill>
                <a:schemeClr val="lt2"/>
              </a:solidFill>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6" name="Shape 456"/>
        <p:cNvGrpSpPr/>
        <p:nvPr/>
      </p:nvGrpSpPr>
      <p:grpSpPr>
        <a:xfrm>
          <a:off x="0" y="0"/>
          <a:ext cx="0" cy="0"/>
          <a:chOff x="0" y="0"/>
          <a:chExt cx="0" cy="0"/>
        </a:xfrm>
      </p:grpSpPr>
      <p:pic>
        <p:nvPicPr>
          <p:cNvPr id="457" name="Google Shape;457;p51"/>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458" name="Google Shape;458;p51"/>
          <p:cNvSpPr txBox="1"/>
          <p:nvPr/>
        </p:nvSpPr>
        <p:spPr>
          <a:xfrm>
            <a:off x="544950" y="256150"/>
            <a:ext cx="8200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System Paths and Environment Validation (Cont.)</a:t>
            </a:r>
            <a:endParaRPr b="1" i="0" sz="2300" u="none" cap="none" strike="noStrike">
              <a:solidFill>
                <a:srgbClr val="274D71"/>
              </a:solidFill>
              <a:latin typeface="Nunito"/>
              <a:ea typeface="Nunito"/>
              <a:cs typeface="Nunito"/>
              <a:sym typeface="Nunito"/>
            </a:endParaRPr>
          </a:p>
        </p:txBody>
      </p:sp>
      <p:sp>
        <p:nvSpPr>
          <p:cNvPr id="459" name="Google Shape;459;p51"/>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51"/>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Validation Reference</a:t>
            </a:r>
            <a:endParaRPr b="1" i="0" sz="1800" u="none" cap="none" strike="noStrike">
              <a:solidFill>
                <a:srgbClr val="274D71"/>
              </a:solidFill>
              <a:latin typeface="Nunito"/>
              <a:ea typeface="Nunito"/>
              <a:cs typeface="Nunito"/>
              <a:sym typeface="Nunito"/>
            </a:endParaRPr>
          </a:p>
        </p:txBody>
      </p:sp>
      <p:sp>
        <p:nvSpPr>
          <p:cNvPr id="461" name="Google Shape;461;p51"/>
          <p:cNvSpPr txBox="1"/>
          <p:nvPr/>
        </p:nvSpPr>
        <p:spPr>
          <a:xfrm>
            <a:off x="554726" y="1138781"/>
            <a:ext cx="8138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Containerized GPU Access</a:t>
            </a:r>
            <a:endParaRPr b="0" i="0" sz="1600" u="none" cap="none" strike="noStrike">
              <a:solidFill>
                <a:srgbClr val="274D71"/>
              </a:solidFill>
              <a:latin typeface="Nunito SemiBold"/>
              <a:ea typeface="Nunito SemiBold"/>
              <a:cs typeface="Nunito SemiBold"/>
              <a:sym typeface="Nunito SemiBold"/>
            </a:endParaRPr>
          </a:p>
        </p:txBody>
      </p:sp>
      <p:sp>
        <p:nvSpPr>
          <p:cNvPr id="462" name="Google Shape;462;p51"/>
          <p:cNvSpPr/>
          <p:nvPr/>
        </p:nvSpPr>
        <p:spPr>
          <a:xfrm rot="5400000">
            <a:off x="364670" y="1327781"/>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51"/>
          <p:cNvSpPr txBox="1"/>
          <p:nvPr/>
        </p:nvSpPr>
        <p:spPr>
          <a:xfrm>
            <a:off x="575851" y="1473005"/>
            <a:ext cx="8138700" cy="104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chemeClr val="dk1"/>
              </a:buClr>
              <a:buSzPts val="1100"/>
              <a:buFont typeface="Arial"/>
              <a:buNone/>
            </a:pPr>
            <a:r>
              <a:rPr b="1" i="0" lang="en" sz="1600" u="none" cap="none" strike="noStrike">
                <a:solidFill>
                  <a:srgbClr val="274D71"/>
                </a:solidFill>
                <a:latin typeface="Nunito"/>
                <a:ea typeface="Nunito"/>
                <a:cs typeface="Nunito"/>
                <a:sym typeface="Nunito"/>
              </a:rPr>
              <a:t>vi. docker run --rm --gpus all nvidia/cuda:12.4.1-base-ubuntu22.04 nvidia-smi</a:t>
            </a:r>
            <a:endParaRPr b="1" i="0" sz="1600" u="none" cap="none" strike="noStrike">
              <a:solidFill>
                <a:srgbClr val="274D71"/>
              </a:solidFill>
              <a:latin typeface="Nunito"/>
              <a:ea typeface="Nunito"/>
              <a:cs typeface="Nunito"/>
              <a:sym typeface="Nunito"/>
            </a:endParaRPr>
          </a:p>
          <a:p>
            <a:pPr indent="0" lvl="0" marL="0" marR="0" rtl="0" algn="l">
              <a:lnSpc>
                <a:spcPct val="115000"/>
              </a:lnSpc>
              <a:spcBef>
                <a:spcPts val="400"/>
              </a:spcBef>
              <a:spcAft>
                <a:spcPts val="50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Purpose:</a:t>
            </a:r>
            <a:r>
              <a:rPr b="0" i="0" lang="en" sz="1600" u="none" cap="none" strike="noStrike">
                <a:solidFill>
                  <a:srgbClr val="274D71"/>
                </a:solidFill>
                <a:latin typeface="Nunito SemiBold"/>
                <a:ea typeface="Nunito SemiBold"/>
                <a:cs typeface="Nunito SemiBold"/>
                <a:sym typeface="Nunito SemiBold"/>
              </a:rPr>
              <a:t> End-to-end proof that Docker can expose the GPU to a container. Its output is the same as the nvidia-smi table but generated from inside a container.</a:t>
            </a:r>
            <a:endParaRPr b="0" i="0" sz="1600" u="none" cap="none" strike="noStrike">
              <a:solidFill>
                <a:srgbClr val="274D71"/>
              </a:solidFill>
              <a:latin typeface="Nunito SemiBold"/>
              <a:ea typeface="Nunito SemiBold"/>
              <a:cs typeface="Nunito SemiBold"/>
              <a:sym typeface="Nunito SemiBold"/>
            </a:endParaRPr>
          </a:p>
        </p:txBody>
      </p:sp>
      <p:sp>
        <p:nvSpPr>
          <p:cNvPr id="464" name="Google Shape;464;p51"/>
          <p:cNvSpPr txBox="1"/>
          <p:nvPr/>
        </p:nvSpPr>
        <p:spPr>
          <a:xfrm>
            <a:off x="575850" y="2424961"/>
            <a:ext cx="7942200" cy="207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60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Command Breakdown:</a:t>
            </a:r>
            <a:endParaRPr b="1" i="0" sz="1600" u="none" cap="none" strike="noStrike">
              <a:solidFill>
                <a:srgbClr val="274D71"/>
              </a:solidFill>
              <a:latin typeface="Nunito"/>
              <a:ea typeface="Nunito"/>
              <a:cs typeface="Nunito"/>
              <a:sym typeface="Nunito"/>
            </a:endParaRPr>
          </a:p>
          <a:p>
            <a:pPr indent="-330200" lvl="0" marL="457200" marR="0" rtl="0" algn="l">
              <a:lnSpc>
                <a:spcPct val="115000"/>
              </a:lnSpc>
              <a:spcBef>
                <a:spcPts val="60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--rm:</a:t>
            </a:r>
            <a:r>
              <a:rPr b="0" i="0" lang="en" sz="1600" u="none" cap="none" strike="noStrike">
                <a:solidFill>
                  <a:srgbClr val="274D71"/>
                </a:solidFill>
                <a:latin typeface="Nunito SemiBold"/>
                <a:ea typeface="Nunito SemiBold"/>
                <a:cs typeface="Nunito SemiBold"/>
                <a:sym typeface="Nunito SemiBold"/>
              </a:rPr>
              <a:t> Deletes the container automatically after exit; this is a one-shot test.</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15000"/>
              </a:lnSpc>
              <a:spcBef>
                <a:spcPts val="60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--gpus all:</a:t>
            </a:r>
            <a:r>
              <a:rPr b="0" i="0" lang="en" sz="1600" u="none" cap="none" strike="noStrike">
                <a:solidFill>
                  <a:srgbClr val="274D71"/>
                </a:solidFill>
                <a:latin typeface="Nunito SemiBold"/>
                <a:ea typeface="Nunito SemiBold"/>
                <a:cs typeface="Nunito SemiBold"/>
                <a:sym typeface="Nunito SemiBold"/>
              </a:rPr>
              <a:t> The flag, backed by the container toolkit, that exposes all host GPUs to the container. Omit it, and the container has zero GPU access.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15000"/>
              </a:lnSpc>
              <a:spcBef>
                <a:spcPts val="600"/>
              </a:spcBef>
              <a:spcAft>
                <a:spcPts val="40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 </a:t>
            </a:r>
            <a:r>
              <a:rPr b="1" i="0" lang="en" sz="1600" u="none" cap="none" strike="noStrike">
                <a:solidFill>
                  <a:srgbClr val="274D71"/>
                </a:solidFill>
                <a:latin typeface="Nunito"/>
                <a:ea typeface="Nunito"/>
                <a:cs typeface="Nunito"/>
                <a:sym typeface="Nunito"/>
              </a:rPr>
              <a:t>nvidia/cuda:12.4.1-base-ubuntu22.04:</a:t>
            </a:r>
            <a:r>
              <a:rPr b="0" i="0" lang="en" sz="1600" u="none" cap="none" strike="noStrike">
                <a:solidFill>
                  <a:srgbClr val="274D71"/>
                </a:solidFill>
                <a:latin typeface="Nunito SemiBold"/>
                <a:ea typeface="Nunito SemiBold"/>
                <a:cs typeface="Nunito SemiBold"/>
                <a:sym typeface="Nunito SemiBold"/>
              </a:rPr>
              <a:t> an official minimal image bundling the CUDA runtime libraries for 12.4.1 on Ubuntu 22.04. </a:t>
            </a:r>
            <a:endParaRPr b="0" i="0" sz="1600" u="none" cap="none" strike="noStrike">
              <a:solidFill>
                <a:srgbClr val="274D71"/>
              </a:solidFill>
              <a:latin typeface="Nunito SemiBold"/>
              <a:ea typeface="Nunito SemiBold"/>
              <a:cs typeface="Nunito SemiBold"/>
              <a:sym typeface="Nunito SemiBo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8" name="Shape 468"/>
        <p:cNvGrpSpPr/>
        <p:nvPr/>
      </p:nvGrpSpPr>
      <p:grpSpPr>
        <a:xfrm>
          <a:off x="0" y="0"/>
          <a:ext cx="0" cy="0"/>
          <a:chOff x="0" y="0"/>
          <a:chExt cx="0" cy="0"/>
        </a:xfrm>
      </p:grpSpPr>
      <p:pic>
        <p:nvPicPr>
          <p:cNvPr id="469" name="Google Shape;469;p52"/>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470" name="Google Shape;470;p52"/>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Local Deployment: Benefits &amp; Advantages</a:t>
            </a:r>
            <a:endParaRPr b="1" i="0" sz="2300" u="none" cap="none" strike="noStrike">
              <a:solidFill>
                <a:srgbClr val="274D71"/>
              </a:solidFill>
              <a:latin typeface="Nunito"/>
              <a:ea typeface="Nunito"/>
              <a:cs typeface="Nunito"/>
              <a:sym typeface="Nunito"/>
            </a:endParaRPr>
          </a:p>
        </p:txBody>
      </p:sp>
      <p:sp>
        <p:nvSpPr>
          <p:cNvPr id="471" name="Google Shape;471;p52"/>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rgbClr val="274D71"/>
              </a:buClr>
              <a:buSzPts val="1800"/>
              <a:buFont typeface="Nunito"/>
              <a:buChar char="●"/>
            </a:pPr>
            <a:r>
              <a:rPr b="1" i="0" lang="en" sz="1800" u="none" cap="none" strike="noStrike">
                <a:solidFill>
                  <a:srgbClr val="274D71"/>
                </a:solidFill>
                <a:latin typeface="Nunito"/>
                <a:ea typeface="Nunito"/>
                <a:cs typeface="Nunito"/>
                <a:sym typeface="Nunito"/>
              </a:rPr>
              <a:t>Why run AI locally instead of using a cloud API?</a:t>
            </a:r>
            <a:endParaRPr b="1" i="0" sz="1800" u="none" cap="none" strike="noStrike">
              <a:solidFill>
                <a:srgbClr val="274D71"/>
              </a:solidFill>
              <a:latin typeface="Nunito"/>
              <a:ea typeface="Nunito"/>
              <a:cs typeface="Nunito"/>
              <a:sym typeface="Nunito"/>
            </a:endParaRPr>
          </a:p>
        </p:txBody>
      </p:sp>
      <p:sp>
        <p:nvSpPr>
          <p:cNvPr id="472" name="Google Shape;472;p52"/>
          <p:cNvSpPr txBox="1"/>
          <p:nvPr/>
        </p:nvSpPr>
        <p:spPr>
          <a:xfrm>
            <a:off x="554726" y="1287009"/>
            <a:ext cx="8138700" cy="11697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600"/>
              <a:buFont typeface="Arial"/>
              <a:buNone/>
            </a:pPr>
            <a:r>
              <a:rPr b="1" i="0" lang="en" sz="1600" u="none" cap="none" strike="noStrike">
                <a:solidFill>
                  <a:srgbClr val="274D71"/>
                </a:solidFill>
                <a:latin typeface="Nunito"/>
                <a:ea typeface="Nunito"/>
                <a:cs typeface="Nunito"/>
                <a:sym typeface="Nunito"/>
              </a:rPr>
              <a:t>Local AI deployment</a:t>
            </a:r>
            <a:r>
              <a:rPr b="0" i="0" lang="en" sz="1600" u="none" cap="none" strike="noStrike">
                <a:solidFill>
                  <a:srgbClr val="274D71"/>
                </a:solidFill>
                <a:latin typeface="Nunito SemiBold"/>
                <a:ea typeface="Nunito SemiBold"/>
                <a:cs typeface="Nunito SemiBold"/>
                <a:sym typeface="Nunito SemiBold"/>
              </a:rPr>
              <a:t> is the practice of running AI models on your own computer or organization's infrastructure instead of using cloud-based AI services. Key advantages include the following: </a:t>
            </a:r>
            <a:endParaRPr b="0" i="0" sz="1600" u="none" cap="none" strike="noStrike">
              <a:solidFill>
                <a:srgbClr val="274D71"/>
              </a:solidFill>
              <a:latin typeface="Nunito SemiBold"/>
              <a:ea typeface="Nunito SemiBold"/>
              <a:cs typeface="Nunito SemiBold"/>
              <a:sym typeface="Nunito SemiBold"/>
            </a:endParaRPr>
          </a:p>
        </p:txBody>
      </p:sp>
      <p:sp>
        <p:nvSpPr>
          <p:cNvPr id="473" name="Google Shape;473;p52"/>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52"/>
          <p:cNvSpPr txBox="1"/>
          <p:nvPr/>
        </p:nvSpPr>
        <p:spPr>
          <a:xfrm>
            <a:off x="544950" y="2411681"/>
            <a:ext cx="8276100" cy="22779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Privacy:</a:t>
            </a:r>
            <a:r>
              <a:rPr b="0" i="0" lang="en" sz="1600" u="none" cap="none" strike="noStrike">
                <a:solidFill>
                  <a:srgbClr val="274D71"/>
                </a:solidFill>
                <a:latin typeface="Nunito SemiBold"/>
                <a:ea typeface="Nunito SemiBold"/>
                <a:cs typeface="Nunito SemiBold"/>
                <a:sym typeface="Nunito SemiBold"/>
              </a:rPr>
              <a:t> Sensitive data stays entirely on your local machine or network.</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Cost at scale:</a:t>
            </a:r>
            <a:r>
              <a:rPr b="0" i="0" lang="en" sz="1600" u="none" cap="none" strike="noStrike">
                <a:solidFill>
                  <a:srgbClr val="274D71"/>
                </a:solidFill>
                <a:latin typeface="Nunito SemiBold"/>
                <a:ea typeface="Nunito SemiBold"/>
                <a:cs typeface="Nunito SemiBold"/>
                <a:sym typeface="Nunito SemiBold"/>
              </a:rPr>
              <a:t> Fixed hardware investment with zero per-token API fees.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Latency:</a:t>
            </a:r>
            <a:r>
              <a:rPr b="0" i="0" lang="en" sz="1600" u="none" cap="none" strike="noStrike">
                <a:solidFill>
                  <a:srgbClr val="274D71"/>
                </a:solidFill>
                <a:latin typeface="Nunito SemiBold"/>
                <a:ea typeface="Nunito SemiBold"/>
                <a:cs typeface="Nunito SemiBold"/>
                <a:sym typeface="Nunito SemiBold"/>
              </a:rPr>
              <a:t> Eliminates network round-trips to remote cloud servers.</a:t>
            </a:r>
            <a:endParaRPr b="1" i="0" sz="1600" u="none" cap="none" strike="noStrike">
              <a:solidFill>
                <a:srgbClr val="274D71"/>
              </a:solidFill>
              <a:latin typeface="Nunito"/>
              <a:ea typeface="Nunito"/>
              <a:cs typeface="Nunito"/>
              <a:sym typeface="Nunito"/>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Offline operation:</a:t>
            </a:r>
            <a:r>
              <a:rPr b="0" i="0" lang="en" sz="1600" u="none" cap="none" strike="noStrike">
                <a:solidFill>
                  <a:srgbClr val="274D71"/>
                </a:solidFill>
                <a:latin typeface="Nunito SemiBold"/>
                <a:ea typeface="Nunito SemiBold"/>
                <a:cs typeface="Nunito SemiBold"/>
                <a:sym typeface="Nunito SemiBold"/>
              </a:rPr>
              <a:t> Functions without an active internet connection.</a:t>
            </a:r>
            <a:endParaRPr b="1" i="0" sz="1600" u="none" cap="none" strike="noStrike">
              <a:solidFill>
                <a:srgbClr val="274D71"/>
              </a:solidFill>
              <a:latin typeface="Nunito"/>
              <a:ea typeface="Nunito"/>
              <a:cs typeface="Nunito"/>
              <a:sym typeface="Nunito"/>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Customization:</a:t>
            </a:r>
            <a:r>
              <a:rPr b="0" i="0" lang="en" sz="1600" u="none" cap="none" strike="noStrike">
                <a:solidFill>
                  <a:srgbClr val="274D71"/>
                </a:solidFill>
                <a:latin typeface="Nunito SemiBold"/>
                <a:ea typeface="Nunito SemiBold"/>
                <a:cs typeface="Nunito SemiBold"/>
                <a:sym typeface="Nunito SemiBold"/>
              </a:rPr>
              <a:t> Full control over fine-tuning, quantization, system prompts, and model selection without rate limits.</a:t>
            </a:r>
            <a:endParaRPr b="0" i="0" sz="1600" u="none" cap="none" strike="noStrike">
              <a:solidFill>
                <a:srgbClr val="274D71"/>
              </a:solidFill>
              <a:latin typeface="Nunito SemiBold"/>
              <a:ea typeface="Nunito SemiBold"/>
              <a:cs typeface="Nunito SemiBold"/>
              <a:sym typeface="Nunito SemiBold"/>
            </a:endParaRPr>
          </a:p>
        </p:txBody>
      </p:sp>
      <p:sp>
        <p:nvSpPr>
          <p:cNvPr id="475" name="Google Shape;475;p52"/>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9" name="Shape 479"/>
        <p:cNvGrpSpPr/>
        <p:nvPr/>
      </p:nvGrpSpPr>
      <p:grpSpPr>
        <a:xfrm>
          <a:off x="0" y="0"/>
          <a:ext cx="0" cy="0"/>
          <a:chOff x="0" y="0"/>
          <a:chExt cx="0" cy="0"/>
        </a:xfrm>
      </p:grpSpPr>
      <p:pic>
        <p:nvPicPr>
          <p:cNvPr id="480" name="Google Shape;480;p53"/>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481" name="Google Shape;481;p53"/>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Local Deployment: Use Cases</a:t>
            </a:r>
            <a:endParaRPr b="1" i="0" sz="2300" u="none" cap="none" strike="noStrike">
              <a:solidFill>
                <a:srgbClr val="274D71"/>
              </a:solidFill>
              <a:latin typeface="Nunito"/>
              <a:ea typeface="Nunito"/>
              <a:cs typeface="Nunito"/>
              <a:sym typeface="Nunito"/>
            </a:endParaRPr>
          </a:p>
        </p:txBody>
      </p:sp>
      <p:sp>
        <p:nvSpPr>
          <p:cNvPr id="482" name="Google Shape;482;p53"/>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53"/>
          <p:cNvSpPr txBox="1"/>
          <p:nvPr/>
        </p:nvSpPr>
        <p:spPr>
          <a:xfrm>
            <a:off x="554725" y="780475"/>
            <a:ext cx="6862800" cy="461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rgbClr val="274D71"/>
              </a:buClr>
              <a:buSzPts val="1800"/>
              <a:buFont typeface="Nunito"/>
              <a:buChar char="●"/>
            </a:pPr>
            <a:r>
              <a:rPr b="1" i="0" lang="en" sz="1800" u="none" cap="none" strike="noStrike">
                <a:solidFill>
                  <a:srgbClr val="274D71"/>
                </a:solidFill>
                <a:latin typeface="Nunito"/>
                <a:ea typeface="Nunito"/>
                <a:cs typeface="Nunito"/>
                <a:sym typeface="Nunito"/>
              </a:rPr>
              <a:t>Common scenarios where running AI locally is preferred </a:t>
            </a:r>
            <a:endParaRPr b="1" i="0" sz="1800" u="none" cap="none" strike="noStrike">
              <a:solidFill>
                <a:srgbClr val="274D71"/>
              </a:solidFill>
              <a:latin typeface="Nunito"/>
              <a:ea typeface="Nunito"/>
              <a:cs typeface="Nunito"/>
              <a:sym typeface="Nunito"/>
            </a:endParaRPr>
          </a:p>
        </p:txBody>
      </p:sp>
      <p:sp>
        <p:nvSpPr>
          <p:cNvPr id="484" name="Google Shape;484;p53"/>
          <p:cNvSpPr txBox="1"/>
          <p:nvPr/>
        </p:nvSpPr>
        <p:spPr>
          <a:xfrm>
            <a:off x="554726" y="1287009"/>
            <a:ext cx="8138700" cy="4311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Key application scenarios:</a:t>
            </a:r>
            <a:endParaRPr b="0" i="0" sz="1600" u="none" cap="none" strike="noStrike">
              <a:solidFill>
                <a:srgbClr val="274D71"/>
              </a:solidFill>
              <a:latin typeface="Nunito SemiBold"/>
              <a:ea typeface="Nunito SemiBold"/>
              <a:cs typeface="Nunito SemiBold"/>
              <a:sym typeface="Nunito SemiBold"/>
            </a:endParaRPr>
          </a:p>
        </p:txBody>
      </p:sp>
      <p:sp>
        <p:nvSpPr>
          <p:cNvPr id="485" name="Google Shape;485;p53"/>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53"/>
          <p:cNvSpPr txBox="1"/>
          <p:nvPr/>
        </p:nvSpPr>
        <p:spPr>
          <a:xfrm>
            <a:off x="486025" y="1737581"/>
            <a:ext cx="8276100" cy="2647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Internal Knowledge Base and HR Assistant: </a:t>
            </a:r>
            <a:r>
              <a:rPr b="0" i="0" lang="en" sz="1600" u="none" cap="none" strike="noStrike">
                <a:solidFill>
                  <a:srgbClr val="274D71"/>
                </a:solidFill>
                <a:latin typeface="Nunito SemiBold"/>
                <a:ea typeface="Nunito SemiBold"/>
                <a:cs typeface="Nunito SemiBold"/>
                <a:sym typeface="Nunito SemiBold"/>
              </a:rPr>
              <a:t>Large organizations are deploying private AI assistants to help employees quickly access company knowledge, HR policies, and internal documents. For example, </a:t>
            </a:r>
            <a:r>
              <a:rPr b="1" i="0" lang="en" sz="1600" u="none" cap="none" strike="noStrike">
                <a:solidFill>
                  <a:srgbClr val="274D71"/>
                </a:solidFill>
                <a:latin typeface="Nunito"/>
                <a:ea typeface="Nunito"/>
                <a:cs typeface="Nunito"/>
                <a:sym typeface="Nunito"/>
              </a:rPr>
              <a:t>Walmart’s MyAssistant</a:t>
            </a:r>
            <a:r>
              <a:rPr b="0" i="0" lang="en" sz="1600" u="none" cap="none" strike="noStrike">
                <a:solidFill>
                  <a:srgbClr val="274D71"/>
                </a:solidFill>
                <a:latin typeface="Nunito SemiBold"/>
                <a:ea typeface="Nunito SemiBold"/>
                <a:cs typeface="Nunito SemiBold"/>
                <a:sym typeface="Nunito SemiBold"/>
              </a:rPr>
              <a:t> is an internal generative AI assistant designed to help employees with tasks such as answering workplace questions, summarizing documents, and improving productivity. It uses enterprise data and AI models while keeping sensitive company information within Walmart’s controlled environment. </a:t>
            </a:r>
            <a:endParaRPr b="0" i="0" sz="1600" u="none" cap="none" strike="noStrike">
              <a:solidFill>
                <a:srgbClr val="274D71"/>
              </a:solidFill>
              <a:latin typeface="Nunito SemiBold"/>
              <a:ea typeface="Nunito SemiBold"/>
              <a:cs typeface="Nunito SemiBold"/>
              <a:sym typeface="Nunito SemiBo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0" name="Shape 490"/>
        <p:cNvGrpSpPr/>
        <p:nvPr/>
      </p:nvGrpSpPr>
      <p:grpSpPr>
        <a:xfrm>
          <a:off x="0" y="0"/>
          <a:ext cx="0" cy="0"/>
          <a:chOff x="0" y="0"/>
          <a:chExt cx="0" cy="0"/>
        </a:xfrm>
      </p:grpSpPr>
      <p:pic>
        <p:nvPicPr>
          <p:cNvPr id="491" name="Google Shape;491;p54"/>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492" name="Google Shape;492;p54"/>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54"/>
          <p:cNvSpPr txBox="1"/>
          <p:nvPr/>
        </p:nvSpPr>
        <p:spPr>
          <a:xfrm>
            <a:off x="554725" y="780475"/>
            <a:ext cx="6862800" cy="461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rgbClr val="274D71"/>
              </a:buClr>
              <a:buSzPts val="1800"/>
              <a:buFont typeface="Nunito"/>
              <a:buChar char="●"/>
            </a:pPr>
            <a:r>
              <a:rPr b="1" i="0" lang="en" sz="1800" u="none" cap="none" strike="noStrike">
                <a:solidFill>
                  <a:srgbClr val="274D71"/>
                </a:solidFill>
                <a:latin typeface="Nunito"/>
                <a:ea typeface="Nunito"/>
                <a:cs typeface="Nunito"/>
                <a:sym typeface="Nunito"/>
              </a:rPr>
              <a:t>Common scenarios where running AI locally is preferred </a:t>
            </a:r>
            <a:endParaRPr b="1" i="0" sz="1800" u="none" cap="none" strike="noStrike">
              <a:solidFill>
                <a:srgbClr val="274D71"/>
              </a:solidFill>
              <a:latin typeface="Nunito"/>
              <a:ea typeface="Nunito"/>
              <a:cs typeface="Nunito"/>
              <a:sym typeface="Nunito"/>
            </a:endParaRPr>
          </a:p>
        </p:txBody>
      </p:sp>
      <p:sp>
        <p:nvSpPr>
          <p:cNvPr id="494" name="Google Shape;494;p54"/>
          <p:cNvSpPr txBox="1"/>
          <p:nvPr/>
        </p:nvSpPr>
        <p:spPr>
          <a:xfrm>
            <a:off x="554726" y="1287009"/>
            <a:ext cx="8138700" cy="4311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Key application scenarios:</a:t>
            </a:r>
            <a:endParaRPr b="0" i="0" sz="1600" u="none" cap="none" strike="noStrike">
              <a:solidFill>
                <a:srgbClr val="274D71"/>
              </a:solidFill>
              <a:latin typeface="Nunito SemiBold"/>
              <a:ea typeface="Nunito SemiBold"/>
              <a:cs typeface="Nunito SemiBold"/>
              <a:sym typeface="Nunito SemiBold"/>
            </a:endParaRPr>
          </a:p>
        </p:txBody>
      </p:sp>
      <p:sp>
        <p:nvSpPr>
          <p:cNvPr id="495" name="Google Shape;495;p54"/>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54"/>
          <p:cNvSpPr txBox="1"/>
          <p:nvPr/>
        </p:nvSpPr>
        <p:spPr>
          <a:xfrm>
            <a:off x="486025" y="1737581"/>
            <a:ext cx="8276100" cy="30168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Financial Research and Compliance:</a:t>
            </a:r>
            <a:r>
              <a:rPr b="0" i="0" lang="en" sz="1600" u="none" cap="none" strike="noStrike">
                <a:solidFill>
                  <a:srgbClr val="274D71"/>
                </a:solidFill>
                <a:latin typeface="Nunito SemiBold"/>
                <a:ea typeface="Nunito SemiBold"/>
                <a:cs typeface="Nunito SemiBold"/>
                <a:sym typeface="Nunito SemiBold"/>
              </a:rPr>
              <a:t> Banks are using private AI systems to analyze financial documents, support research, and monitor compliance activities. For example, JPMorgan Chase’s LLM Suite provides employees with an internal AI assistant that can summarize documents, answer finance-related questions, and support investment research. In addition, financial institutions use AI fraud detection platforms such as NICE Actimize to analyze transaction patterns, detect suspicious activities, and support anti-money-laundering (</a:t>
            </a:r>
            <a:r>
              <a:rPr b="1" i="0" lang="en" sz="1600" u="none" cap="none" strike="noStrike">
                <a:solidFill>
                  <a:srgbClr val="274D71"/>
                </a:solidFill>
                <a:latin typeface="Nunito"/>
                <a:ea typeface="Nunito"/>
                <a:cs typeface="Nunito"/>
                <a:sym typeface="Nunito"/>
              </a:rPr>
              <a:t>AML</a:t>
            </a:r>
            <a:r>
              <a:rPr b="0" i="0" lang="en" sz="1600" u="none" cap="none" strike="noStrike">
                <a:solidFill>
                  <a:srgbClr val="274D71"/>
                </a:solidFill>
                <a:latin typeface="Nunito SemiBold"/>
                <a:ea typeface="Nunito SemiBold"/>
                <a:cs typeface="Nunito SemiBold"/>
                <a:sym typeface="Nunito SemiBold"/>
              </a:rPr>
              <a:t>) monitoring while keeping sensitive financial data within secure banking systems.</a:t>
            </a:r>
            <a:endParaRPr b="0" i="0" sz="1600" u="none" cap="none" strike="noStrike">
              <a:solidFill>
                <a:srgbClr val="274D71"/>
              </a:solidFill>
              <a:latin typeface="Nunito SemiBold"/>
              <a:ea typeface="Nunito SemiBold"/>
              <a:cs typeface="Nunito SemiBold"/>
              <a:sym typeface="Nunito SemiBold"/>
            </a:endParaRPr>
          </a:p>
        </p:txBody>
      </p:sp>
      <p:sp>
        <p:nvSpPr>
          <p:cNvPr id="497" name="Google Shape;497;p54"/>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Local Deployment: Use Cases (Cont.)</a:t>
            </a:r>
            <a:endParaRPr b="1" i="0" sz="2300" u="none" cap="none" strike="noStrike">
              <a:solidFill>
                <a:srgbClr val="274D71"/>
              </a:solidFill>
              <a:latin typeface="Nunito"/>
              <a:ea typeface="Nunito"/>
              <a:cs typeface="Nunito"/>
              <a:sym typeface="Nuni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1" name="Shape 501"/>
        <p:cNvGrpSpPr/>
        <p:nvPr/>
      </p:nvGrpSpPr>
      <p:grpSpPr>
        <a:xfrm>
          <a:off x="0" y="0"/>
          <a:ext cx="0" cy="0"/>
          <a:chOff x="0" y="0"/>
          <a:chExt cx="0" cy="0"/>
        </a:xfrm>
      </p:grpSpPr>
      <p:pic>
        <p:nvPicPr>
          <p:cNvPr id="502" name="Google Shape;502;p55"/>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503" name="Google Shape;503;p55"/>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55"/>
          <p:cNvSpPr txBox="1"/>
          <p:nvPr/>
        </p:nvSpPr>
        <p:spPr>
          <a:xfrm>
            <a:off x="554725" y="780475"/>
            <a:ext cx="6862800" cy="461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rgbClr val="274D71"/>
              </a:buClr>
              <a:buSzPts val="1800"/>
              <a:buFont typeface="Nunito"/>
              <a:buChar char="●"/>
            </a:pPr>
            <a:r>
              <a:rPr b="1" i="0" lang="en" sz="1800" u="none" cap="none" strike="noStrike">
                <a:solidFill>
                  <a:srgbClr val="274D71"/>
                </a:solidFill>
                <a:latin typeface="Nunito"/>
                <a:ea typeface="Nunito"/>
                <a:cs typeface="Nunito"/>
                <a:sym typeface="Nunito"/>
              </a:rPr>
              <a:t>Common scenarios where running AI locally is preferred </a:t>
            </a:r>
            <a:endParaRPr b="1" i="0" sz="1800" u="none" cap="none" strike="noStrike">
              <a:solidFill>
                <a:srgbClr val="274D71"/>
              </a:solidFill>
              <a:latin typeface="Nunito"/>
              <a:ea typeface="Nunito"/>
              <a:cs typeface="Nunito"/>
              <a:sym typeface="Nunito"/>
            </a:endParaRPr>
          </a:p>
        </p:txBody>
      </p:sp>
      <p:sp>
        <p:nvSpPr>
          <p:cNvPr id="505" name="Google Shape;505;p55"/>
          <p:cNvSpPr txBox="1"/>
          <p:nvPr/>
        </p:nvSpPr>
        <p:spPr>
          <a:xfrm>
            <a:off x="554726" y="1287009"/>
            <a:ext cx="8138700" cy="4311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Key application scenarios:</a:t>
            </a:r>
            <a:endParaRPr b="0" i="0" sz="1600" u="none" cap="none" strike="noStrike">
              <a:solidFill>
                <a:srgbClr val="274D71"/>
              </a:solidFill>
              <a:latin typeface="Nunito SemiBold"/>
              <a:ea typeface="Nunito SemiBold"/>
              <a:cs typeface="Nunito SemiBold"/>
              <a:sym typeface="Nunito SemiBold"/>
            </a:endParaRPr>
          </a:p>
        </p:txBody>
      </p:sp>
      <p:sp>
        <p:nvSpPr>
          <p:cNvPr id="506" name="Google Shape;506;p55"/>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55"/>
          <p:cNvSpPr txBox="1"/>
          <p:nvPr/>
        </p:nvSpPr>
        <p:spPr>
          <a:xfrm>
            <a:off x="486025" y="1737581"/>
            <a:ext cx="8276100" cy="30168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Healthcare Diagnostics and Data Analysis:</a:t>
            </a:r>
            <a:r>
              <a:rPr b="0" i="0" lang="en" sz="1600" u="none" cap="none" strike="noStrike">
                <a:solidFill>
                  <a:srgbClr val="274D71"/>
                </a:solidFill>
                <a:latin typeface="Nunito SemiBold"/>
                <a:ea typeface="Nunito SemiBold"/>
                <a:cs typeface="Nunito SemiBold"/>
                <a:sym typeface="Nunito SemiBold"/>
              </a:rPr>
              <a:t> Healthcare organizations use local AI systems to analyze medical images and patient data while protecting privacy. For example, Aidoc and Zebra Medical Vision use computer vision AI models to analyze X-rays, CT scans, and MRIs to help radiologists detect abnormalities such as brain hemorrhages, fractures, and tumors. Hospitals can deploy these AI solutions within their own infrastructure so patient images remain inside the healthcare network, supporting faster diagnosis while meeting privacy requirements such as HIPAA.</a:t>
            </a:r>
            <a:endParaRPr b="0" i="0" sz="1600" u="none" cap="none" strike="noStrike">
              <a:solidFill>
                <a:srgbClr val="274D71"/>
              </a:solidFill>
              <a:latin typeface="Nunito SemiBold"/>
              <a:ea typeface="Nunito SemiBold"/>
              <a:cs typeface="Nunito SemiBold"/>
              <a:sym typeface="Nunito SemiBold"/>
            </a:endParaRPr>
          </a:p>
        </p:txBody>
      </p:sp>
      <p:sp>
        <p:nvSpPr>
          <p:cNvPr id="508" name="Google Shape;508;p55"/>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Local Deployment: Use Cases (Cont.)</a:t>
            </a:r>
            <a:endParaRPr b="1" i="0" sz="2300" u="none" cap="none" strike="noStrike">
              <a:solidFill>
                <a:srgbClr val="274D71"/>
              </a:solidFill>
              <a:latin typeface="Nunito"/>
              <a:ea typeface="Nunito"/>
              <a:cs typeface="Nunito"/>
              <a:sym typeface="Nuni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2" name="Shape 512"/>
        <p:cNvGrpSpPr/>
        <p:nvPr/>
      </p:nvGrpSpPr>
      <p:grpSpPr>
        <a:xfrm>
          <a:off x="0" y="0"/>
          <a:ext cx="0" cy="0"/>
          <a:chOff x="0" y="0"/>
          <a:chExt cx="0" cy="0"/>
        </a:xfrm>
      </p:grpSpPr>
      <p:pic>
        <p:nvPicPr>
          <p:cNvPr id="513" name="Google Shape;513;p56"/>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514" name="Google Shape;514;p56"/>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56"/>
          <p:cNvSpPr txBox="1"/>
          <p:nvPr/>
        </p:nvSpPr>
        <p:spPr>
          <a:xfrm>
            <a:off x="554725" y="780475"/>
            <a:ext cx="6862800" cy="461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rgbClr val="274D71"/>
              </a:buClr>
              <a:buSzPts val="1800"/>
              <a:buFont typeface="Nunito"/>
              <a:buChar char="●"/>
            </a:pPr>
            <a:r>
              <a:rPr b="1" i="0" lang="en" sz="1800" u="none" cap="none" strike="noStrike">
                <a:solidFill>
                  <a:srgbClr val="274D71"/>
                </a:solidFill>
                <a:latin typeface="Nunito"/>
                <a:ea typeface="Nunito"/>
                <a:cs typeface="Nunito"/>
                <a:sym typeface="Nunito"/>
              </a:rPr>
              <a:t>Common scenarios where running AI locally is preferred </a:t>
            </a:r>
            <a:endParaRPr b="1" i="0" sz="1800" u="none" cap="none" strike="noStrike">
              <a:solidFill>
                <a:srgbClr val="274D71"/>
              </a:solidFill>
              <a:latin typeface="Nunito"/>
              <a:ea typeface="Nunito"/>
              <a:cs typeface="Nunito"/>
              <a:sym typeface="Nunito"/>
            </a:endParaRPr>
          </a:p>
        </p:txBody>
      </p:sp>
      <p:sp>
        <p:nvSpPr>
          <p:cNvPr id="516" name="Google Shape;516;p56"/>
          <p:cNvSpPr txBox="1"/>
          <p:nvPr/>
        </p:nvSpPr>
        <p:spPr>
          <a:xfrm>
            <a:off x="554726" y="1287009"/>
            <a:ext cx="8138700" cy="4311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Key application scenarios:</a:t>
            </a:r>
            <a:endParaRPr b="0" i="0" sz="1600" u="none" cap="none" strike="noStrike">
              <a:solidFill>
                <a:srgbClr val="274D71"/>
              </a:solidFill>
              <a:latin typeface="Nunito SemiBold"/>
              <a:ea typeface="Nunito SemiBold"/>
              <a:cs typeface="Nunito SemiBold"/>
              <a:sym typeface="Nunito SemiBold"/>
            </a:endParaRPr>
          </a:p>
        </p:txBody>
      </p:sp>
      <p:sp>
        <p:nvSpPr>
          <p:cNvPr id="517" name="Google Shape;517;p56"/>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56"/>
          <p:cNvSpPr txBox="1"/>
          <p:nvPr/>
        </p:nvSpPr>
        <p:spPr>
          <a:xfrm>
            <a:off x="486025" y="1737581"/>
            <a:ext cx="8276100" cy="2647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Manufacturing and IoT Operations:</a:t>
            </a:r>
            <a:r>
              <a:rPr b="0" i="0" lang="en" sz="1600" u="none" cap="none" strike="noStrike">
                <a:solidFill>
                  <a:srgbClr val="274D71"/>
                </a:solidFill>
                <a:latin typeface="Nunito SemiBold"/>
                <a:ea typeface="Nunito SemiBold"/>
                <a:cs typeface="Nunito SemiBold"/>
                <a:sym typeface="Nunito SemiBold"/>
              </a:rPr>
              <a:t> Manufacturers use local AI for real-time equipment monitoring, quality inspection, and predictive maintenance. For example, Siemens Industrial Edge AI allows factories to run AI models directly on industrial machines to analyze sensor data and detect equipment problems before failures occur. Companies also use Cognex Vision AI for automated quality inspection, where computer vision models identify defects on production lines in milliseconds. </a:t>
            </a:r>
            <a:endParaRPr b="0" i="0" sz="1600" u="none" cap="none" strike="noStrike">
              <a:solidFill>
                <a:srgbClr val="274D71"/>
              </a:solidFill>
              <a:latin typeface="Nunito SemiBold"/>
              <a:ea typeface="Nunito SemiBold"/>
              <a:cs typeface="Nunito SemiBold"/>
              <a:sym typeface="Nunito SemiBold"/>
            </a:endParaRPr>
          </a:p>
        </p:txBody>
      </p:sp>
      <p:sp>
        <p:nvSpPr>
          <p:cNvPr id="519" name="Google Shape;519;p56"/>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Local Deployment: Use Cases (Cont.)</a:t>
            </a:r>
            <a:endParaRPr b="1" i="0" sz="2300" u="none" cap="none" strike="noStrike">
              <a:solidFill>
                <a:srgbClr val="274D71"/>
              </a:solidFill>
              <a:latin typeface="Nunito"/>
              <a:ea typeface="Nunito"/>
              <a:cs typeface="Nunito"/>
              <a:sym typeface="Nuni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pic>
        <p:nvPicPr>
          <p:cNvPr id="524" name="Google Shape;524;p57"/>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525" name="Google Shape;525;p57"/>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57"/>
          <p:cNvSpPr txBox="1"/>
          <p:nvPr/>
        </p:nvSpPr>
        <p:spPr>
          <a:xfrm>
            <a:off x="554725" y="780475"/>
            <a:ext cx="6862800" cy="461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rgbClr val="274D71"/>
              </a:buClr>
              <a:buSzPts val="1800"/>
              <a:buFont typeface="Nunito"/>
              <a:buChar char="●"/>
            </a:pPr>
            <a:r>
              <a:rPr b="1" i="0" lang="en" sz="1800" u="none" cap="none" strike="noStrike">
                <a:solidFill>
                  <a:srgbClr val="274D71"/>
                </a:solidFill>
                <a:latin typeface="Nunito"/>
                <a:ea typeface="Nunito"/>
                <a:cs typeface="Nunito"/>
                <a:sym typeface="Nunito"/>
              </a:rPr>
              <a:t>Common scenarios where running AI locally is preferred </a:t>
            </a:r>
            <a:endParaRPr b="1" i="0" sz="1800" u="none" cap="none" strike="noStrike">
              <a:solidFill>
                <a:srgbClr val="274D71"/>
              </a:solidFill>
              <a:latin typeface="Nunito"/>
              <a:ea typeface="Nunito"/>
              <a:cs typeface="Nunito"/>
              <a:sym typeface="Nunito"/>
            </a:endParaRPr>
          </a:p>
        </p:txBody>
      </p:sp>
      <p:sp>
        <p:nvSpPr>
          <p:cNvPr id="527" name="Google Shape;527;p57"/>
          <p:cNvSpPr txBox="1"/>
          <p:nvPr/>
        </p:nvSpPr>
        <p:spPr>
          <a:xfrm>
            <a:off x="554726" y="1287009"/>
            <a:ext cx="8138700" cy="4311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Key application scenarios:</a:t>
            </a:r>
            <a:endParaRPr b="0" i="0" sz="1600" u="none" cap="none" strike="noStrike">
              <a:solidFill>
                <a:srgbClr val="274D71"/>
              </a:solidFill>
              <a:latin typeface="Nunito SemiBold"/>
              <a:ea typeface="Nunito SemiBold"/>
              <a:cs typeface="Nunito SemiBold"/>
              <a:sym typeface="Nunito SemiBold"/>
            </a:endParaRPr>
          </a:p>
        </p:txBody>
      </p:sp>
      <p:sp>
        <p:nvSpPr>
          <p:cNvPr id="528" name="Google Shape;528;p57"/>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57"/>
          <p:cNvSpPr txBox="1"/>
          <p:nvPr/>
        </p:nvSpPr>
        <p:spPr>
          <a:xfrm>
            <a:off x="486025" y="1737581"/>
            <a:ext cx="8276100" cy="30168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Customer Experience with Privacy:</a:t>
            </a:r>
            <a:r>
              <a:rPr b="0" i="0" lang="en" sz="1600" u="none" cap="none" strike="noStrike">
                <a:solidFill>
                  <a:srgbClr val="274D71"/>
                </a:solidFill>
                <a:latin typeface="Nunito SemiBold"/>
                <a:ea typeface="Nunito SemiBold"/>
                <a:cs typeface="Nunito SemiBold"/>
                <a:sym typeface="Nunito SemiBold"/>
              </a:rPr>
              <a:t> Companies are using private AI solutions to improve customer service while protecting personal information. For example, Genesys Cloud AI and NICE Enlighten use AI to analyze customer conversations, summarize support interactions, and assist customer service agents. Insurance companies also use AI document processing platforms such as UiPath Document Understanding to analyze claims documents and detect fraud patterns. Deploying these AI capabilities within controlled environments helps organizations protect customer data while improving service efficiency.</a:t>
            </a:r>
            <a:endParaRPr b="0" i="0" sz="1600" u="none" cap="none" strike="noStrike">
              <a:solidFill>
                <a:srgbClr val="274D71"/>
              </a:solidFill>
              <a:latin typeface="Nunito SemiBold"/>
              <a:ea typeface="Nunito SemiBold"/>
              <a:cs typeface="Nunito SemiBold"/>
              <a:sym typeface="Nunito SemiBold"/>
            </a:endParaRPr>
          </a:p>
        </p:txBody>
      </p:sp>
      <p:sp>
        <p:nvSpPr>
          <p:cNvPr id="530" name="Google Shape;530;p57"/>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Local Deployment: Use Cases (Cont.)</a:t>
            </a:r>
            <a:endParaRPr b="1" i="0" sz="2300" u="none" cap="none" strike="noStrike">
              <a:solidFill>
                <a:srgbClr val="274D71"/>
              </a:solidFill>
              <a:latin typeface="Nunito"/>
              <a:ea typeface="Nunito"/>
              <a:cs typeface="Nunito"/>
              <a:sym typeface="Nuni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4" name="Shape 534"/>
        <p:cNvGrpSpPr/>
        <p:nvPr/>
      </p:nvGrpSpPr>
      <p:grpSpPr>
        <a:xfrm>
          <a:off x="0" y="0"/>
          <a:ext cx="0" cy="0"/>
          <a:chOff x="0" y="0"/>
          <a:chExt cx="0" cy="0"/>
        </a:xfrm>
      </p:grpSpPr>
      <p:pic>
        <p:nvPicPr>
          <p:cNvPr id="535" name="Google Shape;535;p58"/>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536" name="Google Shape;536;p58"/>
          <p:cNvSpPr txBox="1"/>
          <p:nvPr/>
        </p:nvSpPr>
        <p:spPr>
          <a:xfrm>
            <a:off x="544950" y="256150"/>
            <a:ext cx="7066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Privacy, cost, and compliance considerations</a:t>
            </a:r>
            <a:endParaRPr b="1" i="0" sz="2300" u="none" cap="none" strike="noStrike">
              <a:solidFill>
                <a:srgbClr val="274D71"/>
              </a:solidFill>
              <a:latin typeface="Nunito"/>
              <a:ea typeface="Nunito"/>
              <a:cs typeface="Nunito"/>
              <a:sym typeface="Nunito"/>
            </a:endParaRPr>
          </a:p>
        </p:txBody>
      </p:sp>
      <p:sp>
        <p:nvSpPr>
          <p:cNvPr id="537" name="Google Shape;537;p58"/>
          <p:cNvSpPr txBox="1"/>
          <p:nvPr/>
        </p:nvSpPr>
        <p:spPr>
          <a:xfrm>
            <a:off x="554726" y="1287009"/>
            <a:ext cx="8138700" cy="4311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Running AI locally keeps sensitive data under your control.</a:t>
            </a:r>
            <a:endParaRPr b="0" i="0" sz="1600" u="none" cap="none" strike="noStrike">
              <a:solidFill>
                <a:srgbClr val="274D71"/>
              </a:solidFill>
              <a:latin typeface="Nunito SemiBold"/>
              <a:ea typeface="Nunito SemiBold"/>
              <a:cs typeface="Nunito SemiBold"/>
              <a:sym typeface="Nunito SemiBold"/>
            </a:endParaRPr>
          </a:p>
        </p:txBody>
      </p:sp>
      <p:sp>
        <p:nvSpPr>
          <p:cNvPr id="538" name="Google Shape;538;p58"/>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58"/>
          <p:cNvSpPr txBox="1"/>
          <p:nvPr/>
        </p:nvSpPr>
        <p:spPr>
          <a:xfrm>
            <a:off x="486025" y="1737581"/>
            <a:ext cx="8276100" cy="2647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Data stays on local devices or company servers instead of being sent to third-party cloud providers.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Reduces the risk of exposing confidential information such as customer records, source code, financial documents, or intellectual property.</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Enables organizations to work with sensitive data even without an Internet connection.</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Gives businesses full control over who can access AI systems and stored data.</a:t>
            </a:r>
            <a:endParaRPr b="0" i="0" sz="1600" u="none" cap="none" strike="noStrike">
              <a:solidFill>
                <a:srgbClr val="274D71"/>
              </a:solidFill>
              <a:latin typeface="Nunito SemiBold"/>
              <a:ea typeface="Nunito SemiBold"/>
              <a:cs typeface="Nunito SemiBold"/>
              <a:sym typeface="Nunito SemiBold"/>
            </a:endParaRPr>
          </a:p>
        </p:txBody>
      </p:sp>
      <p:sp>
        <p:nvSpPr>
          <p:cNvPr id="540" name="Google Shape;540;p58"/>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rgbClr val="274D71"/>
              </a:buClr>
              <a:buSzPts val="1800"/>
              <a:buFont typeface="Nunito"/>
              <a:buAutoNum type="arabicPeriod"/>
            </a:pPr>
            <a:r>
              <a:rPr b="1" i="0" lang="en" sz="1800" u="none" cap="none" strike="noStrike">
                <a:solidFill>
                  <a:srgbClr val="274D71"/>
                </a:solidFill>
                <a:latin typeface="Nunito"/>
                <a:ea typeface="Nunito"/>
                <a:cs typeface="Nunito"/>
                <a:sym typeface="Nunito"/>
              </a:rPr>
              <a:t>Privacy</a:t>
            </a:r>
            <a:endParaRPr b="1" i="0" sz="1800" u="none" cap="none" strike="noStrike">
              <a:solidFill>
                <a:srgbClr val="274D71"/>
              </a:solidFill>
              <a:latin typeface="Nunito"/>
              <a:ea typeface="Nunito"/>
              <a:cs typeface="Nunito"/>
              <a:sym typeface="Nunito"/>
            </a:endParaRPr>
          </a:p>
        </p:txBody>
      </p:sp>
      <p:sp>
        <p:nvSpPr>
          <p:cNvPr id="541" name="Google Shape;541;p58"/>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5" name="Shape 545"/>
        <p:cNvGrpSpPr/>
        <p:nvPr/>
      </p:nvGrpSpPr>
      <p:grpSpPr>
        <a:xfrm>
          <a:off x="0" y="0"/>
          <a:ext cx="0" cy="0"/>
          <a:chOff x="0" y="0"/>
          <a:chExt cx="0" cy="0"/>
        </a:xfrm>
      </p:grpSpPr>
      <p:pic>
        <p:nvPicPr>
          <p:cNvPr id="546" name="Google Shape;546;p59"/>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547" name="Google Shape;547;p59"/>
          <p:cNvSpPr txBox="1"/>
          <p:nvPr/>
        </p:nvSpPr>
        <p:spPr>
          <a:xfrm>
            <a:off x="554726" y="1287009"/>
            <a:ext cx="8138700" cy="8004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Local AI deployment requires a larger upfront investment but can lower long-term operating costs.</a:t>
            </a:r>
            <a:endParaRPr b="0" i="0" sz="1600" u="none" cap="none" strike="noStrike">
              <a:solidFill>
                <a:srgbClr val="274D71"/>
              </a:solidFill>
              <a:latin typeface="Nunito SemiBold"/>
              <a:ea typeface="Nunito SemiBold"/>
              <a:cs typeface="Nunito SemiBold"/>
              <a:sym typeface="Nunito SemiBold"/>
            </a:endParaRPr>
          </a:p>
        </p:txBody>
      </p:sp>
      <p:sp>
        <p:nvSpPr>
          <p:cNvPr id="548" name="Google Shape;548;p59"/>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59"/>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2.	Cost</a:t>
            </a:r>
            <a:endParaRPr b="1" i="0" sz="1800" u="none" cap="none" strike="noStrike">
              <a:solidFill>
                <a:srgbClr val="274D71"/>
              </a:solidFill>
              <a:latin typeface="Nunito"/>
              <a:ea typeface="Nunito"/>
              <a:cs typeface="Nunito"/>
              <a:sym typeface="Nunito"/>
            </a:endParaRPr>
          </a:p>
        </p:txBody>
      </p:sp>
      <p:graphicFrame>
        <p:nvGraphicFramePr>
          <p:cNvPr id="550" name="Google Shape;550;p59"/>
          <p:cNvGraphicFramePr/>
          <p:nvPr/>
        </p:nvGraphicFramePr>
        <p:xfrm>
          <a:off x="1398125" y="2178438"/>
          <a:ext cx="3000000" cy="3000000"/>
        </p:xfrm>
        <a:graphic>
          <a:graphicData uri="http://schemas.openxmlformats.org/drawingml/2006/table">
            <a:tbl>
              <a:tblPr>
                <a:noFill/>
                <a:tableStyleId>{230E1801-D99D-4A61-A178-4185A3932480}</a:tableStyleId>
              </a:tblPr>
              <a:tblGrid>
                <a:gridCol w="2889100"/>
                <a:gridCol w="3458650"/>
              </a:tblGrid>
              <a:tr h="501350">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Initial Costs</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Long-Term Benefits</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53080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GPU Hardware</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No API usage fees</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2245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Storage &amp; Infrastructure</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Predictable operating costs</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54060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Deployment &amp; Maintenance</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Unlimited local inferences</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595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IT Administration</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Reduced dependency on cloud providers</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bl>
          </a:graphicData>
        </a:graphic>
      </p:graphicFrame>
      <p:sp>
        <p:nvSpPr>
          <p:cNvPr id="551" name="Google Shape;551;p59"/>
          <p:cNvSpPr txBox="1"/>
          <p:nvPr/>
        </p:nvSpPr>
        <p:spPr>
          <a:xfrm>
            <a:off x="544950" y="256150"/>
            <a:ext cx="7585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Privacy, cost, and compliance considerations (Cont.)</a:t>
            </a:r>
            <a:endParaRPr b="1" i="0" sz="2300" u="none" cap="none" strike="noStrike">
              <a:solidFill>
                <a:srgbClr val="274D71"/>
              </a:solidFill>
              <a:latin typeface="Nunito"/>
              <a:ea typeface="Nunito"/>
              <a:cs typeface="Nunito"/>
              <a:sym typeface="Nunito"/>
            </a:endParaRPr>
          </a:p>
        </p:txBody>
      </p:sp>
      <p:sp>
        <p:nvSpPr>
          <p:cNvPr id="552" name="Google Shape;552;p59"/>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6" name="Shape 556"/>
        <p:cNvGrpSpPr/>
        <p:nvPr/>
      </p:nvGrpSpPr>
      <p:grpSpPr>
        <a:xfrm>
          <a:off x="0" y="0"/>
          <a:ext cx="0" cy="0"/>
          <a:chOff x="0" y="0"/>
          <a:chExt cx="0" cy="0"/>
        </a:xfrm>
      </p:grpSpPr>
      <p:pic>
        <p:nvPicPr>
          <p:cNvPr id="557" name="Google Shape;557;p60"/>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558" name="Google Shape;558;p60"/>
          <p:cNvSpPr txBox="1"/>
          <p:nvPr/>
        </p:nvSpPr>
        <p:spPr>
          <a:xfrm>
            <a:off x="554725" y="1287000"/>
            <a:ext cx="8276100" cy="4311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Data processing activities must align with applicable regional and industry regulations:</a:t>
            </a:r>
            <a:endParaRPr b="0" i="0" sz="1600" u="none" cap="none" strike="noStrike">
              <a:solidFill>
                <a:srgbClr val="274D71"/>
              </a:solidFill>
              <a:latin typeface="Nunito SemiBold"/>
              <a:ea typeface="Nunito SemiBold"/>
              <a:cs typeface="Nunito SemiBold"/>
              <a:sym typeface="Nunito SemiBold"/>
            </a:endParaRPr>
          </a:p>
        </p:txBody>
      </p:sp>
      <p:sp>
        <p:nvSpPr>
          <p:cNvPr id="559" name="Google Shape;559;p60"/>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60"/>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Compliance</a:t>
            </a:r>
            <a:endParaRPr b="1" i="0" sz="1800" u="none" cap="none" strike="noStrike">
              <a:solidFill>
                <a:srgbClr val="274D71"/>
              </a:solidFill>
              <a:latin typeface="Nunito"/>
              <a:ea typeface="Nunito"/>
              <a:cs typeface="Nunito"/>
              <a:sym typeface="Nunito"/>
            </a:endParaRPr>
          </a:p>
        </p:txBody>
      </p:sp>
      <p:sp>
        <p:nvSpPr>
          <p:cNvPr id="561" name="Google Shape;561;p60"/>
          <p:cNvSpPr txBox="1"/>
          <p:nvPr/>
        </p:nvSpPr>
        <p:spPr>
          <a:xfrm>
            <a:off x="484525" y="1762931"/>
            <a:ext cx="8276100" cy="1539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GDPR (EU):</a:t>
            </a:r>
            <a:r>
              <a:rPr b="0" i="0" lang="en" sz="1600" u="none" cap="none" strike="noStrike">
                <a:solidFill>
                  <a:srgbClr val="274D71"/>
                </a:solidFill>
                <a:latin typeface="Nunito SemiBold"/>
                <a:ea typeface="Nunito SemiBold"/>
                <a:cs typeface="Nunito SemiBold"/>
                <a:sym typeface="Nunito SemiBold"/>
              </a:rPr>
              <a:t> governs personal data of EU residents; has specific requirements around data processing, storage location, and the right to deletion.</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1" i="0" lang="en" sz="1600" u="none" cap="none" strike="noStrike">
                <a:solidFill>
                  <a:srgbClr val="274D71"/>
                </a:solidFill>
                <a:latin typeface="Nunito"/>
                <a:ea typeface="Nunito"/>
                <a:cs typeface="Nunito"/>
                <a:sym typeface="Nunito"/>
              </a:rPr>
              <a:t>HIPAA (US):</a:t>
            </a:r>
            <a:r>
              <a:rPr b="0" i="0" lang="en" sz="1600" u="none" cap="none" strike="noStrike">
                <a:solidFill>
                  <a:srgbClr val="274D71"/>
                </a:solidFill>
                <a:latin typeface="Nunito SemiBold"/>
                <a:ea typeface="Nunito SemiBold"/>
                <a:cs typeface="Nunito SemiBold"/>
                <a:sym typeface="Nunito SemiBold"/>
              </a:rPr>
              <a:t> governs health information; strict requirements on where and how such data can be processed/stored.</a:t>
            </a:r>
            <a:endParaRPr b="0" i="0" sz="1600" u="none" cap="none" strike="noStrike">
              <a:solidFill>
                <a:srgbClr val="274D71"/>
              </a:solidFill>
              <a:latin typeface="Nunito SemiBold"/>
              <a:ea typeface="Nunito SemiBold"/>
              <a:cs typeface="Nunito SemiBold"/>
              <a:sym typeface="Nunito SemiBold"/>
            </a:endParaRPr>
          </a:p>
        </p:txBody>
      </p:sp>
      <p:sp>
        <p:nvSpPr>
          <p:cNvPr id="562" name="Google Shape;562;p60"/>
          <p:cNvSpPr txBox="1"/>
          <p:nvPr/>
        </p:nvSpPr>
        <p:spPr>
          <a:xfrm>
            <a:off x="544950" y="256150"/>
            <a:ext cx="7585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Privacy, cost, and compliance considerations (Cont.)</a:t>
            </a:r>
            <a:endParaRPr b="1" i="0" sz="2300" u="none" cap="none" strike="noStrike">
              <a:solidFill>
                <a:srgbClr val="274D71"/>
              </a:solidFill>
              <a:latin typeface="Nunito"/>
              <a:ea typeface="Nunito"/>
              <a:cs typeface="Nunito"/>
              <a:sym typeface="Nunito"/>
            </a:endParaRPr>
          </a:p>
        </p:txBody>
      </p:sp>
      <p:sp>
        <p:nvSpPr>
          <p:cNvPr id="563" name="Google Shape;563;p60"/>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pic>
        <p:nvPicPr>
          <p:cNvPr id="568" name="Google Shape;568;p61"/>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569" name="Google Shape;569;p61"/>
          <p:cNvSpPr txBox="1"/>
          <p:nvPr/>
        </p:nvSpPr>
        <p:spPr>
          <a:xfrm>
            <a:off x="554726" y="1287009"/>
            <a:ext cx="8138700" cy="8004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Many industries require strict control over where data is processed and stored. </a:t>
            </a:r>
            <a:endParaRPr b="0" i="0" sz="1600" u="none" cap="none" strike="noStrike">
              <a:solidFill>
                <a:srgbClr val="274D71"/>
              </a:solidFill>
              <a:latin typeface="Nunito SemiBold"/>
              <a:ea typeface="Nunito SemiBold"/>
              <a:cs typeface="Nunito SemiBold"/>
              <a:sym typeface="Nunito SemiBold"/>
            </a:endParaRPr>
          </a:p>
          <a:p>
            <a:pPr indent="0" lvl="0" marL="0" marR="0" rtl="0" algn="just">
              <a:lnSpc>
                <a:spcPct val="150000"/>
              </a:lnSpc>
              <a:spcBef>
                <a:spcPts val="0"/>
              </a:spcBef>
              <a:spcAft>
                <a:spcPts val="0"/>
              </a:spcAft>
              <a:buClr>
                <a:srgbClr val="000000"/>
              </a:buClr>
              <a:buSzPts val="1600"/>
              <a:buFont typeface="Arial"/>
              <a:buNone/>
            </a:pPr>
            <a:r>
              <a:rPr b="0" i="0" lang="en" sz="1600" u="none" cap="none" strike="noStrike">
                <a:solidFill>
                  <a:srgbClr val="274D71"/>
                </a:solidFill>
                <a:latin typeface="Nunito SemiBold"/>
                <a:ea typeface="Nunito SemiBold"/>
                <a:cs typeface="Nunito SemiBold"/>
                <a:sym typeface="Nunito SemiBold"/>
              </a:rPr>
              <a:t>Local AI makes it easier to:</a:t>
            </a:r>
            <a:endParaRPr b="0" i="0" sz="1600" u="none" cap="none" strike="noStrike">
              <a:solidFill>
                <a:srgbClr val="274D71"/>
              </a:solidFill>
              <a:latin typeface="Nunito SemiBold"/>
              <a:ea typeface="Nunito SemiBold"/>
              <a:cs typeface="Nunito SemiBold"/>
              <a:sym typeface="Nunito SemiBold"/>
            </a:endParaRPr>
          </a:p>
        </p:txBody>
      </p:sp>
      <p:sp>
        <p:nvSpPr>
          <p:cNvPr id="570" name="Google Shape;570;p61"/>
          <p:cNvSpPr/>
          <p:nvPr/>
        </p:nvSpPr>
        <p:spPr>
          <a:xfrm rot="5400000">
            <a:off x="364670" y="1476009"/>
            <a:ext cx="186600" cy="53100"/>
          </a:xfrm>
          <a:prstGeom prst="roundRect">
            <a:avLst>
              <a:gd fmla="val 50000" name="adj"/>
            </a:avLst>
          </a:prstGeom>
          <a:solidFill>
            <a:srgbClr val="3672A4"/>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61"/>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3.	Compliance</a:t>
            </a:r>
            <a:endParaRPr b="1" i="0" sz="1800" u="none" cap="none" strike="noStrike">
              <a:solidFill>
                <a:srgbClr val="274D71"/>
              </a:solidFill>
              <a:latin typeface="Nunito"/>
              <a:ea typeface="Nunito"/>
              <a:cs typeface="Nunito"/>
              <a:sym typeface="Nunito"/>
            </a:endParaRPr>
          </a:p>
        </p:txBody>
      </p:sp>
      <p:sp>
        <p:nvSpPr>
          <p:cNvPr id="572" name="Google Shape;572;p61"/>
          <p:cNvSpPr txBox="1"/>
          <p:nvPr/>
        </p:nvSpPr>
        <p:spPr>
          <a:xfrm>
            <a:off x="486025" y="2087406"/>
            <a:ext cx="8276100" cy="22779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Keep data within organizational or national boundaries (data residency)</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Meet regulatory requirements such as GDPR, HIPAA, and SOC 2</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Maintain audit logs and access controls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Prevent sensitive information from leaving secure environments</a:t>
            </a:r>
            <a:endParaRPr b="0" i="0" sz="1600" u="none" cap="none" strike="noStrike">
              <a:solidFill>
                <a:srgbClr val="274D71"/>
              </a:solidFill>
              <a:latin typeface="Nunito SemiBold"/>
              <a:ea typeface="Nunito SemiBold"/>
              <a:cs typeface="Nunito SemiBold"/>
              <a:sym typeface="Nunito SemiBold"/>
            </a:endParaRPr>
          </a:p>
          <a:p>
            <a:pPr indent="-330200" lvl="0" marL="457200" marR="0" rtl="0" algn="l">
              <a:lnSpc>
                <a:spcPct val="150000"/>
              </a:lnSpc>
              <a:spcBef>
                <a:spcPts val="0"/>
              </a:spcBef>
              <a:spcAft>
                <a:spcPts val="0"/>
              </a:spcAft>
              <a:buClr>
                <a:srgbClr val="274D71"/>
              </a:buClr>
              <a:buSzPts val="1600"/>
              <a:buFont typeface="Nunito SemiBold"/>
              <a:buChar char="⎊"/>
            </a:pPr>
            <a:r>
              <a:rPr b="0" i="0" lang="en" sz="1600" u="none" cap="none" strike="noStrike">
                <a:solidFill>
                  <a:srgbClr val="274D71"/>
                </a:solidFill>
                <a:latin typeface="Nunito SemiBold"/>
                <a:ea typeface="Nunito SemiBold"/>
                <a:cs typeface="Nunito SemiBold"/>
                <a:sym typeface="Nunito SemiBold"/>
              </a:rPr>
              <a:t>Support industry-specific compliance in healthcare, finance, legal, and government sectors</a:t>
            </a:r>
            <a:endParaRPr b="0" i="0" sz="1600" u="none" cap="none" strike="noStrike">
              <a:solidFill>
                <a:srgbClr val="274D71"/>
              </a:solidFill>
              <a:latin typeface="Nunito SemiBold"/>
              <a:ea typeface="Nunito SemiBold"/>
              <a:cs typeface="Nunito SemiBold"/>
              <a:sym typeface="Nunito SemiBold"/>
            </a:endParaRPr>
          </a:p>
        </p:txBody>
      </p:sp>
      <p:sp>
        <p:nvSpPr>
          <p:cNvPr id="573" name="Google Shape;573;p61"/>
          <p:cNvSpPr txBox="1"/>
          <p:nvPr/>
        </p:nvSpPr>
        <p:spPr>
          <a:xfrm>
            <a:off x="544950" y="256150"/>
            <a:ext cx="7585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Privacy, cost, and compliance considerations (Cont.)</a:t>
            </a:r>
            <a:endParaRPr b="1" i="0" sz="2300" u="none" cap="none" strike="noStrike">
              <a:solidFill>
                <a:srgbClr val="274D71"/>
              </a:solidFill>
              <a:latin typeface="Nunito"/>
              <a:ea typeface="Nunito"/>
              <a:cs typeface="Nunito"/>
              <a:sym typeface="Nunito"/>
            </a:endParaRPr>
          </a:p>
        </p:txBody>
      </p:sp>
      <p:sp>
        <p:nvSpPr>
          <p:cNvPr id="574" name="Google Shape;574;p61"/>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8" name="Shape 578"/>
        <p:cNvGrpSpPr/>
        <p:nvPr/>
      </p:nvGrpSpPr>
      <p:grpSpPr>
        <a:xfrm>
          <a:off x="0" y="0"/>
          <a:ext cx="0" cy="0"/>
          <a:chOff x="0" y="0"/>
          <a:chExt cx="0" cy="0"/>
        </a:xfrm>
      </p:grpSpPr>
      <p:pic>
        <p:nvPicPr>
          <p:cNvPr id="579" name="Google Shape;579;p62"/>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sp>
        <p:nvSpPr>
          <p:cNvPr id="580" name="Google Shape;580;p62"/>
          <p:cNvSpPr txBox="1"/>
          <p:nvPr/>
        </p:nvSpPr>
        <p:spPr>
          <a:xfrm>
            <a:off x="554723" y="780484"/>
            <a:ext cx="59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1" i="0" lang="en" sz="1800" u="none" cap="none" strike="noStrike">
                <a:solidFill>
                  <a:srgbClr val="274D71"/>
                </a:solidFill>
                <a:latin typeface="Nunito"/>
                <a:ea typeface="Nunito"/>
                <a:cs typeface="Nunito"/>
                <a:sym typeface="Nunito"/>
              </a:rPr>
              <a:t>4.	Deployment Matrix Comparison</a:t>
            </a:r>
            <a:endParaRPr b="1" i="0" sz="1800" u="none" cap="none" strike="noStrike">
              <a:solidFill>
                <a:srgbClr val="274D71"/>
              </a:solidFill>
              <a:latin typeface="Nunito"/>
              <a:ea typeface="Nunito"/>
              <a:cs typeface="Nunito"/>
              <a:sym typeface="Nunito"/>
            </a:endParaRPr>
          </a:p>
        </p:txBody>
      </p:sp>
      <p:graphicFrame>
        <p:nvGraphicFramePr>
          <p:cNvPr id="581" name="Google Shape;581;p62"/>
          <p:cNvGraphicFramePr/>
          <p:nvPr/>
        </p:nvGraphicFramePr>
        <p:xfrm>
          <a:off x="453850" y="1350488"/>
          <a:ext cx="3000000" cy="3000000"/>
        </p:xfrm>
        <a:graphic>
          <a:graphicData uri="http://schemas.openxmlformats.org/drawingml/2006/table">
            <a:tbl>
              <a:tblPr>
                <a:noFill/>
                <a:tableStyleId>{230E1801-D99D-4A61-A178-4185A3932480}</a:tableStyleId>
              </a:tblPr>
              <a:tblGrid>
                <a:gridCol w="2001925"/>
                <a:gridCol w="3095875"/>
                <a:gridCol w="3138475"/>
              </a:tblGrid>
              <a:tr h="547600">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Evaluation Dimension</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Cloud API Services</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b="1" lang="en" sz="1200" u="none" cap="none" strike="noStrike">
                          <a:solidFill>
                            <a:srgbClr val="274D71"/>
                          </a:solidFill>
                          <a:latin typeface="Nunito"/>
                          <a:ea typeface="Nunito"/>
                          <a:cs typeface="Nunito"/>
                          <a:sym typeface="Nunito"/>
                        </a:rPr>
                        <a:t>On-Premise Local AI</a:t>
                      </a:r>
                      <a:endParaRPr b="1"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530800">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Data Privacy</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Transmitted to vendor servers</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Enclosed within the enterprise boundary</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22450">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Cost Model</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Variable per-token operational expense</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rgbClr val="000000"/>
                        </a:buClr>
                        <a:buSzPts val="1200"/>
                        <a:buFont typeface="Arial"/>
                        <a:buNone/>
                      </a:pPr>
                      <a:r>
                        <a:rPr lang="en" sz="1200" u="none" cap="none" strike="noStrike">
                          <a:solidFill>
                            <a:srgbClr val="274D71"/>
                          </a:solidFill>
                          <a:latin typeface="Nunito"/>
                          <a:ea typeface="Nunito"/>
                          <a:cs typeface="Nunito"/>
                          <a:sym typeface="Nunito"/>
                        </a:rPr>
                        <a:t>Predictable hardware capital expense</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r h="605325">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Compliance Alignment</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Requires complex third-party audits</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Native adherence (GDPR, HIPAA, SOC 2)</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60175">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System Customization</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Restricted to vendor endpoints</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c>
                  <a:txBody>
                    <a:bodyPr/>
                    <a:lstStyle/>
                    <a:p>
                      <a:pPr indent="0" lvl="0" marL="0" marR="0" rtl="0" algn="l">
                        <a:lnSpc>
                          <a:spcPct val="155000"/>
                        </a:lnSpc>
                        <a:spcBef>
                          <a:spcPts val="0"/>
                        </a:spcBef>
                        <a:spcAft>
                          <a:spcPts val="0"/>
                        </a:spcAft>
                        <a:buClr>
                          <a:schemeClr val="dk1"/>
                        </a:buClr>
                        <a:buSzPts val="1100"/>
                        <a:buFont typeface="Arial"/>
                        <a:buNone/>
                      </a:pPr>
                      <a:r>
                        <a:rPr lang="en" sz="1200" u="none" cap="none" strike="noStrike">
                          <a:solidFill>
                            <a:srgbClr val="274D71"/>
                          </a:solidFill>
                          <a:latin typeface="Nunito"/>
                          <a:ea typeface="Nunito"/>
                          <a:cs typeface="Nunito"/>
                          <a:sym typeface="Nunito"/>
                        </a:rPr>
                        <a:t>Full control over RAG &amp; model architecture</a:t>
                      </a:r>
                      <a:endParaRPr sz="14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1F5F9"/>
                    </a:solidFill>
                  </a:tcPr>
                </a:tc>
              </a:tr>
            </a:tbl>
          </a:graphicData>
        </a:graphic>
      </p:graphicFrame>
      <p:sp>
        <p:nvSpPr>
          <p:cNvPr id="582" name="Google Shape;582;p62"/>
          <p:cNvSpPr txBox="1"/>
          <p:nvPr/>
        </p:nvSpPr>
        <p:spPr>
          <a:xfrm>
            <a:off x="544950" y="256150"/>
            <a:ext cx="7585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 sz="2300" u="none" cap="none" strike="noStrike">
                <a:solidFill>
                  <a:srgbClr val="274D71"/>
                </a:solidFill>
                <a:latin typeface="Nunito"/>
                <a:ea typeface="Nunito"/>
                <a:cs typeface="Nunito"/>
                <a:sym typeface="Nunito"/>
              </a:rPr>
              <a:t>Privacy, cost, and compliance considerations (Cont.)</a:t>
            </a:r>
            <a:endParaRPr b="1" i="0" sz="2300" u="none" cap="none" strike="noStrike">
              <a:solidFill>
                <a:srgbClr val="274D71"/>
              </a:solidFill>
              <a:latin typeface="Nunito"/>
              <a:ea typeface="Nunito"/>
              <a:cs typeface="Nunito"/>
              <a:sym typeface="Nunito"/>
            </a:endParaRPr>
          </a:p>
        </p:txBody>
      </p:sp>
      <p:sp>
        <p:nvSpPr>
          <p:cNvPr id="583" name="Google Shape;583;p62"/>
          <p:cNvSpPr/>
          <p:nvPr/>
        </p:nvSpPr>
        <p:spPr>
          <a:xfrm>
            <a:off x="-168325" y="446800"/>
            <a:ext cx="681000" cy="217500"/>
          </a:xfrm>
          <a:prstGeom prst="roundRect">
            <a:avLst>
              <a:gd fmla="val 50000"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7" name="Shape 587"/>
        <p:cNvGrpSpPr/>
        <p:nvPr/>
      </p:nvGrpSpPr>
      <p:grpSpPr>
        <a:xfrm>
          <a:off x="0" y="0"/>
          <a:ext cx="0" cy="0"/>
          <a:chOff x="0" y="0"/>
          <a:chExt cx="0" cy="0"/>
        </a:xfrm>
      </p:grpSpPr>
      <p:sp>
        <p:nvSpPr>
          <p:cNvPr id="588" name="Google Shape;588;p63"/>
          <p:cNvSpPr txBox="1"/>
          <p:nvPr/>
        </p:nvSpPr>
        <p:spPr>
          <a:xfrm>
            <a:off x="3140100" y="2071200"/>
            <a:ext cx="28638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990"/>
              <a:buFont typeface="Arial"/>
              <a:buNone/>
            </a:pPr>
            <a:r>
              <a:rPr b="1" i="0" lang="en" sz="4000" u="none" cap="none" strike="noStrike">
                <a:solidFill>
                  <a:srgbClr val="274D71"/>
                </a:solidFill>
                <a:latin typeface="Nunito"/>
                <a:ea typeface="Nunito"/>
                <a:cs typeface="Nunito"/>
                <a:sym typeface="Nunito"/>
              </a:rPr>
              <a:t>Thank you!</a:t>
            </a:r>
            <a:endParaRPr b="1" i="0" sz="4400" u="none" cap="none" strike="noStrike">
              <a:solidFill>
                <a:srgbClr val="274D71"/>
              </a:solidFill>
              <a:latin typeface="Comfortaa"/>
              <a:ea typeface="Comfortaa"/>
              <a:cs typeface="Comfortaa"/>
              <a:sym typeface="Comfortaa"/>
            </a:endParaRPr>
          </a:p>
        </p:txBody>
      </p:sp>
      <p:pic>
        <p:nvPicPr>
          <p:cNvPr id="589" name="Google Shape;589;p63"/>
          <p:cNvPicPr preferRelativeResize="0"/>
          <p:nvPr/>
        </p:nvPicPr>
        <p:blipFill rotWithShape="1">
          <a:blip r:embed="rId3">
            <a:alphaModFix/>
          </a:blip>
          <a:srcRect b="0" l="0" r="0" t="0"/>
          <a:stretch/>
        </p:blipFill>
        <p:spPr>
          <a:xfrm>
            <a:off x="8518125" y="256150"/>
            <a:ext cx="388275" cy="474675"/>
          </a:xfrm>
          <a:prstGeom prst="rect">
            <a:avLst/>
          </a:prstGeom>
          <a:noFill/>
          <a:ln>
            <a:noFill/>
          </a:ln>
        </p:spPr>
      </p:pic>
      <p:pic>
        <p:nvPicPr>
          <p:cNvPr id="590" name="Google Shape;590;p63"/>
          <p:cNvPicPr preferRelativeResize="0"/>
          <p:nvPr/>
        </p:nvPicPr>
        <p:blipFill rotWithShape="1">
          <a:blip r:embed="rId4">
            <a:alphaModFix/>
          </a:blip>
          <a:srcRect b="13300" l="0" r="0" t="-13300"/>
          <a:stretch/>
        </p:blipFill>
        <p:spPr>
          <a:xfrm>
            <a:off x="6469450" y="2583604"/>
            <a:ext cx="2625000" cy="2625000"/>
          </a:xfrm>
          <a:prstGeom prst="rect">
            <a:avLst/>
          </a:prstGeom>
          <a:noFill/>
          <a:ln>
            <a:noFill/>
          </a:ln>
        </p:spPr>
      </p:pic>
      <p:sp>
        <p:nvSpPr>
          <p:cNvPr id="591" name="Google Shape;591;p63"/>
          <p:cNvSpPr/>
          <p:nvPr/>
        </p:nvSpPr>
        <p:spPr>
          <a:xfrm>
            <a:off x="3492213" y="2871600"/>
            <a:ext cx="1614600" cy="200700"/>
          </a:xfrm>
          <a:prstGeom prst="roundRect">
            <a:avLst>
              <a:gd fmla="val 27093" name="adj"/>
            </a:avLst>
          </a:prstGeom>
          <a:solidFill>
            <a:srgbClr val="4472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63"/>
          <p:cNvSpPr/>
          <p:nvPr/>
        </p:nvSpPr>
        <p:spPr>
          <a:xfrm>
            <a:off x="5153488" y="2871599"/>
            <a:ext cx="498300" cy="200700"/>
          </a:xfrm>
          <a:prstGeom prst="roundRect">
            <a:avLst>
              <a:gd fmla="val 27093" name="adj"/>
            </a:avLst>
          </a:prstGeom>
          <a:solidFill>
            <a:srgbClr val="FF99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