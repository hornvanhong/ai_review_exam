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y="10287000" cx="18288000"/>
  <p:notesSz cx="10287000" cy="18288000"/>
  <p:embeddedFontLst>
    <p:embeddedFont>
      <p:font typeface="Nunito SemiBold"/>
      <p:regular r:id="rId67"/>
      <p:bold r:id="rId68"/>
      <p:italic r:id="rId69"/>
      <p:boldItalic r:id="rId70"/>
    </p:embeddedFont>
    <p:embeddedFont>
      <p:font typeface="Gabarito"/>
      <p:regular r:id="rId71"/>
      <p:bold r:id="rId72"/>
    </p:embeddedFont>
    <p:embeddedFont>
      <p:font typeface="JetBrains Mon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j7WvoYJGNiZYBehC/yN/jnK+fH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JetBrainsMono-regular.fntdata"/><Relationship Id="rId72" Type="http://schemas.openxmlformats.org/officeDocument/2006/relationships/font" Target="fonts/Gabarito-bold.fntdata"/><Relationship Id="rId31" Type="http://schemas.openxmlformats.org/officeDocument/2006/relationships/slide" Target="slides/slide27.xml"/><Relationship Id="rId75" Type="http://schemas.openxmlformats.org/officeDocument/2006/relationships/font" Target="fonts/JetBrainsMono-italic.fntdata"/><Relationship Id="rId30" Type="http://schemas.openxmlformats.org/officeDocument/2006/relationships/slide" Target="slides/slide26.xml"/><Relationship Id="rId74" Type="http://schemas.openxmlformats.org/officeDocument/2006/relationships/font" Target="fonts/JetBrainsMono-bold.fntdata"/><Relationship Id="rId33" Type="http://schemas.openxmlformats.org/officeDocument/2006/relationships/slide" Target="slides/slide29.xml"/><Relationship Id="rId77" Type="http://customschemas.google.com/relationships/presentationmetadata" Target="metadata"/><Relationship Id="rId32" Type="http://schemas.openxmlformats.org/officeDocument/2006/relationships/slide" Target="slides/slide28.xml"/><Relationship Id="rId76" Type="http://schemas.openxmlformats.org/officeDocument/2006/relationships/font" Target="fonts/JetBrainsMono-boldItalic.fntdata"/><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Gabarito-regular.fntdata"/><Relationship Id="rId70" Type="http://schemas.openxmlformats.org/officeDocument/2006/relationships/font" Target="fonts/NunitoSemiBold-bold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font" Target="fonts/NunitoSemiBold-bold.fntdata"/><Relationship Id="rId23" Type="http://schemas.openxmlformats.org/officeDocument/2006/relationships/slide" Target="slides/slide19.xml"/><Relationship Id="rId67" Type="http://schemas.openxmlformats.org/officeDocument/2006/relationships/font" Target="fonts/NunitoSemiBold-regular.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NunitoSemiBold-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f776df2723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f776df2723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3f776df2723_1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776df2723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g3f776df2723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g3f776df2723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776df2723_1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f776df2723_1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g3f776df2723_1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f776df2723_1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f776df2723_1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g3f776df2723_1_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776df2723_1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g3f776df2723_1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g3f776df2723_1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776df2723_1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f776df2723_1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g3f776df2723_1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7" name="Google Shape;62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776df2723_1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f776df2723_1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2" name="Google Shape;652;g3f776df2723_1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8" name="Google Shape;66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f776df2723_1_4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f776df2723_1_4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g3f776df2723_1_4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f776df2723_1_4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f776df2723_1_4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g3f776df2723_1_4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f776df2723_1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g3f776df2723_1_4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 name="Google Shape;836;g3f776df2723_1_4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776df2723_1_4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g3f776df2723_1_4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g3f776df2723_1_4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f7884f567b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g3f7884f567b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Real terminal output from running this ourselves: pull the model once (274 MB, then cached), write embed.py in nano (shown on the left, exact file), then run it — python3 embed.py prints the vector's dimension and first five values. Emphasize that individual numbers are meaningless — only relative distance between vectors encodes meaning.</a:t>
            </a:r>
            <a:endParaRPr/>
          </a:p>
        </p:txBody>
      </p:sp>
      <p:sp>
        <p:nvSpPr>
          <p:cNvPr id="971" name="Google Shape;971;g3f7884f567b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7884f567b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g3f7884f567b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Real terminal output from running this ourselves: pull the model once (274 MB, then cached), write embed.py in nano (shown on the left, exact file), then run it — python3 embed.py prints the vector's dimension and first five values. Emphasize that individual numbers are meaningless — only relative distance between vectors encodes meaning.</a:t>
            </a:r>
            <a:endParaRPr/>
          </a:p>
        </p:txBody>
      </p:sp>
      <p:sp>
        <p:nvSpPr>
          <p:cNvPr id="986" name="Google Shape;986;g3f7884f567b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f7884f567b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g3f7884f567b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Real terminal output from running this ourselves: pull the model once (274 MB, then cached), write embed.py in nano (shown on the left, exact file), then run it — python3 embed.py prints the vector's dimension and first five values. Emphasize that individual numbers are meaningless — only relative distance between vectors encodes meaning.</a:t>
            </a:r>
            <a:endParaRPr/>
          </a:p>
        </p:txBody>
      </p:sp>
      <p:sp>
        <p:nvSpPr>
          <p:cNvPr id="999" name="Google Shape;999;g3f7884f567b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7" name="Google Shape;104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776df2723_1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g3f776df2723_1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7" name="Google Shape;1057;g3f776df2723_1_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776df2723_1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g3f776df2723_1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g3f776df2723_1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776df2723_1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g3f776df2723_1_3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7" name="Google Shape;1097;g3f776df2723_1_3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776df2723_1_3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1" name="Google Shape;1111;g3f776df2723_1_3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g3f776df2723_1_3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9" name="Google Shape;112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0" name="Google Shape;116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3" name="Google Shape;118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5" name="Google Shape;119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8" name="Google Shape;121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2" name="Google Shape;124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3" name="Google Shape;1243;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8" name="Google Shape;126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0" name="Google Shape;129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f77afb211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g3f77afb211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3" name="Google Shape;1313;g3f77afb211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1.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4.png"/><Relationship Id="rId10" Type="http://schemas.openxmlformats.org/officeDocument/2006/relationships/image" Target="../media/image12.png"/><Relationship Id="rId9"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 Id="rId4" Type="http://schemas.openxmlformats.org/officeDocument/2006/relationships/image" Target="../media/image26.png"/><Relationship Id="rId5" Type="http://schemas.openxmlformats.org/officeDocument/2006/relationships/image" Target="../media/image38.png"/><Relationship Id="rId6"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7.png"/><Relationship Id="rId4" Type="http://schemas.openxmlformats.org/officeDocument/2006/relationships/image" Target="../media/image48.png"/><Relationship Id="rId5" Type="http://schemas.openxmlformats.org/officeDocument/2006/relationships/image" Target="../media/image39.png"/><Relationship Id="rId6"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7.png"/><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7.png"/></Relationships>
</file>

<file path=ppt/slides/_rels/slide61.xml.rels><?xml version="1.0" encoding="UTF-8" standalone="yes"?><Relationships xmlns="http://schemas.openxmlformats.org/package/2006/relationships"><Relationship Id="rId11" Type="http://schemas.openxmlformats.org/officeDocument/2006/relationships/hyperlink" Target="https://docs.trychroma.com/docs/overview/introduction" TargetMode="External"/><Relationship Id="rId10" Type="http://schemas.openxmlformats.org/officeDocument/2006/relationships/hyperlink" Target="http://4xxi.com/articles/vector-database-comparison" TargetMode="External"/><Relationship Id="rId13" Type="http://schemas.openxmlformats.org/officeDocument/2006/relationships/image" Target="../media/image17.png"/><Relationship Id="rId12" Type="http://schemas.openxmlformats.org/officeDocument/2006/relationships/hyperlink" Target="https://medium.com/@j13mehul/rag-part-5-retrieval-93ef1be7ac07" TargetMode="External"/><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hyperlink" Target="https://www.ibm.com/think/topics/retrieval-augmented-generation" TargetMode="External"/><Relationship Id="rId4" Type="http://schemas.openxmlformats.org/officeDocument/2006/relationships/hyperlink" Target="https://www.devstark.com/blog/naive-rag-advanced-rag-and-modular-rag-architectures/" TargetMode="External"/><Relationship Id="rId9" Type="http://schemas.openxmlformats.org/officeDocument/2006/relationships/hyperlink" Target="http://tigerdata.com/blog/finding-the-best-open-source-embedding-model-for-rag" TargetMode="External"/><Relationship Id="rId5" Type="http://schemas.openxmlformats.org/officeDocument/2006/relationships/hyperlink" Target="https://orq.ai/blog/rag-architecture" TargetMode="External"/><Relationship Id="rId6" Type="http://schemas.openxmlformats.org/officeDocument/2006/relationships/hyperlink" Target="http://unified.to/blog/what_is_a_rag_pipeline" TargetMode="External"/><Relationship Id="rId7" Type="http://schemas.openxmlformats.org/officeDocument/2006/relationships/hyperlink" Target="http://matheusjerico.medium.com/" TargetMode="External"/><Relationship Id="rId8" Type="http://schemas.openxmlformats.org/officeDocument/2006/relationships/hyperlink" Target="http://databricks.com/blog/rag-workflow"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628650" y="600075"/>
            <a:ext cx="7248525" cy="2444800"/>
          </a:xfrm>
          <a:prstGeom prst="rect">
            <a:avLst/>
          </a:prstGeom>
          <a:noFill/>
          <a:ln>
            <a:noFill/>
          </a:ln>
        </p:spPr>
      </p:pic>
      <p:sp>
        <p:nvSpPr>
          <p:cNvPr id="17" name="Google Shape;17;p1"/>
          <p:cNvSpPr/>
          <p:nvPr/>
        </p:nvSpPr>
        <p:spPr>
          <a:xfrm>
            <a:off x="1476375" y="4238625"/>
            <a:ext cx="11699700" cy="1431600"/>
          </a:xfrm>
          <a:prstGeom prst="rect">
            <a:avLst/>
          </a:prstGeom>
          <a:noFill/>
          <a:ln>
            <a:noFill/>
          </a:ln>
        </p:spPr>
        <p:txBody>
          <a:bodyPr anchorCtr="0" anchor="t" bIns="25400" lIns="25400" spcFirstLastPara="1" rIns="25400" wrap="square" tIns="25400">
            <a:noAutofit/>
          </a:bodyPr>
          <a:lstStyle/>
          <a:p>
            <a:pPr indent="0" lvl="0" marL="0" marR="0" rtl="0" algn="l">
              <a:lnSpc>
                <a:spcPct val="91438"/>
              </a:lnSpc>
              <a:spcBef>
                <a:spcPts val="0"/>
              </a:spcBef>
              <a:spcAft>
                <a:spcPts val="0"/>
              </a:spcAft>
              <a:buClr>
                <a:srgbClr val="274D71"/>
              </a:buClr>
              <a:buSzPts val="9975"/>
              <a:buFont typeface="Gabarito"/>
              <a:buNone/>
            </a:pPr>
            <a:r>
              <a:rPr b="1" i="0" lang="en-US" sz="9975" u="none" cap="none" strike="noStrike">
                <a:solidFill>
                  <a:srgbClr val="274D71"/>
                </a:solidFill>
                <a:latin typeface="Gabarito"/>
                <a:ea typeface="Gabarito"/>
                <a:cs typeface="Gabarito"/>
                <a:sym typeface="Gabarito"/>
                <a:extLst>
                  <a:ext uri="http://customooxmlschemas.google.com/">
                    <go:slidesCustomData xmlns:go="http://customooxmlschemas.google.com/" textRoundtripDataId="0"/>
                  </a:ext>
                </a:extLst>
              </a:rPr>
              <a:t>RAG </a:t>
            </a:r>
            <a:r>
              <a:rPr b="1" i="0" lang="en-US" sz="9975" u="none" cap="none" strike="noStrike">
                <a:solidFill>
                  <a:srgbClr val="274D71"/>
                </a:solidFill>
                <a:latin typeface="Gabarito"/>
                <a:ea typeface="Gabarito"/>
                <a:cs typeface="Gabarito"/>
                <a:sym typeface="Gabarito"/>
              </a:rPr>
              <a:t>Fundamentals</a:t>
            </a:r>
            <a:endParaRPr b="0" i="0" sz="9975" u="none" cap="none" strike="noStrike">
              <a:solidFill>
                <a:srgbClr val="000000"/>
              </a:solidFill>
              <a:latin typeface="Calibri"/>
              <a:ea typeface="Calibri"/>
              <a:cs typeface="Calibri"/>
              <a:sym typeface="Calibri"/>
            </a:endParaRPr>
          </a:p>
        </p:txBody>
      </p:sp>
      <p:sp>
        <p:nvSpPr>
          <p:cNvPr id="18" name="Google Shape;18;p1"/>
          <p:cNvSpPr/>
          <p:nvPr/>
        </p:nvSpPr>
        <p:spPr>
          <a:xfrm>
            <a:off x="1571625" y="6134100"/>
            <a:ext cx="3228900" cy="400200"/>
          </a:xfrm>
          <a:prstGeom prst="roundRect">
            <a:avLst>
              <a:gd fmla="val 50000"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4886325" y="6134100"/>
            <a:ext cx="1000200" cy="40020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1571625" y="6810375"/>
            <a:ext cx="5127900" cy="485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925"/>
              <a:buFont typeface="Gabarito"/>
              <a:buNone/>
            </a:pPr>
            <a:r>
              <a:rPr b="1" i="0" lang="en-US" sz="2925" u="none" cap="none" strike="noStrike">
                <a:solidFill>
                  <a:srgbClr val="274D71"/>
                </a:solidFill>
                <a:latin typeface="Gabarito"/>
                <a:ea typeface="Gabarito"/>
                <a:cs typeface="Gabarito"/>
                <a:sym typeface="Gabarito"/>
              </a:rPr>
              <a:t>Prepared by Instructor Team</a:t>
            </a:r>
            <a:endParaRPr b="0" i="0" sz="2925" u="none" cap="none" strike="noStrike">
              <a:solidFill>
                <a:srgbClr val="000000"/>
              </a:solidFill>
              <a:latin typeface="Calibri"/>
              <a:ea typeface="Calibri"/>
              <a:cs typeface="Calibri"/>
              <a:sym typeface="Calibri"/>
            </a:endParaRPr>
          </a:p>
        </p:txBody>
      </p:sp>
      <p:pic>
        <p:nvPicPr>
          <p:cNvPr id="21" name="Google Shape;21;p1" title="ChatGPT Image Aug 21, 2026, 09_56_57 AM.png"/>
          <p:cNvPicPr preferRelativeResize="0"/>
          <p:nvPr/>
        </p:nvPicPr>
        <p:blipFill>
          <a:blip r:embed="rId4">
            <a:alphaModFix amt="50000"/>
          </a:blip>
          <a:stretch>
            <a:fillRect/>
          </a:stretch>
        </p:blipFill>
        <p:spPr>
          <a:xfrm>
            <a:off x="9255750" y="7038909"/>
            <a:ext cx="8253901" cy="2760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952500" y="666750"/>
            <a:ext cx="18021300"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625"/>
              <a:buFont typeface="Gabarito"/>
              <a:buNone/>
            </a:pPr>
            <a:r>
              <a:rPr b="1" i="0" lang="en-US" sz="2625" u="none" cap="none" strike="noStrike">
                <a:solidFill>
                  <a:srgbClr val="FF9900"/>
                </a:solidFill>
                <a:latin typeface="Gabarito"/>
                <a:ea typeface="Gabarito"/>
                <a:cs typeface="Gabarito"/>
                <a:sym typeface="Gabarito"/>
              </a:rPr>
              <a:t>WHAT WE'LL COVER</a:t>
            </a:r>
            <a:endParaRPr b="0" i="0" sz="2625" u="none" cap="none" strike="noStrike">
              <a:solidFill>
                <a:schemeClr val="dk1"/>
              </a:solidFill>
              <a:latin typeface="Calibri"/>
              <a:ea typeface="Calibri"/>
              <a:cs typeface="Calibri"/>
              <a:sym typeface="Calibri"/>
            </a:endParaRPr>
          </a:p>
        </p:txBody>
      </p:sp>
      <p:sp>
        <p:nvSpPr>
          <p:cNvPr id="28" name="Google Shape;28;p2"/>
          <p:cNvSpPr/>
          <p:nvPr/>
        </p:nvSpPr>
        <p:spPr>
          <a:xfrm>
            <a:off x="952500" y="1123950"/>
            <a:ext cx="18021300" cy="9048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5625"/>
              <a:buFont typeface="Gabarito"/>
              <a:buNone/>
            </a:pPr>
            <a:r>
              <a:rPr b="1" i="0" lang="en-US" sz="5200" u="none" cap="none" strike="noStrike">
                <a:solidFill>
                  <a:srgbClr val="274D71"/>
                </a:solidFill>
                <a:latin typeface="Gabarito"/>
                <a:ea typeface="Gabarito"/>
                <a:cs typeface="Gabarito"/>
                <a:sym typeface="Gabarito"/>
              </a:rPr>
              <a:t>Table of Contents</a:t>
            </a:r>
            <a:endParaRPr b="0" i="0" sz="5200" u="none" cap="none" strike="noStrike">
              <a:solidFill>
                <a:schemeClr val="dk1"/>
              </a:solidFill>
              <a:latin typeface="Calibri"/>
              <a:ea typeface="Calibri"/>
              <a:cs typeface="Calibri"/>
              <a:sym typeface="Calibri"/>
            </a:endParaRPr>
          </a:p>
        </p:txBody>
      </p:sp>
      <p:sp>
        <p:nvSpPr>
          <p:cNvPr id="29" name="Google Shape;29;p2"/>
          <p:cNvSpPr/>
          <p:nvPr/>
        </p:nvSpPr>
        <p:spPr>
          <a:xfrm>
            <a:off x="952500" y="2177231"/>
            <a:ext cx="5334000" cy="3599700"/>
          </a:xfrm>
          <a:prstGeom prst="roundRect">
            <a:avLst>
              <a:gd fmla="val 4763" name="adj"/>
            </a:avLst>
          </a:prstGeom>
          <a:solidFill>
            <a:srgbClr val="FFFFFF"/>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1257300" y="2443931"/>
            <a:ext cx="914400" cy="914400"/>
          </a:xfrm>
          <a:prstGeom prst="ellipse">
            <a:avLst/>
          </a:prstGeom>
          <a:solidFill>
            <a:srgbClr val="D97757">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 name="Google Shape;31;p2"/>
          <p:cNvPicPr preferRelativeResize="0"/>
          <p:nvPr/>
        </p:nvPicPr>
        <p:blipFill rotWithShape="1">
          <a:blip r:embed="rId3">
            <a:alphaModFix/>
          </a:blip>
          <a:srcRect b="0" l="0" r="0" t="0"/>
          <a:stretch/>
        </p:blipFill>
        <p:spPr>
          <a:xfrm>
            <a:off x="1485900" y="2672531"/>
            <a:ext cx="457200" cy="457200"/>
          </a:xfrm>
          <a:prstGeom prst="rect">
            <a:avLst/>
          </a:prstGeom>
          <a:noFill/>
          <a:ln>
            <a:noFill/>
          </a:ln>
        </p:spPr>
      </p:pic>
      <p:sp>
        <p:nvSpPr>
          <p:cNvPr id="32" name="Google Shape;32;p2"/>
          <p:cNvSpPr/>
          <p:nvPr/>
        </p:nvSpPr>
        <p:spPr>
          <a:xfrm>
            <a:off x="5363617" y="2567756"/>
            <a:ext cx="694200" cy="705000"/>
          </a:xfrm>
          <a:prstGeom prst="rect">
            <a:avLst/>
          </a:prstGeom>
          <a:noFill/>
          <a:ln>
            <a:noFill/>
          </a:ln>
        </p:spPr>
        <p:txBody>
          <a:bodyPr anchorCtr="0" anchor="t" bIns="25400" lIns="25400" spcFirstLastPara="1" rIns="25400" wrap="square" tIns="25400">
            <a:noAutofit/>
          </a:bodyPr>
          <a:lstStyle/>
          <a:p>
            <a:pPr indent="0" lvl="0" marL="0" marR="0" rtl="0" algn="l">
              <a:lnSpc>
                <a:spcPct val="83333"/>
              </a:lnSpc>
              <a:spcBef>
                <a:spcPts val="0"/>
              </a:spcBef>
              <a:spcAft>
                <a:spcPts val="0"/>
              </a:spcAft>
              <a:buClr>
                <a:srgbClr val="FF9900"/>
              </a:buClr>
              <a:buSzPts val="5250"/>
              <a:buFont typeface="Gabarito"/>
              <a:buNone/>
            </a:pPr>
            <a:r>
              <a:rPr b="1" i="0" lang="en-US" sz="5250" u="none" cap="none" strike="noStrike">
                <a:solidFill>
                  <a:srgbClr val="FF9900"/>
                </a:solidFill>
                <a:latin typeface="Gabarito"/>
                <a:ea typeface="Gabarito"/>
                <a:cs typeface="Gabarito"/>
                <a:sym typeface="Gabarito"/>
              </a:rPr>
              <a:t>01</a:t>
            </a:r>
            <a:endParaRPr b="0" i="0" sz="5250" u="none" cap="none" strike="noStrike">
              <a:solidFill>
                <a:schemeClr val="dk1"/>
              </a:solidFill>
              <a:latin typeface="Calibri"/>
              <a:ea typeface="Calibri"/>
              <a:cs typeface="Calibri"/>
              <a:sym typeface="Calibri"/>
            </a:endParaRPr>
          </a:p>
        </p:txBody>
      </p:sp>
      <p:sp>
        <p:nvSpPr>
          <p:cNvPr id="33" name="Google Shape;33;p2"/>
          <p:cNvSpPr/>
          <p:nvPr/>
        </p:nvSpPr>
        <p:spPr>
          <a:xfrm>
            <a:off x="1257300" y="3491681"/>
            <a:ext cx="5175900" cy="479700"/>
          </a:xfrm>
          <a:prstGeom prst="rect">
            <a:avLst/>
          </a:prstGeom>
          <a:noFill/>
          <a:ln>
            <a:noFill/>
          </a:ln>
        </p:spPr>
        <p:txBody>
          <a:bodyPr anchorCtr="0" anchor="t" bIns="25400" lIns="25400" spcFirstLastPara="1" rIns="25400" wrap="square" tIns="25400">
            <a:noAutofit/>
          </a:bodyPr>
          <a:lstStyle/>
          <a:p>
            <a:pPr indent="0" lvl="0" marL="0" marR="0" rtl="0" algn="l">
              <a:lnSpc>
                <a:spcPct val="100783"/>
              </a:lnSpc>
              <a:spcBef>
                <a:spcPts val="0"/>
              </a:spcBef>
              <a:spcAft>
                <a:spcPts val="0"/>
              </a:spcAft>
              <a:buClr>
                <a:srgbClr val="212121"/>
              </a:buClr>
              <a:buSzPts val="2850"/>
              <a:buFont typeface="Gabarito"/>
              <a:buNone/>
            </a:pPr>
            <a:r>
              <a:rPr b="1" i="0" lang="en-US" sz="2850" u="none" cap="none" strike="noStrike">
                <a:solidFill>
                  <a:srgbClr val="212121"/>
                </a:solidFill>
                <a:latin typeface="Gabarito"/>
                <a:ea typeface="Gabarito"/>
                <a:cs typeface="Gabarito"/>
                <a:sym typeface="Gabarito"/>
              </a:rPr>
              <a:t>RAG Architecture Overview</a:t>
            </a:r>
            <a:endParaRPr b="0" i="0" sz="2850" u="none" cap="none" strike="noStrike">
              <a:solidFill>
                <a:schemeClr val="dk1"/>
              </a:solidFill>
              <a:latin typeface="Calibri"/>
              <a:ea typeface="Calibri"/>
              <a:cs typeface="Calibri"/>
              <a:sym typeface="Calibri"/>
            </a:endParaRPr>
          </a:p>
        </p:txBody>
      </p:sp>
      <p:sp>
        <p:nvSpPr>
          <p:cNvPr id="34" name="Google Shape;34;p2"/>
          <p:cNvSpPr/>
          <p:nvPr/>
        </p:nvSpPr>
        <p:spPr>
          <a:xfrm>
            <a:off x="1257300" y="4066604"/>
            <a:ext cx="4846500" cy="1272300"/>
          </a:xfrm>
          <a:prstGeom prst="rect">
            <a:avLst/>
          </a:prstGeom>
          <a:noFill/>
          <a:ln>
            <a:noFill/>
          </a:ln>
        </p:spPr>
        <p:txBody>
          <a:bodyPr anchorCtr="0" anchor="t" bIns="25400" lIns="25400" spcFirstLastPara="1" rIns="25400" wrap="square" tIns="25400">
            <a:noAutofit/>
          </a:bodyPr>
          <a:lstStyle/>
          <a:p>
            <a:pPr indent="0" lvl="0" marL="0" marR="0" rtl="0" algn="l">
              <a:lnSpc>
                <a:spcPct val="113684"/>
              </a:lnSpc>
              <a:spcBef>
                <a:spcPts val="0"/>
              </a:spcBef>
              <a:spcAft>
                <a:spcPts val="0"/>
              </a:spcAft>
              <a:buClr>
                <a:srgbClr val="7F7F7F"/>
              </a:buClr>
              <a:buSzPts val="2400"/>
              <a:buFont typeface="Gabarito"/>
              <a:buNone/>
            </a:pPr>
            <a:r>
              <a:rPr b="0" i="0" lang="en-US" sz="2200" u="none" cap="none" strike="noStrike">
                <a:solidFill>
                  <a:srgbClr val="7F7F7F"/>
                </a:solidFill>
                <a:latin typeface="Gabarito"/>
                <a:ea typeface="Gabarito"/>
                <a:cs typeface="Gabarito"/>
                <a:sym typeface="Gabarito"/>
              </a:rPr>
              <a:t>What RAG is, why it exists, and how it evolves from naive to agentic.</a:t>
            </a:r>
            <a:endParaRPr b="0" i="0" sz="2200" u="none" cap="none" strike="noStrike">
              <a:solidFill>
                <a:schemeClr val="dk1"/>
              </a:solidFill>
              <a:latin typeface="Calibri"/>
              <a:ea typeface="Calibri"/>
              <a:cs typeface="Calibri"/>
              <a:sym typeface="Calibri"/>
            </a:endParaRPr>
          </a:p>
        </p:txBody>
      </p:sp>
      <p:sp>
        <p:nvSpPr>
          <p:cNvPr id="35" name="Google Shape;35;p2"/>
          <p:cNvSpPr/>
          <p:nvPr/>
        </p:nvSpPr>
        <p:spPr>
          <a:xfrm>
            <a:off x="1257300" y="5434037"/>
            <a:ext cx="495300" cy="76200"/>
          </a:xfrm>
          <a:prstGeom prst="roundRect">
            <a:avLst>
              <a:gd fmla="val 50000" name="adj"/>
            </a:avLst>
          </a:prstGeom>
          <a:solidFill>
            <a:srgbClr val="C15F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6477000" y="2177231"/>
            <a:ext cx="5334000" cy="3599700"/>
          </a:xfrm>
          <a:prstGeom prst="roundRect">
            <a:avLst>
              <a:gd fmla="val 4763" name="adj"/>
            </a:avLst>
          </a:prstGeom>
          <a:solidFill>
            <a:srgbClr val="FFFFFF"/>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6781800" y="2443931"/>
            <a:ext cx="914400" cy="914400"/>
          </a:xfrm>
          <a:prstGeom prst="ellipse">
            <a:avLst/>
          </a:prstGeom>
          <a:solidFill>
            <a:srgbClr val="035595">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 name="Google Shape;38;p2"/>
          <p:cNvPicPr preferRelativeResize="0"/>
          <p:nvPr/>
        </p:nvPicPr>
        <p:blipFill rotWithShape="1">
          <a:blip r:embed="rId4">
            <a:alphaModFix/>
          </a:blip>
          <a:srcRect b="0" l="0" r="0" t="0"/>
          <a:stretch/>
        </p:blipFill>
        <p:spPr>
          <a:xfrm>
            <a:off x="7010400" y="2672531"/>
            <a:ext cx="457200" cy="457200"/>
          </a:xfrm>
          <a:prstGeom prst="rect">
            <a:avLst/>
          </a:prstGeom>
          <a:noFill/>
          <a:ln>
            <a:noFill/>
          </a:ln>
        </p:spPr>
      </p:pic>
      <p:sp>
        <p:nvSpPr>
          <p:cNvPr id="39" name="Google Shape;39;p2"/>
          <p:cNvSpPr/>
          <p:nvPr/>
        </p:nvSpPr>
        <p:spPr>
          <a:xfrm>
            <a:off x="10792420" y="2567756"/>
            <a:ext cx="789900" cy="705000"/>
          </a:xfrm>
          <a:prstGeom prst="rect">
            <a:avLst/>
          </a:prstGeom>
          <a:noFill/>
          <a:ln>
            <a:noFill/>
          </a:ln>
        </p:spPr>
        <p:txBody>
          <a:bodyPr anchorCtr="0" anchor="t" bIns="25400" lIns="25400" spcFirstLastPara="1" rIns="25400" wrap="square" tIns="25400">
            <a:noAutofit/>
          </a:bodyPr>
          <a:lstStyle/>
          <a:p>
            <a:pPr indent="0" lvl="0" marL="0" marR="0" rtl="0" algn="l">
              <a:lnSpc>
                <a:spcPct val="83333"/>
              </a:lnSpc>
              <a:spcBef>
                <a:spcPts val="0"/>
              </a:spcBef>
              <a:spcAft>
                <a:spcPts val="0"/>
              </a:spcAft>
              <a:buClr>
                <a:srgbClr val="FF9900"/>
              </a:buClr>
              <a:buSzPts val="5250"/>
              <a:buFont typeface="Gabarito"/>
              <a:buNone/>
            </a:pPr>
            <a:r>
              <a:rPr b="1" i="0" lang="en-US" sz="5250" u="none" cap="none" strike="noStrike">
                <a:solidFill>
                  <a:srgbClr val="FF9900"/>
                </a:solidFill>
                <a:latin typeface="Gabarito"/>
                <a:ea typeface="Gabarito"/>
                <a:cs typeface="Gabarito"/>
                <a:sym typeface="Gabarito"/>
              </a:rPr>
              <a:t>02</a:t>
            </a:r>
            <a:endParaRPr b="0" i="0" sz="5250" u="none" cap="none" strike="noStrike">
              <a:solidFill>
                <a:schemeClr val="dk1"/>
              </a:solidFill>
              <a:latin typeface="Calibri"/>
              <a:ea typeface="Calibri"/>
              <a:cs typeface="Calibri"/>
              <a:sym typeface="Calibri"/>
            </a:endParaRPr>
          </a:p>
        </p:txBody>
      </p:sp>
      <p:sp>
        <p:nvSpPr>
          <p:cNvPr id="40" name="Google Shape;40;p2"/>
          <p:cNvSpPr/>
          <p:nvPr/>
        </p:nvSpPr>
        <p:spPr>
          <a:xfrm>
            <a:off x="6781800" y="3491681"/>
            <a:ext cx="5175900" cy="479700"/>
          </a:xfrm>
          <a:prstGeom prst="rect">
            <a:avLst/>
          </a:prstGeom>
          <a:noFill/>
          <a:ln>
            <a:noFill/>
          </a:ln>
        </p:spPr>
        <p:txBody>
          <a:bodyPr anchorCtr="0" anchor="t" bIns="25400" lIns="25400" spcFirstLastPara="1" rIns="25400" wrap="square" tIns="25400">
            <a:noAutofit/>
          </a:bodyPr>
          <a:lstStyle/>
          <a:p>
            <a:pPr indent="0" lvl="0" marL="0" marR="0" rtl="0" algn="l">
              <a:lnSpc>
                <a:spcPct val="100783"/>
              </a:lnSpc>
              <a:spcBef>
                <a:spcPts val="0"/>
              </a:spcBef>
              <a:spcAft>
                <a:spcPts val="0"/>
              </a:spcAft>
              <a:buClr>
                <a:srgbClr val="212121"/>
              </a:buClr>
              <a:buSzPts val="2850"/>
              <a:buFont typeface="Gabarito"/>
              <a:buNone/>
            </a:pPr>
            <a:r>
              <a:rPr b="1" i="0" lang="en-US" sz="2850" u="none" cap="none" strike="noStrike">
                <a:solidFill>
                  <a:srgbClr val="212121"/>
                </a:solidFill>
                <a:latin typeface="Gabarito"/>
                <a:ea typeface="Gabarito"/>
                <a:cs typeface="Gabarito"/>
                <a:sym typeface="Gabarito"/>
              </a:rPr>
              <a:t>The RAG Pipeline</a:t>
            </a:r>
            <a:endParaRPr b="0" i="0" sz="2850" u="none" cap="none" strike="noStrike">
              <a:solidFill>
                <a:schemeClr val="dk1"/>
              </a:solidFill>
              <a:latin typeface="Calibri"/>
              <a:ea typeface="Calibri"/>
              <a:cs typeface="Calibri"/>
              <a:sym typeface="Calibri"/>
            </a:endParaRPr>
          </a:p>
        </p:txBody>
      </p:sp>
      <p:sp>
        <p:nvSpPr>
          <p:cNvPr id="41" name="Google Shape;41;p2"/>
          <p:cNvSpPr/>
          <p:nvPr/>
        </p:nvSpPr>
        <p:spPr>
          <a:xfrm>
            <a:off x="6781800" y="4066604"/>
            <a:ext cx="4846500" cy="1272300"/>
          </a:xfrm>
          <a:prstGeom prst="rect">
            <a:avLst/>
          </a:prstGeom>
          <a:noFill/>
          <a:ln>
            <a:noFill/>
          </a:ln>
        </p:spPr>
        <p:txBody>
          <a:bodyPr anchorCtr="0" anchor="t" bIns="25400" lIns="25400" spcFirstLastPara="1" rIns="25400" wrap="square" tIns="25400">
            <a:noAutofit/>
          </a:bodyPr>
          <a:lstStyle/>
          <a:p>
            <a:pPr indent="0" lvl="0" marL="0" marR="0" rtl="0" algn="l">
              <a:lnSpc>
                <a:spcPct val="113684"/>
              </a:lnSpc>
              <a:spcBef>
                <a:spcPts val="0"/>
              </a:spcBef>
              <a:spcAft>
                <a:spcPts val="0"/>
              </a:spcAft>
              <a:buClr>
                <a:srgbClr val="7F7F7F"/>
              </a:buClr>
              <a:buSzPts val="2400"/>
              <a:buFont typeface="Gabarito"/>
              <a:buNone/>
            </a:pPr>
            <a:r>
              <a:rPr b="0" i="0" lang="en-US" sz="2200" u="none" cap="none" strike="noStrike">
                <a:solidFill>
                  <a:srgbClr val="7F7F7F"/>
                </a:solidFill>
                <a:latin typeface="Gabarito"/>
                <a:ea typeface="Gabarito"/>
                <a:cs typeface="Gabarito"/>
                <a:sym typeface="Gabarito"/>
              </a:rPr>
              <a:t>Ingestion, chunking, embedding, retrieval, and generation — five stages, step by step.</a:t>
            </a:r>
            <a:endParaRPr b="0" i="0" sz="2200" u="none" cap="none" strike="noStrike">
              <a:solidFill>
                <a:schemeClr val="dk1"/>
              </a:solidFill>
              <a:latin typeface="Calibri"/>
              <a:ea typeface="Calibri"/>
              <a:cs typeface="Calibri"/>
              <a:sym typeface="Calibri"/>
            </a:endParaRPr>
          </a:p>
        </p:txBody>
      </p:sp>
      <p:sp>
        <p:nvSpPr>
          <p:cNvPr id="42" name="Google Shape;42;p2"/>
          <p:cNvSpPr/>
          <p:nvPr/>
        </p:nvSpPr>
        <p:spPr>
          <a:xfrm>
            <a:off x="6781800" y="5434037"/>
            <a:ext cx="495300" cy="76200"/>
          </a:xfrm>
          <a:prstGeom prst="roundRect">
            <a:avLst>
              <a:gd fmla="val 50000"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12001500" y="2177231"/>
            <a:ext cx="5334000" cy="3599700"/>
          </a:xfrm>
          <a:prstGeom prst="roundRect">
            <a:avLst>
              <a:gd fmla="val 4763" name="adj"/>
            </a:avLst>
          </a:prstGeom>
          <a:solidFill>
            <a:srgbClr val="FFFFFF"/>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12306300" y="2443931"/>
            <a:ext cx="914400" cy="914400"/>
          </a:xfrm>
          <a:prstGeom prst="ellipse">
            <a:avLst/>
          </a:prstGeom>
          <a:solidFill>
            <a:srgbClr val="7A8A5A">
              <a:alpha val="1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 name="Google Shape;45;p2"/>
          <p:cNvPicPr preferRelativeResize="0"/>
          <p:nvPr/>
        </p:nvPicPr>
        <p:blipFill rotWithShape="1">
          <a:blip r:embed="rId5">
            <a:alphaModFix/>
          </a:blip>
          <a:srcRect b="0" l="0" r="0" t="0"/>
          <a:stretch/>
        </p:blipFill>
        <p:spPr>
          <a:xfrm>
            <a:off x="12534900" y="2672531"/>
            <a:ext cx="457200" cy="457200"/>
          </a:xfrm>
          <a:prstGeom prst="rect">
            <a:avLst/>
          </a:prstGeom>
          <a:noFill/>
          <a:ln>
            <a:noFill/>
          </a:ln>
        </p:spPr>
      </p:pic>
      <p:sp>
        <p:nvSpPr>
          <p:cNvPr id="46" name="Google Shape;46;p2"/>
          <p:cNvSpPr/>
          <p:nvPr/>
        </p:nvSpPr>
        <p:spPr>
          <a:xfrm>
            <a:off x="16310372" y="2567756"/>
            <a:ext cx="796500" cy="705000"/>
          </a:xfrm>
          <a:prstGeom prst="rect">
            <a:avLst/>
          </a:prstGeom>
          <a:noFill/>
          <a:ln>
            <a:noFill/>
          </a:ln>
        </p:spPr>
        <p:txBody>
          <a:bodyPr anchorCtr="0" anchor="t" bIns="25400" lIns="25400" spcFirstLastPara="1" rIns="25400" wrap="square" tIns="25400">
            <a:noAutofit/>
          </a:bodyPr>
          <a:lstStyle/>
          <a:p>
            <a:pPr indent="0" lvl="0" marL="0" marR="0" rtl="0" algn="l">
              <a:lnSpc>
                <a:spcPct val="83333"/>
              </a:lnSpc>
              <a:spcBef>
                <a:spcPts val="0"/>
              </a:spcBef>
              <a:spcAft>
                <a:spcPts val="0"/>
              </a:spcAft>
              <a:buClr>
                <a:srgbClr val="FF9900"/>
              </a:buClr>
              <a:buSzPts val="5250"/>
              <a:buFont typeface="Gabarito"/>
              <a:buNone/>
            </a:pPr>
            <a:r>
              <a:rPr b="1" i="0" lang="en-US" sz="5250" u="none" cap="none" strike="noStrike">
                <a:solidFill>
                  <a:srgbClr val="FF9900"/>
                </a:solidFill>
                <a:latin typeface="Gabarito"/>
                <a:ea typeface="Gabarito"/>
                <a:cs typeface="Gabarito"/>
                <a:sym typeface="Gabarito"/>
              </a:rPr>
              <a:t>03</a:t>
            </a:r>
            <a:endParaRPr b="0" i="0" sz="5250" u="none" cap="none" strike="noStrike">
              <a:solidFill>
                <a:schemeClr val="dk1"/>
              </a:solidFill>
              <a:latin typeface="Calibri"/>
              <a:ea typeface="Calibri"/>
              <a:cs typeface="Calibri"/>
              <a:sym typeface="Calibri"/>
            </a:endParaRPr>
          </a:p>
        </p:txBody>
      </p:sp>
      <p:sp>
        <p:nvSpPr>
          <p:cNvPr id="47" name="Google Shape;47;p2"/>
          <p:cNvSpPr/>
          <p:nvPr/>
        </p:nvSpPr>
        <p:spPr>
          <a:xfrm>
            <a:off x="12306300" y="3491681"/>
            <a:ext cx="5175900" cy="479700"/>
          </a:xfrm>
          <a:prstGeom prst="rect">
            <a:avLst/>
          </a:prstGeom>
          <a:noFill/>
          <a:ln>
            <a:noFill/>
          </a:ln>
        </p:spPr>
        <p:txBody>
          <a:bodyPr anchorCtr="0" anchor="t" bIns="25400" lIns="25400" spcFirstLastPara="1" rIns="25400" wrap="square" tIns="25400">
            <a:noAutofit/>
          </a:bodyPr>
          <a:lstStyle/>
          <a:p>
            <a:pPr indent="0" lvl="0" marL="0" marR="0" rtl="0" algn="l">
              <a:lnSpc>
                <a:spcPct val="100783"/>
              </a:lnSpc>
              <a:spcBef>
                <a:spcPts val="0"/>
              </a:spcBef>
              <a:spcAft>
                <a:spcPts val="0"/>
              </a:spcAft>
              <a:buClr>
                <a:srgbClr val="212121"/>
              </a:buClr>
              <a:buSzPts val="2850"/>
              <a:buFont typeface="Gabarito"/>
              <a:buNone/>
            </a:pPr>
            <a:r>
              <a:rPr b="1" i="0" lang="en-US" sz="2850" u="none" cap="none" strike="noStrike">
                <a:solidFill>
                  <a:srgbClr val="212121"/>
                </a:solidFill>
                <a:latin typeface="Gabarito"/>
                <a:ea typeface="Gabarito"/>
                <a:cs typeface="Gabarito"/>
                <a:sym typeface="Gabarito"/>
              </a:rPr>
              <a:t>Local Embedding Models</a:t>
            </a:r>
            <a:endParaRPr b="0" i="0" sz="2850" u="none" cap="none" strike="noStrike">
              <a:solidFill>
                <a:schemeClr val="dk1"/>
              </a:solidFill>
              <a:latin typeface="Calibri"/>
              <a:ea typeface="Calibri"/>
              <a:cs typeface="Calibri"/>
              <a:sym typeface="Calibri"/>
            </a:endParaRPr>
          </a:p>
        </p:txBody>
      </p:sp>
      <p:sp>
        <p:nvSpPr>
          <p:cNvPr id="48" name="Google Shape;48;p2"/>
          <p:cNvSpPr/>
          <p:nvPr/>
        </p:nvSpPr>
        <p:spPr>
          <a:xfrm>
            <a:off x="12306300" y="4066604"/>
            <a:ext cx="4846500" cy="1272300"/>
          </a:xfrm>
          <a:prstGeom prst="rect">
            <a:avLst/>
          </a:prstGeom>
          <a:noFill/>
          <a:ln>
            <a:noFill/>
          </a:ln>
        </p:spPr>
        <p:txBody>
          <a:bodyPr anchorCtr="0" anchor="t" bIns="25400" lIns="25400" spcFirstLastPara="1" rIns="25400" wrap="square" tIns="25400">
            <a:noAutofit/>
          </a:bodyPr>
          <a:lstStyle/>
          <a:p>
            <a:pPr indent="0" lvl="0" marL="0" marR="0" rtl="0" algn="l">
              <a:lnSpc>
                <a:spcPct val="113684"/>
              </a:lnSpc>
              <a:spcBef>
                <a:spcPts val="0"/>
              </a:spcBef>
              <a:spcAft>
                <a:spcPts val="0"/>
              </a:spcAft>
              <a:buClr>
                <a:srgbClr val="7F7F7F"/>
              </a:buClr>
              <a:buSzPts val="2400"/>
              <a:buFont typeface="Gabarito"/>
              <a:buNone/>
            </a:pPr>
            <a:r>
              <a:rPr b="0" i="0" lang="en-US" sz="2200" u="none" cap="none" strike="noStrike">
                <a:solidFill>
                  <a:srgbClr val="7F7F7F"/>
                </a:solidFill>
                <a:latin typeface="Gabarito"/>
                <a:ea typeface="Gabarito"/>
                <a:cs typeface="Gabarito"/>
                <a:sym typeface="Gabarito"/>
              </a:rPr>
              <a:t>Choosing a model that turns text into meaning, and runs on your own hardware.</a:t>
            </a:r>
            <a:endParaRPr b="0" i="0" sz="2200" u="none" cap="none" strike="noStrike">
              <a:solidFill>
                <a:schemeClr val="dk1"/>
              </a:solidFill>
              <a:latin typeface="Calibri"/>
              <a:ea typeface="Calibri"/>
              <a:cs typeface="Calibri"/>
              <a:sym typeface="Calibri"/>
            </a:endParaRPr>
          </a:p>
        </p:txBody>
      </p:sp>
      <p:sp>
        <p:nvSpPr>
          <p:cNvPr id="49" name="Google Shape;49;p2"/>
          <p:cNvSpPr/>
          <p:nvPr/>
        </p:nvSpPr>
        <p:spPr>
          <a:xfrm>
            <a:off x="12306300" y="5434037"/>
            <a:ext cx="495300" cy="76200"/>
          </a:xfrm>
          <a:prstGeom prst="roundRect">
            <a:avLst>
              <a:gd fmla="val 50000" name="adj"/>
            </a:avLst>
          </a:prstGeom>
          <a:solidFill>
            <a:srgbClr val="6E7D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952500" y="5967437"/>
            <a:ext cx="5334000" cy="3599700"/>
          </a:xfrm>
          <a:prstGeom prst="roundRect">
            <a:avLst>
              <a:gd fmla="val 4763" name="adj"/>
            </a:avLst>
          </a:prstGeom>
          <a:solidFill>
            <a:srgbClr val="FFFFFF"/>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1257300" y="6234137"/>
            <a:ext cx="914400" cy="914400"/>
          </a:xfrm>
          <a:prstGeom prst="ellipse">
            <a:avLst/>
          </a:prstGeom>
          <a:solidFill>
            <a:srgbClr val="B08A3E">
              <a:alpha val="1490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 name="Google Shape;52;p2"/>
          <p:cNvPicPr preferRelativeResize="0"/>
          <p:nvPr/>
        </p:nvPicPr>
        <p:blipFill rotWithShape="1">
          <a:blip r:embed="rId6">
            <a:alphaModFix/>
          </a:blip>
          <a:srcRect b="0" l="0" r="0" t="0"/>
          <a:stretch/>
        </p:blipFill>
        <p:spPr>
          <a:xfrm>
            <a:off x="1485900" y="6462737"/>
            <a:ext cx="457200" cy="457200"/>
          </a:xfrm>
          <a:prstGeom prst="rect">
            <a:avLst/>
          </a:prstGeom>
          <a:noFill/>
          <a:ln>
            <a:noFill/>
          </a:ln>
        </p:spPr>
      </p:pic>
      <p:sp>
        <p:nvSpPr>
          <p:cNvPr id="53" name="Google Shape;53;p2"/>
          <p:cNvSpPr/>
          <p:nvPr/>
        </p:nvSpPr>
        <p:spPr>
          <a:xfrm>
            <a:off x="5216872" y="6357962"/>
            <a:ext cx="840900" cy="705000"/>
          </a:xfrm>
          <a:prstGeom prst="rect">
            <a:avLst/>
          </a:prstGeom>
          <a:noFill/>
          <a:ln>
            <a:noFill/>
          </a:ln>
        </p:spPr>
        <p:txBody>
          <a:bodyPr anchorCtr="0" anchor="t" bIns="25400" lIns="25400" spcFirstLastPara="1" rIns="25400" wrap="square" tIns="25400">
            <a:noAutofit/>
          </a:bodyPr>
          <a:lstStyle/>
          <a:p>
            <a:pPr indent="0" lvl="0" marL="0" marR="0" rtl="0" algn="l">
              <a:lnSpc>
                <a:spcPct val="83333"/>
              </a:lnSpc>
              <a:spcBef>
                <a:spcPts val="0"/>
              </a:spcBef>
              <a:spcAft>
                <a:spcPts val="0"/>
              </a:spcAft>
              <a:buClr>
                <a:srgbClr val="FF9900"/>
              </a:buClr>
              <a:buSzPts val="5250"/>
              <a:buFont typeface="Gabarito"/>
              <a:buNone/>
            </a:pPr>
            <a:r>
              <a:rPr b="1" i="0" lang="en-US" sz="5250" u="none" cap="none" strike="noStrike">
                <a:solidFill>
                  <a:srgbClr val="FF9900"/>
                </a:solidFill>
                <a:latin typeface="Gabarito"/>
                <a:ea typeface="Gabarito"/>
                <a:cs typeface="Gabarito"/>
                <a:sym typeface="Gabarito"/>
              </a:rPr>
              <a:t>04</a:t>
            </a:r>
            <a:endParaRPr b="0" i="0" sz="5250" u="none" cap="none" strike="noStrike">
              <a:solidFill>
                <a:schemeClr val="dk1"/>
              </a:solidFill>
              <a:latin typeface="Calibri"/>
              <a:ea typeface="Calibri"/>
              <a:cs typeface="Calibri"/>
              <a:sym typeface="Calibri"/>
            </a:endParaRPr>
          </a:p>
        </p:txBody>
      </p:sp>
      <p:sp>
        <p:nvSpPr>
          <p:cNvPr id="54" name="Google Shape;54;p2"/>
          <p:cNvSpPr/>
          <p:nvPr/>
        </p:nvSpPr>
        <p:spPr>
          <a:xfrm>
            <a:off x="1257300" y="7281887"/>
            <a:ext cx="5175900" cy="479700"/>
          </a:xfrm>
          <a:prstGeom prst="rect">
            <a:avLst/>
          </a:prstGeom>
          <a:noFill/>
          <a:ln>
            <a:noFill/>
          </a:ln>
        </p:spPr>
        <p:txBody>
          <a:bodyPr anchorCtr="0" anchor="t" bIns="25400" lIns="25400" spcFirstLastPara="1" rIns="25400" wrap="square" tIns="25400">
            <a:noAutofit/>
          </a:bodyPr>
          <a:lstStyle/>
          <a:p>
            <a:pPr indent="0" lvl="0" marL="0" marR="0" rtl="0" algn="l">
              <a:lnSpc>
                <a:spcPct val="100783"/>
              </a:lnSpc>
              <a:spcBef>
                <a:spcPts val="0"/>
              </a:spcBef>
              <a:spcAft>
                <a:spcPts val="0"/>
              </a:spcAft>
              <a:buClr>
                <a:srgbClr val="212121"/>
              </a:buClr>
              <a:buSzPts val="2850"/>
              <a:buFont typeface="Gabarito"/>
              <a:buNone/>
            </a:pPr>
            <a:r>
              <a:rPr b="1" i="0" lang="en-US" sz="2850" u="none" cap="none" strike="noStrike">
                <a:solidFill>
                  <a:srgbClr val="212121"/>
                </a:solidFill>
                <a:latin typeface="Gabarito"/>
                <a:ea typeface="Gabarito"/>
                <a:cs typeface="Gabarito"/>
                <a:sym typeface="Gabarito"/>
              </a:rPr>
              <a:t>Vector Database Setup</a:t>
            </a:r>
            <a:endParaRPr b="0" i="0" sz="2850" u="none" cap="none" strike="noStrike">
              <a:solidFill>
                <a:schemeClr val="dk1"/>
              </a:solidFill>
              <a:latin typeface="Calibri"/>
              <a:ea typeface="Calibri"/>
              <a:cs typeface="Calibri"/>
              <a:sym typeface="Calibri"/>
            </a:endParaRPr>
          </a:p>
        </p:txBody>
      </p:sp>
      <p:sp>
        <p:nvSpPr>
          <p:cNvPr id="55" name="Google Shape;55;p2"/>
          <p:cNvSpPr/>
          <p:nvPr/>
        </p:nvSpPr>
        <p:spPr>
          <a:xfrm>
            <a:off x="1257300" y="7856810"/>
            <a:ext cx="4846500" cy="860700"/>
          </a:xfrm>
          <a:prstGeom prst="rect">
            <a:avLst/>
          </a:prstGeom>
          <a:noFill/>
          <a:ln>
            <a:noFill/>
          </a:ln>
        </p:spPr>
        <p:txBody>
          <a:bodyPr anchorCtr="0" anchor="t" bIns="25400" lIns="25400" spcFirstLastPara="1" rIns="25400" wrap="square" tIns="25400">
            <a:noAutofit/>
          </a:bodyPr>
          <a:lstStyle/>
          <a:p>
            <a:pPr indent="0" lvl="0" marL="0" marR="0" rtl="0" algn="l">
              <a:lnSpc>
                <a:spcPct val="113684"/>
              </a:lnSpc>
              <a:spcBef>
                <a:spcPts val="0"/>
              </a:spcBef>
              <a:spcAft>
                <a:spcPts val="0"/>
              </a:spcAft>
              <a:buClr>
                <a:srgbClr val="7F7F7F"/>
              </a:buClr>
              <a:buSzPts val="2400"/>
              <a:buFont typeface="Gabarito"/>
              <a:buNone/>
            </a:pPr>
            <a:r>
              <a:rPr b="0" i="0" lang="en-US" sz="2200" u="none" cap="none" strike="noStrike">
                <a:solidFill>
                  <a:srgbClr val="7F7F7F"/>
                </a:solidFill>
                <a:latin typeface="Gabarito"/>
                <a:ea typeface="Gabarito"/>
                <a:cs typeface="Gabarito"/>
                <a:sym typeface="Gabarito"/>
              </a:rPr>
              <a:t>Where millions of embeddings live, and how fast they can be searched.</a:t>
            </a:r>
            <a:endParaRPr b="0" i="0" sz="2200" u="none" cap="none" strike="noStrike">
              <a:solidFill>
                <a:schemeClr val="dk1"/>
              </a:solidFill>
              <a:latin typeface="Calibri"/>
              <a:ea typeface="Calibri"/>
              <a:cs typeface="Calibri"/>
              <a:sym typeface="Calibri"/>
            </a:endParaRPr>
          </a:p>
        </p:txBody>
      </p:sp>
      <p:sp>
        <p:nvSpPr>
          <p:cNvPr id="56" name="Google Shape;56;p2"/>
          <p:cNvSpPr/>
          <p:nvPr/>
        </p:nvSpPr>
        <p:spPr>
          <a:xfrm>
            <a:off x="1257300" y="9224243"/>
            <a:ext cx="495300" cy="76200"/>
          </a:xfrm>
          <a:prstGeom prst="roundRect">
            <a:avLst>
              <a:gd fmla="val 50000" name="adj"/>
            </a:avLst>
          </a:prstGeom>
          <a:solidFill>
            <a:srgbClr val="A881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6477000" y="5967437"/>
            <a:ext cx="5334000" cy="3599700"/>
          </a:xfrm>
          <a:prstGeom prst="roundRect">
            <a:avLst>
              <a:gd fmla="val 4763" name="adj"/>
            </a:avLst>
          </a:prstGeom>
          <a:solidFill>
            <a:srgbClr val="FFFFFF"/>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6781800" y="6234137"/>
            <a:ext cx="914400" cy="914400"/>
          </a:xfrm>
          <a:prstGeom prst="ellipse">
            <a:avLst/>
          </a:prstGeom>
          <a:solidFill>
            <a:srgbClr val="5E7488">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 name="Google Shape;59;p2"/>
          <p:cNvPicPr preferRelativeResize="0"/>
          <p:nvPr/>
        </p:nvPicPr>
        <p:blipFill rotWithShape="1">
          <a:blip r:embed="rId7">
            <a:alphaModFix/>
          </a:blip>
          <a:srcRect b="0" l="0" r="0" t="0"/>
          <a:stretch/>
        </p:blipFill>
        <p:spPr>
          <a:xfrm>
            <a:off x="7010400" y="6462737"/>
            <a:ext cx="457200" cy="457200"/>
          </a:xfrm>
          <a:prstGeom prst="rect">
            <a:avLst/>
          </a:prstGeom>
          <a:noFill/>
          <a:ln>
            <a:noFill/>
          </a:ln>
        </p:spPr>
      </p:pic>
      <p:sp>
        <p:nvSpPr>
          <p:cNvPr id="60" name="Google Shape;60;p2"/>
          <p:cNvSpPr/>
          <p:nvPr/>
        </p:nvSpPr>
        <p:spPr>
          <a:xfrm>
            <a:off x="10773966" y="6357962"/>
            <a:ext cx="808500" cy="705000"/>
          </a:xfrm>
          <a:prstGeom prst="rect">
            <a:avLst/>
          </a:prstGeom>
          <a:noFill/>
          <a:ln>
            <a:noFill/>
          </a:ln>
        </p:spPr>
        <p:txBody>
          <a:bodyPr anchorCtr="0" anchor="t" bIns="25400" lIns="25400" spcFirstLastPara="1" rIns="25400" wrap="square" tIns="25400">
            <a:noAutofit/>
          </a:bodyPr>
          <a:lstStyle/>
          <a:p>
            <a:pPr indent="0" lvl="0" marL="0" marR="0" rtl="0" algn="l">
              <a:lnSpc>
                <a:spcPct val="83333"/>
              </a:lnSpc>
              <a:spcBef>
                <a:spcPts val="0"/>
              </a:spcBef>
              <a:spcAft>
                <a:spcPts val="0"/>
              </a:spcAft>
              <a:buClr>
                <a:srgbClr val="FF9900"/>
              </a:buClr>
              <a:buSzPts val="5250"/>
              <a:buFont typeface="Gabarito"/>
              <a:buNone/>
            </a:pPr>
            <a:r>
              <a:rPr b="1" i="0" lang="en-US" sz="5250" u="none" cap="none" strike="noStrike">
                <a:solidFill>
                  <a:srgbClr val="FF9900"/>
                </a:solidFill>
                <a:latin typeface="Gabarito"/>
                <a:ea typeface="Gabarito"/>
                <a:cs typeface="Gabarito"/>
                <a:sym typeface="Gabarito"/>
              </a:rPr>
              <a:t>05</a:t>
            </a:r>
            <a:endParaRPr b="0" i="0" sz="5250" u="none" cap="none" strike="noStrike">
              <a:solidFill>
                <a:schemeClr val="dk1"/>
              </a:solidFill>
              <a:latin typeface="Calibri"/>
              <a:ea typeface="Calibri"/>
              <a:cs typeface="Calibri"/>
              <a:sym typeface="Calibri"/>
            </a:endParaRPr>
          </a:p>
        </p:txBody>
      </p:sp>
      <p:sp>
        <p:nvSpPr>
          <p:cNvPr id="61" name="Google Shape;61;p2"/>
          <p:cNvSpPr/>
          <p:nvPr/>
        </p:nvSpPr>
        <p:spPr>
          <a:xfrm>
            <a:off x="6781800" y="7281887"/>
            <a:ext cx="5175900" cy="479700"/>
          </a:xfrm>
          <a:prstGeom prst="rect">
            <a:avLst/>
          </a:prstGeom>
          <a:noFill/>
          <a:ln>
            <a:noFill/>
          </a:ln>
        </p:spPr>
        <p:txBody>
          <a:bodyPr anchorCtr="0" anchor="t" bIns="25400" lIns="25400" spcFirstLastPara="1" rIns="25400" wrap="square" tIns="25400">
            <a:noAutofit/>
          </a:bodyPr>
          <a:lstStyle/>
          <a:p>
            <a:pPr indent="0" lvl="0" marL="0" marR="0" rtl="0" algn="l">
              <a:lnSpc>
                <a:spcPct val="100783"/>
              </a:lnSpc>
              <a:spcBef>
                <a:spcPts val="0"/>
              </a:spcBef>
              <a:spcAft>
                <a:spcPts val="0"/>
              </a:spcAft>
              <a:buClr>
                <a:srgbClr val="212121"/>
              </a:buClr>
              <a:buSzPts val="2850"/>
              <a:buFont typeface="Gabarito"/>
              <a:buNone/>
            </a:pPr>
            <a:r>
              <a:rPr b="1" i="0" lang="en-US" sz="2850" u="none" cap="none" strike="noStrike">
                <a:solidFill>
                  <a:srgbClr val="212121"/>
                </a:solidFill>
                <a:latin typeface="Gabarito"/>
                <a:ea typeface="Gabarito"/>
                <a:cs typeface="Gabarito"/>
                <a:sym typeface="Gabarito"/>
              </a:rPr>
              <a:t>Building the RAG App</a:t>
            </a:r>
            <a:endParaRPr b="0" i="0" sz="2850" u="none" cap="none" strike="noStrike">
              <a:solidFill>
                <a:schemeClr val="dk1"/>
              </a:solidFill>
              <a:latin typeface="Calibri"/>
              <a:ea typeface="Calibri"/>
              <a:cs typeface="Calibri"/>
              <a:sym typeface="Calibri"/>
            </a:endParaRPr>
          </a:p>
        </p:txBody>
      </p:sp>
      <p:sp>
        <p:nvSpPr>
          <p:cNvPr id="62" name="Google Shape;62;p2"/>
          <p:cNvSpPr/>
          <p:nvPr/>
        </p:nvSpPr>
        <p:spPr>
          <a:xfrm>
            <a:off x="6781800" y="7856810"/>
            <a:ext cx="4846500" cy="1272300"/>
          </a:xfrm>
          <a:prstGeom prst="rect">
            <a:avLst/>
          </a:prstGeom>
          <a:noFill/>
          <a:ln>
            <a:noFill/>
          </a:ln>
        </p:spPr>
        <p:txBody>
          <a:bodyPr anchorCtr="0" anchor="t" bIns="25400" lIns="25400" spcFirstLastPara="1" rIns="25400" wrap="square" tIns="25400">
            <a:noAutofit/>
          </a:bodyPr>
          <a:lstStyle/>
          <a:p>
            <a:pPr indent="0" lvl="0" marL="0" marR="0" rtl="0" algn="l">
              <a:lnSpc>
                <a:spcPct val="113684"/>
              </a:lnSpc>
              <a:spcBef>
                <a:spcPts val="0"/>
              </a:spcBef>
              <a:spcAft>
                <a:spcPts val="0"/>
              </a:spcAft>
              <a:buClr>
                <a:srgbClr val="7F7F7F"/>
              </a:buClr>
              <a:buSzPts val="2400"/>
              <a:buFont typeface="Gabarito"/>
              <a:buNone/>
            </a:pPr>
            <a:r>
              <a:rPr b="0" i="0" lang="en-US" sz="2200" u="none" cap="none" strike="noStrike">
                <a:solidFill>
                  <a:srgbClr val="7F7F7F"/>
                </a:solidFill>
                <a:latin typeface="Gabarito"/>
                <a:ea typeface="Gabarito"/>
                <a:cs typeface="Gabarito"/>
                <a:sym typeface="Gabarito"/>
              </a:rPr>
              <a:t>A working terminal chatbot, built by hand with no framework hiding the pipeline.</a:t>
            </a:r>
            <a:endParaRPr b="0" i="0" sz="2200" u="none" cap="none" strike="noStrike">
              <a:solidFill>
                <a:schemeClr val="dk1"/>
              </a:solidFill>
              <a:latin typeface="Calibri"/>
              <a:ea typeface="Calibri"/>
              <a:cs typeface="Calibri"/>
              <a:sym typeface="Calibri"/>
            </a:endParaRPr>
          </a:p>
        </p:txBody>
      </p:sp>
      <p:sp>
        <p:nvSpPr>
          <p:cNvPr id="63" name="Google Shape;63;p2"/>
          <p:cNvSpPr/>
          <p:nvPr/>
        </p:nvSpPr>
        <p:spPr>
          <a:xfrm>
            <a:off x="6781800" y="9224243"/>
            <a:ext cx="495300" cy="76200"/>
          </a:xfrm>
          <a:prstGeom prst="roundRect">
            <a:avLst>
              <a:gd fmla="val 50000" name="adj"/>
            </a:avLst>
          </a:prstGeom>
          <a:solidFill>
            <a:srgbClr val="5E74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12001500" y="5967437"/>
            <a:ext cx="5334000" cy="3599700"/>
          </a:xfrm>
          <a:prstGeom prst="roundRect">
            <a:avLst>
              <a:gd fmla="val 4763" name="adj"/>
            </a:avLst>
          </a:prstGeom>
          <a:solidFill>
            <a:srgbClr val="FFFFFF"/>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12306300" y="6234137"/>
            <a:ext cx="914400" cy="914400"/>
          </a:xfrm>
          <a:prstGeom prst="ellipse">
            <a:avLst/>
          </a:prstGeom>
          <a:solidFill>
            <a:srgbClr val="D97757">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 name="Google Shape;66;p2"/>
          <p:cNvPicPr preferRelativeResize="0"/>
          <p:nvPr/>
        </p:nvPicPr>
        <p:blipFill rotWithShape="1">
          <a:blip r:embed="rId8">
            <a:alphaModFix/>
          </a:blip>
          <a:srcRect b="0" l="0" r="0" t="0"/>
          <a:stretch/>
        </p:blipFill>
        <p:spPr>
          <a:xfrm>
            <a:off x="12534900" y="6462737"/>
            <a:ext cx="457200" cy="457200"/>
          </a:xfrm>
          <a:prstGeom prst="rect">
            <a:avLst/>
          </a:prstGeom>
          <a:noFill/>
          <a:ln>
            <a:noFill/>
          </a:ln>
        </p:spPr>
      </p:pic>
      <p:sp>
        <p:nvSpPr>
          <p:cNvPr id="67" name="Google Shape;67;p2"/>
          <p:cNvSpPr/>
          <p:nvPr/>
        </p:nvSpPr>
        <p:spPr>
          <a:xfrm>
            <a:off x="16282541" y="6357962"/>
            <a:ext cx="824400" cy="705000"/>
          </a:xfrm>
          <a:prstGeom prst="rect">
            <a:avLst/>
          </a:prstGeom>
          <a:noFill/>
          <a:ln>
            <a:noFill/>
          </a:ln>
        </p:spPr>
        <p:txBody>
          <a:bodyPr anchorCtr="0" anchor="t" bIns="25400" lIns="25400" spcFirstLastPara="1" rIns="25400" wrap="square" tIns="25400">
            <a:noAutofit/>
          </a:bodyPr>
          <a:lstStyle/>
          <a:p>
            <a:pPr indent="0" lvl="0" marL="0" marR="0" rtl="0" algn="l">
              <a:lnSpc>
                <a:spcPct val="83333"/>
              </a:lnSpc>
              <a:spcBef>
                <a:spcPts val="0"/>
              </a:spcBef>
              <a:spcAft>
                <a:spcPts val="0"/>
              </a:spcAft>
              <a:buClr>
                <a:srgbClr val="FF9900"/>
              </a:buClr>
              <a:buSzPts val="5250"/>
              <a:buFont typeface="Gabarito"/>
              <a:buNone/>
            </a:pPr>
            <a:r>
              <a:rPr b="1" i="0" lang="en-US" sz="5250" u="none" cap="none" strike="noStrike">
                <a:solidFill>
                  <a:srgbClr val="FF9900"/>
                </a:solidFill>
                <a:latin typeface="Gabarito"/>
                <a:ea typeface="Gabarito"/>
                <a:cs typeface="Gabarito"/>
                <a:sym typeface="Gabarito"/>
              </a:rPr>
              <a:t>06</a:t>
            </a:r>
            <a:endParaRPr b="0" i="0" sz="5250" u="none" cap="none" strike="noStrike">
              <a:solidFill>
                <a:schemeClr val="dk1"/>
              </a:solidFill>
              <a:latin typeface="Calibri"/>
              <a:ea typeface="Calibri"/>
              <a:cs typeface="Calibri"/>
              <a:sym typeface="Calibri"/>
            </a:endParaRPr>
          </a:p>
        </p:txBody>
      </p:sp>
      <p:sp>
        <p:nvSpPr>
          <p:cNvPr id="68" name="Google Shape;68;p2"/>
          <p:cNvSpPr/>
          <p:nvPr/>
        </p:nvSpPr>
        <p:spPr>
          <a:xfrm>
            <a:off x="12306300" y="7281887"/>
            <a:ext cx="5175900" cy="479700"/>
          </a:xfrm>
          <a:prstGeom prst="rect">
            <a:avLst/>
          </a:prstGeom>
          <a:noFill/>
          <a:ln>
            <a:noFill/>
          </a:ln>
        </p:spPr>
        <p:txBody>
          <a:bodyPr anchorCtr="0" anchor="t" bIns="25400" lIns="25400" spcFirstLastPara="1" rIns="25400" wrap="square" tIns="25400">
            <a:noAutofit/>
          </a:bodyPr>
          <a:lstStyle/>
          <a:p>
            <a:pPr indent="0" lvl="0" marL="0" marR="0" rtl="0" algn="l">
              <a:lnSpc>
                <a:spcPct val="100783"/>
              </a:lnSpc>
              <a:spcBef>
                <a:spcPts val="0"/>
              </a:spcBef>
              <a:spcAft>
                <a:spcPts val="0"/>
              </a:spcAft>
              <a:buClr>
                <a:srgbClr val="212121"/>
              </a:buClr>
              <a:buSzPts val="2850"/>
              <a:buFont typeface="Gabarito"/>
              <a:buNone/>
            </a:pPr>
            <a:r>
              <a:rPr b="1" i="0" lang="en-US" sz="2850" u="none" cap="none" strike="noStrike">
                <a:solidFill>
                  <a:srgbClr val="212121"/>
                </a:solidFill>
                <a:latin typeface="Gabarito"/>
                <a:ea typeface="Gabarito"/>
                <a:cs typeface="Gabarito"/>
                <a:sym typeface="Gabarito"/>
              </a:rPr>
              <a:t>Code Walkthrough</a:t>
            </a:r>
            <a:endParaRPr b="0" i="0" sz="2850" u="none" cap="none" strike="noStrike">
              <a:solidFill>
                <a:schemeClr val="dk1"/>
              </a:solidFill>
              <a:latin typeface="Calibri"/>
              <a:ea typeface="Calibri"/>
              <a:cs typeface="Calibri"/>
              <a:sym typeface="Calibri"/>
            </a:endParaRPr>
          </a:p>
        </p:txBody>
      </p:sp>
      <p:sp>
        <p:nvSpPr>
          <p:cNvPr id="69" name="Google Shape;69;p2"/>
          <p:cNvSpPr/>
          <p:nvPr/>
        </p:nvSpPr>
        <p:spPr>
          <a:xfrm>
            <a:off x="12306300" y="7856810"/>
            <a:ext cx="4846500" cy="860700"/>
          </a:xfrm>
          <a:prstGeom prst="rect">
            <a:avLst/>
          </a:prstGeom>
          <a:noFill/>
          <a:ln>
            <a:noFill/>
          </a:ln>
        </p:spPr>
        <p:txBody>
          <a:bodyPr anchorCtr="0" anchor="t" bIns="25400" lIns="25400" spcFirstLastPara="1" rIns="25400" wrap="square" tIns="25400">
            <a:noAutofit/>
          </a:bodyPr>
          <a:lstStyle/>
          <a:p>
            <a:pPr indent="0" lvl="0" marL="0" marR="0" rtl="0" algn="l">
              <a:lnSpc>
                <a:spcPct val="113684"/>
              </a:lnSpc>
              <a:spcBef>
                <a:spcPts val="0"/>
              </a:spcBef>
              <a:spcAft>
                <a:spcPts val="0"/>
              </a:spcAft>
              <a:buClr>
                <a:srgbClr val="7F7F7F"/>
              </a:buClr>
              <a:buSzPts val="2400"/>
              <a:buFont typeface="Gabarito"/>
              <a:buNone/>
            </a:pPr>
            <a:r>
              <a:rPr b="0" i="0" lang="en-US" sz="2200" u="none" cap="none" strike="noStrike">
                <a:solidFill>
                  <a:srgbClr val="7F7F7F"/>
                </a:solidFill>
                <a:latin typeface="Gabarito"/>
                <a:ea typeface="Gabarito"/>
                <a:cs typeface="Gabarito"/>
                <a:sym typeface="Gabarito"/>
              </a:rPr>
              <a:t>Reading the four files that turn the pipeline into working code.</a:t>
            </a:r>
            <a:endParaRPr b="0" i="0" sz="2200" u="none" cap="none" strike="noStrike">
              <a:solidFill>
                <a:schemeClr val="dk1"/>
              </a:solidFill>
              <a:latin typeface="Calibri"/>
              <a:ea typeface="Calibri"/>
              <a:cs typeface="Calibri"/>
              <a:sym typeface="Calibri"/>
            </a:endParaRPr>
          </a:p>
        </p:txBody>
      </p:sp>
      <p:sp>
        <p:nvSpPr>
          <p:cNvPr id="70" name="Google Shape;70;p2"/>
          <p:cNvSpPr/>
          <p:nvPr/>
        </p:nvSpPr>
        <p:spPr>
          <a:xfrm>
            <a:off x="12306300" y="9224243"/>
            <a:ext cx="495300" cy="76200"/>
          </a:xfrm>
          <a:prstGeom prst="roundRect">
            <a:avLst>
              <a:gd fmla="val 50000" name="adj"/>
            </a:avLst>
          </a:prstGeom>
          <a:solidFill>
            <a:srgbClr val="C15F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3"/>
          <p:cNvSpPr/>
          <p:nvPr/>
        </p:nvSpPr>
        <p:spPr>
          <a:xfrm>
            <a:off x="15906899" y="666750"/>
            <a:ext cx="1466686" cy="1476375"/>
          </a:xfrm>
          <a:prstGeom prst="rect">
            <a:avLst/>
          </a:prstGeom>
          <a:noFill/>
          <a:ln>
            <a:noFill/>
          </a:ln>
        </p:spPr>
        <p:txBody>
          <a:bodyPr anchorCtr="0" anchor="t" bIns="25400" lIns="25400" spcFirstLastPara="1" rIns="25400" wrap="square" tIns="25400">
            <a:noAutofit/>
          </a:bodyPr>
          <a:lstStyle/>
          <a:p>
            <a:pPr indent="0" lvl="0" marL="0" marR="0" rtl="0" algn="l">
              <a:lnSpc>
                <a:spcPct val="83425"/>
              </a:lnSpc>
              <a:spcBef>
                <a:spcPts val="0"/>
              </a:spcBef>
              <a:spcAft>
                <a:spcPts val="0"/>
              </a:spcAft>
              <a:buClr>
                <a:srgbClr val="FF9900"/>
              </a:buClr>
              <a:buSzPts val="11325"/>
              <a:buFont typeface="Gabarito"/>
              <a:buNone/>
            </a:pPr>
            <a:r>
              <a:rPr b="1" i="0" lang="en-US" sz="11325" u="none" cap="none" strike="noStrike">
                <a:solidFill>
                  <a:srgbClr val="FF9900"/>
                </a:solidFill>
                <a:latin typeface="Gabarito"/>
                <a:ea typeface="Gabarito"/>
                <a:cs typeface="Gabarito"/>
                <a:sym typeface="Gabarito"/>
              </a:rPr>
              <a:t>01</a:t>
            </a:r>
            <a:endParaRPr b="0" i="0" sz="11325" u="none" cap="none" strike="noStrike">
              <a:solidFill>
                <a:schemeClr val="dk1"/>
              </a:solidFill>
              <a:latin typeface="Calibri"/>
              <a:ea typeface="Calibri"/>
              <a:cs typeface="Calibri"/>
              <a:sym typeface="Calibri"/>
            </a:endParaRPr>
          </a:p>
        </p:txBody>
      </p:sp>
      <p:sp>
        <p:nvSpPr>
          <p:cNvPr id="77" name="Google Shape;77;p3"/>
          <p:cNvSpPr/>
          <p:nvPr/>
        </p:nvSpPr>
        <p:spPr>
          <a:xfrm>
            <a:off x="1266825" y="2857500"/>
            <a:ext cx="1905000" cy="1905000"/>
          </a:xfrm>
          <a:prstGeom prst="ellipse">
            <a:avLst/>
          </a:prstGeom>
          <a:solidFill>
            <a:srgbClr val="D97757">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 name="Google Shape;78;p3"/>
          <p:cNvPicPr preferRelativeResize="0"/>
          <p:nvPr/>
        </p:nvPicPr>
        <p:blipFill rotWithShape="1">
          <a:blip r:embed="rId3">
            <a:alphaModFix/>
          </a:blip>
          <a:srcRect b="0" l="0" r="0" t="0"/>
          <a:stretch/>
        </p:blipFill>
        <p:spPr>
          <a:xfrm>
            <a:off x="1743075" y="3333750"/>
            <a:ext cx="952500" cy="952500"/>
          </a:xfrm>
          <a:prstGeom prst="rect">
            <a:avLst/>
          </a:prstGeom>
          <a:noFill/>
          <a:ln>
            <a:noFill/>
          </a:ln>
        </p:spPr>
      </p:pic>
      <p:sp>
        <p:nvSpPr>
          <p:cNvPr id="79" name="Google Shape;79;p3"/>
          <p:cNvSpPr/>
          <p:nvPr/>
        </p:nvSpPr>
        <p:spPr>
          <a:xfrm>
            <a:off x="1266825" y="5334000"/>
            <a:ext cx="14668500" cy="1012924"/>
          </a:xfrm>
          <a:prstGeom prst="rect">
            <a:avLst/>
          </a:prstGeom>
          <a:noFill/>
          <a:ln>
            <a:noFill/>
          </a:ln>
        </p:spPr>
        <p:txBody>
          <a:bodyPr anchorCtr="0" anchor="t" bIns="25400" lIns="25400" spcFirstLastPara="1" rIns="25400" wrap="square" tIns="25400">
            <a:noAutofit/>
          </a:bodyPr>
          <a:lstStyle/>
          <a:p>
            <a:pPr indent="0" lvl="0" marL="0" marR="0" rtl="0" algn="l">
              <a:lnSpc>
                <a:spcPct val="95654"/>
              </a:lnSpc>
              <a:spcBef>
                <a:spcPts val="0"/>
              </a:spcBef>
              <a:spcAft>
                <a:spcPts val="0"/>
              </a:spcAft>
              <a:buClr>
                <a:srgbClr val="274D71"/>
              </a:buClr>
              <a:buSzPts val="6675"/>
              <a:buFont typeface="Gabarito"/>
              <a:buNone/>
            </a:pPr>
            <a:r>
              <a:rPr b="1" i="0" lang="en-US" sz="6675" u="none" cap="none" strike="noStrike">
                <a:solidFill>
                  <a:srgbClr val="274D71"/>
                </a:solidFill>
                <a:latin typeface="Gabarito"/>
                <a:ea typeface="Gabarito"/>
                <a:cs typeface="Gabarito"/>
                <a:sym typeface="Gabarito"/>
              </a:rPr>
              <a:t>RAG Architecture Overview</a:t>
            </a:r>
            <a:endParaRPr b="0" i="0" sz="6675" u="none" cap="none" strike="noStrike">
              <a:solidFill>
                <a:schemeClr val="dk1"/>
              </a:solidFill>
              <a:latin typeface="Calibri"/>
              <a:ea typeface="Calibri"/>
              <a:cs typeface="Calibri"/>
              <a:sym typeface="Calibri"/>
            </a:endParaRPr>
          </a:p>
        </p:txBody>
      </p:sp>
      <p:sp>
        <p:nvSpPr>
          <p:cNvPr id="80" name="Google Shape;80;p3"/>
          <p:cNvSpPr/>
          <p:nvPr/>
        </p:nvSpPr>
        <p:spPr>
          <a:xfrm>
            <a:off x="1266825" y="6452075"/>
            <a:ext cx="12399600" cy="1276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4050"/>
              <a:buFont typeface="Gabarito"/>
              <a:buNone/>
            </a:pPr>
            <a:r>
              <a:rPr b="0" i="0" lang="en-US" sz="3800" u="none" cap="none" strike="noStrike">
                <a:solidFill>
                  <a:srgbClr val="78746A"/>
                </a:solidFill>
                <a:latin typeface="Gabarito"/>
                <a:ea typeface="Gabarito"/>
                <a:cs typeface="Gabarito"/>
                <a:sym typeface="Gabarito"/>
              </a:rPr>
              <a:t>What RAG is, why we use it, and how it develops from basic RAG to agentic RAG. </a:t>
            </a:r>
            <a:endParaRPr b="0" i="0" sz="3800" u="none" cap="none" strike="noStrike">
              <a:solidFill>
                <a:schemeClr val="dk1"/>
              </a:solidFill>
              <a:latin typeface="Calibri"/>
              <a:ea typeface="Calibri"/>
              <a:cs typeface="Calibri"/>
              <a:sym typeface="Calibri"/>
            </a:endParaRPr>
          </a:p>
        </p:txBody>
      </p:sp>
      <p:sp>
        <p:nvSpPr>
          <p:cNvPr id="81" name="Google Shape;81;p3"/>
          <p:cNvSpPr/>
          <p:nvPr/>
        </p:nvSpPr>
        <p:spPr>
          <a:xfrm>
            <a:off x="1266825" y="9086850"/>
            <a:ext cx="990600" cy="9525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pic>
        <p:nvPicPr>
          <p:cNvPr descr="preencoded.png" id="87" name="Google Shape;87;p4"/>
          <p:cNvPicPr preferRelativeResize="0"/>
          <p:nvPr/>
        </p:nvPicPr>
        <p:blipFill rotWithShape="1">
          <a:blip r:embed="rId3">
            <a:alphaModFix/>
          </a:blip>
          <a:srcRect b="0" l="0" r="0" t="0"/>
          <a:stretch/>
        </p:blipFill>
        <p:spPr>
          <a:xfrm>
            <a:off x="16202025" y="533400"/>
            <a:ext cx="1066800" cy="1304181"/>
          </a:xfrm>
          <a:prstGeom prst="rect">
            <a:avLst/>
          </a:prstGeom>
          <a:noFill/>
          <a:ln>
            <a:noFill/>
          </a:ln>
        </p:spPr>
      </p:pic>
      <p:sp>
        <p:nvSpPr>
          <p:cNvPr id="88" name="Google Shape;88;p4"/>
          <p:cNvSpPr/>
          <p:nvPr/>
        </p:nvSpPr>
        <p:spPr>
          <a:xfrm>
            <a:off x="1047750" y="666750"/>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775"/>
              <a:buFont typeface="Gabarito"/>
              <a:buNone/>
            </a:pPr>
            <a:r>
              <a:rPr b="1" i="0" lang="en-US" sz="2775" u="none" cap="none" strike="noStrike">
                <a:solidFill>
                  <a:srgbClr val="FF9900"/>
                </a:solidFill>
                <a:latin typeface="Gabarito"/>
                <a:ea typeface="Gabarito"/>
                <a:cs typeface="Gabarito"/>
                <a:sym typeface="Gabarito"/>
              </a:rPr>
              <a:t>Definition</a:t>
            </a:r>
            <a:endParaRPr b="0" i="0" sz="2775" u="none" cap="none" strike="noStrike">
              <a:solidFill>
                <a:schemeClr val="dk1"/>
              </a:solidFill>
              <a:latin typeface="Calibri"/>
              <a:ea typeface="Calibri"/>
              <a:cs typeface="Calibri"/>
              <a:sym typeface="Calibri"/>
            </a:endParaRPr>
          </a:p>
        </p:txBody>
      </p:sp>
      <p:sp>
        <p:nvSpPr>
          <p:cNvPr id="89" name="Google Shape;89;p4"/>
          <p:cNvSpPr/>
          <p:nvPr/>
        </p:nvSpPr>
        <p:spPr>
          <a:xfrm>
            <a:off x="1047750" y="1152525"/>
            <a:ext cx="17811750" cy="9429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5925"/>
              <a:buFont typeface="Gabarito"/>
              <a:buNone/>
            </a:pPr>
            <a:r>
              <a:rPr b="1" i="0" lang="en-US" sz="6000" u="none" cap="none" strike="noStrike">
                <a:solidFill>
                  <a:srgbClr val="274D71"/>
                </a:solidFill>
                <a:latin typeface="Gabarito"/>
                <a:ea typeface="Gabarito"/>
                <a:cs typeface="Gabarito"/>
                <a:sym typeface="Gabarito"/>
              </a:rPr>
              <a:t>What Is RAG?</a:t>
            </a:r>
            <a:endParaRPr b="0" i="0" sz="6000" u="none" cap="none" strike="noStrike">
              <a:solidFill>
                <a:schemeClr val="dk1"/>
              </a:solidFill>
              <a:latin typeface="Calibri"/>
              <a:ea typeface="Calibri"/>
              <a:cs typeface="Calibri"/>
              <a:sym typeface="Calibri"/>
            </a:endParaRPr>
          </a:p>
        </p:txBody>
      </p:sp>
      <p:sp>
        <p:nvSpPr>
          <p:cNvPr id="90" name="Google Shape;90;p4"/>
          <p:cNvSpPr/>
          <p:nvPr/>
        </p:nvSpPr>
        <p:spPr>
          <a:xfrm>
            <a:off x="1047751" y="2247900"/>
            <a:ext cx="16278300" cy="1465064"/>
          </a:xfrm>
          <a:prstGeom prst="rect">
            <a:avLst/>
          </a:prstGeom>
          <a:noFill/>
          <a:ln>
            <a:noFill/>
          </a:ln>
        </p:spPr>
        <p:txBody>
          <a:bodyPr anchorCtr="0" anchor="t" bIns="25400" lIns="25400" spcFirstLastPara="1" rIns="25400" wrap="square" tIns="25400">
            <a:noAutofit/>
          </a:bodyPr>
          <a:lstStyle/>
          <a:p>
            <a:pPr indent="0" lvl="0" marL="0" marR="0" rtl="0" algn="l">
              <a:lnSpc>
                <a:spcPct val="111000"/>
              </a:lnSpc>
              <a:spcBef>
                <a:spcPts val="0"/>
              </a:spcBef>
              <a:spcAft>
                <a:spcPts val="0"/>
              </a:spcAft>
              <a:buClr>
                <a:srgbClr val="212121"/>
              </a:buClr>
              <a:buSzPts val="2775"/>
              <a:buFont typeface="Gabarito"/>
              <a:buNone/>
            </a:pPr>
            <a:r>
              <a:rPr b="1" i="0" lang="en-US" sz="3000" u="none" cap="none" strike="noStrike">
                <a:solidFill>
                  <a:srgbClr val="1E4E79"/>
                </a:solidFill>
                <a:latin typeface="Gabarito"/>
                <a:ea typeface="Gabarito"/>
                <a:cs typeface="Gabarito"/>
                <a:sym typeface="Gabarito"/>
              </a:rPr>
              <a:t>Retrieval-Augmented Generation </a:t>
            </a:r>
            <a:r>
              <a:rPr b="0" i="0" lang="en-US" sz="3000" u="none" cap="none" strike="noStrike">
                <a:solidFill>
                  <a:srgbClr val="212121"/>
                </a:solidFill>
                <a:latin typeface="Gabarito"/>
                <a:ea typeface="Gabarito"/>
                <a:cs typeface="Gabarito"/>
                <a:sym typeface="Gabarito"/>
              </a:rPr>
              <a:t>is an architecture that connects a </a:t>
            </a:r>
            <a:r>
              <a:rPr b="1" i="0" lang="en-US" sz="3000" u="none" cap="none" strike="noStrike">
                <a:solidFill>
                  <a:srgbClr val="FF9900"/>
                </a:solidFill>
                <a:latin typeface="Gabarito"/>
                <a:ea typeface="Gabarito"/>
                <a:cs typeface="Gabarito"/>
                <a:sym typeface="Gabarito"/>
              </a:rPr>
              <a:t>language model </a:t>
            </a:r>
            <a:r>
              <a:rPr b="0" i="0" lang="en-US" sz="3000" u="none" cap="none" strike="noStrike">
                <a:solidFill>
                  <a:srgbClr val="212121"/>
                </a:solidFill>
                <a:latin typeface="Gabarito"/>
                <a:ea typeface="Gabarito"/>
                <a:cs typeface="Gabarito"/>
                <a:sym typeface="Gabarito"/>
              </a:rPr>
              <a:t>to an </a:t>
            </a:r>
            <a:r>
              <a:rPr b="1" i="0" lang="en-US" sz="3000" u="none" cap="none" strike="noStrike">
                <a:solidFill>
                  <a:srgbClr val="FF9900"/>
                </a:solidFill>
                <a:latin typeface="Gabarito"/>
                <a:ea typeface="Gabarito"/>
                <a:cs typeface="Gabarito"/>
                <a:sym typeface="Gabarito"/>
              </a:rPr>
              <a:t>external knowledge base</a:t>
            </a:r>
            <a:r>
              <a:rPr b="0" i="0" lang="en-US" sz="3000" u="none" cap="none" strike="noStrike">
                <a:solidFill>
                  <a:srgbClr val="212121"/>
                </a:solidFill>
                <a:latin typeface="Gabarito"/>
                <a:ea typeface="Gabarito"/>
                <a:cs typeface="Gabarito"/>
                <a:sym typeface="Gabarito"/>
              </a:rPr>
              <a:t>, so it can </a:t>
            </a:r>
            <a:r>
              <a:rPr lang="en-US" sz="3000">
                <a:solidFill>
                  <a:srgbClr val="212121"/>
                </a:solidFill>
                <a:latin typeface="Gabarito"/>
                <a:ea typeface="Gabarito"/>
                <a:cs typeface="Gabarito"/>
                <a:sym typeface="Gabarito"/>
              </a:rPr>
              <a:t>retrieve</a:t>
            </a:r>
            <a:r>
              <a:rPr lang="en-US" sz="3000">
                <a:solidFill>
                  <a:srgbClr val="212121"/>
                </a:solidFill>
                <a:latin typeface="Gabarito"/>
                <a:ea typeface="Gabarito"/>
                <a:cs typeface="Gabarito"/>
                <a:sym typeface="Gabarito"/>
              </a:rPr>
              <a:t> </a:t>
            </a:r>
            <a:r>
              <a:rPr lang="en-US" sz="3000">
                <a:solidFill>
                  <a:srgbClr val="212121"/>
                </a:solidFill>
                <a:latin typeface="Gabarito"/>
                <a:ea typeface="Gabarito"/>
                <a:cs typeface="Gabarito"/>
                <a:sym typeface="Gabarito"/>
              </a:rPr>
              <a:t>relevant</a:t>
            </a:r>
            <a:r>
              <a:rPr lang="en-US" sz="3000">
                <a:solidFill>
                  <a:srgbClr val="212121"/>
                </a:solidFill>
                <a:latin typeface="Gabarito"/>
                <a:ea typeface="Gabarito"/>
                <a:cs typeface="Gabarito"/>
                <a:sym typeface="Gabarito"/>
              </a:rPr>
              <a:t> information</a:t>
            </a:r>
            <a:r>
              <a:rPr b="0" i="0" lang="en-US" sz="3000" u="none" cap="none" strike="noStrike">
                <a:solidFill>
                  <a:srgbClr val="212121"/>
                </a:solidFill>
                <a:latin typeface="Gabarito"/>
                <a:ea typeface="Gabarito"/>
                <a:cs typeface="Gabarito"/>
                <a:sym typeface="Gabarito"/>
              </a:rPr>
              <a:t> before answering - </a:t>
            </a:r>
            <a:r>
              <a:rPr lang="en-US" sz="3000">
                <a:solidFill>
                  <a:srgbClr val="212121"/>
                </a:solidFill>
                <a:latin typeface="Gabarito"/>
                <a:ea typeface="Gabarito"/>
                <a:cs typeface="Gabarito"/>
                <a:sym typeface="Gabarito"/>
              </a:rPr>
              <a:t>rather relying </a:t>
            </a:r>
            <a:r>
              <a:rPr lang="en-US" sz="3000">
                <a:solidFill>
                  <a:srgbClr val="212121"/>
                </a:solidFill>
                <a:latin typeface="Gabarito"/>
                <a:ea typeface="Gabarito"/>
                <a:cs typeface="Gabarito"/>
                <a:sym typeface="Gabarito"/>
              </a:rPr>
              <a:t>solely</a:t>
            </a:r>
            <a:r>
              <a:rPr lang="en-US" sz="3000">
                <a:solidFill>
                  <a:srgbClr val="212121"/>
                </a:solidFill>
                <a:latin typeface="Gabarito"/>
                <a:ea typeface="Gabarito"/>
                <a:cs typeface="Gabarito"/>
                <a:sym typeface="Gabarito"/>
              </a:rPr>
              <a:t> on its trained data</a:t>
            </a:r>
            <a:endParaRPr b="0" i="0" sz="3000" u="none" cap="none" strike="noStrike">
              <a:solidFill>
                <a:schemeClr val="dk1"/>
              </a:solidFill>
              <a:latin typeface="Calibri"/>
              <a:ea typeface="Calibri"/>
              <a:cs typeface="Calibri"/>
              <a:sym typeface="Calibri"/>
            </a:endParaRPr>
          </a:p>
        </p:txBody>
      </p:sp>
      <p:sp>
        <p:nvSpPr>
          <p:cNvPr id="91" name="Google Shape;91;p4"/>
          <p:cNvSpPr/>
          <p:nvPr/>
        </p:nvSpPr>
        <p:spPr>
          <a:xfrm>
            <a:off x="1047750" y="4123289"/>
            <a:ext cx="7220100" cy="5011186"/>
          </a:xfrm>
          <a:prstGeom prst="roundRect">
            <a:avLst>
              <a:gd fmla="val 3733" name="adj"/>
            </a:avLst>
          </a:prstGeom>
          <a:solidFill>
            <a:srgbClr val="FAF9F5"/>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
          <p:cNvSpPr/>
          <p:nvPr/>
        </p:nvSpPr>
        <p:spPr>
          <a:xfrm>
            <a:off x="1022033" y="4389989"/>
            <a:ext cx="72714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5B5B5B"/>
              </a:buClr>
              <a:buSzPts val="2325"/>
              <a:buFont typeface="Gabarito"/>
              <a:buNone/>
            </a:pPr>
            <a:r>
              <a:rPr b="1" i="0" lang="en-US" sz="2325" u="none" cap="none" strike="noStrike">
                <a:solidFill>
                  <a:srgbClr val="5B5B5B"/>
                </a:solidFill>
                <a:latin typeface="Gabarito"/>
                <a:ea typeface="Gabarito"/>
                <a:cs typeface="Gabarito"/>
                <a:sym typeface="Gabarito"/>
              </a:rPr>
              <a:t>PLAIN LLM — answers from memory</a:t>
            </a:r>
            <a:endParaRPr b="0" i="0" sz="2325" u="none" cap="none" strike="noStrike">
              <a:solidFill>
                <a:schemeClr val="dk1"/>
              </a:solidFill>
              <a:latin typeface="Calibri"/>
              <a:ea typeface="Calibri"/>
              <a:cs typeface="Calibri"/>
              <a:sym typeface="Calibri"/>
            </a:endParaRPr>
          </a:p>
        </p:txBody>
      </p:sp>
      <p:sp>
        <p:nvSpPr>
          <p:cNvPr id="93" name="Google Shape;93;p4"/>
          <p:cNvSpPr/>
          <p:nvPr/>
        </p:nvSpPr>
        <p:spPr>
          <a:xfrm>
            <a:off x="1885950" y="5309152"/>
            <a:ext cx="743100" cy="743100"/>
          </a:xfrm>
          <a:prstGeom prst="roundRect">
            <a:avLst>
              <a:gd fmla="val 20513" name="adj"/>
            </a:avLst>
          </a:prstGeom>
          <a:solidFill>
            <a:srgbClr val="5E7488">
              <a:alpha val="10196"/>
            </a:srgbClr>
          </a:solidFill>
          <a:ln cap="flat" cmpd="sng" w="19050">
            <a:solidFill>
              <a:srgbClr val="5E7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4" name="Google Shape;94;p4"/>
          <p:cNvPicPr preferRelativeResize="0"/>
          <p:nvPr/>
        </p:nvPicPr>
        <p:blipFill rotWithShape="1">
          <a:blip r:embed="rId4">
            <a:alphaModFix/>
          </a:blip>
          <a:srcRect b="0" l="0" r="0" t="0"/>
          <a:stretch/>
        </p:blipFill>
        <p:spPr>
          <a:xfrm>
            <a:off x="2095500" y="5518702"/>
            <a:ext cx="323850" cy="323850"/>
          </a:xfrm>
          <a:prstGeom prst="rect">
            <a:avLst/>
          </a:prstGeom>
          <a:noFill/>
          <a:ln>
            <a:noFill/>
          </a:ln>
        </p:spPr>
      </p:pic>
      <p:sp>
        <p:nvSpPr>
          <p:cNvPr id="95" name="Google Shape;95;p4"/>
          <p:cNvSpPr/>
          <p:nvPr/>
        </p:nvSpPr>
        <p:spPr>
          <a:xfrm>
            <a:off x="1271074" y="6128302"/>
            <a:ext cx="1972500" cy="3954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User Question</a:t>
            </a:r>
            <a:endParaRPr b="0" i="0" sz="2250" u="none" cap="none" strike="noStrike">
              <a:solidFill>
                <a:schemeClr val="dk1"/>
              </a:solidFill>
              <a:latin typeface="Calibri"/>
              <a:ea typeface="Calibri"/>
              <a:cs typeface="Calibri"/>
              <a:sym typeface="Calibri"/>
            </a:endParaRPr>
          </a:p>
        </p:txBody>
      </p:sp>
      <p:sp>
        <p:nvSpPr>
          <p:cNvPr id="96" name="Google Shape;96;p4"/>
          <p:cNvSpPr/>
          <p:nvPr/>
        </p:nvSpPr>
        <p:spPr>
          <a:xfrm>
            <a:off x="3295650" y="6128302"/>
            <a:ext cx="4002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550"/>
              <a:buFont typeface="Gabarito"/>
              <a:buNone/>
            </a:pPr>
            <a:r>
              <a:rPr b="0" i="0" lang="en-US" sz="2550" u="none" cap="none" strike="noStrike">
                <a:solidFill>
                  <a:srgbClr val="78746A"/>
                </a:solidFill>
                <a:latin typeface="Gabarito"/>
                <a:ea typeface="Gabarito"/>
                <a:cs typeface="Gabarito"/>
                <a:sym typeface="Gabarito"/>
              </a:rPr>
              <a:t>→</a:t>
            </a:r>
            <a:endParaRPr b="0" i="0" sz="2550" u="none" cap="none" strike="noStrike">
              <a:solidFill>
                <a:schemeClr val="dk1"/>
              </a:solidFill>
              <a:latin typeface="Calibri"/>
              <a:ea typeface="Calibri"/>
              <a:cs typeface="Calibri"/>
              <a:sym typeface="Calibri"/>
            </a:endParaRPr>
          </a:p>
        </p:txBody>
      </p:sp>
      <p:sp>
        <p:nvSpPr>
          <p:cNvPr id="97" name="Google Shape;97;p4"/>
          <p:cNvSpPr/>
          <p:nvPr/>
        </p:nvSpPr>
        <p:spPr>
          <a:xfrm>
            <a:off x="4305300" y="5328052"/>
            <a:ext cx="705000" cy="705000"/>
          </a:xfrm>
          <a:prstGeom prst="roundRect">
            <a:avLst>
              <a:gd fmla="val 21622" name="adj"/>
            </a:avLst>
          </a:prstGeom>
          <a:solidFill>
            <a:srgbClr val="5E74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 name="Google Shape;98;p4"/>
          <p:cNvPicPr preferRelativeResize="0"/>
          <p:nvPr/>
        </p:nvPicPr>
        <p:blipFill rotWithShape="1">
          <a:blip r:embed="rId5">
            <a:alphaModFix/>
          </a:blip>
          <a:srcRect b="0" l="0" r="0" t="0"/>
          <a:stretch/>
        </p:blipFill>
        <p:spPr>
          <a:xfrm>
            <a:off x="4495800" y="5518552"/>
            <a:ext cx="323850" cy="323850"/>
          </a:xfrm>
          <a:prstGeom prst="rect">
            <a:avLst/>
          </a:prstGeom>
          <a:noFill/>
          <a:ln>
            <a:noFill/>
          </a:ln>
        </p:spPr>
      </p:pic>
      <p:sp>
        <p:nvSpPr>
          <p:cNvPr id="99" name="Google Shape;99;p4"/>
          <p:cNvSpPr/>
          <p:nvPr/>
        </p:nvSpPr>
        <p:spPr>
          <a:xfrm>
            <a:off x="3305599" y="6128302"/>
            <a:ext cx="2704402" cy="11097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LLM </a:t>
            </a:r>
            <a:endParaRPr/>
          </a:p>
          <a:p>
            <a:pPr indent="0" lvl="0" marL="0" marR="0" rtl="0" algn="ctr">
              <a:lnSpc>
                <a:spcPct val="104167"/>
              </a:lnSpc>
              <a:spcBef>
                <a:spcPts val="0"/>
              </a:spcBef>
              <a:spcAft>
                <a:spcPts val="0"/>
              </a:spcAft>
              <a:buClr>
                <a:srgbClr val="274D71"/>
              </a:buClr>
              <a:buSzPts val="2250"/>
              <a:buFont typeface="Gabarito"/>
              <a:buNone/>
            </a:pPr>
            <a:r>
              <a:rPr b="0" i="0" lang="en-US" sz="1800" u="none" cap="none" strike="noStrike">
                <a:solidFill>
                  <a:srgbClr val="78746A"/>
                </a:solidFill>
                <a:latin typeface="Gabarito"/>
                <a:ea typeface="Gabarito"/>
                <a:cs typeface="Gabarito"/>
                <a:sym typeface="Gabarito"/>
              </a:rPr>
              <a:t>(training data only)</a:t>
            </a:r>
            <a:endParaRPr b="0" i="0" sz="1800" u="none" cap="none" strike="noStrike">
              <a:solidFill>
                <a:schemeClr val="dk1"/>
              </a:solidFill>
              <a:latin typeface="Calibri"/>
              <a:ea typeface="Calibri"/>
              <a:cs typeface="Calibri"/>
              <a:sym typeface="Calibri"/>
            </a:endParaRPr>
          </a:p>
        </p:txBody>
      </p:sp>
      <p:sp>
        <p:nvSpPr>
          <p:cNvPr id="100" name="Google Shape;100;p4"/>
          <p:cNvSpPr/>
          <p:nvPr/>
        </p:nvSpPr>
        <p:spPr>
          <a:xfrm>
            <a:off x="5695950" y="6128302"/>
            <a:ext cx="4002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550"/>
              <a:buFont typeface="Gabarito"/>
              <a:buNone/>
            </a:pPr>
            <a:r>
              <a:rPr b="0" i="0" lang="en-US" sz="2550" u="none" cap="none" strike="noStrike">
                <a:solidFill>
                  <a:srgbClr val="78746A"/>
                </a:solidFill>
                <a:latin typeface="Gabarito"/>
                <a:ea typeface="Gabarito"/>
                <a:cs typeface="Gabarito"/>
                <a:sym typeface="Gabarito"/>
              </a:rPr>
              <a:t>→</a:t>
            </a:r>
            <a:endParaRPr b="0" i="0" sz="2550" u="none" cap="none" strike="noStrike">
              <a:solidFill>
                <a:schemeClr val="dk1"/>
              </a:solidFill>
              <a:latin typeface="Calibri"/>
              <a:ea typeface="Calibri"/>
              <a:cs typeface="Calibri"/>
              <a:sym typeface="Calibri"/>
            </a:endParaRPr>
          </a:p>
        </p:txBody>
      </p:sp>
      <p:sp>
        <p:nvSpPr>
          <p:cNvPr id="101" name="Google Shape;101;p4"/>
          <p:cNvSpPr/>
          <p:nvPr/>
        </p:nvSpPr>
        <p:spPr>
          <a:xfrm>
            <a:off x="6686550" y="5309002"/>
            <a:ext cx="743100" cy="743100"/>
          </a:xfrm>
          <a:prstGeom prst="roundRect">
            <a:avLst>
              <a:gd fmla="val 20513" name="adj"/>
            </a:avLst>
          </a:prstGeom>
          <a:solidFill>
            <a:srgbClr val="C15F3C">
              <a:alpha val="10196"/>
            </a:srgbClr>
          </a:solidFill>
          <a:ln cap="flat" cmpd="sng" w="19050">
            <a:solidFill>
              <a:srgbClr val="C15F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 name="Google Shape;102;p4"/>
          <p:cNvPicPr preferRelativeResize="0"/>
          <p:nvPr/>
        </p:nvPicPr>
        <p:blipFill rotWithShape="1">
          <a:blip r:embed="rId6">
            <a:alphaModFix/>
          </a:blip>
          <a:srcRect b="0" l="0" r="0" t="0"/>
          <a:stretch/>
        </p:blipFill>
        <p:spPr>
          <a:xfrm>
            <a:off x="6896100" y="5518552"/>
            <a:ext cx="323850" cy="323850"/>
          </a:xfrm>
          <a:prstGeom prst="rect">
            <a:avLst/>
          </a:prstGeom>
          <a:noFill/>
          <a:ln>
            <a:noFill/>
          </a:ln>
        </p:spPr>
      </p:pic>
      <p:sp>
        <p:nvSpPr>
          <p:cNvPr id="103" name="Google Shape;103;p4"/>
          <p:cNvSpPr/>
          <p:nvPr/>
        </p:nvSpPr>
        <p:spPr>
          <a:xfrm>
            <a:off x="6115050" y="6128302"/>
            <a:ext cx="1886100" cy="11097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Answer  </a:t>
            </a:r>
            <a:endParaRPr b="0" i="0" sz="2250" u="none" cap="none" strike="noStrike">
              <a:solidFill>
                <a:schemeClr val="dk1"/>
              </a:solidFill>
              <a:latin typeface="Calibri"/>
              <a:ea typeface="Calibri"/>
              <a:cs typeface="Calibri"/>
              <a:sym typeface="Calibri"/>
            </a:endParaRPr>
          </a:p>
        </p:txBody>
      </p:sp>
      <p:sp>
        <p:nvSpPr>
          <p:cNvPr id="104" name="Google Shape;104;p4"/>
          <p:cNvSpPr/>
          <p:nvPr/>
        </p:nvSpPr>
        <p:spPr>
          <a:xfrm>
            <a:off x="1352550" y="7333213"/>
            <a:ext cx="6610500" cy="1466999"/>
          </a:xfrm>
          <a:prstGeom prst="roundRect">
            <a:avLst>
              <a:gd fmla="val 10240" name="adj"/>
            </a:avLst>
          </a:prstGeom>
          <a:solidFill>
            <a:srgbClr val="5E7488">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
          <p:cNvSpPr/>
          <p:nvPr/>
        </p:nvSpPr>
        <p:spPr>
          <a:xfrm>
            <a:off x="1562100" y="7575239"/>
            <a:ext cx="6377100" cy="811500"/>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5B5B5B"/>
              </a:buClr>
              <a:buSzPts val="2175"/>
              <a:buFont typeface="Gabarito"/>
              <a:buNone/>
            </a:pPr>
            <a:r>
              <a:rPr lang="en-US" sz="1800">
                <a:solidFill>
                  <a:srgbClr val="5B5B5B"/>
                </a:solidFill>
                <a:latin typeface="Gabarito"/>
                <a:ea typeface="Gabarito"/>
                <a:cs typeface="Gabarito"/>
                <a:sym typeface="Gabarito"/>
              </a:rPr>
              <a:t>Can search the web, but cannot access private or internal information that isn’t publicly available or connected. </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8515350" y="4123289"/>
            <a:ext cx="8810700" cy="5011186"/>
          </a:xfrm>
          <a:prstGeom prst="roundRect">
            <a:avLst>
              <a:gd fmla="val 3733" name="adj"/>
            </a:avLst>
          </a:prstGeom>
          <a:solidFill>
            <a:srgbClr val="FF9900">
              <a:alpha val="3137"/>
            </a:srgbClr>
          </a:solidFill>
          <a:ln cap="flat" cmpd="sng" w="19050">
            <a:solidFill>
              <a:srgbClr val="F4D19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8410099" y="4389989"/>
            <a:ext cx="90210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FF9900"/>
              </a:buClr>
              <a:buSzPts val="2325"/>
              <a:buFont typeface="Gabarito"/>
              <a:buNone/>
            </a:pPr>
            <a:r>
              <a:rPr b="1" i="0" lang="en-US" sz="2325" u="none" cap="none" strike="noStrike">
                <a:solidFill>
                  <a:srgbClr val="FF9900"/>
                </a:solidFill>
                <a:latin typeface="Gabarito"/>
                <a:ea typeface="Gabarito"/>
                <a:cs typeface="Gabarito"/>
                <a:sym typeface="Gabarito"/>
              </a:rPr>
              <a:t>RAG — answers from lookup</a:t>
            </a:r>
            <a:endParaRPr b="0" i="0" sz="2325" u="none" cap="none" strike="noStrike">
              <a:solidFill>
                <a:schemeClr val="dk1"/>
              </a:solidFill>
              <a:latin typeface="Calibri"/>
              <a:ea typeface="Calibri"/>
              <a:cs typeface="Calibri"/>
              <a:sym typeface="Calibri"/>
            </a:endParaRPr>
          </a:p>
        </p:txBody>
      </p:sp>
      <p:sp>
        <p:nvSpPr>
          <p:cNvPr id="108" name="Google Shape;108;p4"/>
          <p:cNvSpPr/>
          <p:nvPr/>
        </p:nvSpPr>
        <p:spPr>
          <a:xfrm>
            <a:off x="9344025" y="5309152"/>
            <a:ext cx="666900" cy="666900"/>
          </a:xfrm>
          <a:prstGeom prst="roundRect">
            <a:avLst>
              <a:gd fmla="val 22857" name="adj"/>
            </a:avLst>
          </a:prstGeom>
          <a:solidFill>
            <a:srgbClr val="FF9900">
              <a:alpha val="12157"/>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 name="Google Shape;109;p4"/>
          <p:cNvPicPr preferRelativeResize="0"/>
          <p:nvPr/>
        </p:nvPicPr>
        <p:blipFill rotWithShape="1">
          <a:blip r:embed="rId7">
            <a:alphaModFix/>
          </a:blip>
          <a:srcRect b="0" l="0" r="0" t="0"/>
          <a:stretch/>
        </p:blipFill>
        <p:spPr>
          <a:xfrm>
            <a:off x="9534525" y="5499652"/>
            <a:ext cx="285750" cy="285750"/>
          </a:xfrm>
          <a:prstGeom prst="rect">
            <a:avLst/>
          </a:prstGeom>
          <a:noFill/>
          <a:ln>
            <a:noFill/>
          </a:ln>
        </p:spPr>
      </p:pic>
      <p:sp>
        <p:nvSpPr>
          <p:cNvPr id="110" name="Google Shape;110;p4"/>
          <p:cNvSpPr/>
          <p:nvPr/>
        </p:nvSpPr>
        <p:spPr>
          <a:xfrm>
            <a:off x="8782050" y="6122504"/>
            <a:ext cx="1790700" cy="7524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User Question</a:t>
            </a:r>
            <a:endParaRPr b="0" i="0" sz="2250" u="none" cap="none" strike="noStrike">
              <a:solidFill>
                <a:schemeClr val="dk1"/>
              </a:solidFill>
              <a:latin typeface="Calibri"/>
              <a:ea typeface="Calibri"/>
              <a:cs typeface="Calibri"/>
              <a:sym typeface="Calibri"/>
            </a:endParaRPr>
          </a:p>
        </p:txBody>
      </p:sp>
      <p:sp>
        <p:nvSpPr>
          <p:cNvPr id="111" name="Google Shape;111;p4"/>
          <p:cNvSpPr/>
          <p:nvPr/>
        </p:nvSpPr>
        <p:spPr>
          <a:xfrm>
            <a:off x="10610850" y="6122504"/>
            <a:ext cx="371400" cy="390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325"/>
              <a:buFont typeface="Gabarito"/>
              <a:buNone/>
            </a:pPr>
            <a:r>
              <a:rPr b="0" i="0" lang="en-US" sz="2325" u="none" cap="none" strike="noStrike">
                <a:solidFill>
                  <a:srgbClr val="78746A"/>
                </a:solidFill>
                <a:latin typeface="Gabarito"/>
                <a:ea typeface="Gabarito"/>
                <a:cs typeface="Gabarito"/>
                <a:sym typeface="Gabarito"/>
              </a:rPr>
              <a:t>→</a:t>
            </a:r>
            <a:endParaRPr b="0" i="0" sz="2325" u="none" cap="none" strike="noStrike">
              <a:solidFill>
                <a:schemeClr val="dk1"/>
              </a:solidFill>
              <a:latin typeface="Calibri"/>
              <a:ea typeface="Calibri"/>
              <a:cs typeface="Calibri"/>
              <a:sym typeface="Calibri"/>
            </a:endParaRPr>
          </a:p>
        </p:txBody>
      </p:sp>
      <p:sp>
        <p:nvSpPr>
          <p:cNvPr id="112" name="Google Shape;112;p4"/>
          <p:cNvSpPr/>
          <p:nvPr/>
        </p:nvSpPr>
        <p:spPr>
          <a:xfrm>
            <a:off x="11506200" y="5322254"/>
            <a:ext cx="666900" cy="666900"/>
          </a:xfrm>
          <a:prstGeom prst="roundRect">
            <a:avLst>
              <a:gd fmla="val 22857" name="adj"/>
            </a:avLst>
          </a:prstGeom>
          <a:solidFill>
            <a:srgbClr val="FF9900">
              <a:alpha val="12157"/>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 name="Google Shape;113;p4"/>
          <p:cNvPicPr preferRelativeResize="0"/>
          <p:nvPr/>
        </p:nvPicPr>
        <p:blipFill rotWithShape="1">
          <a:blip r:embed="rId8">
            <a:alphaModFix/>
          </a:blip>
          <a:srcRect b="0" l="0" r="0" t="0"/>
          <a:stretch/>
        </p:blipFill>
        <p:spPr>
          <a:xfrm>
            <a:off x="11696700" y="5512754"/>
            <a:ext cx="285750" cy="285750"/>
          </a:xfrm>
          <a:prstGeom prst="rect">
            <a:avLst/>
          </a:prstGeom>
          <a:noFill/>
          <a:ln>
            <a:noFill/>
          </a:ln>
        </p:spPr>
      </p:pic>
      <p:sp>
        <p:nvSpPr>
          <p:cNvPr id="114" name="Google Shape;114;p4"/>
          <p:cNvSpPr/>
          <p:nvPr/>
        </p:nvSpPr>
        <p:spPr>
          <a:xfrm>
            <a:off x="10677799" y="6122504"/>
            <a:ext cx="2323552" cy="14670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Retriever </a:t>
            </a:r>
            <a:endParaRPr/>
          </a:p>
          <a:p>
            <a:pPr indent="0" lvl="0" marL="0" marR="0" rtl="0" algn="ctr">
              <a:lnSpc>
                <a:spcPct val="104167"/>
              </a:lnSpc>
              <a:spcBef>
                <a:spcPts val="0"/>
              </a:spcBef>
              <a:spcAft>
                <a:spcPts val="0"/>
              </a:spcAft>
              <a:buClr>
                <a:srgbClr val="274D71"/>
              </a:buClr>
              <a:buSzPts val="2250"/>
              <a:buFont typeface="Gabarito"/>
              <a:buNone/>
            </a:pPr>
            <a:r>
              <a:rPr b="0" i="0" lang="en-US" sz="1800" u="none" cap="none" strike="noStrike">
                <a:solidFill>
                  <a:srgbClr val="78746A"/>
                </a:solidFill>
                <a:latin typeface="Gabarito"/>
                <a:ea typeface="Gabarito"/>
                <a:cs typeface="Gabarito"/>
                <a:sym typeface="Gabarito"/>
              </a:rPr>
              <a:t>searches knowledge base</a:t>
            </a:r>
            <a:endParaRPr b="0" i="0" sz="1800" u="none" cap="none" strike="noStrike">
              <a:solidFill>
                <a:schemeClr val="dk1"/>
              </a:solidFill>
              <a:latin typeface="Calibri"/>
              <a:ea typeface="Calibri"/>
              <a:cs typeface="Calibri"/>
              <a:sym typeface="Calibri"/>
            </a:endParaRPr>
          </a:p>
        </p:txBody>
      </p:sp>
      <p:sp>
        <p:nvSpPr>
          <p:cNvPr id="115" name="Google Shape;115;p4"/>
          <p:cNvSpPr/>
          <p:nvPr/>
        </p:nvSpPr>
        <p:spPr>
          <a:xfrm>
            <a:off x="12773025" y="6122504"/>
            <a:ext cx="371400" cy="390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325"/>
              <a:buFont typeface="Gabarito"/>
              <a:buNone/>
            </a:pPr>
            <a:r>
              <a:rPr b="0" i="0" lang="en-US" sz="2325" u="none" cap="none" strike="noStrike">
                <a:solidFill>
                  <a:srgbClr val="78746A"/>
                </a:solidFill>
                <a:latin typeface="Gabarito"/>
                <a:ea typeface="Gabarito"/>
                <a:cs typeface="Gabarito"/>
                <a:sym typeface="Gabarito"/>
              </a:rPr>
              <a:t>→</a:t>
            </a:r>
            <a:endParaRPr b="0" i="0" sz="2325" u="none" cap="none" strike="noStrike">
              <a:solidFill>
                <a:schemeClr val="dk1"/>
              </a:solidFill>
              <a:latin typeface="Calibri"/>
              <a:ea typeface="Calibri"/>
              <a:cs typeface="Calibri"/>
              <a:sym typeface="Calibri"/>
            </a:endParaRPr>
          </a:p>
        </p:txBody>
      </p:sp>
      <p:sp>
        <p:nvSpPr>
          <p:cNvPr id="116" name="Google Shape;116;p4"/>
          <p:cNvSpPr/>
          <p:nvPr/>
        </p:nvSpPr>
        <p:spPr>
          <a:xfrm>
            <a:off x="13687425" y="5322254"/>
            <a:ext cx="628800" cy="628800"/>
          </a:xfrm>
          <a:prstGeom prst="roundRect">
            <a:avLst>
              <a:gd fmla="val 24242"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 name="Google Shape;117;p4"/>
          <p:cNvPicPr preferRelativeResize="0"/>
          <p:nvPr/>
        </p:nvPicPr>
        <p:blipFill rotWithShape="1">
          <a:blip r:embed="rId9">
            <a:alphaModFix/>
          </a:blip>
          <a:srcRect b="0" l="0" r="0" t="0"/>
          <a:stretch/>
        </p:blipFill>
        <p:spPr>
          <a:xfrm>
            <a:off x="13858875" y="5493704"/>
            <a:ext cx="285750" cy="285750"/>
          </a:xfrm>
          <a:prstGeom prst="rect">
            <a:avLst/>
          </a:prstGeom>
          <a:noFill/>
          <a:ln>
            <a:noFill/>
          </a:ln>
        </p:spPr>
      </p:pic>
      <p:sp>
        <p:nvSpPr>
          <p:cNvPr id="118" name="Google Shape;118;p4"/>
          <p:cNvSpPr/>
          <p:nvPr/>
        </p:nvSpPr>
        <p:spPr>
          <a:xfrm>
            <a:off x="12734925" y="6122504"/>
            <a:ext cx="2533650" cy="11097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LLM </a:t>
            </a:r>
            <a:endParaRPr/>
          </a:p>
          <a:p>
            <a:pPr indent="0" lvl="0" marL="0" marR="0" rtl="0" algn="ctr">
              <a:lnSpc>
                <a:spcPct val="104167"/>
              </a:lnSpc>
              <a:spcBef>
                <a:spcPts val="0"/>
              </a:spcBef>
              <a:spcAft>
                <a:spcPts val="0"/>
              </a:spcAft>
              <a:buClr>
                <a:srgbClr val="274D71"/>
              </a:buClr>
              <a:buSzPts val="2250"/>
              <a:buFont typeface="Gabarito"/>
              <a:buNone/>
            </a:pPr>
            <a:r>
              <a:rPr b="0" i="0" lang="en-US" sz="1800" u="none" cap="none" strike="noStrike">
                <a:solidFill>
                  <a:srgbClr val="78746A"/>
                </a:solidFill>
                <a:latin typeface="Gabarito"/>
                <a:ea typeface="Gabarito"/>
                <a:cs typeface="Gabarito"/>
                <a:sym typeface="Gabarito"/>
              </a:rPr>
              <a:t>Question</a:t>
            </a:r>
            <a:endParaRPr/>
          </a:p>
          <a:p>
            <a:pPr indent="0" lvl="0" marL="0" marR="0" rtl="0" algn="ctr">
              <a:lnSpc>
                <a:spcPct val="104167"/>
              </a:lnSpc>
              <a:spcBef>
                <a:spcPts val="0"/>
              </a:spcBef>
              <a:spcAft>
                <a:spcPts val="0"/>
              </a:spcAft>
              <a:buClr>
                <a:srgbClr val="274D71"/>
              </a:buClr>
              <a:buSzPts val="2250"/>
              <a:buFont typeface="Gabarito"/>
              <a:buNone/>
            </a:pPr>
            <a:r>
              <a:rPr b="0" i="0" lang="en-US" sz="1800" u="none" cap="none" strike="noStrike">
                <a:solidFill>
                  <a:srgbClr val="78746A"/>
                </a:solidFill>
                <a:latin typeface="Gabarito"/>
                <a:ea typeface="Gabarito"/>
                <a:cs typeface="Gabarito"/>
                <a:sym typeface="Gabarito"/>
              </a:rPr>
              <a:t>+ retrieved text</a:t>
            </a:r>
            <a:endParaRPr b="0" i="0" sz="1800" u="none" cap="none" strike="noStrike">
              <a:solidFill>
                <a:schemeClr val="dk1"/>
              </a:solidFill>
              <a:latin typeface="Calibri"/>
              <a:ea typeface="Calibri"/>
              <a:cs typeface="Calibri"/>
              <a:sym typeface="Calibri"/>
            </a:endParaRPr>
          </a:p>
        </p:txBody>
      </p:sp>
      <p:sp>
        <p:nvSpPr>
          <p:cNvPr id="119" name="Google Shape;119;p4"/>
          <p:cNvSpPr/>
          <p:nvPr/>
        </p:nvSpPr>
        <p:spPr>
          <a:xfrm>
            <a:off x="14935200" y="6122504"/>
            <a:ext cx="371400" cy="390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325"/>
              <a:buFont typeface="Gabarito"/>
              <a:buNone/>
            </a:pPr>
            <a:r>
              <a:rPr b="0" i="0" lang="en-US" sz="2325" u="none" cap="none" strike="noStrike">
                <a:solidFill>
                  <a:srgbClr val="78746A"/>
                </a:solidFill>
                <a:latin typeface="Gabarito"/>
                <a:ea typeface="Gabarito"/>
                <a:cs typeface="Gabarito"/>
                <a:sym typeface="Gabarito"/>
              </a:rPr>
              <a:t>→</a:t>
            </a:r>
            <a:endParaRPr b="0" i="0" sz="2325" u="none" cap="none" strike="noStrike">
              <a:solidFill>
                <a:schemeClr val="dk1"/>
              </a:solidFill>
              <a:latin typeface="Calibri"/>
              <a:ea typeface="Calibri"/>
              <a:cs typeface="Calibri"/>
              <a:sym typeface="Calibri"/>
            </a:endParaRPr>
          </a:p>
        </p:txBody>
      </p:sp>
      <p:sp>
        <p:nvSpPr>
          <p:cNvPr id="120" name="Google Shape;120;p4"/>
          <p:cNvSpPr/>
          <p:nvPr/>
        </p:nvSpPr>
        <p:spPr>
          <a:xfrm>
            <a:off x="15830550" y="5330744"/>
            <a:ext cx="666900" cy="666900"/>
          </a:xfrm>
          <a:prstGeom prst="roundRect">
            <a:avLst>
              <a:gd fmla="val 22857" name="adj"/>
            </a:avLst>
          </a:prstGeom>
          <a:solidFill>
            <a:srgbClr val="6E7D4C">
              <a:alpha val="14118"/>
            </a:srgbClr>
          </a:solidFill>
          <a:ln cap="flat" cmpd="sng" w="19050">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15268575" y="6122504"/>
            <a:ext cx="1790700" cy="752400"/>
          </a:xfrm>
          <a:prstGeom prst="rect">
            <a:avLst/>
          </a:prstGeom>
          <a:noFill/>
          <a:ln>
            <a:noFill/>
          </a:ln>
        </p:spPr>
        <p:txBody>
          <a:bodyPr anchorCtr="0" anchor="t" bIns="25400" lIns="25400" spcFirstLastPara="1" rIns="25400" wrap="square" tIns="25400">
            <a:noAutofit/>
          </a:bodyPr>
          <a:lstStyle/>
          <a:p>
            <a:pPr indent="0" lvl="0" marL="0" marR="0" rtl="0" algn="ctr">
              <a:lnSpc>
                <a:spcPct val="104167"/>
              </a:lnSpc>
              <a:spcBef>
                <a:spcPts val="0"/>
              </a:spcBef>
              <a:spcAft>
                <a:spcPts val="0"/>
              </a:spcAft>
              <a:buClr>
                <a:srgbClr val="274D71"/>
              </a:buClr>
              <a:buSzPts val="2250"/>
              <a:buFont typeface="Gabarito"/>
              <a:buNone/>
            </a:pPr>
            <a:r>
              <a:rPr b="1" i="0" lang="en-US" sz="2250" u="none" cap="none" strike="noStrike">
                <a:solidFill>
                  <a:srgbClr val="274D71"/>
                </a:solidFill>
                <a:latin typeface="Gabarito"/>
                <a:ea typeface="Gabarito"/>
                <a:cs typeface="Gabarito"/>
                <a:sym typeface="Gabarito"/>
              </a:rPr>
              <a:t>Answer</a:t>
            </a:r>
            <a:endParaRPr b="0" i="0" sz="2250" u="none" cap="none" strike="noStrike">
              <a:solidFill>
                <a:schemeClr val="dk1"/>
              </a:solidFill>
              <a:latin typeface="Calibri"/>
              <a:ea typeface="Calibri"/>
              <a:cs typeface="Calibri"/>
              <a:sym typeface="Calibri"/>
            </a:endParaRPr>
          </a:p>
        </p:txBody>
      </p:sp>
      <p:sp>
        <p:nvSpPr>
          <p:cNvPr id="122" name="Google Shape;122;p4"/>
          <p:cNvSpPr/>
          <p:nvPr/>
        </p:nvSpPr>
        <p:spPr>
          <a:xfrm>
            <a:off x="8820150" y="7333213"/>
            <a:ext cx="8201100" cy="1466999"/>
          </a:xfrm>
          <a:prstGeom prst="roundRect">
            <a:avLst>
              <a:gd fmla="val 10240" name="adj"/>
            </a:avLst>
          </a:prstGeom>
          <a:solidFill>
            <a:srgbClr val="FF9900">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9029700" y="7575239"/>
            <a:ext cx="7696200" cy="811500"/>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5B5B5B"/>
              </a:buClr>
              <a:buSzPts val="2175"/>
              <a:buFont typeface="Gabarito"/>
              <a:buNone/>
            </a:pPr>
            <a:r>
              <a:rPr b="0" i="0" lang="en-US" sz="1800" u="none" cap="none" strike="noStrike">
                <a:solidFill>
                  <a:srgbClr val="5B5B5B"/>
                </a:solidFill>
                <a:latin typeface="Gabarito"/>
                <a:ea typeface="Gabarito"/>
                <a:cs typeface="Gabarito"/>
                <a:sym typeface="Gabarito"/>
              </a:rPr>
              <a:t>Looks things up in real documents first, then answers from what it found — not just what it </a:t>
            </a:r>
            <a:r>
              <a:rPr lang="en-US" sz="1800">
                <a:solidFill>
                  <a:srgbClr val="5B5B5B"/>
                </a:solidFill>
                <a:latin typeface="Gabarito"/>
                <a:ea typeface="Gabarito"/>
                <a:cs typeface="Gabarito"/>
                <a:sym typeface="Gabarito"/>
              </a:rPr>
              <a:t>has learned</a:t>
            </a:r>
            <a:r>
              <a:rPr b="0" i="0" lang="en-US" sz="1800" u="none" cap="none" strike="noStrike">
                <a:solidFill>
                  <a:srgbClr val="5B5B5B"/>
                </a:solidFill>
                <a:latin typeface="Gabarito"/>
                <a:ea typeface="Gabarito"/>
                <a:cs typeface="Gabarito"/>
                <a:sym typeface="Gabarito"/>
              </a:rPr>
              <a:t>.</a:t>
            </a:r>
            <a:endParaRPr b="0" i="0" sz="1800" u="none" cap="none" strike="noStrike">
              <a:solidFill>
                <a:schemeClr val="dk1"/>
              </a:solidFill>
              <a:latin typeface="Calibri"/>
              <a:ea typeface="Calibri"/>
              <a:cs typeface="Calibri"/>
              <a:sym typeface="Calibri"/>
            </a:endParaRPr>
          </a:p>
        </p:txBody>
      </p:sp>
      <p:pic>
        <p:nvPicPr>
          <p:cNvPr id="124" name="Google Shape;124;p4" title="Asset 1.png"/>
          <p:cNvPicPr preferRelativeResize="0"/>
          <p:nvPr/>
        </p:nvPicPr>
        <p:blipFill>
          <a:blip r:embed="rId10">
            <a:alphaModFix/>
          </a:blip>
          <a:stretch>
            <a:fillRect/>
          </a:stretch>
        </p:blipFill>
        <p:spPr>
          <a:xfrm>
            <a:off x="16021198" y="5510436"/>
            <a:ext cx="285750" cy="3075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pic>
        <p:nvPicPr>
          <p:cNvPr descr="preencoded.png" id="130" name="Google Shape;130;p5"/>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31" name="Google Shape;131;p5"/>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Motivation</a:t>
            </a:r>
            <a:endParaRPr b="0" i="0" sz="3000" u="none" cap="none" strike="noStrike">
              <a:solidFill>
                <a:schemeClr val="dk1"/>
              </a:solidFill>
              <a:latin typeface="Calibri"/>
              <a:ea typeface="Calibri"/>
              <a:cs typeface="Calibri"/>
              <a:sym typeface="Calibri"/>
            </a:endParaRPr>
          </a:p>
        </p:txBody>
      </p:sp>
      <p:sp>
        <p:nvSpPr>
          <p:cNvPr id="132" name="Google Shape;132;p5"/>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Why RAG Exists</a:t>
            </a:r>
            <a:endParaRPr b="0" i="0" sz="6000" u="none" cap="none" strike="noStrike">
              <a:solidFill>
                <a:schemeClr val="dk1"/>
              </a:solidFill>
              <a:latin typeface="Calibri"/>
              <a:ea typeface="Calibri"/>
              <a:cs typeface="Calibri"/>
              <a:sym typeface="Calibri"/>
            </a:endParaRPr>
          </a:p>
        </p:txBody>
      </p:sp>
      <p:sp>
        <p:nvSpPr>
          <p:cNvPr id="133" name="Google Shape;133;p5"/>
          <p:cNvSpPr/>
          <p:nvPr/>
        </p:nvSpPr>
        <p:spPr>
          <a:xfrm>
            <a:off x="1047750" y="2270170"/>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75"/>
              <a:buFont typeface="Gabarito"/>
              <a:buNone/>
            </a:pPr>
            <a:r>
              <a:rPr b="0" i="0" lang="en-US" sz="3000" u="none" cap="none" strike="noStrike">
                <a:solidFill>
                  <a:srgbClr val="5B5B5B"/>
                </a:solidFill>
                <a:latin typeface="Gabarito"/>
                <a:ea typeface="Gabarito"/>
                <a:cs typeface="Gabarito"/>
                <a:sym typeface="Gabarito"/>
              </a:rPr>
              <a:t>A plain LLM has real weaknesses — RAG addresses each one directly:</a:t>
            </a:r>
            <a:endParaRPr b="0" i="0" sz="3000" u="none" cap="none" strike="noStrike">
              <a:solidFill>
                <a:schemeClr val="dk1"/>
              </a:solidFill>
              <a:latin typeface="Calibri"/>
              <a:ea typeface="Calibri"/>
              <a:cs typeface="Calibri"/>
              <a:sym typeface="Calibri"/>
            </a:endParaRPr>
          </a:p>
        </p:txBody>
      </p:sp>
      <p:sp>
        <p:nvSpPr>
          <p:cNvPr id="134" name="Google Shape;134;p5"/>
          <p:cNvSpPr/>
          <p:nvPr/>
        </p:nvSpPr>
        <p:spPr>
          <a:xfrm>
            <a:off x="1047750" y="3038475"/>
            <a:ext cx="7981950" cy="2461171"/>
          </a:xfrm>
          <a:prstGeom prst="roundRect">
            <a:avLst>
              <a:gd fmla="val 6966"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5"/>
          <p:cNvSpPr/>
          <p:nvPr/>
        </p:nvSpPr>
        <p:spPr>
          <a:xfrm>
            <a:off x="1409700" y="3343275"/>
            <a:ext cx="704850" cy="704850"/>
          </a:xfrm>
          <a:prstGeom prst="ellipse">
            <a:avLst/>
          </a:prstGeom>
          <a:solidFill>
            <a:srgbClr val="C15F3C">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5"/>
          <p:cNvSpPr/>
          <p:nvPr/>
        </p:nvSpPr>
        <p:spPr>
          <a:xfrm>
            <a:off x="1371600" y="3343275"/>
            <a:ext cx="781050" cy="7429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C15F3C"/>
              </a:buClr>
              <a:buSzPts val="3150"/>
              <a:buFont typeface="Gabarito"/>
              <a:buNone/>
            </a:pPr>
            <a:r>
              <a:rPr b="1" i="0" lang="en-US" sz="3150" u="none" cap="none" strike="noStrike">
                <a:solidFill>
                  <a:srgbClr val="C15F3C"/>
                </a:solidFill>
                <a:latin typeface="Gabarito"/>
                <a:ea typeface="Gabarito"/>
                <a:cs typeface="Gabarito"/>
                <a:sym typeface="Gabarito"/>
              </a:rPr>
              <a:t>1</a:t>
            </a:r>
            <a:endParaRPr b="0" i="0" sz="3150" u="none" cap="none" strike="noStrike">
              <a:solidFill>
                <a:schemeClr val="dk1"/>
              </a:solidFill>
              <a:latin typeface="Calibri"/>
              <a:ea typeface="Calibri"/>
              <a:cs typeface="Calibri"/>
              <a:sym typeface="Calibri"/>
            </a:endParaRPr>
          </a:p>
        </p:txBody>
      </p:sp>
      <p:sp>
        <p:nvSpPr>
          <p:cNvPr id="137" name="Google Shape;137;p5"/>
          <p:cNvSpPr/>
          <p:nvPr/>
        </p:nvSpPr>
        <p:spPr>
          <a:xfrm>
            <a:off x="2362200" y="3343275"/>
            <a:ext cx="6936105" cy="514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3075"/>
              <a:buFont typeface="Gabarito"/>
              <a:buNone/>
            </a:pPr>
            <a:r>
              <a:rPr b="1" i="0" lang="en-US" sz="3075" u="none" cap="none" strike="noStrike">
                <a:solidFill>
                  <a:srgbClr val="274D71"/>
                </a:solidFill>
                <a:latin typeface="Gabarito"/>
                <a:ea typeface="Gabarito"/>
                <a:cs typeface="Gabarito"/>
                <a:sym typeface="Gabarito"/>
              </a:rPr>
              <a:t>Hallucination</a:t>
            </a:r>
            <a:endParaRPr b="0" i="0" sz="3075" u="none" cap="none" strike="noStrike">
              <a:solidFill>
                <a:schemeClr val="dk1"/>
              </a:solidFill>
              <a:latin typeface="Calibri"/>
              <a:ea typeface="Calibri"/>
              <a:cs typeface="Calibri"/>
              <a:sym typeface="Calibri"/>
            </a:endParaRPr>
          </a:p>
        </p:txBody>
      </p:sp>
      <p:sp>
        <p:nvSpPr>
          <p:cNvPr id="138" name="Google Shape;138;p5"/>
          <p:cNvSpPr/>
          <p:nvPr/>
        </p:nvSpPr>
        <p:spPr>
          <a:xfrm>
            <a:off x="2362201" y="3914775"/>
            <a:ext cx="6304128" cy="1318171"/>
          </a:xfrm>
          <a:prstGeom prst="rect">
            <a:avLst/>
          </a:prstGeom>
          <a:noFill/>
          <a:ln>
            <a:noFill/>
          </a:ln>
        </p:spPr>
        <p:txBody>
          <a:bodyPr anchorCtr="0" anchor="t" bIns="25400" lIns="25400" spcFirstLastPara="1" rIns="25400" wrap="square" tIns="25400">
            <a:noAutofit/>
          </a:bodyPr>
          <a:lstStyle/>
          <a:p>
            <a:pPr indent="0" lvl="0" marL="0" marR="0" rtl="0" algn="l">
              <a:lnSpc>
                <a:spcPct val="117895"/>
              </a:lnSpc>
              <a:spcBef>
                <a:spcPts val="0"/>
              </a:spcBef>
              <a:spcAft>
                <a:spcPts val="0"/>
              </a:spcAft>
              <a:buClr>
                <a:srgbClr val="5B5B5B"/>
              </a:buClr>
              <a:buSzPts val="2400"/>
              <a:buFont typeface="Gabarito"/>
              <a:buNone/>
            </a:pPr>
            <a:r>
              <a:rPr b="0" i="0" lang="en-US" sz="2400" u="none" cap="none" strike="noStrike">
                <a:solidFill>
                  <a:srgbClr val="5B5B5B"/>
                </a:solidFill>
                <a:latin typeface="Gabarito"/>
                <a:ea typeface="Gabarito"/>
                <a:cs typeface="Gabarito"/>
                <a:sym typeface="Gabarito"/>
              </a:rPr>
              <a:t>The model confidently states things that are false. RAG grounds its answers in retrieved, real text.</a:t>
            </a:r>
            <a:endParaRPr b="0" i="0" sz="2400" u="none" cap="none" strike="noStrike">
              <a:solidFill>
                <a:schemeClr val="dk1"/>
              </a:solidFill>
              <a:latin typeface="Calibri"/>
              <a:ea typeface="Calibri"/>
              <a:cs typeface="Calibri"/>
              <a:sym typeface="Calibri"/>
            </a:endParaRPr>
          </a:p>
        </p:txBody>
      </p:sp>
      <p:sp>
        <p:nvSpPr>
          <p:cNvPr id="139" name="Google Shape;139;p5"/>
          <p:cNvSpPr/>
          <p:nvPr/>
        </p:nvSpPr>
        <p:spPr>
          <a:xfrm>
            <a:off x="9258300" y="3038475"/>
            <a:ext cx="7981950" cy="2461171"/>
          </a:xfrm>
          <a:prstGeom prst="roundRect">
            <a:avLst>
              <a:gd fmla="val 6966"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5"/>
          <p:cNvSpPr/>
          <p:nvPr/>
        </p:nvSpPr>
        <p:spPr>
          <a:xfrm>
            <a:off x="9620250" y="3343275"/>
            <a:ext cx="704850" cy="704850"/>
          </a:xfrm>
          <a:prstGeom prst="ellipse">
            <a:avLst/>
          </a:prstGeom>
          <a:solidFill>
            <a:srgbClr val="035595">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5"/>
          <p:cNvSpPr/>
          <p:nvPr/>
        </p:nvSpPr>
        <p:spPr>
          <a:xfrm>
            <a:off x="9582150" y="3343275"/>
            <a:ext cx="781050" cy="7429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35595"/>
              </a:buClr>
              <a:buSzPts val="3150"/>
              <a:buFont typeface="Gabarito"/>
              <a:buNone/>
            </a:pPr>
            <a:r>
              <a:rPr b="1" i="0" lang="en-US" sz="3150" u="none" cap="none" strike="noStrike">
                <a:solidFill>
                  <a:srgbClr val="035595"/>
                </a:solidFill>
                <a:latin typeface="Gabarito"/>
                <a:ea typeface="Gabarito"/>
                <a:cs typeface="Gabarito"/>
                <a:sym typeface="Gabarito"/>
              </a:rPr>
              <a:t>2</a:t>
            </a:r>
            <a:endParaRPr b="0" i="0" sz="3150" u="none" cap="none" strike="noStrike">
              <a:solidFill>
                <a:schemeClr val="dk1"/>
              </a:solidFill>
              <a:latin typeface="Calibri"/>
              <a:ea typeface="Calibri"/>
              <a:cs typeface="Calibri"/>
              <a:sym typeface="Calibri"/>
            </a:endParaRPr>
          </a:p>
        </p:txBody>
      </p:sp>
      <p:sp>
        <p:nvSpPr>
          <p:cNvPr id="142" name="Google Shape;142;p5"/>
          <p:cNvSpPr/>
          <p:nvPr/>
        </p:nvSpPr>
        <p:spPr>
          <a:xfrm>
            <a:off x="10572750" y="3343275"/>
            <a:ext cx="6936105" cy="514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3075"/>
              <a:buFont typeface="Gabarito"/>
              <a:buNone/>
            </a:pPr>
            <a:r>
              <a:rPr b="1" i="0" lang="en-US" sz="3075" u="none" cap="none" strike="noStrike">
                <a:solidFill>
                  <a:srgbClr val="274D71"/>
                </a:solidFill>
                <a:latin typeface="Gabarito"/>
                <a:ea typeface="Gabarito"/>
                <a:cs typeface="Gabarito"/>
                <a:sym typeface="Gabarito"/>
              </a:rPr>
              <a:t>Staleness</a:t>
            </a:r>
            <a:endParaRPr b="0" i="0" sz="3075" u="none" cap="none" strike="noStrike">
              <a:solidFill>
                <a:schemeClr val="dk1"/>
              </a:solidFill>
              <a:latin typeface="Calibri"/>
              <a:ea typeface="Calibri"/>
              <a:cs typeface="Calibri"/>
              <a:sym typeface="Calibri"/>
            </a:endParaRPr>
          </a:p>
        </p:txBody>
      </p:sp>
      <p:sp>
        <p:nvSpPr>
          <p:cNvPr id="143" name="Google Shape;143;p5"/>
          <p:cNvSpPr/>
          <p:nvPr/>
        </p:nvSpPr>
        <p:spPr>
          <a:xfrm>
            <a:off x="10572751" y="3914775"/>
            <a:ext cx="6305550" cy="1318171"/>
          </a:xfrm>
          <a:prstGeom prst="rect">
            <a:avLst/>
          </a:prstGeom>
          <a:noFill/>
          <a:ln>
            <a:noFill/>
          </a:ln>
        </p:spPr>
        <p:txBody>
          <a:bodyPr anchorCtr="0" anchor="t" bIns="25400" lIns="25400" spcFirstLastPara="1" rIns="25400" wrap="square" tIns="25400">
            <a:noAutofit/>
          </a:bodyPr>
          <a:lstStyle/>
          <a:p>
            <a:pPr indent="0" lvl="0" marL="0" marR="0" rtl="0" algn="l">
              <a:lnSpc>
                <a:spcPct val="117895"/>
              </a:lnSpc>
              <a:spcBef>
                <a:spcPts val="0"/>
              </a:spcBef>
              <a:spcAft>
                <a:spcPts val="0"/>
              </a:spcAft>
              <a:buClr>
                <a:srgbClr val="5B5B5B"/>
              </a:buClr>
              <a:buSzPts val="2400"/>
              <a:buFont typeface="Gabarito"/>
              <a:buNone/>
            </a:pPr>
            <a:r>
              <a:rPr b="0" i="0" lang="en-US" sz="2400" u="none" cap="none" strike="noStrike">
                <a:solidFill>
                  <a:srgbClr val="5B5B5B"/>
                </a:solidFill>
                <a:latin typeface="Gabarito"/>
                <a:ea typeface="Gabarito"/>
                <a:cs typeface="Gabarito"/>
                <a:sym typeface="Gabarito"/>
              </a:rPr>
              <a:t>Model knowledge stops at its training cutoff. RAG lets it pull in documents created after that date.</a:t>
            </a:r>
            <a:endParaRPr b="0" i="0" sz="2400" u="none" cap="none" strike="noStrike">
              <a:solidFill>
                <a:schemeClr val="dk1"/>
              </a:solidFill>
              <a:latin typeface="Calibri"/>
              <a:ea typeface="Calibri"/>
              <a:cs typeface="Calibri"/>
              <a:sym typeface="Calibri"/>
            </a:endParaRPr>
          </a:p>
        </p:txBody>
      </p:sp>
      <p:sp>
        <p:nvSpPr>
          <p:cNvPr id="144" name="Google Shape;144;p5"/>
          <p:cNvSpPr/>
          <p:nvPr/>
        </p:nvSpPr>
        <p:spPr>
          <a:xfrm>
            <a:off x="1047750" y="5728246"/>
            <a:ext cx="7981950" cy="2461171"/>
          </a:xfrm>
          <a:prstGeom prst="roundRect">
            <a:avLst>
              <a:gd fmla="val 6966"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5"/>
          <p:cNvSpPr/>
          <p:nvPr/>
        </p:nvSpPr>
        <p:spPr>
          <a:xfrm>
            <a:off x="1409700" y="6033046"/>
            <a:ext cx="704850" cy="704850"/>
          </a:xfrm>
          <a:prstGeom prst="ellipse">
            <a:avLst/>
          </a:prstGeom>
          <a:solidFill>
            <a:srgbClr val="FF9900">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5"/>
          <p:cNvSpPr/>
          <p:nvPr/>
        </p:nvSpPr>
        <p:spPr>
          <a:xfrm>
            <a:off x="1371600" y="6033046"/>
            <a:ext cx="781050" cy="7429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9900"/>
              </a:buClr>
              <a:buSzPts val="3150"/>
              <a:buFont typeface="Gabarito"/>
              <a:buNone/>
            </a:pPr>
            <a:r>
              <a:rPr b="1" i="0" lang="en-US" sz="3150" u="none" cap="none" strike="noStrike">
                <a:solidFill>
                  <a:srgbClr val="FF9900"/>
                </a:solidFill>
                <a:latin typeface="Gabarito"/>
                <a:ea typeface="Gabarito"/>
                <a:cs typeface="Gabarito"/>
                <a:sym typeface="Gabarito"/>
              </a:rPr>
              <a:t>3</a:t>
            </a:r>
            <a:endParaRPr b="0" i="0" sz="3150" u="none" cap="none" strike="noStrike">
              <a:solidFill>
                <a:schemeClr val="dk1"/>
              </a:solidFill>
              <a:latin typeface="Calibri"/>
              <a:ea typeface="Calibri"/>
              <a:cs typeface="Calibri"/>
              <a:sym typeface="Calibri"/>
            </a:endParaRPr>
          </a:p>
        </p:txBody>
      </p:sp>
      <p:sp>
        <p:nvSpPr>
          <p:cNvPr id="147" name="Google Shape;147;p5"/>
          <p:cNvSpPr/>
          <p:nvPr/>
        </p:nvSpPr>
        <p:spPr>
          <a:xfrm>
            <a:off x="2362200" y="6033046"/>
            <a:ext cx="6936105" cy="514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3075"/>
              <a:buFont typeface="Gabarito"/>
              <a:buNone/>
            </a:pPr>
            <a:r>
              <a:rPr b="1" i="0" lang="en-US" sz="3075" u="none" cap="none" strike="noStrike">
                <a:solidFill>
                  <a:srgbClr val="274D71"/>
                </a:solidFill>
                <a:latin typeface="Gabarito"/>
                <a:ea typeface="Gabarito"/>
                <a:cs typeface="Gabarito"/>
                <a:sym typeface="Gabarito"/>
              </a:rPr>
              <a:t>No source of truth</a:t>
            </a:r>
            <a:endParaRPr b="0" i="0" sz="3075" u="none" cap="none" strike="noStrike">
              <a:solidFill>
                <a:schemeClr val="dk1"/>
              </a:solidFill>
              <a:latin typeface="Calibri"/>
              <a:ea typeface="Calibri"/>
              <a:cs typeface="Calibri"/>
              <a:sym typeface="Calibri"/>
            </a:endParaRPr>
          </a:p>
        </p:txBody>
      </p:sp>
      <p:sp>
        <p:nvSpPr>
          <p:cNvPr id="148" name="Google Shape;148;p5"/>
          <p:cNvSpPr/>
          <p:nvPr/>
        </p:nvSpPr>
        <p:spPr>
          <a:xfrm>
            <a:off x="2362200" y="6604546"/>
            <a:ext cx="6494717" cy="1318171"/>
          </a:xfrm>
          <a:prstGeom prst="rect">
            <a:avLst/>
          </a:prstGeom>
          <a:noFill/>
          <a:ln>
            <a:noFill/>
          </a:ln>
        </p:spPr>
        <p:txBody>
          <a:bodyPr anchorCtr="0" anchor="t" bIns="25400" lIns="25400" spcFirstLastPara="1" rIns="25400" wrap="square" tIns="25400">
            <a:noAutofit/>
          </a:bodyPr>
          <a:lstStyle/>
          <a:p>
            <a:pPr indent="0" lvl="0" marL="0" marR="0" rtl="0" algn="l">
              <a:lnSpc>
                <a:spcPct val="117895"/>
              </a:lnSpc>
              <a:spcBef>
                <a:spcPts val="0"/>
              </a:spcBef>
              <a:spcAft>
                <a:spcPts val="0"/>
              </a:spcAft>
              <a:buClr>
                <a:srgbClr val="5B5B5B"/>
              </a:buClr>
              <a:buSzPts val="2400"/>
              <a:buFont typeface="Gabarito"/>
              <a:buNone/>
            </a:pPr>
            <a:r>
              <a:rPr b="0" i="0" lang="en-US" sz="2400" u="none" cap="none" strike="noStrike">
                <a:solidFill>
                  <a:srgbClr val="5B5B5B"/>
                </a:solidFill>
                <a:latin typeface="Gabarito"/>
                <a:ea typeface="Gabarito"/>
                <a:cs typeface="Gabarito"/>
                <a:sym typeface="Gabarito"/>
              </a:rPr>
              <a:t>A plain model can't show where its answer came from. RAG can point back to retrieved passages.</a:t>
            </a:r>
            <a:endParaRPr b="0" i="0" sz="2400" u="none" cap="none" strike="noStrike">
              <a:solidFill>
                <a:schemeClr val="dk1"/>
              </a:solidFill>
              <a:latin typeface="Calibri"/>
              <a:ea typeface="Calibri"/>
              <a:cs typeface="Calibri"/>
              <a:sym typeface="Calibri"/>
            </a:endParaRPr>
          </a:p>
        </p:txBody>
      </p:sp>
      <p:sp>
        <p:nvSpPr>
          <p:cNvPr id="149" name="Google Shape;149;p5"/>
          <p:cNvSpPr/>
          <p:nvPr/>
        </p:nvSpPr>
        <p:spPr>
          <a:xfrm>
            <a:off x="9258300" y="5728246"/>
            <a:ext cx="7981950" cy="2461171"/>
          </a:xfrm>
          <a:prstGeom prst="roundRect">
            <a:avLst>
              <a:gd fmla="val 6966"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5"/>
          <p:cNvSpPr/>
          <p:nvPr/>
        </p:nvSpPr>
        <p:spPr>
          <a:xfrm>
            <a:off x="9620250" y="6033046"/>
            <a:ext cx="704850" cy="704850"/>
          </a:xfrm>
          <a:prstGeom prst="ellipse">
            <a:avLst/>
          </a:prstGeom>
          <a:solidFill>
            <a:srgbClr val="7A8A5A">
              <a:alpha val="1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5"/>
          <p:cNvSpPr/>
          <p:nvPr/>
        </p:nvSpPr>
        <p:spPr>
          <a:xfrm>
            <a:off x="9582150" y="6033046"/>
            <a:ext cx="781050" cy="7429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6E7D4C"/>
              </a:buClr>
              <a:buSzPts val="3150"/>
              <a:buFont typeface="Gabarito"/>
              <a:buNone/>
            </a:pPr>
            <a:r>
              <a:rPr b="1" i="0" lang="en-US" sz="3150" u="none" cap="none" strike="noStrike">
                <a:solidFill>
                  <a:srgbClr val="6E7D4C"/>
                </a:solidFill>
                <a:latin typeface="Gabarito"/>
                <a:ea typeface="Gabarito"/>
                <a:cs typeface="Gabarito"/>
                <a:sym typeface="Gabarito"/>
              </a:rPr>
              <a:t>4</a:t>
            </a:r>
            <a:endParaRPr b="0" i="0" sz="3150" u="none" cap="none" strike="noStrike">
              <a:solidFill>
                <a:schemeClr val="dk1"/>
              </a:solidFill>
              <a:latin typeface="Calibri"/>
              <a:ea typeface="Calibri"/>
              <a:cs typeface="Calibri"/>
              <a:sym typeface="Calibri"/>
            </a:endParaRPr>
          </a:p>
        </p:txBody>
      </p:sp>
      <p:sp>
        <p:nvSpPr>
          <p:cNvPr id="152" name="Google Shape;152;p5"/>
          <p:cNvSpPr/>
          <p:nvPr/>
        </p:nvSpPr>
        <p:spPr>
          <a:xfrm>
            <a:off x="10572750" y="6033046"/>
            <a:ext cx="6936105" cy="514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3075"/>
              <a:buFont typeface="Gabarito"/>
              <a:buNone/>
            </a:pPr>
            <a:r>
              <a:rPr b="1" i="0" lang="en-US" sz="3075" u="none" cap="none" strike="noStrike">
                <a:solidFill>
                  <a:srgbClr val="274D71"/>
                </a:solidFill>
                <a:latin typeface="Gabarito"/>
                <a:ea typeface="Gabarito"/>
                <a:cs typeface="Gabarito"/>
                <a:sym typeface="Gabarito"/>
              </a:rPr>
              <a:t>Expensive to update</a:t>
            </a:r>
            <a:endParaRPr b="0" i="0" sz="3075" u="none" cap="none" strike="noStrike">
              <a:solidFill>
                <a:schemeClr val="dk1"/>
              </a:solidFill>
              <a:latin typeface="Calibri"/>
              <a:ea typeface="Calibri"/>
              <a:cs typeface="Calibri"/>
              <a:sym typeface="Calibri"/>
            </a:endParaRPr>
          </a:p>
        </p:txBody>
      </p:sp>
      <p:sp>
        <p:nvSpPr>
          <p:cNvPr id="153" name="Google Shape;153;p5"/>
          <p:cNvSpPr/>
          <p:nvPr/>
        </p:nvSpPr>
        <p:spPr>
          <a:xfrm>
            <a:off x="10572750" y="6604546"/>
            <a:ext cx="6494717" cy="1318171"/>
          </a:xfrm>
          <a:prstGeom prst="rect">
            <a:avLst/>
          </a:prstGeom>
          <a:noFill/>
          <a:ln>
            <a:noFill/>
          </a:ln>
        </p:spPr>
        <p:txBody>
          <a:bodyPr anchorCtr="0" anchor="t" bIns="25400" lIns="25400" spcFirstLastPara="1" rIns="25400" wrap="square" tIns="25400">
            <a:noAutofit/>
          </a:bodyPr>
          <a:lstStyle/>
          <a:p>
            <a:pPr indent="0" lvl="0" marL="0" marR="0" rtl="0" algn="l">
              <a:lnSpc>
                <a:spcPct val="117895"/>
              </a:lnSpc>
              <a:spcBef>
                <a:spcPts val="0"/>
              </a:spcBef>
              <a:spcAft>
                <a:spcPts val="0"/>
              </a:spcAft>
              <a:buClr>
                <a:srgbClr val="5B5B5B"/>
              </a:buClr>
              <a:buSzPts val="2400"/>
              <a:buFont typeface="Gabarito"/>
              <a:buNone/>
            </a:pPr>
            <a:r>
              <a:rPr b="0" i="0" lang="en-US" sz="2400" u="none" cap="none" strike="noStrike">
                <a:solidFill>
                  <a:srgbClr val="5B5B5B"/>
                </a:solidFill>
                <a:latin typeface="Gabarito"/>
                <a:ea typeface="Gabarito"/>
                <a:cs typeface="Gabarito"/>
                <a:sym typeface="Gabarito"/>
              </a:rPr>
              <a:t>Fine-tuning for new information is costly and slow. RAG updates behavior just by updating the stored documents.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descr="preencoded.png" id="159" name="Google Shape;159;p6"/>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60" name="Google Shape;160;p6"/>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Structure</a:t>
            </a:r>
            <a:endParaRPr b="0" i="0" sz="3000" u="none" cap="none" strike="noStrike">
              <a:solidFill>
                <a:schemeClr val="dk1"/>
              </a:solidFill>
              <a:latin typeface="Calibri"/>
              <a:ea typeface="Calibri"/>
              <a:cs typeface="Calibri"/>
              <a:sym typeface="Calibri"/>
            </a:endParaRPr>
          </a:p>
        </p:txBody>
      </p:sp>
      <p:sp>
        <p:nvSpPr>
          <p:cNvPr id="161" name="Google Shape;161;p6"/>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The Two Pipelines of RAG</a:t>
            </a:r>
            <a:endParaRPr b="0" i="0" sz="6000" u="none" cap="none" strike="noStrike">
              <a:solidFill>
                <a:schemeClr val="dk1"/>
              </a:solidFill>
              <a:latin typeface="Calibri"/>
              <a:ea typeface="Calibri"/>
              <a:cs typeface="Calibri"/>
              <a:sym typeface="Calibri"/>
            </a:endParaRPr>
          </a:p>
        </p:txBody>
      </p:sp>
      <p:sp>
        <p:nvSpPr>
          <p:cNvPr id="162" name="Google Shape;162;p6"/>
          <p:cNvSpPr/>
          <p:nvPr/>
        </p:nvSpPr>
        <p:spPr>
          <a:xfrm>
            <a:off x="1047750" y="2240756"/>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2121"/>
              </a:buClr>
              <a:buSzPts val="2775"/>
              <a:buFont typeface="Gabarito"/>
              <a:buNone/>
            </a:pPr>
            <a:r>
              <a:rPr b="1" i="0" lang="en-US" sz="3000" u="none" cap="none" strike="noStrike">
                <a:solidFill>
                  <a:srgbClr val="1E4E79"/>
                </a:solidFill>
                <a:latin typeface="Gabarito"/>
                <a:ea typeface="Gabarito"/>
                <a:cs typeface="Gabarito"/>
                <a:sym typeface="Gabarito"/>
              </a:rPr>
              <a:t>RAG </a:t>
            </a:r>
            <a:r>
              <a:rPr b="0" i="0" lang="en-US" sz="3000" u="none" cap="none" strike="noStrike">
                <a:solidFill>
                  <a:srgbClr val="212121"/>
                </a:solidFill>
                <a:latin typeface="Gabarito"/>
                <a:ea typeface="Gabarito"/>
                <a:cs typeface="Gabarito"/>
                <a:sym typeface="Gabarito"/>
              </a:rPr>
              <a:t>isn't one process</a:t>
            </a:r>
            <a:r>
              <a:rPr lang="en-US" sz="3000">
                <a:solidFill>
                  <a:srgbClr val="212121"/>
                </a:solidFill>
                <a:latin typeface="Gabarito"/>
                <a:ea typeface="Gabarito"/>
                <a:cs typeface="Gabarito"/>
                <a:sym typeface="Gabarito"/>
              </a:rPr>
              <a:t>. I</a:t>
            </a:r>
            <a:r>
              <a:rPr b="0" i="0" lang="en-US" sz="3000" u="none" cap="none" strike="noStrike">
                <a:solidFill>
                  <a:srgbClr val="212121"/>
                </a:solidFill>
                <a:latin typeface="Gabarito"/>
                <a:ea typeface="Gabarito"/>
                <a:cs typeface="Gabarito"/>
                <a:sym typeface="Gabarito"/>
              </a:rPr>
              <a:t>t's </a:t>
            </a:r>
            <a:r>
              <a:rPr b="1" i="0" lang="en-US" sz="3000" u="none" cap="none" strike="noStrike">
                <a:solidFill>
                  <a:schemeClr val="accent2"/>
                </a:solidFill>
                <a:latin typeface="Gabarito"/>
                <a:ea typeface="Gabarito"/>
                <a:cs typeface="Gabarito"/>
                <a:sym typeface="Gabarito"/>
              </a:rPr>
              <a:t>two separate pipelines</a:t>
            </a:r>
            <a:r>
              <a:rPr b="0" i="0" lang="en-US" sz="3000" u="none" cap="none" strike="noStrike">
                <a:solidFill>
                  <a:srgbClr val="212121"/>
                </a:solidFill>
                <a:latin typeface="Gabarito"/>
                <a:ea typeface="Gabarito"/>
                <a:cs typeface="Gabarito"/>
                <a:sym typeface="Gabarito"/>
              </a:rPr>
              <a:t> that run at different times.</a:t>
            </a:r>
            <a:endParaRPr b="0" i="0" sz="3000" u="none" cap="none" strike="noStrike">
              <a:solidFill>
                <a:schemeClr val="dk1"/>
              </a:solidFill>
              <a:latin typeface="Calibri"/>
              <a:ea typeface="Calibri"/>
              <a:cs typeface="Calibri"/>
              <a:sym typeface="Calibri"/>
            </a:endParaRPr>
          </a:p>
        </p:txBody>
      </p:sp>
      <p:sp>
        <p:nvSpPr>
          <p:cNvPr id="163" name="Google Shape;163;p6"/>
          <p:cNvSpPr/>
          <p:nvPr/>
        </p:nvSpPr>
        <p:spPr>
          <a:xfrm>
            <a:off x="1047750" y="3038475"/>
            <a:ext cx="7972425" cy="3333750"/>
          </a:xfrm>
          <a:prstGeom prst="roundRect">
            <a:avLst>
              <a:gd fmla="val 5960"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6"/>
          <p:cNvSpPr/>
          <p:nvPr/>
        </p:nvSpPr>
        <p:spPr>
          <a:xfrm>
            <a:off x="1371600" y="3324225"/>
            <a:ext cx="7544467" cy="74295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035595"/>
              </a:buClr>
              <a:buSzPts val="2325"/>
              <a:buFont typeface="Gabarito"/>
              <a:buNone/>
            </a:pPr>
            <a:r>
              <a:rPr b="1" i="0" lang="en-US" sz="2325" u="none" cap="none" strike="noStrike">
                <a:solidFill>
                  <a:srgbClr val="035595"/>
                </a:solidFill>
                <a:latin typeface="Gabarito"/>
                <a:ea typeface="Gabarito"/>
                <a:cs typeface="Gabarito"/>
                <a:sym typeface="Gabarito"/>
              </a:rPr>
              <a:t>OFFLINE / SETUP PIPELINE</a:t>
            </a:r>
            <a:endParaRPr/>
          </a:p>
          <a:p>
            <a:pPr indent="0" lvl="0" marL="0" marR="0" rtl="0" algn="l">
              <a:lnSpc>
                <a:spcPct val="120000"/>
              </a:lnSpc>
              <a:spcBef>
                <a:spcPts val="0"/>
              </a:spcBef>
              <a:spcAft>
                <a:spcPts val="0"/>
              </a:spcAft>
              <a:buClr>
                <a:srgbClr val="035595"/>
              </a:buClr>
              <a:buSzPts val="2325"/>
              <a:buFont typeface="Gabarito"/>
              <a:buNone/>
            </a:pPr>
            <a:r>
              <a:rPr lang="en-US" sz="2325">
                <a:solidFill>
                  <a:srgbClr val="5B5B5B"/>
                </a:solidFill>
                <a:latin typeface="Gabarito"/>
                <a:ea typeface="Gabarito"/>
                <a:cs typeface="Gabarito"/>
                <a:sym typeface="Gabarito"/>
              </a:rPr>
              <a:t>(</a:t>
            </a:r>
            <a:r>
              <a:rPr i="0" lang="en-US" sz="2325" u="none" cap="none" strike="noStrike">
                <a:solidFill>
                  <a:srgbClr val="5B5B5B"/>
                </a:solidFill>
                <a:latin typeface="Gabarito"/>
                <a:ea typeface="Gabarito"/>
                <a:cs typeface="Gabarito"/>
                <a:sym typeface="Gabarito"/>
              </a:rPr>
              <a:t>runs once, or whenever documents change)</a:t>
            </a:r>
            <a:endParaRPr i="0" sz="2325" u="none" cap="none" strike="noStrike">
              <a:solidFill>
                <a:srgbClr val="5B5B5B"/>
              </a:solidFill>
              <a:latin typeface="Calibri"/>
              <a:ea typeface="Calibri"/>
              <a:cs typeface="Calibri"/>
              <a:sym typeface="Calibri"/>
            </a:endParaRPr>
          </a:p>
        </p:txBody>
      </p:sp>
      <p:sp>
        <p:nvSpPr>
          <p:cNvPr id="165" name="Google Shape;165;p6"/>
          <p:cNvSpPr/>
          <p:nvPr/>
        </p:nvSpPr>
        <p:spPr>
          <a:xfrm>
            <a:off x="1685925" y="4553290"/>
            <a:ext cx="609600" cy="609600"/>
          </a:xfrm>
          <a:prstGeom prst="roundRect">
            <a:avLst>
              <a:gd fmla="val 21875"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6"/>
          <p:cNvSpPr/>
          <p:nvPr/>
        </p:nvSpPr>
        <p:spPr>
          <a:xfrm>
            <a:off x="1647825" y="4534240"/>
            <a:ext cx="68580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250"/>
              <a:buFont typeface="Gabarito"/>
              <a:buNone/>
            </a:pPr>
            <a:r>
              <a:rPr b="1" i="0" lang="en-US" sz="2250" u="none" cap="none" strike="noStrike">
                <a:solidFill>
                  <a:srgbClr val="FFFFFF"/>
                </a:solidFill>
                <a:latin typeface="Gabarito"/>
                <a:ea typeface="Gabarito"/>
                <a:cs typeface="Gabarito"/>
                <a:sym typeface="Gabarito"/>
              </a:rPr>
              <a:t>1</a:t>
            </a:r>
            <a:endParaRPr b="0" i="0" sz="2250" u="none" cap="none" strike="noStrike">
              <a:solidFill>
                <a:schemeClr val="dk1"/>
              </a:solidFill>
              <a:latin typeface="Calibri"/>
              <a:ea typeface="Calibri"/>
              <a:cs typeface="Calibri"/>
              <a:sym typeface="Calibri"/>
            </a:endParaRPr>
          </a:p>
        </p:txBody>
      </p:sp>
      <p:sp>
        <p:nvSpPr>
          <p:cNvPr id="167" name="Google Shape;167;p6"/>
          <p:cNvSpPr/>
          <p:nvPr/>
        </p:nvSpPr>
        <p:spPr>
          <a:xfrm>
            <a:off x="1611362" y="5358153"/>
            <a:ext cx="834777" cy="3714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Ingest</a:t>
            </a:r>
            <a:endParaRPr b="0" i="0" sz="2175" u="none" cap="none" strike="noStrike">
              <a:solidFill>
                <a:schemeClr val="dk1"/>
              </a:solidFill>
              <a:latin typeface="Calibri"/>
              <a:ea typeface="Calibri"/>
              <a:cs typeface="Calibri"/>
              <a:sym typeface="Calibri"/>
            </a:endParaRPr>
          </a:p>
        </p:txBody>
      </p:sp>
      <p:sp>
        <p:nvSpPr>
          <p:cNvPr id="168" name="Google Shape;168;p6"/>
          <p:cNvSpPr/>
          <p:nvPr/>
        </p:nvSpPr>
        <p:spPr>
          <a:xfrm>
            <a:off x="2774900" y="4712834"/>
            <a:ext cx="409575"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625"/>
              <a:buFont typeface="Gabarito"/>
              <a:buNone/>
            </a:pPr>
            <a:r>
              <a:rPr b="0" i="0" lang="en-US" sz="2625" u="none" cap="none" strike="noStrike">
                <a:solidFill>
                  <a:srgbClr val="78746A"/>
                </a:solidFill>
                <a:latin typeface="Gabarito"/>
                <a:ea typeface="Gabarito"/>
                <a:cs typeface="Gabarito"/>
                <a:sym typeface="Gabarito"/>
              </a:rPr>
              <a:t>→</a:t>
            </a:r>
            <a:endParaRPr b="0" i="0" sz="2625" u="none" cap="none" strike="noStrike">
              <a:solidFill>
                <a:schemeClr val="dk1"/>
              </a:solidFill>
              <a:latin typeface="Calibri"/>
              <a:ea typeface="Calibri"/>
              <a:cs typeface="Calibri"/>
              <a:sym typeface="Calibri"/>
            </a:endParaRPr>
          </a:p>
        </p:txBody>
      </p:sp>
      <p:sp>
        <p:nvSpPr>
          <p:cNvPr id="169" name="Google Shape;169;p6"/>
          <p:cNvSpPr/>
          <p:nvPr/>
        </p:nvSpPr>
        <p:spPr>
          <a:xfrm>
            <a:off x="3587800" y="4553290"/>
            <a:ext cx="609600" cy="609600"/>
          </a:xfrm>
          <a:prstGeom prst="roundRect">
            <a:avLst>
              <a:gd fmla="val 21875"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6"/>
          <p:cNvSpPr/>
          <p:nvPr/>
        </p:nvSpPr>
        <p:spPr>
          <a:xfrm>
            <a:off x="3549700" y="4534240"/>
            <a:ext cx="68580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250"/>
              <a:buFont typeface="Gabarito"/>
              <a:buNone/>
            </a:pPr>
            <a:r>
              <a:rPr b="1" i="0" lang="en-US" sz="2250" u="none" cap="none" strike="noStrike">
                <a:solidFill>
                  <a:srgbClr val="FFFFFF"/>
                </a:solidFill>
                <a:latin typeface="Gabarito"/>
                <a:ea typeface="Gabarito"/>
                <a:cs typeface="Gabarito"/>
                <a:sym typeface="Gabarito"/>
              </a:rPr>
              <a:t>2</a:t>
            </a:r>
            <a:endParaRPr b="0" i="0" sz="2250" u="none" cap="none" strike="noStrike">
              <a:solidFill>
                <a:schemeClr val="dk1"/>
              </a:solidFill>
              <a:latin typeface="Calibri"/>
              <a:ea typeface="Calibri"/>
              <a:cs typeface="Calibri"/>
              <a:sym typeface="Calibri"/>
            </a:endParaRPr>
          </a:p>
        </p:txBody>
      </p:sp>
      <p:sp>
        <p:nvSpPr>
          <p:cNvPr id="171" name="Google Shape;171;p6"/>
          <p:cNvSpPr/>
          <p:nvPr/>
        </p:nvSpPr>
        <p:spPr>
          <a:xfrm>
            <a:off x="3498354" y="5358153"/>
            <a:ext cx="864691" cy="3714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Chunk</a:t>
            </a:r>
            <a:endParaRPr b="0" i="0" sz="2175" u="none" cap="none" strike="noStrike">
              <a:solidFill>
                <a:schemeClr val="dk1"/>
              </a:solidFill>
              <a:latin typeface="Calibri"/>
              <a:ea typeface="Calibri"/>
              <a:cs typeface="Calibri"/>
              <a:sym typeface="Calibri"/>
            </a:endParaRPr>
          </a:p>
        </p:txBody>
      </p:sp>
      <p:sp>
        <p:nvSpPr>
          <p:cNvPr id="172" name="Google Shape;172;p6"/>
          <p:cNvSpPr/>
          <p:nvPr/>
        </p:nvSpPr>
        <p:spPr>
          <a:xfrm>
            <a:off x="4676775" y="4712834"/>
            <a:ext cx="409575"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625"/>
              <a:buFont typeface="Gabarito"/>
              <a:buNone/>
            </a:pPr>
            <a:r>
              <a:rPr b="0" i="0" lang="en-US" sz="2625" u="none" cap="none" strike="noStrike">
                <a:solidFill>
                  <a:srgbClr val="78746A"/>
                </a:solidFill>
                <a:latin typeface="Gabarito"/>
                <a:ea typeface="Gabarito"/>
                <a:cs typeface="Gabarito"/>
                <a:sym typeface="Gabarito"/>
              </a:rPr>
              <a:t>→</a:t>
            </a:r>
            <a:endParaRPr b="0" i="0" sz="2625" u="none" cap="none" strike="noStrike">
              <a:solidFill>
                <a:schemeClr val="dk1"/>
              </a:solidFill>
              <a:latin typeface="Calibri"/>
              <a:ea typeface="Calibri"/>
              <a:cs typeface="Calibri"/>
              <a:sym typeface="Calibri"/>
            </a:endParaRPr>
          </a:p>
        </p:txBody>
      </p:sp>
      <p:sp>
        <p:nvSpPr>
          <p:cNvPr id="173" name="Google Shape;173;p6"/>
          <p:cNvSpPr/>
          <p:nvPr/>
        </p:nvSpPr>
        <p:spPr>
          <a:xfrm>
            <a:off x="5489525" y="4553290"/>
            <a:ext cx="609600" cy="609600"/>
          </a:xfrm>
          <a:prstGeom prst="roundRect">
            <a:avLst>
              <a:gd fmla="val 21875"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
          <p:cNvSpPr/>
          <p:nvPr/>
        </p:nvSpPr>
        <p:spPr>
          <a:xfrm>
            <a:off x="5451425" y="4534240"/>
            <a:ext cx="68580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250"/>
              <a:buFont typeface="Gabarito"/>
              <a:buNone/>
            </a:pPr>
            <a:r>
              <a:rPr b="1" i="0" lang="en-US" sz="2250" u="none" cap="none" strike="noStrike">
                <a:solidFill>
                  <a:srgbClr val="FFFFFF"/>
                </a:solidFill>
                <a:latin typeface="Gabarito"/>
                <a:ea typeface="Gabarito"/>
                <a:cs typeface="Gabarito"/>
                <a:sym typeface="Gabarito"/>
              </a:rPr>
              <a:t>3</a:t>
            </a:r>
            <a:endParaRPr b="0" i="0" sz="2250" u="none" cap="none" strike="noStrike">
              <a:solidFill>
                <a:schemeClr val="dk1"/>
              </a:solidFill>
              <a:latin typeface="Calibri"/>
              <a:ea typeface="Calibri"/>
              <a:cs typeface="Calibri"/>
              <a:sym typeface="Calibri"/>
            </a:endParaRPr>
          </a:p>
        </p:txBody>
      </p:sp>
      <p:sp>
        <p:nvSpPr>
          <p:cNvPr id="175" name="Google Shape;175;p6"/>
          <p:cNvSpPr/>
          <p:nvPr/>
        </p:nvSpPr>
        <p:spPr>
          <a:xfrm>
            <a:off x="5372844" y="5358153"/>
            <a:ext cx="919014" cy="3714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Embed</a:t>
            </a:r>
            <a:endParaRPr b="0" i="0" sz="2175" u="none" cap="none" strike="noStrike">
              <a:solidFill>
                <a:schemeClr val="dk1"/>
              </a:solidFill>
              <a:latin typeface="Calibri"/>
              <a:ea typeface="Calibri"/>
              <a:cs typeface="Calibri"/>
              <a:sym typeface="Calibri"/>
            </a:endParaRPr>
          </a:p>
        </p:txBody>
      </p:sp>
      <p:sp>
        <p:nvSpPr>
          <p:cNvPr id="176" name="Google Shape;176;p6"/>
          <p:cNvSpPr/>
          <p:nvPr/>
        </p:nvSpPr>
        <p:spPr>
          <a:xfrm>
            <a:off x="6578650" y="4712834"/>
            <a:ext cx="409575"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625"/>
              <a:buFont typeface="Gabarito"/>
              <a:buNone/>
            </a:pPr>
            <a:r>
              <a:rPr b="0" i="0" lang="en-US" sz="2625" u="none" cap="none" strike="noStrike">
                <a:solidFill>
                  <a:srgbClr val="78746A"/>
                </a:solidFill>
                <a:latin typeface="Gabarito"/>
                <a:ea typeface="Gabarito"/>
                <a:cs typeface="Gabarito"/>
                <a:sym typeface="Gabarito"/>
              </a:rPr>
              <a:t>→</a:t>
            </a:r>
            <a:endParaRPr b="0" i="0" sz="2625" u="none" cap="none" strike="noStrike">
              <a:solidFill>
                <a:schemeClr val="dk1"/>
              </a:solidFill>
              <a:latin typeface="Calibri"/>
              <a:ea typeface="Calibri"/>
              <a:cs typeface="Calibri"/>
              <a:sym typeface="Calibri"/>
            </a:endParaRPr>
          </a:p>
        </p:txBody>
      </p:sp>
      <p:sp>
        <p:nvSpPr>
          <p:cNvPr id="177" name="Google Shape;177;p6"/>
          <p:cNvSpPr/>
          <p:nvPr/>
        </p:nvSpPr>
        <p:spPr>
          <a:xfrm>
            <a:off x="7581900" y="4553290"/>
            <a:ext cx="609600" cy="609600"/>
          </a:xfrm>
          <a:prstGeom prst="roundRect">
            <a:avLst>
              <a:gd fmla="val 21875" name="adj"/>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
          <p:cNvSpPr/>
          <p:nvPr/>
        </p:nvSpPr>
        <p:spPr>
          <a:xfrm>
            <a:off x="7543800" y="4534240"/>
            <a:ext cx="68580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250"/>
              <a:buFont typeface="Gabarito"/>
              <a:buNone/>
            </a:pPr>
            <a:r>
              <a:rPr b="1" i="0" lang="en-US" sz="2250" u="none" cap="none" strike="noStrike">
                <a:solidFill>
                  <a:srgbClr val="FFFFFF"/>
                </a:solidFill>
                <a:latin typeface="Gabarito"/>
                <a:ea typeface="Gabarito"/>
                <a:cs typeface="Gabarito"/>
                <a:sym typeface="Gabarito"/>
              </a:rPr>
              <a:t>4</a:t>
            </a:r>
            <a:endParaRPr b="0" i="0" sz="2250" u="none" cap="none" strike="noStrike">
              <a:solidFill>
                <a:schemeClr val="dk1"/>
              </a:solidFill>
              <a:latin typeface="Calibri"/>
              <a:ea typeface="Calibri"/>
              <a:cs typeface="Calibri"/>
              <a:sym typeface="Calibri"/>
            </a:endParaRPr>
          </a:p>
        </p:txBody>
      </p:sp>
      <p:sp>
        <p:nvSpPr>
          <p:cNvPr id="179" name="Google Shape;179;p6"/>
          <p:cNvSpPr/>
          <p:nvPr/>
        </p:nvSpPr>
        <p:spPr>
          <a:xfrm>
            <a:off x="7038975" y="5358153"/>
            <a:ext cx="1695450" cy="70485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Store in Vector DB</a:t>
            </a:r>
            <a:endParaRPr b="0" i="0" sz="2175" u="none" cap="none" strike="noStrike">
              <a:solidFill>
                <a:schemeClr val="dk1"/>
              </a:solidFill>
              <a:latin typeface="Calibri"/>
              <a:ea typeface="Calibri"/>
              <a:cs typeface="Calibri"/>
              <a:sym typeface="Calibri"/>
            </a:endParaRPr>
          </a:p>
        </p:txBody>
      </p:sp>
      <p:sp>
        <p:nvSpPr>
          <p:cNvPr id="180" name="Google Shape;180;p6"/>
          <p:cNvSpPr/>
          <p:nvPr/>
        </p:nvSpPr>
        <p:spPr>
          <a:xfrm>
            <a:off x="9267825" y="3038475"/>
            <a:ext cx="7972425" cy="3333750"/>
          </a:xfrm>
          <a:prstGeom prst="roundRect">
            <a:avLst>
              <a:gd fmla="val 5960" name="adj"/>
            </a:avLst>
          </a:prstGeom>
          <a:solidFill>
            <a:srgbClr val="FF9900">
              <a:alpha val="3137"/>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6"/>
          <p:cNvSpPr/>
          <p:nvPr/>
        </p:nvSpPr>
        <p:spPr>
          <a:xfrm>
            <a:off x="9591675" y="3324225"/>
            <a:ext cx="7544467" cy="74295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FF9900"/>
              </a:buClr>
              <a:buSzPts val="2325"/>
              <a:buFont typeface="Gabarito"/>
              <a:buNone/>
            </a:pPr>
            <a:r>
              <a:rPr b="1" i="0" lang="en-US" sz="2325" u="none" cap="none" strike="noStrike">
                <a:solidFill>
                  <a:srgbClr val="FF9900"/>
                </a:solidFill>
                <a:latin typeface="Gabarito"/>
                <a:ea typeface="Gabarito"/>
                <a:cs typeface="Gabarito"/>
                <a:sym typeface="Gabarito"/>
              </a:rPr>
              <a:t>ONLINE / QUERY-TIME PIPELINE </a:t>
            </a:r>
            <a:endParaRPr b="1" i="0" sz="2325" u="none" cap="none" strike="noStrike">
              <a:solidFill>
                <a:srgbClr val="FF9900"/>
              </a:solidFill>
              <a:latin typeface="Gabarito"/>
              <a:ea typeface="Gabarito"/>
              <a:cs typeface="Gabarito"/>
              <a:sym typeface="Gabarito"/>
            </a:endParaRPr>
          </a:p>
          <a:p>
            <a:pPr indent="0" lvl="0" marL="0" marR="0" rtl="0" algn="l">
              <a:lnSpc>
                <a:spcPct val="120000"/>
              </a:lnSpc>
              <a:spcBef>
                <a:spcPts val="0"/>
              </a:spcBef>
              <a:spcAft>
                <a:spcPts val="0"/>
              </a:spcAft>
              <a:buClr>
                <a:srgbClr val="FF9900"/>
              </a:buClr>
              <a:buSzPts val="2325"/>
              <a:buFont typeface="Gabarito"/>
              <a:buNone/>
            </a:pPr>
            <a:r>
              <a:rPr lang="en-US" sz="2325">
                <a:solidFill>
                  <a:srgbClr val="5B5B5B"/>
                </a:solidFill>
                <a:latin typeface="Gabarito"/>
                <a:ea typeface="Gabarito"/>
                <a:cs typeface="Gabarito"/>
                <a:sym typeface="Gabarito"/>
              </a:rPr>
              <a:t>(</a:t>
            </a:r>
            <a:r>
              <a:rPr i="0" lang="en-US" sz="2325" u="none" cap="none" strike="noStrike">
                <a:solidFill>
                  <a:srgbClr val="5B5B5B"/>
                </a:solidFill>
                <a:latin typeface="Gabarito"/>
                <a:ea typeface="Gabarito"/>
                <a:cs typeface="Gabarito"/>
                <a:sym typeface="Gabarito"/>
              </a:rPr>
              <a:t>runs on every question)</a:t>
            </a:r>
            <a:endParaRPr i="0" sz="2325" u="none" cap="none" strike="noStrike">
              <a:solidFill>
                <a:srgbClr val="5B5B5B"/>
              </a:solidFill>
              <a:latin typeface="Calibri"/>
              <a:ea typeface="Calibri"/>
              <a:cs typeface="Calibri"/>
              <a:sym typeface="Calibri"/>
            </a:endParaRPr>
          </a:p>
        </p:txBody>
      </p:sp>
      <p:sp>
        <p:nvSpPr>
          <p:cNvPr id="182" name="Google Shape;182;p6"/>
          <p:cNvSpPr/>
          <p:nvPr/>
        </p:nvSpPr>
        <p:spPr>
          <a:xfrm>
            <a:off x="9744076" y="4553290"/>
            <a:ext cx="604520" cy="604520"/>
          </a:xfrm>
          <a:prstGeom prst="roundRect">
            <a:avLst>
              <a:gd fmla="val 25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9705976" y="4534240"/>
            <a:ext cx="69088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175"/>
              <a:buFont typeface="Gabarito"/>
              <a:buNone/>
            </a:pPr>
            <a:r>
              <a:rPr b="1" i="0" lang="en-US" sz="2175" u="none" cap="none" strike="noStrike">
                <a:solidFill>
                  <a:srgbClr val="FFFFFF"/>
                </a:solidFill>
                <a:latin typeface="Gabarito"/>
                <a:ea typeface="Gabarito"/>
                <a:cs typeface="Gabarito"/>
                <a:sym typeface="Gabarito"/>
              </a:rPr>
              <a:t>1</a:t>
            </a:r>
            <a:endParaRPr b="0" i="0" sz="2175" u="none" cap="none" strike="noStrike">
              <a:solidFill>
                <a:schemeClr val="dk1"/>
              </a:solidFill>
              <a:latin typeface="Calibri"/>
              <a:ea typeface="Calibri"/>
              <a:cs typeface="Calibri"/>
              <a:sym typeface="Calibri"/>
            </a:endParaRPr>
          </a:p>
        </p:txBody>
      </p:sp>
      <p:sp>
        <p:nvSpPr>
          <p:cNvPr id="184" name="Google Shape;184;p6"/>
          <p:cNvSpPr/>
          <p:nvPr/>
        </p:nvSpPr>
        <p:spPr>
          <a:xfrm>
            <a:off x="9676656" y="5358153"/>
            <a:ext cx="830163" cy="371475"/>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Query</a:t>
            </a:r>
            <a:endParaRPr b="0" i="0" sz="2175" u="none" cap="none" strike="noStrike">
              <a:solidFill>
                <a:schemeClr val="dk1"/>
              </a:solidFill>
              <a:latin typeface="Calibri"/>
              <a:ea typeface="Calibri"/>
              <a:cs typeface="Calibri"/>
              <a:sym typeface="Calibri"/>
            </a:endParaRPr>
          </a:p>
        </p:txBody>
      </p:sp>
      <p:sp>
        <p:nvSpPr>
          <p:cNvPr id="185" name="Google Shape;185;p6"/>
          <p:cNvSpPr/>
          <p:nvPr/>
        </p:nvSpPr>
        <p:spPr>
          <a:xfrm>
            <a:off x="10708481" y="4653303"/>
            <a:ext cx="361950" cy="381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250"/>
              <a:buFont typeface="Gabarito"/>
              <a:buNone/>
            </a:pPr>
            <a:r>
              <a:rPr b="0" i="0" lang="en-US" sz="2250" u="none" cap="none" strike="noStrike">
                <a:solidFill>
                  <a:srgbClr val="78746A"/>
                </a:solidFill>
                <a:latin typeface="Gabarito"/>
                <a:ea typeface="Gabarito"/>
                <a:cs typeface="Gabarito"/>
                <a:sym typeface="Gabarito"/>
              </a:rPr>
              <a:t>→</a:t>
            </a:r>
            <a:endParaRPr b="0" i="0" sz="2250" u="none" cap="none" strike="noStrike">
              <a:solidFill>
                <a:schemeClr val="dk1"/>
              </a:solidFill>
              <a:latin typeface="Calibri"/>
              <a:ea typeface="Calibri"/>
              <a:cs typeface="Calibri"/>
              <a:sym typeface="Calibri"/>
            </a:endParaRPr>
          </a:p>
        </p:txBody>
      </p:sp>
      <p:sp>
        <p:nvSpPr>
          <p:cNvPr id="186" name="Google Shape;186;p6"/>
          <p:cNvSpPr/>
          <p:nvPr/>
        </p:nvSpPr>
        <p:spPr>
          <a:xfrm>
            <a:off x="11325226" y="4553290"/>
            <a:ext cx="604520" cy="604520"/>
          </a:xfrm>
          <a:prstGeom prst="roundRect">
            <a:avLst>
              <a:gd fmla="val 25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
          <p:cNvSpPr/>
          <p:nvPr/>
        </p:nvSpPr>
        <p:spPr>
          <a:xfrm>
            <a:off x="11287126" y="4534240"/>
            <a:ext cx="69088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175"/>
              <a:buFont typeface="Gabarito"/>
              <a:buNone/>
            </a:pPr>
            <a:r>
              <a:rPr b="1" i="0" lang="en-US" sz="2175" u="none" cap="none" strike="noStrike">
                <a:solidFill>
                  <a:srgbClr val="FFFFFF"/>
                </a:solidFill>
                <a:latin typeface="Gabarito"/>
                <a:ea typeface="Gabarito"/>
                <a:cs typeface="Gabarito"/>
                <a:sym typeface="Gabarito"/>
              </a:rPr>
              <a:t>2</a:t>
            </a:r>
            <a:endParaRPr b="0" i="0" sz="2175" u="none" cap="none" strike="noStrike">
              <a:solidFill>
                <a:schemeClr val="dk1"/>
              </a:solidFill>
              <a:latin typeface="Calibri"/>
              <a:ea typeface="Calibri"/>
              <a:cs typeface="Calibri"/>
              <a:sym typeface="Calibri"/>
            </a:endParaRPr>
          </a:p>
        </p:txBody>
      </p:sp>
      <p:sp>
        <p:nvSpPr>
          <p:cNvPr id="188" name="Google Shape;188;p6"/>
          <p:cNvSpPr/>
          <p:nvPr/>
        </p:nvSpPr>
        <p:spPr>
          <a:xfrm>
            <a:off x="11134725" y="5358153"/>
            <a:ext cx="1076325" cy="70485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Embed Query</a:t>
            </a:r>
            <a:endParaRPr b="0" i="0" sz="2175" u="none" cap="none" strike="noStrike">
              <a:solidFill>
                <a:schemeClr val="dk1"/>
              </a:solidFill>
              <a:latin typeface="Calibri"/>
              <a:ea typeface="Calibri"/>
              <a:cs typeface="Calibri"/>
              <a:sym typeface="Calibri"/>
            </a:endParaRPr>
          </a:p>
        </p:txBody>
      </p:sp>
      <p:sp>
        <p:nvSpPr>
          <p:cNvPr id="189" name="Google Shape;189;p6"/>
          <p:cNvSpPr/>
          <p:nvPr/>
        </p:nvSpPr>
        <p:spPr>
          <a:xfrm>
            <a:off x="12289631" y="4653303"/>
            <a:ext cx="361950" cy="381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250"/>
              <a:buFont typeface="Gabarito"/>
              <a:buNone/>
            </a:pPr>
            <a:r>
              <a:rPr b="0" i="0" lang="en-US" sz="2250" u="none" cap="none" strike="noStrike">
                <a:solidFill>
                  <a:srgbClr val="78746A"/>
                </a:solidFill>
                <a:latin typeface="Gabarito"/>
                <a:ea typeface="Gabarito"/>
                <a:cs typeface="Gabarito"/>
                <a:sym typeface="Gabarito"/>
              </a:rPr>
              <a:t>→</a:t>
            </a:r>
            <a:endParaRPr b="0" i="0" sz="2250" u="none" cap="none" strike="noStrike">
              <a:solidFill>
                <a:schemeClr val="dk1"/>
              </a:solidFill>
              <a:latin typeface="Calibri"/>
              <a:ea typeface="Calibri"/>
              <a:cs typeface="Calibri"/>
              <a:sym typeface="Calibri"/>
            </a:endParaRPr>
          </a:p>
        </p:txBody>
      </p:sp>
      <p:sp>
        <p:nvSpPr>
          <p:cNvPr id="190" name="Google Shape;190;p6"/>
          <p:cNvSpPr/>
          <p:nvPr/>
        </p:nvSpPr>
        <p:spPr>
          <a:xfrm>
            <a:off x="12906376" y="4553290"/>
            <a:ext cx="604520" cy="604520"/>
          </a:xfrm>
          <a:prstGeom prst="roundRect">
            <a:avLst>
              <a:gd fmla="val 25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6"/>
          <p:cNvSpPr/>
          <p:nvPr/>
        </p:nvSpPr>
        <p:spPr>
          <a:xfrm>
            <a:off x="12868276" y="4534240"/>
            <a:ext cx="69088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175"/>
              <a:buFont typeface="Gabarito"/>
              <a:buNone/>
            </a:pPr>
            <a:r>
              <a:rPr b="1" i="0" lang="en-US" sz="2175" u="none" cap="none" strike="noStrike">
                <a:solidFill>
                  <a:srgbClr val="FFFFFF"/>
                </a:solidFill>
                <a:latin typeface="Gabarito"/>
                <a:ea typeface="Gabarito"/>
                <a:cs typeface="Gabarito"/>
                <a:sym typeface="Gabarito"/>
              </a:rPr>
              <a:t>3</a:t>
            </a:r>
            <a:endParaRPr b="0" i="0" sz="2175" u="none" cap="none" strike="noStrike">
              <a:solidFill>
                <a:schemeClr val="dk1"/>
              </a:solidFill>
              <a:latin typeface="Calibri"/>
              <a:ea typeface="Calibri"/>
              <a:cs typeface="Calibri"/>
              <a:sym typeface="Calibri"/>
            </a:endParaRPr>
          </a:p>
        </p:txBody>
      </p:sp>
      <p:sp>
        <p:nvSpPr>
          <p:cNvPr id="192" name="Google Shape;192;p6"/>
          <p:cNvSpPr/>
          <p:nvPr/>
        </p:nvSpPr>
        <p:spPr>
          <a:xfrm>
            <a:off x="12709178" y="5358153"/>
            <a:ext cx="1089868" cy="371475"/>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Retrieve</a:t>
            </a:r>
            <a:endParaRPr b="0" i="0" sz="2175" u="none" cap="none" strike="noStrike">
              <a:solidFill>
                <a:schemeClr val="dk1"/>
              </a:solidFill>
              <a:latin typeface="Calibri"/>
              <a:ea typeface="Calibri"/>
              <a:cs typeface="Calibri"/>
              <a:sym typeface="Calibri"/>
            </a:endParaRPr>
          </a:p>
        </p:txBody>
      </p:sp>
      <p:sp>
        <p:nvSpPr>
          <p:cNvPr id="193" name="Google Shape;193;p6"/>
          <p:cNvSpPr/>
          <p:nvPr/>
        </p:nvSpPr>
        <p:spPr>
          <a:xfrm>
            <a:off x="13870781" y="4653303"/>
            <a:ext cx="361950" cy="381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250"/>
              <a:buFont typeface="Gabarito"/>
              <a:buNone/>
            </a:pPr>
            <a:r>
              <a:rPr b="0" i="0" lang="en-US" sz="2250" u="none" cap="none" strike="noStrike">
                <a:solidFill>
                  <a:srgbClr val="78746A"/>
                </a:solidFill>
                <a:latin typeface="Gabarito"/>
                <a:ea typeface="Gabarito"/>
                <a:cs typeface="Gabarito"/>
                <a:sym typeface="Gabarito"/>
              </a:rPr>
              <a:t>→</a:t>
            </a:r>
            <a:endParaRPr b="0" i="0" sz="2250" u="none" cap="none" strike="noStrike">
              <a:solidFill>
                <a:schemeClr val="dk1"/>
              </a:solidFill>
              <a:latin typeface="Calibri"/>
              <a:ea typeface="Calibri"/>
              <a:cs typeface="Calibri"/>
              <a:sym typeface="Calibri"/>
            </a:endParaRPr>
          </a:p>
        </p:txBody>
      </p:sp>
      <p:sp>
        <p:nvSpPr>
          <p:cNvPr id="194" name="Google Shape;194;p6"/>
          <p:cNvSpPr/>
          <p:nvPr/>
        </p:nvSpPr>
        <p:spPr>
          <a:xfrm>
            <a:off x="14487526" y="4553290"/>
            <a:ext cx="604520" cy="604520"/>
          </a:xfrm>
          <a:prstGeom prst="roundRect">
            <a:avLst>
              <a:gd fmla="val 25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14449426" y="4534240"/>
            <a:ext cx="69088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175"/>
              <a:buFont typeface="Gabarito"/>
              <a:buNone/>
            </a:pPr>
            <a:r>
              <a:rPr b="1" i="0" lang="en-US" sz="2175" u="none" cap="none" strike="noStrike">
                <a:solidFill>
                  <a:srgbClr val="FFFFFF"/>
                </a:solidFill>
                <a:latin typeface="Gabarito"/>
                <a:ea typeface="Gabarito"/>
                <a:cs typeface="Gabarito"/>
                <a:sym typeface="Gabarito"/>
              </a:rPr>
              <a:t>4</a:t>
            </a:r>
            <a:endParaRPr b="0" i="0" sz="2175" u="none" cap="none" strike="noStrike">
              <a:solidFill>
                <a:schemeClr val="dk1"/>
              </a:solidFill>
              <a:latin typeface="Calibri"/>
              <a:ea typeface="Calibri"/>
              <a:cs typeface="Calibri"/>
              <a:sym typeface="Calibri"/>
            </a:endParaRPr>
          </a:p>
        </p:txBody>
      </p:sp>
      <p:sp>
        <p:nvSpPr>
          <p:cNvPr id="196" name="Google Shape;196;p6"/>
          <p:cNvSpPr/>
          <p:nvPr/>
        </p:nvSpPr>
        <p:spPr>
          <a:xfrm>
            <a:off x="14234517" y="5358153"/>
            <a:ext cx="1201489" cy="371475"/>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Augment</a:t>
            </a:r>
            <a:endParaRPr b="0" i="0" sz="2175" u="none" cap="none" strike="noStrike">
              <a:solidFill>
                <a:schemeClr val="dk1"/>
              </a:solidFill>
              <a:latin typeface="Calibri"/>
              <a:ea typeface="Calibri"/>
              <a:cs typeface="Calibri"/>
              <a:sym typeface="Calibri"/>
            </a:endParaRPr>
          </a:p>
        </p:txBody>
      </p:sp>
      <p:sp>
        <p:nvSpPr>
          <p:cNvPr id="197" name="Google Shape;197;p6"/>
          <p:cNvSpPr/>
          <p:nvPr/>
        </p:nvSpPr>
        <p:spPr>
          <a:xfrm>
            <a:off x="15451931" y="4653303"/>
            <a:ext cx="361950" cy="381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2250"/>
              <a:buFont typeface="Gabarito"/>
              <a:buNone/>
            </a:pPr>
            <a:r>
              <a:rPr b="0" i="0" lang="en-US" sz="2250" u="none" cap="none" strike="noStrike">
                <a:solidFill>
                  <a:srgbClr val="78746A"/>
                </a:solidFill>
                <a:latin typeface="Gabarito"/>
                <a:ea typeface="Gabarito"/>
                <a:cs typeface="Gabarito"/>
                <a:sym typeface="Gabarito"/>
              </a:rPr>
              <a:t>→</a:t>
            </a:r>
            <a:endParaRPr b="0" i="0" sz="2250" u="none" cap="none" strike="noStrike">
              <a:solidFill>
                <a:schemeClr val="dk1"/>
              </a:solidFill>
              <a:latin typeface="Calibri"/>
              <a:ea typeface="Calibri"/>
              <a:cs typeface="Calibri"/>
              <a:sym typeface="Calibri"/>
            </a:endParaRPr>
          </a:p>
        </p:txBody>
      </p:sp>
      <p:sp>
        <p:nvSpPr>
          <p:cNvPr id="198" name="Google Shape;198;p6"/>
          <p:cNvSpPr/>
          <p:nvPr/>
        </p:nvSpPr>
        <p:spPr>
          <a:xfrm>
            <a:off x="16068675" y="4553290"/>
            <a:ext cx="604520" cy="604520"/>
          </a:xfrm>
          <a:prstGeom prst="roundRect">
            <a:avLst>
              <a:gd fmla="val 25000" name="adj"/>
            </a:avLst>
          </a:prstGeom>
          <a:solidFill>
            <a:srgbClr val="D97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6"/>
          <p:cNvSpPr/>
          <p:nvPr/>
        </p:nvSpPr>
        <p:spPr>
          <a:xfrm>
            <a:off x="16030575" y="4534240"/>
            <a:ext cx="690880" cy="6477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175"/>
              <a:buFont typeface="Gabarito"/>
              <a:buNone/>
            </a:pPr>
            <a:r>
              <a:rPr b="1" i="0" lang="en-US" sz="2175" u="none" cap="none" strike="noStrike">
                <a:solidFill>
                  <a:srgbClr val="FFFFFF"/>
                </a:solidFill>
                <a:latin typeface="Gabarito"/>
                <a:ea typeface="Gabarito"/>
                <a:cs typeface="Gabarito"/>
                <a:sym typeface="Gabarito"/>
              </a:rPr>
              <a:t>5</a:t>
            </a:r>
            <a:endParaRPr b="0" i="0" sz="2175" u="none" cap="none" strike="noStrike">
              <a:solidFill>
                <a:schemeClr val="dk1"/>
              </a:solidFill>
              <a:latin typeface="Calibri"/>
              <a:ea typeface="Calibri"/>
              <a:cs typeface="Calibri"/>
              <a:sym typeface="Calibri"/>
            </a:endParaRPr>
          </a:p>
        </p:txBody>
      </p:sp>
      <p:sp>
        <p:nvSpPr>
          <p:cNvPr id="200" name="Google Shape;200;p6"/>
          <p:cNvSpPr/>
          <p:nvPr/>
        </p:nvSpPr>
        <p:spPr>
          <a:xfrm>
            <a:off x="15813881" y="5358153"/>
            <a:ext cx="1205061" cy="371475"/>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175"/>
              <a:buFont typeface="Gabarito"/>
              <a:buNone/>
            </a:pPr>
            <a:r>
              <a:rPr b="1" i="0" lang="en-US" sz="2175" u="none" cap="none" strike="noStrike">
                <a:solidFill>
                  <a:srgbClr val="274D71"/>
                </a:solidFill>
                <a:latin typeface="Gabarito"/>
                <a:ea typeface="Gabarito"/>
                <a:cs typeface="Gabarito"/>
                <a:sym typeface="Gabarito"/>
              </a:rPr>
              <a:t>Generate</a:t>
            </a:r>
            <a:endParaRPr b="0" i="0" sz="2175" u="none" cap="none" strike="noStrike">
              <a:solidFill>
                <a:schemeClr val="dk1"/>
              </a:solidFill>
              <a:latin typeface="Calibri"/>
              <a:ea typeface="Calibri"/>
              <a:cs typeface="Calibri"/>
              <a:sym typeface="Calibri"/>
            </a:endParaRPr>
          </a:p>
        </p:txBody>
      </p:sp>
      <p:sp>
        <p:nvSpPr>
          <p:cNvPr id="201" name="Google Shape;201;p6"/>
          <p:cNvSpPr/>
          <p:nvPr/>
        </p:nvSpPr>
        <p:spPr>
          <a:xfrm>
            <a:off x="1047750" y="6600825"/>
            <a:ext cx="16192500" cy="1352550"/>
          </a:xfrm>
          <a:prstGeom prst="roundRect">
            <a:avLst>
              <a:gd fmla="val 11268" name="adj"/>
            </a:avLst>
          </a:prstGeom>
          <a:solidFill>
            <a:srgbClr val="035595">
              <a:alpha val="5098"/>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a:off x="1390650" y="6829350"/>
            <a:ext cx="15992400" cy="8574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035595"/>
              </a:buClr>
              <a:buSzPts val="2700"/>
              <a:buFont typeface="Gabarito"/>
              <a:buNone/>
            </a:pPr>
            <a:r>
              <a:rPr b="1" i="0" lang="en-US" sz="2700" u="none" cap="none" strike="noStrike">
                <a:solidFill>
                  <a:srgbClr val="035595"/>
                </a:solidFill>
                <a:latin typeface="Gabarito"/>
                <a:ea typeface="Gabarito"/>
                <a:cs typeface="Gabarito"/>
                <a:sym typeface="Gabarito"/>
              </a:rPr>
              <a:t>Key Distinction: </a:t>
            </a:r>
            <a:r>
              <a:rPr b="0" i="0" lang="en-US" sz="2700" u="none" cap="none" strike="noStrike">
                <a:solidFill>
                  <a:srgbClr val="37474F"/>
                </a:solidFill>
                <a:latin typeface="Gabarito"/>
                <a:ea typeface="Gabarito"/>
                <a:cs typeface="Gabarito"/>
                <a:sym typeface="Gabarito"/>
              </a:rPr>
              <a:t>only the incoming query gets embedded </a:t>
            </a:r>
            <a:r>
              <a:rPr lang="en-US" sz="2700">
                <a:solidFill>
                  <a:srgbClr val="37474F"/>
                </a:solidFill>
                <a:latin typeface="Gabarito"/>
                <a:ea typeface="Gabarito"/>
                <a:cs typeface="Gabarito"/>
                <a:sym typeface="Gabarito"/>
              </a:rPr>
              <a:t>live</a:t>
            </a:r>
            <a:r>
              <a:rPr b="0" i="0" lang="en-US" sz="2700" u="none" cap="none" strike="noStrike">
                <a:solidFill>
                  <a:srgbClr val="37474F"/>
                </a:solidFill>
                <a:latin typeface="Gabarito"/>
                <a:ea typeface="Gabarito"/>
                <a:cs typeface="Gabarito"/>
                <a:sym typeface="Gabarito"/>
              </a:rPr>
              <a:t>. Do</a:t>
            </a:r>
            <a:r>
              <a:rPr lang="en-US" sz="2700">
                <a:solidFill>
                  <a:srgbClr val="37474F"/>
                </a:solidFill>
                <a:latin typeface="Gabarito"/>
                <a:ea typeface="Gabarito"/>
                <a:cs typeface="Gabarito"/>
                <a:sym typeface="Gabarito"/>
              </a:rPr>
              <a:t>c</a:t>
            </a:r>
            <a:r>
              <a:rPr b="0" i="0" lang="en-US" sz="2700" u="none" cap="none" strike="noStrike">
                <a:solidFill>
                  <a:srgbClr val="37474F"/>
                </a:solidFill>
                <a:latin typeface="Gabarito"/>
                <a:ea typeface="Gabarito"/>
                <a:cs typeface="Gabarito"/>
                <a:sym typeface="Gabarito"/>
              </a:rPr>
              <a:t>uments are already embedded and waiting in the vector database.</a:t>
            </a:r>
            <a:endParaRPr b="0" i="0" sz="1200" u="none" cap="none" strike="noStrike">
              <a:solidFill>
                <a:schemeClr val="dk1"/>
              </a:solidFill>
              <a:latin typeface="Calibri"/>
              <a:ea typeface="Calibri"/>
              <a:cs typeface="Calibri"/>
              <a:sym typeface="Calibri"/>
            </a:endParaRPr>
          </a:p>
        </p:txBody>
      </p:sp>
      <p:sp>
        <p:nvSpPr>
          <p:cNvPr id="203" name="Google Shape;203;p6"/>
          <p:cNvSpPr/>
          <p:nvPr/>
        </p:nvSpPr>
        <p:spPr>
          <a:xfrm>
            <a:off x="1047750" y="8143875"/>
            <a:ext cx="16192500" cy="1352550"/>
          </a:xfrm>
          <a:prstGeom prst="roundRect">
            <a:avLst>
              <a:gd fmla="val 11268"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p:nvPr/>
        </p:nvSpPr>
        <p:spPr>
          <a:xfrm>
            <a:off x="1436000" y="8380300"/>
            <a:ext cx="15582900" cy="8574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FF9900"/>
              </a:buClr>
              <a:buSzPts val="2700"/>
              <a:buFont typeface="Gabarito"/>
              <a:buNone/>
            </a:pPr>
            <a:r>
              <a:rPr b="1" i="0" lang="en-US" sz="2700" u="none" cap="none" strike="noStrike">
                <a:solidFill>
                  <a:srgbClr val="FF9900"/>
                </a:solidFill>
                <a:latin typeface="Gabarito"/>
                <a:ea typeface="Gabarito"/>
                <a:cs typeface="Gabarito"/>
                <a:sym typeface="Gabarito"/>
              </a:rPr>
              <a:t>Why it matters: </a:t>
            </a:r>
            <a:r>
              <a:rPr b="0" i="0" lang="en-US" sz="2700" u="none" cap="none" strike="noStrike">
                <a:solidFill>
                  <a:srgbClr val="5B5B5B"/>
                </a:solidFill>
                <a:latin typeface="Gabarito"/>
                <a:ea typeface="Gabarito"/>
                <a:cs typeface="Gabarito"/>
                <a:sym typeface="Gabarito"/>
              </a:rPr>
              <a:t>understanding this split prevents the most common mix-up </a:t>
            </a:r>
            <a:r>
              <a:rPr lang="en-US" sz="2700">
                <a:solidFill>
                  <a:srgbClr val="5B5B5B"/>
                </a:solidFill>
                <a:latin typeface="Gabarito"/>
                <a:ea typeface="Gabarito"/>
                <a:cs typeface="Gabarito"/>
                <a:sym typeface="Gabarito"/>
              </a:rPr>
              <a:t>-</a:t>
            </a:r>
            <a:r>
              <a:rPr b="0" i="0" lang="en-US" sz="2700" u="none" cap="none" strike="noStrike">
                <a:solidFill>
                  <a:srgbClr val="5B5B5B"/>
                </a:solidFill>
                <a:latin typeface="Gabarito"/>
                <a:ea typeface="Gabarito"/>
                <a:cs typeface="Gabarito"/>
                <a:sym typeface="Gabarito"/>
              </a:rPr>
              <a:t> thinking the whole document library gets re-processed every time someone asks a question.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pic>
        <p:nvPicPr>
          <p:cNvPr descr="preencoded.png" id="210" name="Google Shape;210;p7"/>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211" name="Google Shape;211;p7"/>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Process</a:t>
            </a:r>
            <a:endParaRPr b="0" i="0" sz="3000" u="none" cap="none" strike="noStrike">
              <a:solidFill>
                <a:schemeClr val="dk1"/>
              </a:solidFill>
              <a:latin typeface="Calibri"/>
              <a:ea typeface="Calibri"/>
              <a:cs typeface="Calibri"/>
              <a:sym typeface="Calibri"/>
            </a:endParaRPr>
          </a:p>
        </p:txBody>
      </p:sp>
      <p:sp>
        <p:nvSpPr>
          <p:cNvPr id="212" name="Google Shape;212;p7"/>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The Five-Stage Pipeline</a:t>
            </a:r>
            <a:endParaRPr b="0" i="0" sz="6000" u="none" cap="none" strike="noStrike">
              <a:solidFill>
                <a:schemeClr val="dk1"/>
              </a:solidFill>
              <a:latin typeface="Calibri"/>
              <a:ea typeface="Calibri"/>
              <a:cs typeface="Calibri"/>
              <a:sym typeface="Calibri"/>
            </a:endParaRPr>
          </a:p>
        </p:txBody>
      </p:sp>
      <p:sp>
        <p:nvSpPr>
          <p:cNvPr id="213" name="Google Shape;213;p7"/>
          <p:cNvSpPr/>
          <p:nvPr/>
        </p:nvSpPr>
        <p:spPr>
          <a:xfrm>
            <a:off x="1047750" y="2214563"/>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2121"/>
              </a:buClr>
              <a:buSzPts val="2775"/>
              <a:buFont typeface="Gabarito"/>
              <a:buNone/>
            </a:pPr>
            <a:r>
              <a:rPr b="0" i="0" lang="en-US" sz="3000" u="none" cap="none" strike="noStrike">
                <a:solidFill>
                  <a:srgbClr val="212121"/>
                </a:solidFill>
                <a:latin typeface="Gabarito"/>
                <a:ea typeface="Gabarito"/>
                <a:cs typeface="Gabarito"/>
                <a:sym typeface="Gabarito"/>
              </a:rPr>
              <a:t>Once a user asks a question, RAG moves through </a:t>
            </a:r>
            <a:r>
              <a:rPr b="1" i="0" lang="en-US" sz="3000" u="none" cap="none" strike="noStrike">
                <a:solidFill>
                  <a:srgbClr val="1E4E79"/>
                </a:solidFill>
                <a:latin typeface="Gabarito"/>
                <a:ea typeface="Gabarito"/>
                <a:cs typeface="Gabarito"/>
                <a:sym typeface="Gabarito"/>
              </a:rPr>
              <a:t>five stages </a:t>
            </a:r>
            <a:r>
              <a:rPr b="0" i="0" lang="en-US" sz="3000" u="none" cap="none" strike="noStrike">
                <a:solidFill>
                  <a:srgbClr val="212121"/>
                </a:solidFill>
                <a:latin typeface="Gabarito"/>
                <a:ea typeface="Gabarito"/>
                <a:cs typeface="Gabarito"/>
                <a:sym typeface="Gabarito"/>
              </a:rPr>
              <a:t>to produce an answer.</a:t>
            </a:r>
            <a:endParaRPr b="0" i="0" sz="3000" u="none" cap="none" strike="noStrike">
              <a:solidFill>
                <a:schemeClr val="dk1"/>
              </a:solidFill>
              <a:latin typeface="Calibri"/>
              <a:ea typeface="Calibri"/>
              <a:cs typeface="Calibri"/>
              <a:sym typeface="Calibri"/>
            </a:endParaRPr>
          </a:p>
        </p:txBody>
      </p:sp>
      <p:sp>
        <p:nvSpPr>
          <p:cNvPr id="214" name="Google Shape;214;p7"/>
          <p:cNvSpPr/>
          <p:nvPr/>
        </p:nvSpPr>
        <p:spPr>
          <a:xfrm>
            <a:off x="1381125" y="3191209"/>
            <a:ext cx="762000" cy="762000"/>
          </a:xfrm>
          <a:prstGeom prst="roundRect">
            <a:avLst>
              <a:gd fmla="val 20000" name="adj"/>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7"/>
          <p:cNvSpPr/>
          <p:nvPr/>
        </p:nvSpPr>
        <p:spPr>
          <a:xfrm>
            <a:off x="1343025" y="3172159"/>
            <a:ext cx="838200" cy="8001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625"/>
              <a:buFont typeface="Gabarito"/>
              <a:buNone/>
            </a:pPr>
            <a:r>
              <a:rPr b="1" i="0" lang="en-US" sz="2625" u="none" cap="none" strike="noStrike">
                <a:solidFill>
                  <a:srgbClr val="FFFFFF"/>
                </a:solidFill>
                <a:latin typeface="Gabarito"/>
                <a:ea typeface="Gabarito"/>
                <a:cs typeface="Gabarito"/>
                <a:sym typeface="Gabarito"/>
              </a:rPr>
              <a:t>1</a:t>
            </a:r>
            <a:endParaRPr b="0" i="0" sz="2625" u="none" cap="none" strike="noStrike">
              <a:solidFill>
                <a:schemeClr val="dk1"/>
              </a:solidFill>
              <a:latin typeface="Calibri"/>
              <a:ea typeface="Calibri"/>
              <a:cs typeface="Calibri"/>
              <a:sym typeface="Calibri"/>
            </a:endParaRPr>
          </a:p>
        </p:txBody>
      </p:sp>
      <p:sp>
        <p:nvSpPr>
          <p:cNvPr id="216" name="Google Shape;216;p7"/>
          <p:cNvSpPr/>
          <p:nvPr/>
        </p:nvSpPr>
        <p:spPr>
          <a:xfrm>
            <a:off x="1028562" y="4116493"/>
            <a:ext cx="15432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325"/>
              <a:buFont typeface="Gabarito"/>
              <a:buNone/>
            </a:pPr>
            <a:r>
              <a:rPr b="1" i="0" lang="en-US" sz="2500" u="none" cap="none" strike="noStrike">
                <a:solidFill>
                  <a:srgbClr val="274D71"/>
                </a:solidFill>
                <a:latin typeface="Gabarito"/>
                <a:ea typeface="Gabarito"/>
                <a:cs typeface="Gabarito"/>
                <a:sym typeface="Gabarito"/>
              </a:rPr>
              <a:t>Query</a:t>
            </a:r>
            <a:endParaRPr b="0" i="0" sz="2500" u="none" cap="none" strike="noStrike">
              <a:solidFill>
                <a:schemeClr val="dk1"/>
              </a:solidFill>
              <a:latin typeface="Calibri"/>
              <a:ea typeface="Calibri"/>
              <a:cs typeface="Calibri"/>
              <a:sym typeface="Calibri"/>
            </a:endParaRPr>
          </a:p>
        </p:txBody>
      </p:sp>
      <p:sp>
        <p:nvSpPr>
          <p:cNvPr id="217" name="Google Shape;217;p7"/>
          <p:cNvSpPr/>
          <p:nvPr/>
        </p:nvSpPr>
        <p:spPr>
          <a:xfrm>
            <a:off x="3417094" y="3548397"/>
            <a:ext cx="4572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3000"/>
              <a:buFont typeface="Gabarito"/>
              <a:buNone/>
            </a:pPr>
            <a:r>
              <a:rPr b="0" i="0" lang="en-US" sz="3000" u="none" cap="none" strike="noStrike">
                <a:solidFill>
                  <a:srgbClr val="78746A"/>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218" name="Google Shape;218;p7"/>
          <p:cNvSpPr/>
          <p:nvPr/>
        </p:nvSpPr>
        <p:spPr>
          <a:xfrm>
            <a:off x="5072063" y="3191209"/>
            <a:ext cx="762000" cy="762000"/>
          </a:xfrm>
          <a:prstGeom prst="roundRect">
            <a:avLst>
              <a:gd fmla="val 20000"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7"/>
          <p:cNvSpPr/>
          <p:nvPr/>
        </p:nvSpPr>
        <p:spPr>
          <a:xfrm>
            <a:off x="5033963" y="3172159"/>
            <a:ext cx="838200" cy="8001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625"/>
              <a:buFont typeface="Gabarito"/>
              <a:buNone/>
            </a:pPr>
            <a:r>
              <a:rPr b="1" i="0" lang="en-US" sz="2625" u="none" cap="none" strike="noStrike">
                <a:solidFill>
                  <a:srgbClr val="FFFFFF"/>
                </a:solidFill>
                <a:latin typeface="Gabarito"/>
                <a:ea typeface="Gabarito"/>
                <a:cs typeface="Gabarito"/>
                <a:sym typeface="Gabarito"/>
              </a:rPr>
              <a:t>2</a:t>
            </a:r>
            <a:endParaRPr b="0" i="0" sz="2625" u="none" cap="none" strike="noStrike">
              <a:solidFill>
                <a:schemeClr val="dk1"/>
              </a:solidFill>
              <a:latin typeface="Calibri"/>
              <a:ea typeface="Calibri"/>
              <a:cs typeface="Calibri"/>
              <a:sym typeface="Calibri"/>
            </a:endParaRPr>
          </a:p>
        </p:txBody>
      </p:sp>
      <p:sp>
        <p:nvSpPr>
          <p:cNvPr id="220" name="Google Shape;220;p7"/>
          <p:cNvSpPr/>
          <p:nvPr/>
        </p:nvSpPr>
        <p:spPr>
          <a:xfrm>
            <a:off x="4636444" y="4116493"/>
            <a:ext cx="17094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325"/>
              <a:buFont typeface="Gabarito"/>
              <a:buNone/>
            </a:pPr>
            <a:r>
              <a:rPr b="1" i="0" lang="en-US" sz="2500" u="none" cap="none" strike="noStrike">
                <a:solidFill>
                  <a:srgbClr val="274D71"/>
                </a:solidFill>
                <a:latin typeface="Gabarito"/>
                <a:ea typeface="Gabarito"/>
                <a:cs typeface="Gabarito"/>
                <a:sym typeface="Gabarito"/>
              </a:rPr>
              <a:t>Embed</a:t>
            </a:r>
            <a:endParaRPr b="0" i="0" sz="2500" u="none" cap="none" strike="noStrike">
              <a:solidFill>
                <a:schemeClr val="dk1"/>
              </a:solidFill>
              <a:latin typeface="Calibri"/>
              <a:ea typeface="Calibri"/>
              <a:cs typeface="Calibri"/>
              <a:sym typeface="Calibri"/>
            </a:endParaRPr>
          </a:p>
        </p:txBody>
      </p:sp>
      <p:sp>
        <p:nvSpPr>
          <p:cNvPr id="221" name="Google Shape;221;p7"/>
          <p:cNvSpPr/>
          <p:nvPr/>
        </p:nvSpPr>
        <p:spPr>
          <a:xfrm>
            <a:off x="7108031" y="3548397"/>
            <a:ext cx="4572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3000"/>
              <a:buFont typeface="Gabarito"/>
              <a:buNone/>
            </a:pPr>
            <a:r>
              <a:rPr b="0" i="0" lang="en-US" sz="3000" u="none" cap="none" strike="noStrike">
                <a:solidFill>
                  <a:srgbClr val="78746A"/>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222" name="Google Shape;222;p7"/>
          <p:cNvSpPr/>
          <p:nvPr/>
        </p:nvSpPr>
        <p:spPr>
          <a:xfrm>
            <a:off x="8763000" y="3191209"/>
            <a:ext cx="762000" cy="762000"/>
          </a:xfrm>
          <a:prstGeom prst="roundRect">
            <a:avLst>
              <a:gd fmla="val 20000" name="adj"/>
            </a:avLst>
          </a:prstGeom>
          <a:solidFill>
            <a:srgbClr val="0355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7"/>
          <p:cNvSpPr/>
          <p:nvPr/>
        </p:nvSpPr>
        <p:spPr>
          <a:xfrm>
            <a:off x="8724900" y="3172159"/>
            <a:ext cx="838200" cy="8001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625"/>
              <a:buFont typeface="Gabarito"/>
              <a:buNone/>
            </a:pPr>
            <a:r>
              <a:rPr b="1" i="0" lang="en-US" sz="2625" u="none" cap="none" strike="noStrike">
                <a:solidFill>
                  <a:srgbClr val="FFFFFF"/>
                </a:solidFill>
                <a:latin typeface="Gabarito"/>
                <a:ea typeface="Gabarito"/>
                <a:cs typeface="Gabarito"/>
                <a:sym typeface="Gabarito"/>
              </a:rPr>
              <a:t>3</a:t>
            </a:r>
            <a:endParaRPr b="0" i="0" sz="2625" u="none" cap="none" strike="noStrike">
              <a:solidFill>
                <a:schemeClr val="dk1"/>
              </a:solidFill>
              <a:latin typeface="Calibri"/>
              <a:ea typeface="Calibri"/>
              <a:cs typeface="Calibri"/>
              <a:sym typeface="Calibri"/>
            </a:endParaRPr>
          </a:p>
        </p:txBody>
      </p:sp>
      <p:sp>
        <p:nvSpPr>
          <p:cNvPr id="224" name="Google Shape;224;p7"/>
          <p:cNvSpPr/>
          <p:nvPr/>
        </p:nvSpPr>
        <p:spPr>
          <a:xfrm>
            <a:off x="8167518" y="4116493"/>
            <a:ext cx="20289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325"/>
              <a:buFont typeface="Gabarito"/>
              <a:buNone/>
            </a:pPr>
            <a:r>
              <a:rPr b="1" i="0" lang="en-US" sz="2500" u="none" cap="none" strike="noStrike">
                <a:solidFill>
                  <a:srgbClr val="274D71"/>
                </a:solidFill>
                <a:latin typeface="Gabarito"/>
                <a:ea typeface="Gabarito"/>
                <a:cs typeface="Gabarito"/>
                <a:sym typeface="Gabarito"/>
                <a:extLst>
                  <a:ext uri="http://customooxmlschemas.google.com/">
                    <go:slidesCustomData xmlns:go="http://customooxmlschemas.google.com/" textRoundtripDataId="1"/>
                  </a:ext>
                </a:extLst>
              </a:rPr>
              <a:t>Retriev</a:t>
            </a:r>
            <a:r>
              <a:rPr b="1" lang="en-US" sz="2500">
                <a:solidFill>
                  <a:srgbClr val="274D71"/>
                </a:solidFill>
                <a:latin typeface="Gabarito"/>
                <a:ea typeface="Gabarito"/>
                <a:cs typeface="Gabarito"/>
                <a:sym typeface="Gabarito"/>
              </a:rPr>
              <a:t>al</a:t>
            </a:r>
            <a:endParaRPr b="0" i="0" sz="2500" u="none" cap="none" strike="noStrike">
              <a:solidFill>
                <a:schemeClr val="dk1"/>
              </a:solidFill>
              <a:latin typeface="Calibri"/>
              <a:ea typeface="Calibri"/>
              <a:cs typeface="Calibri"/>
              <a:sym typeface="Calibri"/>
            </a:endParaRPr>
          </a:p>
        </p:txBody>
      </p:sp>
      <p:sp>
        <p:nvSpPr>
          <p:cNvPr id="225" name="Google Shape;225;p7"/>
          <p:cNvSpPr/>
          <p:nvPr/>
        </p:nvSpPr>
        <p:spPr>
          <a:xfrm>
            <a:off x="10798969" y="3548397"/>
            <a:ext cx="4572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3000"/>
              <a:buFont typeface="Gabarito"/>
              <a:buNone/>
            </a:pPr>
            <a:r>
              <a:rPr b="0" i="0" lang="en-US" sz="3000" u="none" cap="none" strike="noStrike">
                <a:solidFill>
                  <a:srgbClr val="78746A"/>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226" name="Google Shape;226;p7"/>
          <p:cNvSpPr/>
          <p:nvPr/>
        </p:nvSpPr>
        <p:spPr>
          <a:xfrm>
            <a:off x="12453938" y="3191209"/>
            <a:ext cx="762000" cy="762000"/>
          </a:xfrm>
          <a:prstGeom prst="roundRect">
            <a:avLst>
              <a:gd fmla="val 2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7"/>
          <p:cNvSpPr/>
          <p:nvPr/>
        </p:nvSpPr>
        <p:spPr>
          <a:xfrm>
            <a:off x="12415838" y="3172159"/>
            <a:ext cx="838200" cy="8001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625"/>
              <a:buFont typeface="Gabarito"/>
              <a:buNone/>
            </a:pPr>
            <a:r>
              <a:rPr b="1" i="0" lang="en-US" sz="2625" u="none" cap="none" strike="noStrike">
                <a:solidFill>
                  <a:srgbClr val="FFFFFF"/>
                </a:solidFill>
                <a:latin typeface="Gabarito"/>
                <a:ea typeface="Gabarito"/>
                <a:cs typeface="Gabarito"/>
                <a:sym typeface="Gabarito"/>
              </a:rPr>
              <a:t>4</a:t>
            </a:r>
            <a:endParaRPr b="0" i="0" sz="2625" u="none" cap="none" strike="noStrike">
              <a:solidFill>
                <a:schemeClr val="dk1"/>
              </a:solidFill>
              <a:latin typeface="Calibri"/>
              <a:ea typeface="Calibri"/>
              <a:cs typeface="Calibri"/>
              <a:sym typeface="Calibri"/>
            </a:endParaRPr>
          </a:p>
        </p:txBody>
      </p:sp>
      <p:sp>
        <p:nvSpPr>
          <p:cNvPr id="228" name="Google Shape;228;p7"/>
          <p:cNvSpPr/>
          <p:nvPr/>
        </p:nvSpPr>
        <p:spPr>
          <a:xfrm>
            <a:off x="11737525" y="4116493"/>
            <a:ext cx="23151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325"/>
              <a:buFont typeface="Gabarito"/>
              <a:buNone/>
            </a:pPr>
            <a:r>
              <a:rPr b="1" i="0" lang="en-US" sz="2500" u="none" cap="none" strike="noStrike">
                <a:solidFill>
                  <a:srgbClr val="274D71"/>
                </a:solidFill>
                <a:latin typeface="Gabarito"/>
                <a:ea typeface="Gabarito"/>
                <a:cs typeface="Gabarito"/>
                <a:sym typeface="Gabarito"/>
              </a:rPr>
              <a:t>Augment</a:t>
            </a:r>
            <a:endParaRPr b="0" i="0" sz="2500" u="none" cap="none" strike="noStrike">
              <a:solidFill>
                <a:schemeClr val="dk1"/>
              </a:solidFill>
              <a:latin typeface="Calibri"/>
              <a:ea typeface="Calibri"/>
              <a:cs typeface="Calibri"/>
              <a:sym typeface="Calibri"/>
            </a:endParaRPr>
          </a:p>
        </p:txBody>
      </p:sp>
      <p:sp>
        <p:nvSpPr>
          <p:cNvPr id="229" name="Google Shape;229;p7"/>
          <p:cNvSpPr/>
          <p:nvPr/>
        </p:nvSpPr>
        <p:spPr>
          <a:xfrm>
            <a:off x="14489906" y="3548397"/>
            <a:ext cx="4572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3000"/>
              <a:buFont typeface="Gabarito"/>
              <a:buNone/>
            </a:pPr>
            <a:r>
              <a:rPr b="0" i="0" lang="en-US" sz="3000" u="none" cap="none" strike="noStrike">
                <a:solidFill>
                  <a:srgbClr val="78746A"/>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230" name="Google Shape;230;p7"/>
          <p:cNvSpPr/>
          <p:nvPr/>
        </p:nvSpPr>
        <p:spPr>
          <a:xfrm>
            <a:off x="16144875" y="3191209"/>
            <a:ext cx="762000" cy="762000"/>
          </a:xfrm>
          <a:prstGeom prst="roundRect">
            <a:avLst>
              <a:gd fmla="val 20000" name="adj"/>
            </a:avLst>
          </a:prstGeom>
          <a:solidFill>
            <a:srgbClr val="D97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7"/>
          <p:cNvSpPr/>
          <p:nvPr/>
        </p:nvSpPr>
        <p:spPr>
          <a:xfrm>
            <a:off x="16106775" y="3172159"/>
            <a:ext cx="838200" cy="8001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625"/>
              <a:buFont typeface="Gabarito"/>
              <a:buNone/>
            </a:pPr>
            <a:r>
              <a:rPr b="1" i="0" lang="en-US" sz="2625" u="none" cap="none" strike="noStrike">
                <a:solidFill>
                  <a:srgbClr val="FFFFFF"/>
                </a:solidFill>
                <a:latin typeface="Gabarito"/>
                <a:ea typeface="Gabarito"/>
                <a:cs typeface="Gabarito"/>
                <a:sym typeface="Gabarito"/>
              </a:rPr>
              <a:t>5</a:t>
            </a:r>
            <a:endParaRPr b="0" i="0" sz="2625" u="none" cap="none" strike="noStrike">
              <a:solidFill>
                <a:schemeClr val="dk1"/>
              </a:solidFill>
              <a:latin typeface="Calibri"/>
              <a:ea typeface="Calibri"/>
              <a:cs typeface="Calibri"/>
              <a:sym typeface="Calibri"/>
            </a:endParaRPr>
          </a:p>
        </p:txBody>
      </p:sp>
      <p:sp>
        <p:nvSpPr>
          <p:cNvPr id="232" name="Google Shape;232;p7"/>
          <p:cNvSpPr/>
          <p:nvPr/>
        </p:nvSpPr>
        <p:spPr>
          <a:xfrm>
            <a:off x="15425144" y="4116493"/>
            <a:ext cx="2322000" cy="3906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325"/>
              <a:buFont typeface="Gabarito"/>
              <a:buNone/>
            </a:pPr>
            <a:r>
              <a:rPr b="1" i="0" lang="en-US" sz="2500" u="none" cap="none" strike="noStrike">
                <a:solidFill>
                  <a:srgbClr val="274D71"/>
                </a:solidFill>
                <a:latin typeface="Gabarito"/>
                <a:ea typeface="Gabarito"/>
                <a:cs typeface="Gabarito"/>
                <a:sym typeface="Gabarito"/>
              </a:rPr>
              <a:t>Generate</a:t>
            </a:r>
            <a:endParaRPr b="0" i="0" sz="2500" u="none" cap="none" strike="noStrike">
              <a:solidFill>
                <a:schemeClr val="dk1"/>
              </a:solidFill>
              <a:latin typeface="Calibri"/>
              <a:ea typeface="Calibri"/>
              <a:cs typeface="Calibri"/>
              <a:sym typeface="Calibri"/>
            </a:endParaRPr>
          </a:p>
        </p:txBody>
      </p:sp>
      <p:sp>
        <p:nvSpPr>
          <p:cNvPr id="233" name="Google Shape;233;p7"/>
          <p:cNvSpPr/>
          <p:nvPr/>
        </p:nvSpPr>
        <p:spPr>
          <a:xfrm>
            <a:off x="1047750" y="4927074"/>
            <a:ext cx="5244900" cy="3106800"/>
          </a:xfrm>
          <a:prstGeom prst="roundRect">
            <a:avLst>
              <a:gd fmla="val 4348"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
          <p:cNvSpPr/>
          <p:nvPr/>
        </p:nvSpPr>
        <p:spPr>
          <a:xfrm>
            <a:off x="1271337" y="5231867"/>
            <a:ext cx="50571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700"/>
              <a:buFont typeface="Gabarito"/>
              <a:buNone/>
            </a:pPr>
            <a:r>
              <a:rPr b="1" i="0" lang="en-US" sz="3000" u="none" cap="none" strike="noStrike">
                <a:solidFill>
                  <a:srgbClr val="035595"/>
                </a:solidFill>
                <a:latin typeface="Gabarito"/>
                <a:ea typeface="Gabarito"/>
                <a:cs typeface="Gabarito"/>
                <a:sym typeface="Gabarito"/>
              </a:rPr>
              <a:t>Query &amp; Retrieval</a:t>
            </a:r>
            <a:endParaRPr b="0" i="0" sz="3000" u="none" cap="none" strike="noStrike">
              <a:solidFill>
                <a:schemeClr val="dk1"/>
              </a:solidFill>
              <a:latin typeface="Calibri"/>
              <a:ea typeface="Calibri"/>
              <a:cs typeface="Calibri"/>
              <a:sym typeface="Calibri"/>
            </a:endParaRPr>
          </a:p>
        </p:txBody>
      </p:sp>
      <p:sp>
        <p:nvSpPr>
          <p:cNvPr id="235" name="Google Shape;235;p7"/>
          <p:cNvSpPr/>
          <p:nvPr/>
        </p:nvSpPr>
        <p:spPr>
          <a:xfrm>
            <a:off x="1271337" y="5991142"/>
            <a:ext cx="4735200" cy="19050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625"/>
              <a:buFont typeface="Gabarito"/>
              <a:buNone/>
            </a:pPr>
            <a:r>
              <a:rPr b="0" i="0" lang="en-US" sz="2400" u="none" cap="none" strike="noStrike">
                <a:solidFill>
                  <a:srgbClr val="5B5B5B"/>
                </a:solidFill>
                <a:latin typeface="Gabarito"/>
                <a:ea typeface="Gabarito"/>
                <a:cs typeface="Gabarito"/>
                <a:sym typeface="Gabarito"/>
              </a:rPr>
              <a:t>The user's question is asked, then used to search the vector database for the most relevant chunks of text.</a:t>
            </a:r>
            <a:endParaRPr b="0" i="0" sz="2400" u="none" cap="none" strike="noStrike">
              <a:solidFill>
                <a:schemeClr val="dk1"/>
              </a:solidFill>
              <a:latin typeface="Calibri"/>
              <a:ea typeface="Calibri"/>
              <a:cs typeface="Calibri"/>
              <a:sym typeface="Calibri"/>
            </a:endParaRPr>
          </a:p>
        </p:txBody>
      </p:sp>
      <p:sp>
        <p:nvSpPr>
          <p:cNvPr id="236" name="Google Shape;236;p7"/>
          <p:cNvSpPr/>
          <p:nvPr/>
        </p:nvSpPr>
        <p:spPr>
          <a:xfrm>
            <a:off x="6521351" y="4927074"/>
            <a:ext cx="5245200" cy="3106800"/>
          </a:xfrm>
          <a:prstGeom prst="roundRect">
            <a:avLst>
              <a:gd fmla="val 4348"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7"/>
          <p:cNvSpPr/>
          <p:nvPr/>
        </p:nvSpPr>
        <p:spPr>
          <a:xfrm>
            <a:off x="6744938" y="5231867"/>
            <a:ext cx="50571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700"/>
              <a:buFont typeface="Gabarito"/>
              <a:buNone/>
            </a:pPr>
            <a:r>
              <a:rPr b="1" i="0" lang="en-US" sz="3000" u="none" cap="none" strike="noStrike">
                <a:solidFill>
                  <a:srgbClr val="FF9900"/>
                </a:solidFill>
                <a:latin typeface="Gabarito"/>
                <a:ea typeface="Gabarito"/>
                <a:cs typeface="Gabarito"/>
                <a:sym typeface="Gabarito"/>
              </a:rPr>
              <a:t>Integration &amp; Augmentation</a:t>
            </a:r>
            <a:endParaRPr b="0" i="0" sz="3000" u="none" cap="none" strike="noStrike">
              <a:solidFill>
                <a:schemeClr val="dk1"/>
              </a:solidFill>
              <a:latin typeface="Calibri"/>
              <a:ea typeface="Calibri"/>
              <a:cs typeface="Calibri"/>
              <a:sym typeface="Calibri"/>
            </a:endParaRPr>
          </a:p>
        </p:txBody>
      </p:sp>
      <p:sp>
        <p:nvSpPr>
          <p:cNvPr id="238" name="Google Shape;238;p7"/>
          <p:cNvSpPr/>
          <p:nvPr/>
        </p:nvSpPr>
        <p:spPr>
          <a:xfrm>
            <a:off x="6744938" y="5991142"/>
            <a:ext cx="4735500" cy="23718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625"/>
              <a:buFont typeface="Gabarito"/>
              <a:buNone/>
            </a:pPr>
            <a:r>
              <a:rPr b="0" i="0" lang="en-US" sz="2400" u="none" cap="none" strike="noStrike">
                <a:solidFill>
                  <a:srgbClr val="5B5B5B"/>
                </a:solidFill>
                <a:latin typeface="Gabarito"/>
                <a:ea typeface="Gabarito"/>
                <a:cs typeface="Gabarito"/>
                <a:sym typeface="Gabarito"/>
              </a:rPr>
              <a:t>The retrieved chunks are combined with the original question to build one enriched prompt (question + context + instructions).</a:t>
            </a:r>
            <a:endParaRPr b="0" i="0" sz="2400" u="none" cap="none" strike="noStrike">
              <a:solidFill>
                <a:schemeClr val="dk1"/>
              </a:solidFill>
              <a:latin typeface="Calibri"/>
              <a:ea typeface="Calibri"/>
              <a:cs typeface="Calibri"/>
              <a:sym typeface="Calibri"/>
            </a:endParaRPr>
          </a:p>
        </p:txBody>
      </p:sp>
      <p:sp>
        <p:nvSpPr>
          <p:cNvPr id="239" name="Google Shape;239;p7"/>
          <p:cNvSpPr/>
          <p:nvPr/>
        </p:nvSpPr>
        <p:spPr>
          <a:xfrm>
            <a:off x="11995100" y="4927074"/>
            <a:ext cx="5245200" cy="3106800"/>
          </a:xfrm>
          <a:prstGeom prst="roundRect">
            <a:avLst>
              <a:gd fmla="val 4348"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7"/>
          <p:cNvSpPr/>
          <p:nvPr/>
        </p:nvSpPr>
        <p:spPr>
          <a:xfrm>
            <a:off x="12218687" y="5231867"/>
            <a:ext cx="50571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6E7D4C"/>
              </a:buClr>
              <a:buSzPts val="2700"/>
              <a:buFont typeface="Gabarito"/>
              <a:buNone/>
            </a:pPr>
            <a:r>
              <a:rPr b="1" i="0" lang="en-US" sz="3000" u="none" cap="none" strike="noStrike">
                <a:solidFill>
                  <a:srgbClr val="6E7D4C"/>
                </a:solidFill>
                <a:latin typeface="Gabarito"/>
                <a:ea typeface="Gabarito"/>
                <a:cs typeface="Gabarito"/>
                <a:sym typeface="Gabarito"/>
              </a:rPr>
              <a:t>Generation</a:t>
            </a:r>
            <a:endParaRPr b="0" i="0" sz="3000" u="none" cap="none" strike="noStrike">
              <a:solidFill>
                <a:schemeClr val="dk1"/>
              </a:solidFill>
              <a:latin typeface="Calibri"/>
              <a:ea typeface="Calibri"/>
              <a:cs typeface="Calibri"/>
              <a:sym typeface="Calibri"/>
            </a:endParaRPr>
          </a:p>
        </p:txBody>
      </p:sp>
      <p:sp>
        <p:nvSpPr>
          <p:cNvPr id="241" name="Google Shape;241;p7"/>
          <p:cNvSpPr/>
          <p:nvPr/>
        </p:nvSpPr>
        <p:spPr>
          <a:xfrm>
            <a:off x="12218687" y="5991142"/>
            <a:ext cx="4735500" cy="14382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625"/>
              <a:buFont typeface="Gabarito"/>
              <a:buNone/>
            </a:pPr>
            <a:r>
              <a:rPr b="0" i="0" lang="en-US" sz="2400" u="none" cap="none" strike="noStrike">
                <a:solidFill>
                  <a:srgbClr val="5B5B5B"/>
                </a:solidFill>
                <a:latin typeface="Gabarito"/>
                <a:ea typeface="Gabarito"/>
                <a:cs typeface="Gabarito"/>
                <a:sym typeface="Gabarito"/>
              </a:rPr>
              <a:t>The LLM reads the augmented prompt and produces the final, grounded answer.</a:t>
            </a:r>
            <a:endParaRPr b="0" i="0" sz="2400" u="none" cap="none" strike="noStrike">
              <a:solidFill>
                <a:schemeClr val="dk1"/>
              </a:solidFill>
              <a:latin typeface="Calibri"/>
              <a:ea typeface="Calibri"/>
              <a:cs typeface="Calibri"/>
              <a:sym typeface="Calibri"/>
            </a:endParaRPr>
          </a:p>
        </p:txBody>
      </p:sp>
      <p:sp>
        <p:nvSpPr>
          <p:cNvPr id="242" name="Google Shape;242;p7"/>
          <p:cNvSpPr/>
          <p:nvPr/>
        </p:nvSpPr>
        <p:spPr>
          <a:xfrm>
            <a:off x="1047750" y="8362950"/>
            <a:ext cx="16192500" cy="1257300"/>
          </a:xfrm>
          <a:prstGeom prst="roundRect">
            <a:avLst>
              <a:gd fmla="val 12121"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7"/>
          <p:cNvSpPr/>
          <p:nvPr/>
        </p:nvSpPr>
        <p:spPr>
          <a:xfrm>
            <a:off x="1390650" y="8591550"/>
            <a:ext cx="15992475" cy="838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625"/>
              <a:buFont typeface="Gabarito"/>
              <a:buNone/>
            </a:pPr>
            <a:r>
              <a:rPr b="1" i="0" lang="en-US" sz="2625" u="none" cap="none" strike="noStrike">
                <a:solidFill>
                  <a:srgbClr val="FF9900"/>
                </a:solidFill>
                <a:latin typeface="Gabarito"/>
                <a:ea typeface="Gabarito"/>
                <a:cs typeface="Gabarito"/>
                <a:sym typeface="Gabarito"/>
              </a:rPr>
              <a:t>Why it matters: </a:t>
            </a:r>
            <a:r>
              <a:rPr b="0" i="0" lang="en-US" sz="2625" u="none" cap="none" strike="noStrike">
                <a:solidFill>
                  <a:srgbClr val="5B5B5B"/>
                </a:solidFill>
                <a:latin typeface="Gabarito"/>
                <a:ea typeface="Gabarito"/>
                <a:cs typeface="Gabarito"/>
                <a:sym typeface="Gabarito"/>
              </a:rPr>
              <a:t>each stage adds a checkpoint where the answer gets grounded in real retrieved text rather than just guessing from memory.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pic>
        <p:nvPicPr>
          <p:cNvPr descr="preencoded.png" id="249" name="Google Shape;249;p8"/>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250" name="Google Shape;250;p8"/>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Vocabulary</a:t>
            </a:r>
            <a:endParaRPr b="0" i="0" sz="3000" u="none" cap="none" strike="noStrike">
              <a:solidFill>
                <a:schemeClr val="dk1"/>
              </a:solidFill>
              <a:latin typeface="Calibri"/>
              <a:ea typeface="Calibri"/>
              <a:cs typeface="Calibri"/>
              <a:sym typeface="Calibri"/>
            </a:endParaRPr>
          </a:p>
        </p:txBody>
      </p:sp>
      <p:sp>
        <p:nvSpPr>
          <p:cNvPr id="251" name="Google Shape;251;p8"/>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Core Components</a:t>
            </a:r>
            <a:endParaRPr b="0" i="0" sz="6000" u="none" cap="none" strike="noStrike">
              <a:solidFill>
                <a:schemeClr val="dk1"/>
              </a:solidFill>
              <a:latin typeface="Calibri"/>
              <a:ea typeface="Calibri"/>
              <a:cs typeface="Calibri"/>
              <a:sym typeface="Calibri"/>
            </a:endParaRPr>
          </a:p>
        </p:txBody>
      </p:sp>
      <p:sp>
        <p:nvSpPr>
          <p:cNvPr id="252" name="Google Shape;252;p8"/>
          <p:cNvSpPr/>
          <p:nvPr/>
        </p:nvSpPr>
        <p:spPr>
          <a:xfrm>
            <a:off x="1047750" y="2406130"/>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75"/>
              <a:buFont typeface="Gabarito"/>
              <a:buNone/>
            </a:pPr>
            <a:r>
              <a:rPr b="0" i="0" lang="en-US" sz="3000" u="none" cap="none" strike="noStrike">
                <a:solidFill>
                  <a:srgbClr val="5B5B5B"/>
                </a:solidFill>
                <a:latin typeface="Gabarito"/>
                <a:ea typeface="Gabarito"/>
                <a:cs typeface="Gabarito"/>
                <a:sym typeface="Gabarito"/>
              </a:rPr>
              <a:t>A few </a:t>
            </a:r>
            <a:r>
              <a:rPr b="1" i="0" lang="en-US" sz="3000" u="none" cap="none" strike="noStrike">
                <a:solidFill>
                  <a:srgbClr val="1E4E79"/>
                </a:solidFill>
                <a:latin typeface="Gabarito"/>
                <a:ea typeface="Gabarito"/>
                <a:cs typeface="Gabarito"/>
                <a:sym typeface="Gabarito"/>
              </a:rPr>
              <a:t>key terms </a:t>
            </a:r>
            <a:r>
              <a:rPr b="0" i="0" lang="en-US" sz="3000" u="none" cap="none" strike="noStrike">
                <a:solidFill>
                  <a:srgbClr val="5B5B5B"/>
                </a:solidFill>
                <a:latin typeface="Gabarito"/>
                <a:ea typeface="Gabarito"/>
                <a:cs typeface="Gabarito"/>
                <a:sym typeface="Gabarito"/>
              </a:rPr>
              <a:t>show up throughout every RAG system </a:t>
            </a:r>
            <a:r>
              <a:rPr lang="en-US" sz="3000">
                <a:solidFill>
                  <a:srgbClr val="5B5B5B"/>
                </a:solidFill>
                <a:latin typeface="Gabarito"/>
                <a:ea typeface="Gabarito"/>
                <a:cs typeface="Gabarito"/>
                <a:sym typeface="Gabarito"/>
              </a:rPr>
              <a:t>-</a:t>
            </a:r>
            <a:r>
              <a:rPr b="0" i="0" lang="en-US" sz="3000" u="none" cap="none" strike="noStrike">
                <a:solidFill>
                  <a:srgbClr val="5B5B5B"/>
                </a:solidFill>
                <a:latin typeface="Gabarito"/>
                <a:ea typeface="Gabarito"/>
                <a:cs typeface="Gabarito"/>
                <a:sym typeface="Gabarito"/>
              </a:rPr>
              <a:t> worth knowing before we build one.</a:t>
            </a:r>
            <a:endParaRPr b="0" i="0" sz="3000" u="none" cap="none" strike="noStrike">
              <a:solidFill>
                <a:schemeClr val="dk1"/>
              </a:solidFill>
              <a:latin typeface="Calibri"/>
              <a:ea typeface="Calibri"/>
              <a:cs typeface="Calibri"/>
              <a:sym typeface="Calibri"/>
            </a:endParaRPr>
          </a:p>
        </p:txBody>
      </p:sp>
      <p:sp>
        <p:nvSpPr>
          <p:cNvPr id="253" name="Google Shape;253;p8"/>
          <p:cNvSpPr/>
          <p:nvPr/>
        </p:nvSpPr>
        <p:spPr>
          <a:xfrm>
            <a:off x="1047750" y="3270699"/>
            <a:ext cx="5257800" cy="2238375"/>
          </a:xfrm>
          <a:prstGeom prst="roundRect">
            <a:avLst>
              <a:gd fmla="val 6809"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1333500" y="3537399"/>
            <a:ext cx="515493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700"/>
              <a:buFont typeface="Gabarito"/>
              <a:buNone/>
            </a:pPr>
            <a:r>
              <a:rPr b="1" i="0" lang="en-US" sz="2700" u="none" cap="none" strike="noStrike">
                <a:solidFill>
                  <a:srgbClr val="035595"/>
                </a:solidFill>
                <a:latin typeface="Gabarito"/>
                <a:ea typeface="Gabarito"/>
                <a:cs typeface="Gabarito"/>
                <a:sym typeface="Gabarito"/>
              </a:rPr>
              <a:t>Knowledge Base</a:t>
            </a:r>
            <a:endParaRPr b="0" i="0" sz="2700" u="none" cap="none" strike="noStrike">
              <a:solidFill>
                <a:schemeClr val="dk1"/>
              </a:solidFill>
              <a:latin typeface="Calibri"/>
              <a:ea typeface="Calibri"/>
              <a:cs typeface="Calibri"/>
              <a:sym typeface="Calibri"/>
            </a:endParaRPr>
          </a:p>
        </p:txBody>
      </p:sp>
      <p:sp>
        <p:nvSpPr>
          <p:cNvPr id="255" name="Google Shape;255;p8"/>
          <p:cNvSpPr/>
          <p:nvPr/>
        </p:nvSpPr>
        <p:spPr>
          <a:xfrm>
            <a:off x="1333501" y="4042224"/>
            <a:ext cx="4646386" cy="8382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250"/>
              <a:buFont typeface="Gabarito"/>
              <a:buNone/>
            </a:pPr>
            <a:r>
              <a:rPr b="0" i="0" lang="en-US" sz="2250" u="none" cap="none" strike="noStrike">
                <a:solidFill>
                  <a:srgbClr val="5B5B5B"/>
                </a:solidFill>
                <a:latin typeface="Gabarito"/>
                <a:ea typeface="Gabarito"/>
                <a:cs typeface="Gabarito"/>
                <a:sym typeface="Gabarito"/>
              </a:rPr>
              <a:t>The external documents a system can draw on.</a:t>
            </a:r>
            <a:endParaRPr b="0" i="0" sz="2250" u="none" cap="none" strike="noStrike">
              <a:solidFill>
                <a:schemeClr val="dk1"/>
              </a:solidFill>
              <a:latin typeface="Calibri"/>
              <a:ea typeface="Calibri"/>
              <a:cs typeface="Calibri"/>
              <a:sym typeface="Calibri"/>
            </a:endParaRPr>
          </a:p>
        </p:txBody>
      </p:sp>
      <p:sp>
        <p:nvSpPr>
          <p:cNvPr id="256" name="Google Shape;256;p8"/>
          <p:cNvSpPr/>
          <p:nvPr/>
        </p:nvSpPr>
        <p:spPr>
          <a:xfrm>
            <a:off x="6515100" y="3270699"/>
            <a:ext cx="5257800" cy="2238375"/>
          </a:xfrm>
          <a:prstGeom prst="roundRect">
            <a:avLst>
              <a:gd fmla="val 6809"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p:nvPr/>
        </p:nvSpPr>
        <p:spPr>
          <a:xfrm>
            <a:off x="6800850" y="3537399"/>
            <a:ext cx="515493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700"/>
              <a:buFont typeface="Gabarito"/>
              <a:buNone/>
            </a:pPr>
            <a:r>
              <a:rPr b="1" i="0" lang="en-US" sz="2700" u="none" cap="none" strike="noStrike">
                <a:solidFill>
                  <a:srgbClr val="035595"/>
                </a:solidFill>
                <a:latin typeface="Gabarito"/>
                <a:ea typeface="Gabarito"/>
                <a:cs typeface="Gabarito"/>
                <a:sym typeface="Gabarito"/>
              </a:rPr>
              <a:t>Chunk</a:t>
            </a:r>
            <a:endParaRPr b="0" i="0" sz="2700" u="none" cap="none" strike="noStrike">
              <a:solidFill>
                <a:schemeClr val="dk1"/>
              </a:solidFill>
              <a:latin typeface="Calibri"/>
              <a:ea typeface="Calibri"/>
              <a:cs typeface="Calibri"/>
              <a:sym typeface="Calibri"/>
            </a:endParaRPr>
          </a:p>
        </p:txBody>
      </p:sp>
      <p:sp>
        <p:nvSpPr>
          <p:cNvPr id="258" name="Google Shape;258;p8"/>
          <p:cNvSpPr/>
          <p:nvPr/>
        </p:nvSpPr>
        <p:spPr>
          <a:xfrm>
            <a:off x="6800850" y="4042224"/>
            <a:ext cx="4826889" cy="123825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250"/>
              <a:buFont typeface="Gabarito"/>
              <a:buNone/>
            </a:pPr>
            <a:r>
              <a:rPr b="0" i="0" lang="en-US" sz="2250" u="none" cap="none" strike="noStrike">
                <a:solidFill>
                  <a:srgbClr val="5B5B5B"/>
                </a:solidFill>
                <a:latin typeface="Gabarito"/>
                <a:ea typeface="Gabarito"/>
                <a:cs typeface="Gabarito"/>
                <a:sym typeface="Gabarito"/>
              </a:rPr>
              <a:t>A document broken into segments sized to fit retrieval and the model's context window.</a:t>
            </a:r>
            <a:endParaRPr b="0" i="0" sz="2250" u="none" cap="none" strike="noStrike">
              <a:solidFill>
                <a:schemeClr val="dk1"/>
              </a:solidFill>
              <a:latin typeface="Calibri"/>
              <a:ea typeface="Calibri"/>
              <a:cs typeface="Calibri"/>
              <a:sym typeface="Calibri"/>
            </a:endParaRPr>
          </a:p>
        </p:txBody>
      </p:sp>
      <p:sp>
        <p:nvSpPr>
          <p:cNvPr id="259" name="Google Shape;259;p8"/>
          <p:cNvSpPr/>
          <p:nvPr/>
        </p:nvSpPr>
        <p:spPr>
          <a:xfrm>
            <a:off x="11982450" y="3270699"/>
            <a:ext cx="5257800" cy="2238375"/>
          </a:xfrm>
          <a:prstGeom prst="roundRect">
            <a:avLst>
              <a:gd fmla="val 6809"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8"/>
          <p:cNvSpPr/>
          <p:nvPr/>
        </p:nvSpPr>
        <p:spPr>
          <a:xfrm>
            <a:off x="12268200" y="3537399"/>
            <a:ext cx="515493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700"/>
              <a:buFont typeface="Gabarito"/>
              <a:buNone/>
            </a:pPr>
            <a:r>
              <a:rPr b="1" i="0" lang="en-US" sz="2700" u="none" cap="none" strike="noStrike">
                <a:solidFill>
                  <a:srgbClr val="D97D00"/>
                </a:solidFill>
                <a:latin typeface="Gabarito"/>
                <a:ea typeface="Gabarito"/>
                <a:cs typeface="Gabarito"/>
                <a:sym typeface="Gabarito"/>
              </a:rPr>
              <a:t>Embedding</a:t>
            </a:r>
            <a:endParaRPr b="0" i="0" sz="2700" u="none" cap="none" strike="noStrike">
              <a:solidFill>
                <a:schemeClr val="dk1"/>
              </a:solidFill>
              <a:latin typeface="Calibri"/>
              <a:ea typeface="Calibri"/>
              <a:cs typeface="Calibri"/>
              <a:sym typeface="Calibri"/>
            </a:endParaRPr>
          </a:p>
        </p:txBody>
      </p:sp>
      <p:sp>
        <p:nvSpPr>
          <p:cNvPr id="261" name="Google Shape;261;p8"/>
          <p:cNvSpPr/>
          <p:nvPr/>
        </p:nvSpPr>
        <p:spPr>
          <a:xfrm>
            <a:off x="12268200" y="4042224"/>
            <a:ext cx="4826889" cy="8382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250"/>
              <a:buFont typeface="Gabarito"/>
              <a:buNone/>
            </a:pPr>
            <a:r>
              <a:rPr b="0" i="0" lang="en-US" sz="2250" u="none" cap="none" strike="noStrike">
                <a:solidFill>
                  <a:srgbClr val="5B5B5B"/>
                </a:solidFill>
                <a:latin typeface="Gabarito"/>
                <a:ea typeface="Gabarito"/>
                <a:cs typeface="Gabarito"/>
                <a:sym typeface="Gabarito"/>
              </a:rPr>
              <a:t>A </a:t>
            </a:r>
            <a:r>
              <a:rPr lang="en-US" sz="2250">
                <a:solidFill>
                  <a:srgbClr val="5B5B5B"/>
                </a:solidFill>
                <a:latin typeface="Gabarito"/>
                <a:ea typeface="Gabarito"/>
                <a:cs typeface="Gabarito"/>
                <a:sym typeface="Gabarito"/>
              </a:rPr>
              <a:t>vector</a:t>
            </a:r>
            <a:r>
              <a:rPr b="0" i="0" lang="en-US" sz="2250" u="none" cap="none" strike="noStrike">
                <a:solidFill>
                  <a:srgbClr val="5B5B5B"/>
                </a:solidFill>
                <a:latin typeface="Gabarito"/>
                <a:ea typeface="Gabarito"/>
                <a:cs typeface="Gabarito"/>
                <a:sym typeface="Gabarito"/>
                <a:extLst>
                  <a:ext uri="http://customooxmlschemas.google.com/">
                    <go:slidesCustomData xmlns:go="http://customooxmlschemas.google.com/" textRoundtripDataId="2"/>
                  </a:ext>
                </a:extLst>
              </a:rPr>
              <a:t> </a:t>
            </a:r>
            <a:r>
              <a:rPr b="0" i="0" lang="en-US" sz="2250" u="none" cap="none" strike="noStrike">
                <a:solidFill>
                  <a:srgbClr val="5B5B5B"/>
                </a:solidFill>
                <a:latin typeface="Gabarito"/>
                <a:ea typeface="Gabarito"/>
                <a:cs typeface="Gabarito"/>
                <a:sym typeface="Gabarito"/>
              </a:rPr>
              <a:t>representation of a chunk or query's meaning.</a:t>
            </a:r>
            <a:endParaRPr b="0" i="0" sz="2250" u="none" cap="none" strike="noStrike">
              <a:solidFill>
                <a:schemeClr val="dk1"/>
              </a:solidFill>
              <a:latin typeface="Calibri"/>
              <a:ea typeface="Calibri"/>
              <a:cs typeface="Calibri"/>
              <a:sym typeface="Calibri"/>
            </a:endParaRPr>
          </a:p>
        </p:txBody>
      </p:sp>
      <p:sp>
        <p:nvSpPr>
          <p:cNvPr id="262" name="Google Shape;262;p8"/>
          <p:cNvSpPr/>
          <p:nvPr/>
        </p:nvSpPr>
        <p:spPr>
          <a:xfrm>
            <a:off x="1047750" y="5699352"/>
            <a:ext cx="5257800" cy="1838325"/>
          </a:xfrm>
          <a:prstGeom prst="roundRect">
            <a:avLst>
              <a:gd fmla="val 8290"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p:nvPr/>
        </p:nvSpPr>
        <p:spPr>
          <a:xfrm>
            <a:off x="1333500" y="5966052"/>
            <a:ext cx="515493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700"/>
              <a:buFont typeface="Gabarito"/>
              <a:buNone/>
            </a:pPr>
            <a:r>
              <a:rPr b="1" i="0" lang="en-US" sz="2700" u="none" cap="none" strike="noStrike">
                <a:solidFill>
                  <a:srgbClr val="D97D00"/>
                </a:solidFill>
                <a:latin typeface="Gabarito"/>
                <a:ea typeface="Gabarito"/>
                <a:cs typeface="Gabarito"/>
                <a:sym typeface="Gabarito"/>
              </a:rPr>
              <a:t>Vector Database</a:t>
            </a:r>
            <a:endParaRPr b="0" i="0" sz="2700" u="none" cap="none" strike="noStrike">
              <a:solidFill>
                <a:schemeClr val="dk1"/>
              </a:solidFill>
              <a:latin typeface="Calibri"/>
              <a:ea typeface="Calibri"/>
              <a:cs typeface="Calibri"/>
              <a:sym typeface="Calibri"/>
            </a:endParaRPr>
          </a:p>
        </p:txBody>
      </p:sp>
      <p:sp>
        <p:nvSpPr>
          <p:cNvPr id="264" name="Google Shape;264;p8"/>
          <p:cNvSpPr/>
          <p:nvPr/>
        </p:nvSpPr>
        <p:spPr>
          <a:xfrm>
            <a:off x="1333500" y="6470877"/>
            <a:ext cx="4826889" cy="8382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250"/>
              <a:buFont typeface="Gabarito"/>
              <a:buNone/>
            </a:pPr>
            <a:r>
              <a:rPr b="0" i="0" lang="en-US" sz="2250" u="none" cap="none" strike="noStrike">
                <a:solidFill>
                  <a:srgbClr val="5B5B5B"/>
                </a:solidFill>
                <a:latin typeface="Gabarito"/>
                <a:ea typeface="Gabarito"/>
                <a:cs typeface="Gabarito"/>
                <a:sym typeface="Gabarito"/>
              </a:rPr>
              <a:t>A specialized database optimized for fast similarity search.</a:t>
            </a:r>
            <a:endParaRPr b="0" i="0" sz="2250" u="none" cap="none" strike="noStrike">
              <a:solidFill>
                <a:schemeClr val="dk1"/>
              </a:solidFill>
              <a:latin typeface="Calibri"/>
              <a:ea typeface="Calibri"/>
              <a:cs typeface="Calibri"/>
              <a:sym typeface="Calibri"/>
            </a:endParaRPr>
          </a:p>
        </p:txBody>
      </p:sp>
      <p:sp>
        <p:nvSpPr>
          <p:cNvPr id="265" name="Google Shape;265;p8"/>
          <p:cNvSpPr/>
          <p:nvPr/>
        </p:nvSpPr>
        <p:spPr>
          <a:xfrm>
            <a:off x="6515100" y="5699352"/>
            <a:ext cx="5257800" cy="1838325"/>
          </a:xfrm>
          <a:prstGeom prst="roundRect">
            <a:avLst>
              <a:gd fmla="val 8290" name="adj"/>
            </a:avLst>
          </a:prstGeom>
          <a:solidFill>
            <a:srgbClr val="7A8A5A">
              <a:alpha val="5882"/>
            </a:srgbClr>
          </a:solidFill>
          <a:ln cap="flat" cmpd="sng" w="19050">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8"/>
          <p:cNvSpPr/>
          <p:nvPr/>
        </p:nvSpPr>
        <p:spPr>
          <a:xfrm>
            <a:off x="6800850" y="5966052"/>
            <a:ext cx="515493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700"/>
              <a:buFont typeface="Gabarito"/>
              <a:buNone/>
            </a:pPr>
            <a:r>
              <a:rPr b="1" i="0" lang="en-US" sz="2700" u="none" cap="none" strike="noStrike">
                <a:solidFill>
                  <a:srgbClr val="4C5A33"/>
                </a:solidFill>
                <a:latin typeface="Gabarito"/>
                <a:ea typeface="Gabarito"/>
                <a:cs typeface="Gabarito"/>
                <a:sym typeface="Gabarito"/>
              </a:rPr>
              <a:t>Retriever</a:t>
            </a:r>
            <a:endParaRPr b="0" i="0" sz="2700" u="none" cap="none" strike="noStrike">
              <a:solidFill>
                <a:schemeClr val="dk1"/>
              </a:solidFill>
              <a:latin typeface="Calibri"/>
              <a:ea typeface="Calibri"/>
              <a:cs typeface="Calibri"/>
              <a:sym typeface="Calibri"/>
            </a:endParaRPr>
          </a:p>
        </p:txBody>
      </p:sp>
      <p:sp>
        <p:nvSpPr>
          <p:cNvPr id="267" name="Google Shape;267;p8"/>
          <p:cNvSpPr/>
          <p:nvPr/>
        </p:nvSpPr>
        <p:spPr>
          <a:xfrm>
            <a:off x="6800850" y="6470877"/>
            <a:ext cx="4826889" cy="8382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250"/>
              <a:buFont typeface="Gabarito"/>
              <a:buNone/>
            </a:pPr>
            <a:r>
              <a:rPr b="0" i="0" lang="en-US" sz="2250" u="none" cap="none" strike="noStrike">
                <a:solidFill>
                  <a:srgbClr val="5B5B5B"/>
                </a:solidFill>
                <a:latin typeface="Gabarito"/>
                <a:ea typeface="Gabarito"/>
                <a:cs typeface="Gabarito"/>
                <a:sym typeface="Gabarito"/>
              </a:rPr>
              <a:t>The component that finds the most relevant chunks for a query.</a:t>
            </a:r>
            <a:endParaRPr b="0" i="0" sz="2250" u="none" cap="none" strike="noStrike">
              <a:solidFill>
                <a:schemeClr val="dk1"/>
              </a:solidFill>
              <a:latin typeface="Calibri"/>
              <a:ea typeface="Calibri"/>
              <a:cs typeface="Calibri"/>
              <a:sym typeface="Calibri"/>
            </a:endParaRPr>
          </a:p>
        </p:txBody>
      </p:sp>
      <p:sp>
        <p:nvSpPr>
          <p:cNvPr id="268" name="Google Shape;268;p8"/>
          <p:cNvSpPr/>
          <p:nvPr/>
        </p:nvSpPr>
        <p:spPr>
          <a:xfrm>
            <a:off x="11982450" y="5699352"/>
            <a:ext cx="5257800" cy="1838325"/>
          </a:xfrm>
          <a:prstGeom prst="roundRect">
            <a:avLst>
              <a:gd fmla="val 8290" name="adj"/>
            </a:avLst>
          </a:prstGeom>
          <a:solidFill>
            <a:srgbClr val="7A8A5A">
              <a:alpha val="5882"/>
            </a:srgbClr>
          </a:solidFill>
          <a:ln cap="flat" cmpd="sng" w="19050">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12268200" y="5966052"/>
            <a:ext cx="515493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700"/>
              <a:buFont typeface="Gabarito"/>
              <a:buNone/>
            </a:pPr>
            <a:r>
              <a:rPr b="1" i="0" lang="en-US" sz="2700" u="none" cap="none" strike="noStrike">
                <a:solidFill>
                  <a:srgbClr val="4C5A33"/>
                </a:solidFill>
                <a:latin typeface="Gabarito"/>
                <a:ea typeface="Gabarito"/>
                <a:cs typeface="Gabarito"/>
                <a:sym typeface="Gabarito"/>
              </a:rPr>
              <a:t>Generator</a:t>
            </a:r>
            <a:endParaRPr b="0" i="0" sz="2700" u="none" cap="none" strike="noStrike">
              <a:solidFill>
                <a:schemeClr val="dk1"/>
              </a:solidFill>
              <a:latin typeface="Calibri"/>
              <a:ea typeface="Calibri"/>
              <a:cs typeface="Calibri"/>
              <a:sym typeface="Calibri"/>
            </a:endParaRPr>
          </a:p>
        </p:txBody>
      </p:sp>
      <p:sp>
        <p:nvSpPr>
          <p:cNvPr id="270" name="Google Shape;270;p8"/>
          <p:cNvSpPr/>
          <p:nvPr/>
        </p:nvSpPr>
        <p:spPr>
          <a:xfrm>
            <a:off x="12268200" y="6470877"/>
            <a:ext cx="4826889" cy="8382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2250"/>
              <a:buFont typeface="Gabarito"/>
              <a:buNone/>
            </a:pPr>
            <a:r>
              <a:rPr b="0" i="0" lang="en-US" sz="2250" u="none" cap="none" strike="noStrike">
                <a:solidFill>
                  <a:srgbClr val="5B5B5B"/>
                </a:solidFill>
                <a:latin typeface="Gabarito"/>
                <a:ea typeface="Gabarito"/>
                <a:cs typeface="Gabarito"/>
                <a:sym typeface="Gabarito"/>
              </a:rPr>
              <a:t>The LLM that turns those chunks into a final answer.</a:t>
            </a:r>
            <a:endParaRPr b="0" i="0" sz="2250" u="none" cap="none" strike="noStrike">
              <a:solidFill>
                <a:schemeClr val="dk1"/>
              </a:solidFill>
              <a:latin typeface="Calibri"/>
              <a:ea typeface="Calibri"/>
              <a:cs typeface="Calibri"/>
              <a:sym typeface="Calibri"/>
            </a:endParaRPr>
          </a:p>
        </p:txBody>
      </p:sp>
      <p:sp>
        <p:nvSpPr>
          <p:cNvPr id="271" name="Google Shape;271;p8"/>
          <p:cNvSpPr/>
          <p:nvPr/>
        </p:nvSpPr>
        <p:spPr>
          <a:xfrm>
            <a:off x="1047750" y="8153851"/>
            <a:ext cx="16192500" cy="1352550"/>
          </a:xfrm>
          <a:prstGeom prst="roundRect">
            <a:avLst>
              <a:gd fmla="val 11268"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8"/>
          <p:cNvSpPr/>
          <p:nvPr/>
        </p:nvSpPr>
        <p:spPr>
          <a:xfrm>
            <a:off x="1390650" y="8399843"/>
            <a:ext cx="15176700" cy="857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700"/>
              <a:buFont typeface="Gabarito"/>
              <a:buNone/>
            </a:pPr>
            <a:r>
              <a:rPr b="1" i="0" lang="en-US" sz="2700" u="none" cap="none" strike="noStrike">
                <a:solidFill>
                  <a:srgbClr val="FF9900"/>
                </a:solidFill>
                <a:latin typeface="Gabarito"/>
                <a:ea typeface="Gabarito"/>
                <a:cs typeface="Gabarito"/>
                <a:sym typeface="Gabarito"/>
              </a:rPr>
              <a:t>Why it matters: </a:t>
            </a:r>
            <a:r>
              <a:rPr b="0" i="0" lang="en-US" sz="2700" u="none" cap="none" strike="noStrike">
                <a:solidFill>
                  <a:srgbClr val="5B5B5B"/>
                </a:solidFill>
                <a:latin typeface="Gabarito"/>
                <a:ea typeface="Gabarito"/>
                <a:cs typeface="Gabarito"/>
                <a:sym typeface="Gabarito"/>
              </a:rPr>
              <a:t>these six terms are the vocabulary for every remaining topic</a:t>
            </a:r>
            <a:r>
              <a:rPr lang="en-US" sz="2700">
                <a:solidFill>
                  <a:srgbClr val="5B5B5B"/>
                </a:solidFill>
                <a:latin typeface="Gabarito"/>
                <a:ea typeface="Gabarito"/>
                <a:cs typeface="Gabarito"/>
                <a:sym typeface="Gabarito"/>
              </a:rPr>
              <a:t> </a:t>
            </a:r>
            <a:endParaRPr sz="2700">
              <a:solidFill>
                <a:srgbClr val="5B5B5B"/>
              </a:solidFill>
              <a:latin typeface="Gabarito"/>
              <a:ea typeface="Gabarito"/>
              <a:cs typeface="Gabarito"/>
              <a:sym typeface="Gabarito"/>
            </a:endParaRPr>
          </a:p>
          <a:p>
            <a:pPr indent="0" lvl="0" marL="0" marR="0" rtl="0" algn="l">
              <a:lnSpc>
                <a:spcPct val="100000"/>
              </a:lnSpc>
              <a:spcBef>
                <a:spcPts val="0"/>
              </a:spcBef>
              <a:spcAft>
                <a:spcPts val="0"/>
              </a:spcAft>
              <a:buClr>
                <a:srgbClr val="FF9900"/>
              </a:buClr>
              <a:buSzPts val="2700"/>
              <a:buFont typeface="Gabarito"/>
              <a:buNone/>
            </a:pPr>
            <a:r>
              <a:rPr lang="en-US" sz="2700">
                <a:solidFill>
                  <a:srgbClr val="5B5B5B"/>
                </a:solidFill>
                <a:latin typeface="Gabarito"/>
                <a:ea typeface="Gabarito"/>
                <a:cs typeface="Gabarito"/>
                <a:sym typeface="Gabarito"/>
              </a:rPr>
              <a:t>- </a:t>
            </a:r>
            <a:r>
              <a:rPr b="0" i="0" lang="en-US" sz="2700" u="none" cap="none" strike="noStrike">
                <a:solidFill>
                  <a:srgbClr val="5B5B5B"/>
                </a:solidFill>
                <a:latin typeface="Gabarito"/>
                <a:ea typeface="Gabarito"/>
                <a:cs typeface="Gabarito"/>
                <a:sym typeface="Gabarito"/>
              </a:rPr>
              <a:t>chunking, embeddings, and vector databases each get their own dedicated lesson later.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9"/>
          <p:cNvSpPr/>
          <p:nvPr/>
        </p:nvSpPr>
        <p:spPr>
          <a:xfrm>
            <a:off x="9252013" y="6734310"/>
            <a:ext cx="7988236" cy="2654214"/>
          </a:xfrm>
          <a:prstGeom prst="roundRect">
            <a:avLst>
              <a:gd fmla="val 5870"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279" name="Google Shape;279;p9"/>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280" name="Google Shape;280;p9"/>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3000"/>
              <a:buFont typeface="Gabarito"/>
              <a:buNone/>
            </a:pPr>
            <a:r>
              <a:rPr b="1" i="0" lang="en-US" sz="3000" u="none" cap="none" strike="noStrike">
                <a:solidFill>
                  <a:srgbClr val="035595"/>
                </a:solidFill>
                <a:latin typeface="Gabarito"/>
                <a:ea typeface="Gabarito"/>
                <a:cs typeface="Gabarito"/>
                <a:sym typeface="Gabarito"/>
              </a:rPr>
              <a:t>How RAG Evolves  </a:t>
            </a:r>
            <a:endParaRPr b="0" i="0" sz="3000" u="none" cap="none" strike="noStrike">
              <a:solidFill>
                <a:schemeClr val="dk1"/>
              </a:solidFill>
              <a:latin typeface="Calibri"/>
              <a:ea typeface="Calibri"/>
              <a:cs typeface="Calibri"/>
              <a:sym typeface="Calibri"/>
            </a:endParaRPr>
          </a:p>
        </p:txBody>
      </p:sp>
      <p:sp>
        <p:nvSpPr>
          <p:cNvPr id="281" name="Google Shape;281;p9"/>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Naive RAG</a:t>
            </a:r>
            <a:endParaRPr b="0" i="0" sz="6000" u="none" cap="none" strike="noStrike">
              <a:solidFill>
                <a:schemeClr val="dk1"/>
              </a:solidFill>
              <a:latin typeface="Calibri"/>
              <a:ea typeface="Calibri"/>
              <a:cs typeface="Calibri"/>
              <a:sym typeface="Calibri"/>
            </a:endParaRPr>
          </a:p>
        </p:txBody>
      </p:sp>
      <p:sp>
        <p:nvSpPr>
          <p:cNvPr id="282" name="Google Shape;282;p9"/>
          <p:cNvSpPr/>
          <p:nvPr/>
        </p:nvSpPr>
        <p:spPr>
          <a:xfrm>
            <a:off x="1047750" y="2245755"/>
            <a:ext cx="153243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The simplest working version of the pipeline: </a:t>
            </a:r>
            <a:r>
              <a:rPr lang="en-US"/>
              <a:t> </a:t>
            </a:r>
            <a:r>
              <a:rPr b="1" i="0" lang="en-US" sz="3000" u="none" cap="none" strike="noStrike">
                <a:solidFill>
                  <a:srgbClr val="1E4E79"/>
                </a:solidFill>
                <a:latin typeface="Gabarito"/>
                <a:ea typeface="Gabarito"/>
                <a:cs typeface="Gabarito"/>
                <a:sym typeface="Gabarito"/>
              </a:rPr>
              <a:t>three components </a:t>
            </a:r>
            <a:r>
              <a:rPr b="0" i="0" lang="en-US" sz="3000" u="none" cap="none" strike="noStrike">
                <a:solidFill>
                  <a:srgbClr val="171616"/>
                </a:solidFill>
                <a:latin typeface="Gabarito"/>
                <a:ea typeface="Gabarito"/>
                <a:cs typeface="Gabarito"/>
                <a:sym typeface="Gabarito"/>
              </a:rPr>
              <a:t>(vector database, embedding model, LLM) </a:t>
            </a:r>
            <a:r>
              <a:rPr b="0" i="0" lang="en-US" sz="3000" u="none" cap="none" strike="noStrike">
                <a:solidFill>
                  <a:srgbClr val="212121"/>
                </a:solidFill>
                <a:latin typeface="Gabarito"/>
                <a:ea typeface="Gabarito"/>
                <a:cs typeface="Gabarito"/>
                <a:sym typeface="Gabarito"/>
              </a:rPr>
              <a:t>working through </a:t>
            </a:r>
            <a:r>
              <a:rPr b="1" i="0" lang="en-US" sz="3000" u="none" cap="none" strike="noStrike">
                <a:solidFill>
                  <a:srgbClr val="1E4E79"/>
                </a:solidFill>
                <a:latin typeface="Gabarito"/>
                <a:ea typeface="Gabarito"/>
                <a:cs typeface="Gabarito"/>
                <a:sym typeface="Gabarito"/>
              </a:rPr>
              <a:t>four steps </a:t>
            </a:r>
            <a:r>
              <a:rPr b="0" i="0" lang="en-US" sz="3000" u="none" cap="none" strike="noStrike">
                <a:solidFill>
                  <a:srgbClr val="171616"/>
                </a:solidFill>
                <a:latin typeface="Gabarito"/>
                <a:ea typeface="Gabarito"/>
                <a:cs typeface="Gabarito"/>
                <a:sym typeface="Gabarito"/>
              </a:rPr>
              <a:t>(index, retrieve, augment, generate).</a:t>
            </a:r>
            <a:endParaRPr b="0" i="0" sz="3000" u="none" cap="none" strike="noStrike">
              <a:solidFill>
                <a:srgbClr val="171616"/>
              </a:solidFill>
              <a:latin typeface="Gabarito"/>
              <a:ea typeface="Gabarito"/>
              <a:cs typeface="Gabarito"/>
              <a:sym typeface="Gabarito"/>
            </a:endParaRPr>
          </a:p>
        </p:txBody>
      </p:sp>
      <p:sp>
        <p:nvSpPr>
          <p:cNvPr id="283" name="Google Shape;283;p9"/>
          <p:cNvSpPr/>
          <p:nvPr/>
        </p:nvSpPr>
        <p:spPr>
          <a:xfrm>
            <a:off x="1047750" y="3940781"/>
            <a:ext cx="5257800" cy="2224200"/>
          </a:xfrm>
          <a:prstGeom prst="roundRect">
            <a:avLst>
              <a:gd fmla="val 9341"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9"/>
          <p:cNvSpPr/>
          <p:nvPr/>
        </p:nvSpPr>
        <p:spPr>
          <a:xfrm>
            <a:off x="1057275" y="4401227"/>
            <a:ext cx="5238900" cy="5844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550"/>
              <a:buFont typeface="Gabarito"/>
              <a:buNone/>
            </a:pPr>
            <a:r>
              <a:rPr b="1" i="0" lang="en-US" sz="3600" u="none" cap="none" strike="noStrike">
                <a:solidFill>
                  <a:srgbClr val="FF9900"/>
                </a:solidFill>
                <a:latin typeface="Gabarito"/>
                <a:ea typeface="Gabarito"/>
                <a:cs typeface="Gabarito"/>
                <a:sym typeface="Gabarito"/>
              </a:rPr>
              <a:t>Vector </a:t>
            </a:r>
            <a:r>
              <a:rPr b="1" i="0" lang="en-US" sz="3600" u="none" cap="none" strike="noStrike">
                <a:solidFill>
                  <a:srgbClr val="1E4E79"/>
                </a:solidFill>
                <a:latin typeface="Gabarito"/>
                <a:ea typeface="Gabarito"/>
                <a:cs typeface="Gabarito"/>
                <a:sym typeface="Gabarito"/>
              </a:rPr>
              <a:t>Database</a:t>
            </a:r>
            <a:endParaRPr b="1" i="0" sz="3600" u="none" cap="none" strike="noStrike">
              <a:solidFill>
                <a:srgbClr val="1E4E79"/>
              </a:solidFill>
              <a:latin typeface="Gabarito"/>
              <a:ea typeface="Gabarito"/>
              <a:cs typeface="Gabarito"/>
              <a:sym typeface="Gabarito"/>
            </a:endParaRPr>
          </a:p>
        </p:txBody>
      </p:sp>
      <p:sp>
        <p:nvSpPr>
          <p:cNvPr id="285" name="Google Shape;285;p9"/>
          <p:cNvSpPr/>
          <p:nvPr/>
        </p:nvSpPr>
        <p:spPr>
          <a:xfrm>
            <a:off x="1390650" y="5123505"/>
            <a:ext cx="4508400" cy="467400"/>
          </a:xfrm>
          <a:prstGeom prst="rect">
            <a:avLst/>
          </a:prstGeom>
          <a:noFill/>
          <a:ln>
            <a:noFill/>
          </a:ln>
        </p:spPr>
        <p:txBody>
          <a:bodyPr anchorCtr="0" anchor="t" bIns="25400" lIns="25400" spcFirstLastPara="1" rIns="25400" wrap="square" tIns="25400">
            <a:noAutofit/>
          </a:bodyPr>
          <a:lstStyle/>
          <a:p>
            <a:pPr indent="0" lvl="0" marL="0" marR="0" rtl="0" algn="ctr">
              <a:lnSpc>
                <a:spcPct val="111857"/>
              </a:lnSpc>
              <a:spcBef>
                <a:spcPts val="0"/>
              </a:spcBef>
              <a:spcAft>
                <a:spcPts val="0"/>
              </a:spcAft>
              <a:buClr>
                <a:srgbClr val="5B5B5B"/>
              </a:buClr>
              <a:buSzPts val="2175"/>
              <a:buFont typeface="Gabarito"/>
              <a:buNone/>
            </a:pPr>
            <a:r>
              <a:rPr b="0" i="0" lang="en-US" sz="2200" u="none" cap="none" strike="noStrike">
                <a:solidFill>
                  <a:srgbClr val="5B5B5B"/>
                </a:solidFill>
                <a:latin typeface="Gabarito"/>
                <a:ea typeface="Gabarito"/>
                <a:cs typeface="Gabarito"/>
                <a:sym typeface="Gabarito"/>
              </a:rPr>
              <a:t>Holds the document embeddings</a:t>
            </a:r>
            <a:endParaRPr b="0" i="0" sz="2200" u="none" cap="none" strike="noStrike">
              <a:solidFill>
                <a:schemeClr val="dk1"/>
              </a:solidFill>
              <a:latin typeface="Calibri"/>
              <a:ea typeface="Calibri"/>
              <a:cs typeface="Calibri"/>
              <a:sym typeface="Calibri"/>
            </a:endParaRPr>
          </a:p>
        </p:txBody>
      </p:sp>
      <p:sp>
        <p:nvSpPr>
          <p:cNvPr id="286" name="Google Shape;286;p9"/>
          <p:cNvSpPr/>
          <p:nvPr/>
        </p:nvSpPr>
        <p:spPr>
          <a:xfrm>
            <a:off x="6515100" y="3940781"/>
            <a:ext cx="5257800" cy="2224200"/>
          </a:xfrm>
          <a:prstGeom prst="roundRect">
            <a:avLst>
              <a:gd fmla="val 9341"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9"/>
          <p:cNvSpPr/>
          <p:nvPr/>
        </p:nvSpPr>
        <p:spPr>
          <a:xfrm>
            <a:off x="6524625" y="4401227"/>
            <a:ext cx="5238900" cy="5844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None/>
            </a:pPr>
            <a:r>
              <a:rPr b="1" i="0" lang="en-US" sz="3600" u="none" cap="none" strike="noStrike">
                <a:solidFill>
                  <a:srgbClr val="FF9900"/>
                </a:solidFill>
                <a:latin typeface="Gabarito"/>
                <a:ea typeface="Gabarito"/>
                <a:cs typeface="Gabarito"/>
                <a:sym typeface="Gabarito"/>
              </a:rPr>
              <a:t>Embedding </a:t>
            </a:r>
            <a:r>
              <a:rPr b="1" i="0" lang="en-US" sz="3600" u="none" cap="none" strike="noStrike">
                <a:solidFill>
                  <a:srgbClr val="1E4E79"/>
                </a:solidFill>
                <a:latin typeface="Gabarito"/>
                <a:ea typeface="Gabarito"/>
                <a:cs typeface="Gabarito"/>
                <a:sym typeface="Gabarito"/>
              </a:rPr>
              <a:t>Model</a:t>
            </a:r>
            <a:endParaRPr b="1" i="0" sz="3600" u="none" cap="none" strike="noStrike">
              <a:solidFill>
                <a:srgbClr val="1E4E79"/>
              </a:solidFill>
              <a:latin typeface="Gabarito"/>
              <a:ea typeface="Gabarito"/>
              <a:cs typeface="Gabarito"/>
              <a:sym typeface="Gabarito"/>
            </a:endParaRPr>
          </a:p>
        </p:txBody>
      </p:sp>
      <p:sp>
        <p:nvSpPr>
          <p:cNvPr id="288" name="Google Shape;288;p9"/>
          <p:cNvSpPr/>
          <p:nvPr/>
        </p:nvSpPr>
        <p:spPr>
          <a:xfrm>
            <a:off x="6944673" y="5055492"/>
            <a:ext cx="4398600" cy="560100"/>
          </a:xfrm>
          <a:prstGeom prst="rect">
            <a:avLst/>
          </a:prstGeom>
          <a:noFill/>
          <a:ln>
            <a:noFill/>
          </a:ln>
        </p:spPr>
        <p:txBody>
          <a:bodyPr anchorCtr="0" anchor="t" bIns="25400" lIns="25400" spcFirstLastPara="1" rIns="25400" wrap="square" tIns="25400">
            <a:noAutofit/>
          </a:bodyPr>
          <a:lstStyle/>
          <a:p>
            <a:pPr indent="0" lvl="0" marL="0" marR="0" rtl="0" algn="ctr">
              <a:lnSpc>
                <a:spcPct val="111857"/>
              </a:lnSpc>
              <a:spcBef>
                <a:spcPts val="0"/>
              </a:spcBef>
              <a:spcAft>
                <a:spcPts val="0"/>
              </a:spcAft>
              <a:buClr>
                <a:srgbClr val="5B5B5B"/>
              </a:buClr>
              <a:buSzPts val="2175"/>
              <a:buFont typeface="Gabarito"/>
              <a:buNone/>
            </a:pPr>
            <a:r>
              <a:rPr b="0" i="0" lang="en-US" sz="2200" u="none" cap="none" strike="noStrike">
                <a:solidFill>
                  <a:srgbClr val="5B5B5B"/>
                </a:solidFill>
                <a:latin typeface="Gabarito"/>
                <a:ea typeface="Gabarito"/>
                <a:cs typeface="Gabarito"/>
                <a:sym typeface="Gabarito"/>
              </a:rPr>
              <a:t>Turns each question into a vector</a:t>
            </a:r>
            <a:endParaRPr b="0" i="0" sz="2200" u="none" cap="none" strike="noStrike">
              <a:solidFill>
                <a:schemeClr val="dk1"/>
              </a:solidFill>
              <a:latin typeface="Calibri"/>
              <a:ea typeface="Calibri"/>
              <a:cs typeface="Calibri"/>
              <a:sym typeface="Calibri"/>
            </a:endParaRPr>
          </a:p>
        </p:txBody>
      </p:sp>
      <p:sp>
        <p:nvSpPr>
          <p:cNvPr id="289" name="Google Shape;289;p9"/>
          <p:cNvSpPr/>
          <p:nvPr/>
        </p:nvSpPr>
        <p:spPr>
          <a:xfrm>
            <a:off x="11982450" y="3940781"/>
            <a:ext cx="5257800" cy="2224200"/>
          </a:xfrm>
          <a:prstGeom prst="roundRect">
            <a:avLst>
              <a:gd fmla="val 9341"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9"/>
          <p:cNvSpPr/>
          <p:nvPr/>
        </p:nvSpPr>
        <p:spPr>
          <a:xfrm>
            <a:off x="11991975" y="4401227"/>
            <a:ext cx="5238900" cy="5844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274D71"/>
              </a:buClr>
              <a:buSzPts val="2550"/>
              <a:buFont typeface="Arial"/>
              <a:buNone/>
            </a:pPr>
            <a:r>
              <a:rPr b="1" i="0" lang="en-US" sz="3600" u="none" cap="none" strike="noStrike">
                <a:solidFill>
                  <a:srgbClr val="1E4E79"/>
                </a:solidFill>
                <a:latin typeface="Gabarito"/>
                <a:ea typeface="Gabarito"/>
                <a:cs typeface="Gabarito"/>
                <a:sym typeface="Gabarito"/>
              </a:rPr>
              <a:t>LLM</a:t>
            </a:r>
            <a:endParaRPr b="1" i="0" sz="3600" u="none" cap="none" strike="noStrike">
              <a:solidFill>
                <a:srgbClr val="1E4E79"/>
              </a:solidFill>
              <a:latin typeface="Gabarito"/>
              <a:ea typeface="Gabarito"/>
              <a:cs typeface="Gabarito"/>
              <a:sym typeface="Gabarito"/>
            </a:endParaRPr>
          </a:p>
        </p:txBody>
      </p:sp>
      <p:sp>
        <p:nvSpPr>
          <p:cNvPr id="291" name="Google Shape;291;p9"/>
          <p:cNvSpPr/>
          <p:nvPr/>
        </p:nvSpPr>
        <p:spPr>
          <a:xfrm>
            <a:off x="12388510" y="5055492"/>
            <a:ext cx="4445700" cy="1068300"/>
          </a:xfrm>
          <a:prstGeom prst="rect">
            <a:avLst/>
          </a:prstGeom>
          <a:noFill/>
          <a:ln>
            <a:noFill/>
          </a:ln>
        </p:spPr>
        <p:txBody>
          <a:bodyPr anchorCtr="0" anchor="t" bIns="25400" lIns="25400" spcFirstLastPara="1" rIns="25400" wrap="square" tIns="25400">
            <a:noAutofit/>
          </a:bodyPr>
          <a:lstStyle/>
          <a:p>
            <a:pPr indent="0" lvl="0" marL="0" marR="0" rtl="0" algn="ctr">
              <a:lnSpc>
                <a:spcPct val="111857"/>
              </a:lnSpc>
              <a:spcBef>
                <a:spcPts val="0"/>
              </a:spcBef>
              <a:spcAft>
                <a:spcPts val="0"/>
              </a:spcAft>
              <a:buClr>
                <a:srgbClr val="5B5B5B"/>
              </a:buClr>
              <a:buSzPts val="2175"/>
              <a:buFont typeface="Gabarito"/>
              <a:buNone/>
            </a:pPr>
            <a:r>
              <a:rPr b="0" i="0" lang="en-US" sz="2200" u="none" cap="none" strike="noStrike">
                <a:solidFill>
                  <a:srgbClr val="5B5B5B"/>
                </a:solidFill>
                <a:latin typeface="Gabarito"/>
                <a:ea typeface="Gabarito"/>
                <a:cs typeface="Gabarito"/>
                <a:sym typeface="Gabarito"/>
              </a:rPr>
              <a:t>Generates the answer from whatever gets retrieved</a:t>
            </a:r>
            <a:endParaRPr b="0" i="0" sz="2200" u="none" cap="none" strike="noStrike">
              <a:solidFill>
                <a:schemeClr val="dk1"/>
              </a:solidFill>
              <a:latin typeface="Calibri"/>
              <a:ea typeface="Calibri"/>
              <a:cs typeface="Calibri"/>
              <a:sym typeface="Calibri"/>
            </a:endParaRPr>
          </a:p>
        </p:txBody>
      </p:sp>
      <p:sp>
        <p:nvSpPr>
          <p:cNvPr id="292" name="Google Shape;292;p9"/>
          <p:cNvSpPr/>
          <p:nvPr/>
        </p:nvSpPr>
        <p:spPr>
          <a:xfrm>
            <a:off x="1047750" y="6734310"/>
            <a:ext cx="7981950" cy="2654214"/>
          </a:xfrm>
          <a:prstGeom prst="roundRect">
            <a:avLst>
              <a:gd fmla="val 5870"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1333500" y="6962910"/>
            <a:ext cx="8151495"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550"/>
              <a:buFont typeface="Gabarito"/>
              <a:buNone/>
            </a:pPr>
            <a:r>
              <a:rPr b="1" i="0" lang="en-US" sz="2400" u="none" cap="none" strike="noStrike">
                <a:solidFill>
                  <a:srgbClr val="035595"/>
                </a:solidFill>
                <a:latin typeface="Gabarito"/>
                <a:ea typeface="Gabarito"/>
                <a:cs typeface="Gabarito"/>
                <a:sym typeface="Gabarito"/>
              </a:rPr>
              <a:t>WHERE IT'S USED</a:t>
            </a:r>
            <a:endParaRPr b="0" i="0" sz="2400" u="none" cap="none" strike="noStrike">
              <a:solidFill>
                <a:schemeClr val="dk1"/>
              </a:solidFill>
              <a:latin typeface="Calibri"/>
              <a:ea typeface="Calibri"/>
              <a:cs typeface="Calibri"/>
              <a:sym typeface="Calibri"/>
            </a:endParaRPr>
          </a:p>
        </p:txBody>
      </p:sp>
      <p:sp>
        <p:nvSpPr>
          <p:cNvPr id="294" name="Google Shape;294;p9"/>
          <p:cNvSpPr/>
          <p:nvPr/>
        </p:nvSpPr>
        <p:spPr>
          <a:xfrm>
            <a:off x="1333500" y="7448685"/>
            <a:ext cx="7463217" cy="1691283"/>
          </a:xfrm>
          <a:prstGeom prst="rect">
            <a:avLst/>
          </a:prstGeom>
          <a:noFill/>
          <a:ln>
            <a:noFill/>
          </a:ln>
        </p:spPr>
        <p:txBody>
          <a:bodyPr anchorCtr="0" anchor="t" bIns="25400" lIns="25400" spcFirstLastPara="1" rIns="25400" wrap="square" tIns="25400">
            <a:noAutofit/>
          </a:bodyPr>
          <a:lstStyle/>
          <a:p>
            <a:pPr indent="0" lvl="0" marL="0" marR="0" rtl="0" algn="l">
              <a:lnSpc>
                <a:spcPct val="117297"/>
              </a:lnSpc>
              <a:spcBef>
                <a:spcPts val="0"/>
              </a:spcBef>
              <a:spcAft>
                <a:spcPts val="0"/>
              </a:spcAft>
              <a:buClr>
                <a:srgbClr val="37474F"/>
              </a:buClr>
              <a:buSzPts val="2325"/>
              <a:buFont typeface="Gabarito"/>
              <a:buNone/>
            </a:pPr>
            <a:r>
              <a:rPr b="0" i="0" lang="en-US" sz="2400" u="none" cap="none" strike="noStrike">
                <a:solidFill>
                  <a:srgbClr val="37474F"/>
                </a:solidFill>
                <a:latin typeface="Gabarito"/>
                <a:ea typeface="Gabarito"/>
                <a:cs typeface="Gabarito"/>
                <a:sym typeface="Gabarito"/>
              </a:rPr>
              <a:t>Customer support portals answering from help articles, internal knowledge bases for policy lookup, and product documentation search </a:t>
            </a:r>
            <a:r>
              <a:rPr lang="en-US" sz="2400">
                <a:solidFill>
                  <a:srgbClr val="37474F"/>
                </a:solidFill>
                <a:latin typeface="Gabarito"/>
                <a:ea typeface="Gabarito"/>
                <a:cs typeface="Gabarito"/>
                <a:sym typeface="Gabarito"/>
              </a:rPr>
              <a:t>- </a:t>
            </a:r>
            <a:r>
              <a:rPr b="0" i="0" lang="en-US" sz="2400" u="none" cap="none" strike="noStrike">
                <a:solidFill>
                  <a:srgbClr val="37474F"/>
                </a:solidFill>
                <a:latin typeface="Gabarito"/>
                <a:ea typeface="Gabarito"/>
                <a:cs typeface="Gabarito"/>
                <a:sym typeface="Gabarito"/>
              </a:rPr>
              <a:t>cases where "close enough" retrieval is good enough.</a:t>
            </a:r>
            <a:endParaRPr b="0" i="0" sz="2400" u="none" cap="none" strike="noStrike">
              <a:solidFill>
                <a:schemeClr val="dk1"/>
              </a:solidFill>
              <a:latin typeface="Calibri"/>
              <a:ea typeface="Calibri"/>
              <a:cs typeface="Calibri"/>
              <a:sym typeface="Calibri"/>
            </a:endParaRPr>
          </a:p>
        </p:txBody>
      </p:sp>
      <p:sp>
        <p:nvSpPr>
          <p:cNvPr id="295" name="Google Shape;295;p9"/>
          <p:cNvSpPr/>
          <p:nvPr/>
        </p:nvSpPr>
        <p:spPr>
          <a:xfrm>
            <a:off x="9544050" y="6962910"/>
            <a:ext cx="8151495"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2400" u="none" cap="none" strike="noStrike">
                <a:solidFill>
                  <a:srgbClr val="035595"/>
                </a:solidFill>
                <a:latin typeface="Gabarito"/>
                <a:ea typeface="Gabarito"/>
                <a:cs typeface="Gabarito"/>
                <a:sym typeface="Gabarito"/>
              </a:rPr>
              <a:t>WHAT DETERMINES QUALITY</a:t>
            </a:r>
            <a:endParaRPr b="0" i="0" sz="2400" u="none" cap="none" strike="noStrike">
              <a:solidFill>
                <a:schemeClr val="dk1"/>
              </a:solidFill>
              <a:latin typeface="Calibri"/>
              <a:ea typeface="Calibri"/>
              <a:cs typeface="Calibri"/>
              <a:sym typeface="Calibri"/>
            </a:endParaRPr>
          </a:p>
        </p:txBody>
      </p:sp>
      <p:sp>
        <p:nvSpPr>
          <p:cNvPr id="296" name="Google Shape;296;p9"/>
          <p:cNvSpPr/>
          <p:nvPr/>
        </p:nvSpPr>
        <p:spPr>
          <a:xfrm>
            <a:off x="9544051" y="7448685"/>
            <a:ext cx="7245842" cy="1277987"/>
          </a:xfrm>
          <a:prstGeom prst="rect">
            <a:avLst/>
          </a:prstGeom>
          <a:noFill/>
          <a:ln>
            <a:noFill/>
          </a:ln>
        </p:spPr>
        <p:txBody>
          <a:bodyPr anchorCtr="0" anchor="t" bIns="25400" lIns="25400" spcFirstLastPara="1" rIns="25400" wrap="square" tIns="25400">
            <a:noAutofit/>
          </a:bodyPr>
          <a:lstStyle/>
          <a:p>
            <a:pPr indent="0" lvl="0" marL="0" marR="0" rtl="0" algn="l">
              <a:lnSpc>
                <a:spcPct val="117297"/>
              </a:lnSpc>
              <a:spcBef>
                <a:spcPts val="0"/>
              </a:spcBef>
              <a:spcAft>
                <a:spcPts val="0"/>
              </a:spcAft>
              <a:buClr>
                <a:srgbClr val="37474F"/>
              </a:buClr>
              <a:buSzPts val="2325"/>
              <a:buFont typeface="Gabarito"/>
              <a:buNone/>
            </a:pPr>
            <a:r>
              <a:rPr b="0" i="0" lang="en-US" sz="2400" u="none" cap="none" strike="noStrike">
                <a:solidFill>
                  <a:srgbClr val="37474F"/>
                </a:solidFill>
                <a:latin typeface="Gabarito"/>
                <a:ea typeface="Gabarito"/>
                <a:cs typeface="Gabarito"/>
                <a:sym typeface="Gabarito"/>
              </a:rPr>
              <a:t>Chunk size (roughly 500–1000 tokens is the common starting range), which vector database you pick, and how fast it can search.</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pic>
        <p:nvPicPr>
          <p:cNvPr descr="preencoded.png" id="302" name="Google Shape;302;p10"/>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303" name="Google Shape;303;p10"/>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3000"/>
              <a:buFont typeface="Gabarito"/>
              <a:buNone/>
            </a:pPr>
            <a:r>
              <a:rPr b="1" i="0" lang="en-US" sz="3000" u="none" cap="none" strike="noStrike">
                <a:solidFill>
                  <a:srgbClr val="035595"/>
                </a:solidFill>
                <a:latin typeface="Gabarito"/>
                <a:ea typeface="Gabarito"/>
                <a:cs typeface="Gabarito"/>
                <a:sym typeface="Gabarito"/>
              </a:rPr>
              <a:t>How RAG Evolves  </a:t>
            </a:r>
            <a:endParaRPr b="0" i="0" sz="3000" u="none" cap="none" strike="noStrike">
              <a:solidFill>
                <a:schemeClr val="dk1"/>
              </a:solidFill>
              <a:latin typeface="Calibri"/>
              <a:ea typeface="Calibri"/>
              <a:cs typeface="Calibri"/>
              <a:sym typeface="Calibri"/>
            </a:endParaRPr>
          </a:p>
        </p:txBody>
      </p:sp>
      <p:sp>
        <p:nvSpPr>
          <p:cNvPr id="304" name="Google Shape;304;p10"/>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Naive RAG</a:t>
            </a:r>
            <a:endParaRPr b="0" i="0" sz="6000" u="none" cap="none" strike="noStrike">
              <a:solidFill>
                <a:schemeClr val="dk1"/>
              </a:solidFill>
              <a:latin typeface="Calibri"/>
              <a:ea typeface="Calibri"/>
              <a:cs typeface="Calibri"/>
              <a:sym typeface="Calibri"/>
            </a:endParaRPr>
          </a:p>
        </p:txBody>
      </p:sp>
      <p:sp>
        <p:nvSpPr>
          <p:cNvPr id="305" name="Google Shape;305;p10"/>
          <p:cNvSpPr/>
          <p:nvPr/>
        </p:nvSpPr>
        <p:spPr>
          <a:xfrm>
            <a:off x="1047750" y="2266950"/>
            <a:ext cx="15373350" cy="963811"/>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None/>
            </a:pPr>
            <a:r>
              <a:rPr b="1" i="0" lang="en-US" sz="3200" u="none" cap="none" strike="noStrike">
                <a:solidFill>
                  <a:srgbClr val="FF9900"/>
                </a:solidFill>
                <a:latin typeface="Gabarito"/>
                <a:ea typeface="Gabarito"/>
                <a:cs typeface="Gabarito"/>
                <a:sym typeface="Gabarito"/>
              </a:rPr>
              <a:t>Why it matters: </a:t>
            </a:r>
            <a:r>
              <a:rPr b="0" i="0" lang="en-US" sz="3200" u="none" cap="none" strike="noStrike">
                <a:solidFill>
                  <a:srgbClr val="5B5B5B"/>
                </a:solidFill>
                <a:latin typeface="Gabarito"/>
                <a:ea typeface="Gabarito"/>
                <a:cs typeface="Gabarito"/>
                <a:sym typeface="Gabarito"/>
              </a:rPr>
              <a:t>This is the version of RAG our baseline app builds today</a:t>
            </a:r>
            <a:endParaRPr/>
          </a:p>
          <a:p>
            <a:pPr indent="0" lvl="0" marL="0" marR="0" rtl="0" algn="l">
              <a:lnSpc>
                <a:spcPct val="120000"/>
              </a:lnSpc>
              <a:spcBef>
                <a:spcPts val="0"/>
              </a:spcBef>
              <a:spcAft>
                <a:spcPts val="0"/>
              </a:spcAft>
              <a:buNone/>
            </a:pPr>
            <a:r>
              <a:rPr b="0" i="0" lang="en-US" sz="3200" u="none" cap="none" strike="noStrike">
                <a:solidFill>
                  <a:srgbClr val="5B5B5B"/>
                </a:solidFill>
                <a:latin typeface="Gabarito"/>
                <a:ea typeface="Gabarito"/>
                <a:cs typeface="Gabarito"/>
                <a:sym typeface="Gabarito"/>
              </a:rPr>
              <a:t>and it’s also the version already running in productions support tools and internal wikis at real companies. </a:t>
            </a:r>
            <a:endParaRPr b="0" i="0" sz="3200" u="none" cap="none" strike="noStrike">
              <a:solidFill>
                <a:schemeClr val="dk1"/>
              </a:solidFill>
              <a:latin typeface="Calibri"/>
              <a:ea typeface="Calibri"/>
              <a:cs typeface="Calibri"/>
              <a:sym typeface="Calibri"/>
            </a:endParaRPr>
          </a:p>
        </p:txBody>
      </p:sp>
      <p:pic>
        <p:nvPicPr>
          <p:cNvPr id="306" name="Google Shape;306;p10"/>
          <p:cNvPicPr preferRelativeResize="0"/>
          <p:nvPr/>
        </p:nvPicPr>
        <p:blipFill>
          <a:blip r:embed="rId4">
            <a:alphaModFix/>
          </a:blip>
          <a:stretch>
            <a:fillRect/>
          </a:stretch>
        </p:blipFill>
        <p:spPr>
          <a:xfrm>
            <a:off x="1257300" y="4335661"/>
            <a:ext cx="14954250" cy="4486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pic>
        <p:nvPicPr>
          <p:cNvPr descr="preencoded.png" id="312" name="Google Shape;312;p11"/>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313" name="Google Shape;313;p11"/>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035595"/>
                </a:solidFill>
                <a:latin typeface="Gabarito"/>
                <a:ea typeface="Gabarito"/>
                <a:cs typeface="Gabarito"/>
                <a:sym typeface="Gabarito"/>
              </a:rPr>
              <a:t>How RAG Evolves  </a:t>
            </a:r>
            <a:endParaRPr b="0" i="0" sz="3000" u="none" cap="none" strike="noStrike">
              <a:solidFill>
                <a:schemeClr val="dk1"/>
              </a:solidFill>
              <a:latin typeface="Calibri"/>
              <a:ea typeface="Calibri"/>
              <a:cs typeface="Calibri"/>
              <a:sym typeface="Calibri"/>
            </a:endParaRPr>
          </a:p>
        </p:txBody>
      </p:sp>
      <p:sp>
        <p:nvSpPr>
          <p:cNvPr id="314" name="Google Shape;314;p11"/>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Advanced RAG</a:t>
            </a:r>
            <a:endParaRPr b="0" i="0" sz="6000" u="none" cap="none" strike="noStrike">
              <a:solidFill>
                <a:schemeClr val="dk1"/>
              </a:solidFill>
              <a:latin typeface="Calibri"/>
              <a:ea typeface="Calibri"/>
              <a:cs typeface="Calibri"/>
              <a:sym typeface="Calibri"/>
            </a:endParaRPr>
          </a:p>
        </p:txBody>
      </p:sp>
      <p:sp>
        <p:nvSpPr>
          <p:cNvPr id="315" name="Google Shape;315;p11"/>
          <p:cNvSpPr/>
          <p:nvPr/>
        </p:nvSpPr>
        <p:spPr>
          <a:xfrm>
            <a:off x="1047750" y="2237321"/>
            <a:ext cx="162210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1" i="0" lang="en-US" sz="3000" u="none" cap="none" strike="noStrike">
                <a:solidFill>
                  <a:schemeClr val="accent2"/>
                </a:solidFill>
                <a:latin typeface="Gabarito"/>
                <a:ea typeface="Gabarito"/>
                <a:cs typeface="Gabarito"/>
                <a:sym typeface="Gabarito"/>
              </a:rPr>
              <a:t>Keeps the same 3 components </a:t>
            </a:r>
            <a:r>
              <a:rPr b="0" i="0" lang="en-US" sz="3000" u="none" cap="none" strike="noStrike">
                <a:solidFill>
                  <a:srgbClr val="212121"/>
                </a:solidFill>
                <a:latin typeface="Gabarito"/>
                <a:ea typeface="Gabarito"/>
                <a:cs typeface="Gabarito"/>
                <a:sym typeface="Gabarito"/>
              </a:rPr>
              <a:t>as Naive RAG. It doesn't add new parts, it </a:t>
            </a:r>
            <a:r>
              <a:rPr b="1" i="0" lang="en-US" sz="3000" u="none" cap="none" strike="noStrike">
                <a:solidFill>
                  <a:schemeClr val="accent2"/>
                </a:solidFill>
                <a:latin typeface="Gabarito"/>
                <a:ea typeface="Gabarito"/>
                <a:cs typeface="Gabarito"/>
                <a:sym typeface="Gabarito"/>
              </a:rPr>
              <a:t>adds</a:t>
            </a:r>
            <a:r>
              <a:rPr b="1" i="0" lang="en-US" sz="3000" u="none" cap="none" strike="noStrike">
                <a:solidFill>
                  <a:srgbClr val="212121"/>
                </a:solidFill>
                <a:latin typeface="Gabarito"/>
                <a:ea typeface="Gabarito"/>
                <a:cs typeface="Gabarito"/>
                <a:sym typeface="Gabarito"/>
              </a:rPr>
              <a:t> </a:t>
            </a:r>
            <a:r>
              <a:rPr b="1" i="0" lang="en-US" sz="3000" u="none" cap="none" strike="noStrike">
                <a:solidFill>
                  <a:schemeClr val="accent2"/>
                </a:solidFill>
                <a:latin typeface="Gabarito"/>
                <a:ea typeface="Gabarito"/>
                <a:cs typeface="Gabarito"/>
                <a:sym typeface="Gabarito"/>
              </a:rPr>
              <a:t>checkpoints </a:t>
            </a:r>
            <a:r>
              <a:rPr b="0" i="0" lang="en-US" sz="3000" u="none" cap="none" strike="noStrike">
                <a:solidFill>
                  <a:srgbClr val="212121"/>
                </a:solidFill>
                <a:latin typeface="Gabarito"/>
                <a:ea typeface="Gabarito"/>
                <a:cs typeface="Gabarito"/>
                <a:sym typeface="Gabarito"/>
              </a:rPr>
              <a:t>around the same search steps, so a bad match gets caught instead of going straight to the LLM.</a:t>
            </a:r>
            <a:endParaRPr b="0" i="0" sz="3000" u="none" cap="none" strike="noStrike">
              <a:solidFill>
                <a:schemeClr val="dk1"/>
              </a:solidFill>
              <a:latin typeface="Calibri"/>
              <a:ea typeface="Calibri"/>
              <a:cs typeface="Calibri"/>
              <a:sym typeface="Calibri"/>
            </a:endParaRPr>
          </a:p>
        </p:txBody>
      </p:sp>
      <p:sp>
        <p:nvSpPr>
          <p:cNvPr id="316" name="Google Shape;316;p11"/>
          <p:cNvSpPr/>
          <p:nvPr/>
        </p:nvSpPr>
        <p:spPr>
          <a:xfrm>
            <a:off x="1047750" y="3479825"/>
            <a:ext cx="7982100" cy="3658200"/>
          </a:xfrm>
          <a:prstGeom prst="roundRect">
            <a:avLst>
              <a:gd fmla="val 4775"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1"/>
          <p:cNvSpPr/>
          <p:nvPr/>
        </p:nvSpPr>
        <p:spPr>
          <a:xfrm>
            <a:off x="1371600" y="4629853"/>
            <a:ext cx="80676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700"/>
              <a:buFont typeface="Gabarito"/>
              <a:buNone/>
            </a:pPr>
            <a:r>
              <a:rPr b="1" i="0" lang="en-US" sz="3200" u="none" cap="none" strike="noStrike">
                <a:solidFill>
                  <a:srgbClr val="035595"/>
                </a:solidFill>
                <a:latin typeface="Gabarito"/>
                <a:ea typeface="Gabarito"/>
                <a:cs typeface="Gabarito"/>
                <a:sym typeface="Gabarito"/>
              </a:rPr>
              <a:t>Smarter search, </a:t>
            </a:r>
            <a:r>
              <a:rPr b="1" i="0" lang="en-US" sz="3200" u="none" cap="none" strike="noStrike">
                <a:solidFill>
                  <a:schemeClr val="accent2"/>
                </a:solidFill>
                <a:latin typeface="Gabarito"/>
                <a:ea typeface="Gabarito"/>
                <a:cs typeface="Gabarito"/>
                <a:sym typeface="Gabarito"/>
              </a:rPr>
              <a:t>not just similarity</a:t>
            </a:r>
            <a:endParaRPr b="0" i="0" sz="3200" u="none" cap="none" strike="noStrike">
              <a:solidFill>
                <a:schemeClr val="accent2"/>
              </a:solidFill>
              <a:latin typeface="Calibri"/>
              <a:ea typeface="Calibri"/>
              <a:cs typeface="Calibri"/>
              <a:sym typeface="Calibri"/>
            </a:endParaRPr>
          </a:p>
        </p:txBody>
      </p:sp>
      <p:sp>
        <p:nvSpPr>
          <p:cNvPr id="318" name="Google Shape;318;p11"/>
          <p:cNvSpPr/>
          <p:nvPr/>
        </p:nvSpPr>
        <p:spPr>
          <a:xfrm>
            <a:off x="1371600" y="5208224"/>
            <a:ext cx="7735500" cy="1896600"/>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Clr>
                <a:srgbClr val="37474F"/>
              </a:buClr>
              <a:buSzPts val="2325"/>
              <a:buFont typeface="Gabarito"/>
              <a:buNone/>
            </a:pPr>
            <a:r>
              <a:rPr b="0" i="0" lang="en-US" sz="2200" u="none" cap="none" strike="noStrike">
                <a:solidFill>
                  <a:srgbClr val="37474F"/>
                </a:solidFill>
                <a:latin typeface="Gabarito"/>
                <a:ea typeface="Gabarito"/>
                <a:cs typeface="Gabarito"/>
                <a:sym typeface="Gabarito"/>
              </a:rPr>
              <a:t>Combines semantic vector search with traditional keyword search (hybrid search), and rewrites the question into several alternate phrasings before answering </a:t>
            </a:r>
            <a:r>
              <a:rPr lang="en-US" sz="2200">
                <a:solidFill>
                  <a:srgbClr val="37474F"/>
                </a:solidFill>
                <a:latin typeface="Gabarito"/>
                <a:ea typeface="Gabarito"/>
                <a:cs typeface="Gabarito"/>
                <a:sym typeface="Gabarito"/>
              </a:rPr>
              <a:t>-</a:t>
            </a:r>
            <a:r>
              <a:rPr b="0" i="0" lang="en-US" sz="2200" u="none" cap="none" strike="noStrike">
                <a:solidFill>
                  <a:srgbClr val="37474F"/>
                </a:solidFill>
                <a:latin typeface="Gabarito"/>
                <a:ea typeface="Gabarito"/>
                <a:cs typeface="Gabarito"/>
                <a:sym typeface="Gabarito"/>
              </a:rPr>
              <a:t> so a poorly worded query doesn't sink the whole answer.</a:t>
            </a:r>
            <a:endParaRPr b="0" i="0" sz="2200" u="none" cap="none" strike="noStrike">
              <a:solidFill>
                <a:schemeClr val="dk1"/>
              </a:solidFill>
              <a:latin typeface="Calibri"/>
              <a:ea typeface="Calibri"/>
              <a:cs typeface="Calibri"/>
              <a:sym typeface="Calibri"/>
            </a:endParaRPr>
          </a:p>
        </p:txBody>
      </p:sp>
      <p:sp>
        <p:nvSpPr>
          <p:cNvPr id="319" name="Google Shape;319;p11"/>
          <p:cNvSpPr/>
          <p:nvPr/>
        </p:nvSpPr>
        <p:spPr>
          <a:xfrm>
            <a:off x="9258300" y="3479825"/>
            <a:ext cx="7982100" cy="3658200"/>
          </a:xfrm>
          <a:prstGeom prst="roundRect">
            <a:avLst>
              <a:gd fmla="val 4775"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1"/>
          <p:cNvSpPr/>
          <p:nvPr/>
        </p:nvSpPr>
        <p:spPr>
          <a:xfrm>
            <a:off x="9582150" y="4629853"/>
            <a:ext cx="80676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700"/>
              <a:buFont typeface="Gabarito"/>
              <a:buNone/>
            </a:pPr>
            <a:r>
              <a:rPr b="1" i="0" lang="en-US" sz="3200" u="none" cap="none" strike="noStrike">
                <a:solidFill>
                  <a:srgbClr val="1E4E79"/>
                </a:solidFill>
                <a:latin typeface="Gabarito"/>
                <a:ea typeface="Gabarito"/>
                <a:cs typeface="Gabarito"/>
                <a:sym typeface="Gabarito"/>
              </a:rPr>
              <a:t>A ranking pass</a:t>
            </a:r>
            <a:r>
              <a:rPr b="1" i="0" lang="en-US" sz="3200" u="none" cap="none" strike="noStrike">
                <a:solidFill>
                  <a:srgbClr val="D97D00"/>
                </a:solidFill>
                <a:latin typeface="Gabarito"/>
                <a:ea typeface="Gabarito"/>
                <a:cs typeface="Gabarito"/>
                <a:sym typeface="Gabarito"/>
              </a:rPr>
              <a:t> after retrieval</a:t>
            </a:r>
            <a:endParaRPr b="0" i="0" sz="3200" u="none" cap="none" strike="noStrike">
              <a:solidFill>
                <a:schemeClr val="dk1"/>
              </a:solidFill>
              <a:latin typeface="Calibri"/>
              <a:ea typeface="Calibri"/>
              <a:cs typeface="Calibri"/>
              <a:sym typeface="Calibri"/>
            </a:endParaRPr>
          </a:p>
        </p:txBody>
      </p:sp>
      <p:sp>
        <p:nvSpPr>
          <p:cNvPr id="321" name="Google Shape;321;p11"/>
          <p:cNvSpPr/>
          <p:nvPr/>
        </p:nvSpPr>
        <p:spPr>
          <a:xfrm>
            <a:off x="9582150" y="5208224"/>
            <a:ext cx="7345500" cy="1715100"/>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Clr>
                <a:srgbClr val="37474F"/>
              </a:buClr>
              <a:buSzPts val="2325"/>
              <a:buFont typeface="Gabarito"/>
              <a:buNone/>
            </a:pPr>
            <a:r>
              <a:rPr b="0" i="0" lang="en-US" sz="2200" u="none" cap="none" strike="noStrike">
                <a:solidFill>
                  <a:srgbClr val="37474F"/>
                </a:solidFill>
                <a:latin typeface="Gabarito"/>
                <a:ea typeface="Gabarito"/>
                <a:cs typeface="Gabarito"/>
                <a:sym typeface="Gabarito"/>
              </a:rPr>
              <a:t>Rather than trusting the raw similarity score, a second stage reranks and filters what came back, and the context handed to the LLM adjusts based on what the question actually needs.</a:t>
            </a:r>
            <a:endParaRPr b="0" i="0" sz="2200" u="none" cap="none" strike="noStrike">
              <a:solidFill>
                <a:schemeClr val="dk1"/>
              </a:solidFill>
              <a:latin typeface="Calibri"/>
              <a:ea typeface="Calibri"/>
              <a:cs typeface="Calibri"/>
              <a:sym typeface="Calibri"/>
            </a:endParaRPr>
          </a:p>
        </p:txBody>
      </p:sp>
      <p:sp>
        <p:nvSpPr>
          <p:cNvPr id="322" name="Google Shape;322;p11"/>
          <p:cNvSpPr/>
          <p:nvPr/>
        </p:nvSpPr>
        <p:spPr>
          <a:xfrm>
            <a:off x="1047750" y="7402775"/>
            <a:ext cx="16192500" cy="2339400"/>
          </a:xfrm>
          <a:prstGeom prst="roundRect">
            <a:avLst>
              <a:gd fmla="val 3725"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1"/>
          <p:cNvSpPr/>
          <p:nvPr/>
        </p:nvSpPr>
        <p:spPr>
          <a:xfrm>
            <a:off x="1371600" y="7653698"/>
            <a:ext cx="16512600" cy="476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850"/>
              <a:buFont typeface="Gabarito"/>
              <a:buNone/>
            </a:pPr>
            <a:r>
              <a:rPr b="1" i="0" lang="en-US" sz="3200" u="none" cap="none" strike="noStrike">
                <a:solidFill>
                  <a:srgbClr val="274D71"/>
                </a:solidFill>
                <a:latin typeface="Gabarito"/>
                <a:ea typeface="Gabarito"/>
                <a:cs typeface="Gabarito"/>
                <a:sym typeface="Gabarito"/>
              </a:rPr>
              <a:t>WHERE IT EARNS ITS KEEP</a:t>
            </a:r>
            <a:endParaRPr b="0" i="0" sz="3200" u="none" cap="none" strike="noStrike">
              <a:solidFill>
                <a:schemeClr val="dk1"/>
              </a:solidFill>
              <a:latin typeface="Calibri"/>
              <a:ea typeface="Calibri"/>
              <a:cs typeface="Calibri"/>
              <a:sym typeface="Calibri"/>
            </a:endParaRPr>
          </a:p>
        </p:txBody>
      </p:sp>
      <p:sp>
        <p:nvSpPr>
          <p:cNvPr id="324" name="Google Shape;324;p11"/>
          <p:cNvSpPr/>
          <p:nvPr/>
        </p:nvSpPr>
        <p:spPr>
          <a:xfrm>
            <a:off x="1371600" y="8257567"/>
            <a:ext cx="15461700" cy="1257900"/>
          </a:xfrm>
          <a:prstGeom prst="rect">
            <a:avLst/>
          </a:prstGeom>
          <a:noFill/>
          <a:ln>
            <a:noFill/>
          </a:ln>
        </p:spPr>
        <p:txBody>
          <a:bodyPr anchorCtr="0" anchor="t" bIns="25400" lIns="25400" spcFirstLastPara="1" rIns="25400" wrap="square" tIns="25400">
            <a:noAutofit/>
          </a:bodyPr>
          <a:lstStyle/>
          <a:p>
            <a:pPr indent="0" lvl="0" marL="0" marR="0" rtl="0" algn="l">
              <a:lnSpc>
                <a:spcPct val="117091"/>
              </a:lnSpc>
              <a:spcBef>
                <a:spcPts val="0"/>
              </a:spcBef>
              <a:spcAft>
                <a:spcPts val="0"/>
              </a:spcAft>
              <a:buClr>
                <a:srgbClr val="37474F"/>
              </a:buClr>
              <a:buSzPts val="3450"/>
              <a:buFont typeface="Gabarito"/>
              <a:buNone/>
            </a:pPr>
            <a:r>
              <a:rPr b="1" i="0" lang="en-US" sz="2200" u="none" cap="none" strike="noStrike">
                <a:solidFill>
                  <a:schemeClr val="accent2"/>
                </a:solidFill>
                <a:latin typeface="Gabarito"/>
                <a:ea typeface="Gabarito"/>
                <a:cs typeface="Gabarito"/>
                <a:sym typeface="Gabarito"/>
              </a:rPr>
              <a:t>Legal teams</a:t>
            </a:r>
            <a:r>
              <a:rPr b="0" i="0" lang="en-US" sz="2200" u="none" cap="none" strike="noStrike">
                <a:solidFill>
                  <a:srgbClr val="37474F"/>
                </a:solidFill>
                <a:latin typeface="Gabarito"/>
                <a:ea typeface="Gabarito"/>
                <a:cs typeface="Gabarito"/>
                <a:sym typeface="Gabarito"/>
              </a:rPr>
              <a:t> researching case law where precision matters, </a:t>
            </a:r>
            <a:r>
              <a:rPr b="1" i="0" lang="en-US" sz="2200" u="none" cap="none" strike="noStrike">
                <a:solidFill>
                  <a:schemeClr val="accent2"/>
                </a:solidFill>
                <a:latin typeface="Gabarito"/>
                <a:ea typeface="Gabarito"/>
                <a:cs typeface="Gabarito"/>
                <a:sym typeface="Gabarito"/>
              </a:rPr>
              <a:t>healthcare researchers</a:t>
            </a:r>
            <a:r>
              <a:rPr b="0" i="0" lang="en-US" sz="2200" u="none" cap="none" strike="noStrike">
                <a:solidFill>
                  <a:srgbClr val="37474F"/>
                </a:solidFill>
                <a:latin typeface="Gabarito"/>
                <a:ea typeface="Gabarito"/>
                <a:cs typeface="Gabarito"/>
                <a:sym typeface="Gabarito"/>
              </a:rPr>
              <a:t> doing literature review and clinical support, and </a:t>
            </a:r>
            <a:r>
              <a:rPr b="1" i="0" lang="en-US" sz="2200" u="none" cap="none" strike="noStrike">
                <a:solidFill>
                  <a:schemeClr val="accent2"/>
                </a:solidFill>
                <a:latin typeface="Gabarito"/>
                <a:ea typeface="Gabarito"/>
                <a:cs typeface="Gabarito"/>
                <a:sym typeface="Gabarito"/>
              </a:rPr>
              <a:t>financial firms</a:t>
            </a:r>
            <a:r>
              <a:rPr b="0" i="0" lang="en-US" sz="2200" u="none" cap="none" strike="noStrike">
                <a:solidFill>
                  <a:srgbClr val="37474F"/>
                </a:solidFill>
                <a:latin typeface="Gabarito"/>
                <a:ea typeface="Gabarito"/>
                <a:cs typeface="Gabarito"/>
                <a:sym typeface="Gabarito"/>
              </a:rPr>
              <a:t> handling market research and compliance documents </a:t>
            </a:r>
            <a:r>
              <a:rPr lang="en-US" sz="2200">
                <a:solidFill>
                  <a:srgbClr val="37474F"/>
                </a:solidFill>
                <a:latin typeface="Gabarito"/>
                <a:ea typeface="Gabarito"/>
                <a:cs typeface="Gabarito"/>
                <a:sym typeface="Gabarito"/>
              </a:rPr>
              <a:t>-</a:t>
            </a:r>
            <a:r>
              <a:rPr b="0" i="0" lang="en-US" sz="2200" u="none" cap="none" strike="noStrike">
                <a:solidFill>
                  <a:srgbClr val="37474F"/>
                </a:solidFill>
                <a:latin typeface="Gabarito"/>
                <a:ea typeface="Gabarito"/>
                <a:cs typeface="Gabarito"/>
                <a:sym typeface="Gabarito"/>
              </a:rPr>
              <a:t> fields where a wrong "close enough" answer is expensive.</a:t>
            </a:r>
            <a:endParaRPr b="0" i="0" sz="2200" u="none" cap="none" strike="noStrike">
              <a:solidFill>
                <a:schemeClr val="dk1"/>
              </a:solidFill>
              <a:latin typeface="Calibri"/>
              <a:ea typeface="Calibri"/>
              <a:cs typeface="Calibri"/>
              <a:sym typeface="Calibri"/>
            </a:endParaRPr>
          </a:p>
        </p:txBody>
      </p:sp>
      <p:pic>
        <p:nvPicPr>
          <p:cNvPr id="325" name="Google Shape;325;p11" title="ChatGPT Image Aug 21, 2026, 10_03_34 AM.png"/>
          <p:cNvPicPr preferRelativeResize="0"/>
          <p:nvPr/>
        </p:nvPicPr>
        <p:blipFill>
          <a:blip r:embed="rId4">
            <a:alphaModFix/>
          </a:blip>
          <a:stretch>
            <a:fillRect/>
          </a:stretch>
        </p:blipFill>
        <p:spPr>
          <a:xfrm>
            <a:off x="1371600" y="3714925"/>
            <a:ext cx="1066800" cy="924261"/>
          </a:xfrm>
          <a:prstGeom prst="rect">
            <a:avLst/>
          </a:prstGeom>
          <a:noFill/>
          <a:ln>
            <a:noFill/>
          </a:ln>
        </p:spPr>
      </p:pic>
      <p:pic>
        <p:nvPicPr>
          <p:cNvPr id="326" name="Google Shape;326;p11" title="ChatGPT Image Aug 21, 2026, 10_06_04 AM.png"/>
          <p:cNvPicPr preferRelativeResize="0"/>
          <p:nvPr/>
        </p:nvPicPr>
        <p:blipFill>
          <a:blip r:embed="rId5">
            <a:alphaModFix/>
          </a:blip>
          <a:stretch>
            <a:fillRect/>
          </a:stretch>
        </p:blipFill>
        <p:spPr>
          <a:xfrm>
            <a:off x="9582150" y="3705600"/>
            <a:ext cx="1011365" cy="9242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pic>
        <p:nvPicPr>
          <p:cNvPr descr="preencoded.png" id="332" name="Google Shape;332;p12"/>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333" name="Google Shape;333;p12"/>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035595"/>
                </a:solidFill>
                <a:latin typeface="Gabarito"/>
                <a:ea typeface="Gabarito"/>
                <a:cs typeface="Gabarito"/>
                <a:sym typeface="Gabarito"/>
              </a:rPr>
              <a:t>How RAG Evolves  </a:t>
            </a:r>
            <a:endParaRPr b="0" i="0" sz="3000" u="none" cap="none" strike="noStrike">
              <a:solidFill>
                <a:schemeClr val="dk1"/>
              </a:solidFill>
              <a:latin typeface="Calibri"/>
              <a:ea typeface="Calibri"/>
              <a:cs typeface="Calibri"/>
              <a:sym typeface="Calibri"/>
            </a:endParaRPr>
          </a:p>
        </p:txBody>
      </p:sp>
      <p:sp>
        <p:nvSpPr>
          <p:cNvPr id="334" name="Google Shape;334;p12"/>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Advanced RAG</a:t>
            </a:r>
            <a:endParaRPr b="0" i="0" sz="6000" u="none" cap="none" strike="noStrike">
              <a:solidFill>
                <a:schemeClr val="dk1"/>
              </a:solidFill>
              <a:latin typeface="Calibri"/>
              <a:ea typeface="Calibri"/>
              <a:cs typeface="Calibri"/>
              <a:sym typeface="Calibri"/>
            </a:endParaRPr>
          </a:p>
        </p:txBody>
      </p:sp>
      <p:sp>
        <p:nvSpPr>
          <p:cNvPr id="335" name="Google Shape;335;p12"/>
          <p:cNvSpPr/>
          <p:nvPr/>
        </p:nvSpPr>
        <p:spPr>
          <a:xfrm>
            <a:off x="1047750" y="2256681"/>
            <a:ext cx="16221075" cy="963811"/>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None/>
            </a:pPr>
            <a:r>
              <a:rPr b="1" i="0" lang="en-US" sz="3000" u="none" cap="none" strike="noStrike">
                <a:solidFill>
                  <a:srgbClr val="FF9900"/>
                </a:solidFill>
                <a:latin typeface="Gabarito"/>
                <a:ea typeface="Gabarito"/>
                <a:cs typeface="Gabarito"/>
                <a:sym typeface="Gabarito"/>
              </a:rPr>
              <a:t>Why it matters: </a:t>
            </a:r>
            <a:r>
              <a:rPr b="0" i="0" lang="en-US" sz="3000" u="none" cap="none" strike="noStrike">
                <a:solidFill>
                  <a:srgbClr val="5B5B5B"/>
                </a:solidFill>
                <a:latin typeface="Gabarito"/>
                <a:ea typeface="Gabarito"/>
                <a:cs typeface="Gabarito"/>
                <a:sym typeface="Gabarito"/>
              </a:rPr>
              <a:t>every added step here answers the same questio</a:t>
            </a:r>
            <a:r>
              <a:rPr lang="en-US" sz="3000">
                <a:solidFill>
                  <a:srgbClr val="5B5B5B"/>
                </a:solidFill>
                <a:latin typeface="Gabarito"/>
                <a:ea typeface="Gabarito"/>
                <a:cs typeface="Gabarito"/>
                <a:sym typeface="Gabarito"/>
              </a:rPr>
              <a:t>n: </a:t>
            </a:r>
            <a:r>
              <a:rPr b="1" i="0" lang="en-US" sz="3000" u="none" cap="none" strike="noStrike">
                <a:solidFill>
                  <a:srgbClr val="1E4E79"/>
                </a:solidFill>
                <a:latin typeface="Gabarito"/>
                <a:ea typeface="Gabarito"/>
                <a:cs typeface="Gabarito"/>
                <a:sym typeface="Gabarito"/>
              </a:rPr>
              <a:t>"</a:t>
            </a:r>
            <a:r>
              <a:rPr b="1" lang="en-US" sz="3000">
                <a:solidFill>
                  <a:srgbClr val="1E4E79"/>
                </a:solidFill>
                <a:latin typeface="Gabarito"/>
                <a:ea typeface="Gabarito"/>
                <a:cs typeface="Gabarito"/>
                <a:sym typeface="Gabarito"/>
              </a:rPr>
              <a:t>I</a:t>
            </a:r>
            <a:r>
              <a:rPr b="1" i="0" lang="en-US" sz="3000" u="none" cap="none" strike="noStrike">
                <a:solidFill>
                  <a:srgbClr val="1E4E79"/>
                </a:solidFill>
                <a:latin typeface="Gabarito"/>
                <a:ea typeface="Gabarito"/>
                <a:cs typeface="Gabarito"/>
                <a:sym typeface="Gabarito"/>
              </a:rPr>
              <a:t>s this actually the most useful context, or just the most similar text</a:t>
            </a:r>
            <a:r>
              <a:rPr b="1" lang="en-US" sz="3000">
                <a:solidFill>
                  <a:srgbClr val="1E4E79"/>
                </a:solidFill>
                <a:latin typeface="Gabarito"/>
                <a:ea typeface="Gabarito"/>
                <a:cs typeface="Gabarito"/>
                <a:sym typeface="Gabarito"/>
              </a:rPr>
              <a:t>?”</a:t>
            </a:r>
            <a:r>
              <a:rPr lang="en-US" sz="3000">
                <a:solidFill>
                  <a:srgbClr val="5B5B5B"/>
                </a:solidFill>
                <a:latin typeface="Gabarito"/>
                <a:ea typeface="Gabarito"/>
                <a:cs typeface="Gabarito"/>
                <a:sym typeface="Gabarito"/>
              </a:rPr>
              <a:t>. </a:t>
            </a:r>
            <a:r>
              <a:rPr lang="en-US"/>
              <a:t> </a:t>
            </a:r>
            <a:r>
              <a:rPr b="0" i="0" lang="en-US" sz="3000" u="none" cap="none" strike="noStrike">
                <a:solidFill>
                  <a:srgbClr val="5B5B5B"/>
                </a:solidFill>
                <a:latin typeface="Gabarito"/>
                <a:ea typeface="Gabarito"/>
                <a:cs typeface="Gabarito"/>
                <a:sym typeface="Gabarito"/>
              </a:rPr>
              <a:t>That's the exact gap Naive RAG's weak point flagged.</a:t>
            </a:r>
            <a:endParaRPr b="0" i="0" sz="3000" u="none" cap="none" strike="noStrike">
              <a:solidFill>
                <a:schemeClr val="dk1"/>
              </a:solidFill>
              <a:latin typeface="Calibri"/>
              <a:ea typeface="Calibri"/>
              <a:cs typeface="Calibri"/>
              <a:sym typeface="Calibri"/>
            </a:endParaRPr>
          </a:p>
        </p:txBody>
      </p:sp>
      <p:pic>
        <p:nvPicPr>
          <p:cNvPr id="336" name="Google Shape;336;p12" title="ChatGPT Image Aug 25, 2026, 11_36_35 PM.png"/>
          <p:cNvPicPr preferRelativeResize="0"/>
          <p:nvPr/>
        </p:nvPicPr>
        <p:blipFill rotWithShape="1">
          <a:blip r:embed="rId4">
            <a:alphaModFix/>
          </a:blip>
          <a:srcRect b="416" l="0" r="0" t="426"/>
          <a:stretch/>
        </p:blipFill>
        <p:spPr>
          <a:xfrm>
            <a:off x="2825450" y="3651591"/>
            <a:ext cx="12665674" cy="6029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pic>
        <p:nvPicPr>
          <p:cNvPr descr="preencoded.png" id="342" name="Google Shape;342;p13"/>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343" name="Google Shape;343;p13"/>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035595"/>
                </a:solidFill>
                <a:latin typeface="Gabarito"/>
                <a:ea typeface="Gabarito"/>
                <a:cs typeface="Gabarito"/>
                <a:sym typeface="Gabarito"/>
              </a:rPr>
              <a:t>How RAG Evolves  </a:t>
            </a:r>
            <a:endParaRPr b="0" i="0" sz="3000" u="none" cap="none" strike="noStrike">
              <a:solidFill>
                <a:schemeClr val="dk1"/>
              </a:solidFill>
              <a:latin typeface="Calibri"/>
              <a:ea typeface="Calibri"/>
              <a:cs typeface="Calibri"/>
              <a:sym typeface="Calibri"/>
            </a:endParaRPr>
          </a:p>
        </p:txBody>
      </p:sp>
      <p:sp>
        <p:nvSpPr>
          <p:cNvPr id="344" name="Google Shape;344;p13"/>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Agentic RAG</a:t>
            </a:r>
            <a:endParaRPr b="0" i="0" sz="6000" u="none" cap="none" strike="noStrike">
              <a:solidFill>
                <a:schemeClr val="dk1"/>
              </a:solidFill>
              <a:latin typeface="Calibri"/>
              <a:ea typeface="Calibri"/>
              <a:cs typeface="Calibri"/>
              <a:sym typeface="Calibri"/>
            </a:endParaRPr>
          </a:p>
        </p:txBody>
      </p:sp>
      <p:sp>
        <p:nvSpPr>
          <p:cNvPr id="345" name="Google Shape;345;p13"/>
          <p:cNvSpPr/>
          <p:nvPr/>
        </p:nvSpPr>
        <p:spPr>
          <a:xfrm>
            <a:off x="1047750" y="2285990"/>
            <a:ext cx="162210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None/>
            </a:pPr>
            <a:r>
              <a:rPr b="0" i="0" lang="en-US" sz="3200" u="none" cap="none" strike="noStrike">
                <a:solidFill>
                  <a:srgbClr val="212121"/>
                </a:solidFill>
                <a:latin typeface="Gabarito"/>
                <a:ea typeface="Gabarito"/>
                <a:cs typeface="Gabarito"/>
                <a:sym typeface="Gabarito"/>
              </a:rPr>
              <a:t>What if one search-and-rerank pass still isn't enough? Instead of one retrieval step, </a:t>
            </a:r>
            <a:endParaRPr b="0" i="0" sz="3200" u="none" cap="none" strike="noStrike">
              <a:solidFill>
                <a:srgbClr val="212121"/>
              </a:solidFill>
              <a:latin typeface="Gabarito"/>
              <a:ea typeface="Gabarito"/>
              <a:cs typeface="Gabarito"/>
              <a:sym typeface="Gabarito"/>
            </a:endParaRPr>
          </a:p>
          <a:p>
            <a:pPr indent="0" lvl="0" marL="0" marR="0" rtl="0" algn="l">
              <a:lnSpc>
                <a:spcPct val="113023"/>
              </a:lnSpc>
              <a:spcBef>
                <a:spcPts val="0"/>
              </a:spcBef>
              <a:spcAft>
                <a:spcPts val="0"/>
              </a:spcAft>
              <a:buNone/>
            </a:pPr>
            <a:r>
              <a:rPr b="0" i="0" lang="en-US" sz="3200" u="none" cap="none" strike="noStrike">
                <a:solidFill>
                  <a:srgbClr val="212121"/>
                </a:solidFill>
                <a:latin typeface="Gabarito"/>
                <a:ea typeface="Gabarito"/>
                <a:cs typeface="Gabarito"/>
                <a:sym typeface="Gabarito"/>
              </a:rPr>
              <a:t>the system </a:t>
            </a:r>
            <a:r>
              <a:rPr b="1" i="0" lang="en-US" sz="3200" u="none" cap="none" strike="noStrike">
                <a:solidFill>
                  <a:srgbClr val="035595"/>
                </a:solidFill>
                <a:latin typeface="Gabarito"/>
                <a:ea typeface="Gabarito"/>
                <a:cs typeface="Gabarito"/>
                <a:sym typeface="Gabarito"/>
              </a:rPr>
              <a:t>plans, delegates, and reasons in stages.</a:t>
            </a:r>
            <a:endParaRPr b="0" i="0" sz="3200" u="none" cap="none" strike="noStrike">
              <a:solidFill>
                <a:schemeClr val="dk1"/>
              </a:solidFill>
              <a:latin typeface="Calibri"/>
              <a:ea typeface="Calibri"/>
              <a:cs typeface="Calibri"/>
              <a:sym typeface="Calibri"/>
            </a:endParaRPr>
          </a:p>
        </p:txBody>
      </p:sp>
      <p:sp>
        <p:nvSpPr>
          <p:cNvPr id="346" name="Google Shape;346;p13"/>
          <p:cNvSpPr/>
          <p:nvPr/>
        </p:nvSpPr>
        <p:spPr>
          <a:xfrm>
            <a:off x="1047750" y="3647658"/>
            <a:ext cx="7982100" cy="3081900"/>
          </a:xfrm>
          <a:prstGeom prst="roundRect">
            <a:avLst>
              <a:gd fmla="val 4775"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3"/>
          <p:cNvSpPr/>
          <p:nvPr/>
        </p:nvSpPr>
        <p:spPr>
          <a:xfrm>
            <a:off x="1371600" y="3933407"/>
            <a:ext cx="80676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200" u="none" cap="none" strike="noStrike">
                <a:solidFill>
                  <a:srgbClr val="035595"/>
                </a:solidFill>
                <a:latin typeface="Gabarito"/>
                <a:ea typeface="Gabarito"/>
                <a:cs typeface="Gabarito"/>
                <a:sym typeface="Gabarito"/>
              </a:rPr>
              <a:t>Planning and specialized agents</a:t>
            </a:r>
            <a:endParaRPr b="0" i="0" sz="3200" u="none" cap="none" strike="noStrike">
              <a:solidFill>
                <a:schemeClr val="dk1"/>
              </a:solidFill>
              <a:latin typeface="Calibri"/>
              <a:ea typeface="Calibri"/>
              <a:cs typeface="Calibri"/>
              <a:sym typeface="Calibri"/>
            </a:endParaRPr>
          </a:p>
        </p:txBody>
      </p:sp>
      <p:sp>
        <p:nvSpPr>
          <p:cNvPr id="348" name="Google Shape;348;p13"/>
          <p:cNvSpPr/>
          <p:nvPr/>
        </p:nvSpPr>
        <p:spPr>
          <a:xfrm>
            <a:off x="1371600" y="4595319"/>
            <a:ext cx="7239000" cy="2134200"/>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None/>
            </a:pPr>
            <a:r>
              <a:rPr b="0" i="0" lang="en-US" sz="2200" u="none" cap="none" strike="noStrike">
                <a:solidFill>
                  <a:srgbClr val="37474F"/>
                </a:solidFill>
                <a:latin typeface="Gabarito"/>
                <a:ea typeface="Gabarito"/>
                <a:cs typeface="Gabarito"/>
                <a:sym typeface="Gabarito"/>
              </a:rPr>
              <a:t>A task-planning module breaks a complex query into subtasks, then hands them to multiple specialized agents — different agents handle different parts of the job, rather than one component doing everything.</a:t>
            </a:r>
            <a:endParaRPr b="0" i="0" sz="2200" u="none" cap="none" strike="noStrike">
              <a:solidFill>
                <a:schemeClr val="dk1"/>
              </a:solidFill>
              <a:latin typeface="Calibri"/>
              <a:ea typeface="Calibri"/>
              <a:cs typeface="Calibri"/>
              <a:sym typeface="Calibri"/>
            </a:endParaRPr>
          </a:p>
        </p:txBody>
      </p:sp>
      <p:sp>
        <p:nvSpPr>
          <p:cNvPr id="349" name="Google Shape;349;p13"/>
          <p:cNvSpPr/>
          <p:nvPr/>
        </p:nvSpPr>
        <p:spPr>
          <a:xfrm>
            <a:off x="9258300" y="3647658"/>
            <a:ext cx="7982100" cy="3081900"/>
          </a:xfrm>
          <a:prstGeom prst="roundRect">
            <a:avLst>
              <a:gd fmla="val 4775"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3"/>
          <p:cNvSpPr/>
          <p:nvPr/>
        </p:nvSpPr>
        <p:spPr>
          <a:xfrm>
            <a:off x="9582150" y="3933407"/>
            <a:ext cx="80676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200" u="none" cap="none" strike="noStrike">
                <a:solidFill>
                  <a:srgbClr val="D97D00"/>
                </a:solidFill>
                <a:latin typeface="Gabarito"/>
                <a:ea typeface="Gabarito"/>
                <a:cs typeface="Gabarito"/>
                <a:sym typeface="Gabarito"/>
              </a:rPr>
              <a:t>Memory and visible reasoning</a:t>
            </a:r>
            <a:endParaRPr b="0" i="0" sz="3200" u="none" cap="none" strike="noStrike">
              <a:solidFill>
                <a:schemeClr val="dk1"/>
              </a:solidFill>
              <a:latin typeface="Calibri"/>
              <a:ea typeface="Calibri"/>
              <a:cs typeface="Calibri"/>
              <a:sym typeface="Calibri"/>
            </a:endParaRPr>
          </a:p>
        </p:txBody>
      </p:sp>
      <p:sp>
        <p:nvSpPr>
          <p:cNvPr id="351" name="Google Shape;351;p13"/>
          <p:cNvSpPr/>
          <p:nvPr/>
        </p:nvSpPr>
        <p:spPr>
          <a:xfrm>
            <a:off x="9582150" y="4595319"/>
            <a:ext cx="7010400" cy="1715100"/>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None/>
            </a:pPr>
            <a:r>
              <a:rPr b="0" i="0" lang="en-US" sz="2200" u="none" cap="none" strike="noStrike">
                <a:solidFill>
                  <a:srgbClr val="37474F"/>
                </a:solidFill>
                <a:latin typeface="Gabarito"/>
                <a:ea typeface="Gabarito"/>
                <a:cs typeface="Gabarito"/>
                <a:sym typeface="Gabarito"/>
              </a:rPr>
              <a:t>A memory system maintains context across reasoning steps, while a chain-of-thought framework keeps the reasoning path explicit — so you see how the system got to its answer, not just what it answered.</a:t>
            </a:r>
            <a:endParaRPr b="0" i="0" sz="2200" u="none" cap="none" strike="noStrike">
              <a:solidFill>
                <a:schemeClr val="dk1"/>
              </a:solidFill>
              <a:latin typeface="Calibri"/>
              <a:ea typeface="Calibri"/>
              <a:cs typeface="Calibri"/>
              <a:sym typeface="Calibri"/>
            </a:endParaRPr>
          </a:p>
        </p:txBody>
      </p:sp>
      <p:sp>
        <p:nvSpPr>
          <p:cNvPr id="352" name="Google Shape;352;p13"/>
          <p:cNvSpPr/>
          <p:nvPr/>
        </p:nvSpPr>
        <p:spPr>
          <a:xfrm>
            <a:off x="1047750" y="7026675"/>
            <a:ext cx="16192500" cy="2338500"/>
          </a:xfrm>
          <a:prstGeom prst="roundRect">
            <a:avLst>
              <a:gd fmla="val 3725"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3"/>
          <p:cNvSpPr/>
          <p:nvPr/>
        </p:nvSpPr>
        <p:spPr>
          <a:xfrm>
            <a:off x="1511300" y="7318003"/>
            <a:ext cx="16512600" cy="476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850"/>
              <a:buFont typeface="Gabarito"/>
              <a:buNone/>
            </a:pPr>
            <a:r>
              <a:rPr b="1" i="0" lang="en-US" sz="3200" u="none" cap="none" strike="noStrike">
                <a:solidFill>
                  <a:srgbClr val="274D71"/>
                </a:solidFill>
                <a:latin typeface="Gabarito"/>
                <a:ea typeface="Gabarito"/>
                <a:cs typeface="Gabarito"/>
                <a:sym typeface="Gabarito"/>
              </a:rPr>
              <a:t>WHERE IT EARNS ITS KEEP</a:t>
            </a:r>
            <a:endParaRPr b="0" i="0" sz="3200" u="none" cap="none" strike="noStrike">
              <a:solidFill>
                <a:schemeClr val="dk1"/>
              </a:solidFill>
              <a:latin typeface="Calibri"/>
              <a:ea typeface="Calibri"/>
              <a:cs typeface="Calibri"/>
              <a:sym typeface="Calibri"/>
            </a:endParaRPr>
          </a:p>
        </p:txBody>
      </p:sp>
      <p:sp>
        <p:nvSpPr>
          <p:cNvPr id="354" name="Google Shape;354;p13"/>
          <p:cNvSpPr/>
          <p:nvPr/>
        </p:nvSpPr>
        <p:spPr>
          <a:xfrm>
            <a:off x="1511300" y="7988724"/>
            <a:ext cx="15461700" cy="884700"/>
          </a:xfrm>
          <a:prstGeom prst="rect">
            <a:avLst/>
          </a:prstGeom>
          <a:noFill/>
          <a:ln>
            <a:noFill/>
          </a:ln>
        </p:spPr>
        <p:txBody>
          <a:bodyPr anchorCtr="0" anchor="t" bIns="25400" lIns="25400" spcFirstLastPara="1" rIns="25400" wrap="square" tIns="25400">
            <a:noAutofit/>
          </a:bodyPr>
          <a:lstStyle/>
          <a:p>
            <a:pPr indent="0" lvl="0" marL="0" marR="0" rtl="0" algn="l">
              <a:lnSpc>
                <a:spcPct val="117091"/>
              </a:lnSpc>
              <a:spcBef>
                <a:spcPts val="0"/>
              </a:spcBef>
              <a:spcAft>
                <a:spcPts val="0"/>
              </a:spcAft>
              <a:buNone/>
            </a:pPr>
            <a:r>
              <a:rPr b="0" i="0" lang="en-US" sz="2200" u="none" cap="none" strike="noStrike">
                <a:solidFill>
                  <a:srgbClr val="37474F"/>
                </a:solidFill>
                <a:latin typeface="Gabarito"/>
                <a:ea typeface="Gabarito"/>
                <a:cs typeface="Gabarito"/>
                <a:sym typeface="Gabarito"/>
              </a:rPr>
              <a:t>Strategy consulting firms use it for market analysis and strategic planning, academic institutions apply it to literature review and hypothesis generation, and tech companies use it for automated code generation and documentation.</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pic>
        <p:nvPicPr>
          <p:cNvPr descr="preencoded.png" id="360" name="Google Shape;360;p14"/>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361" name="Google Shape;361;p14"/>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035595"/>
                </a:solidFill>
                <a:latin typeface="Gabarito"/>
                <a:ea typeface="Gabarito"/>
                <a:cs typeface="Gabarito"/>
                <a:sym typeface="Gabarito"/>
              </a:rPr>
              <a:t>How RAG Evolves  </a:t>
            </a:r>
            <a:endParaRPr b="0" i="0" sz="3000" u="none" cap="none" strike="noStrike">
              <a:solidFill>
                <a:schemeClr val="dk1"/>
              </a:solidFill>
              <a:latin typeface="Calibri"/>
              <a:ea typeface="Calibri"/>
              <a:cs typeface="Calibri"/>
              <a:sym typeface="Calibri"/>
            </a:endParaRPr>
          </a:p>
        </p:txBody>
      </p:sp>
      <p:sp>
        <p:nvSpPr>
          <p:cNvPr id="362" name="Google Shape;362;p14"/>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Agentic RAG</a:t>
            </a:r>
            <a:endParaRPr b="0" i="0" sz="6000" u="none" cap="none" strike="noStrike">
              <a:solidFill>
                <a:schemeClr val="dk1"/>
              </a:solidFill>
              <a:latin typeface="Calibri"/>
              <a:ea typeface="Calibri"/>
              <a:cs typeface="Calibri"/>
              <a:sym typeface="Calibri"/>
            </a:endParaRPr>
          </a:p>
        </p:txBody>
      </p:sp>
      <p:sp>
        <p:nvSpPr>
          <p:cNvPr id="363" name="Google Shape;363;p14"/>
          <p:cNvSpPr/>
          <p:nvPr/>
        </p:nvSpPr>
        <p:spPr>
          <a:xfrm>
            <a:off x="1047750" y="2256675"/>
            <a:ext cx="162210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None/>
            </a:pPr>
            <a:r>
              <a:rPr b="1" i="0" lang="en-US" sz="3000" u="none" cap="none" strike="noStrike">
                <a:solidFill>
                  <a:srgbClr val="FF9900"/>
                </a:solidFill>
                <a:latin typeface="Gabarito"/>
                <a:ea typeface="Gabarito"/>
                <a:cs typeface="Gabarito"/>
                <a:sym typeface="Gabarito"/>
              </a:rPr>
              <a:t>Why it matters: </a:t>
            </a:r>
            <a:r>
              <a:rPr b="0" i="0" lang="en-US" sz="3000" u="none" cap="none" strike="noStrike">
                <a:solidFill>
                  <a:srgbClr val="5B5B5B"/>
                </a:solidFill>
                <a:latin typeface="Gabarito"/>
                <a:ea typeface="Gabarito"/>
                <a:cs typeface="Gabarito"/>
                <a:sym typeface="Gabarito"/>
              </a:rPr>
              <a:t>This is the shape real reasoning systems take in productions – several focused steps working together, with a visible trail of how they got there. It’s also the natural next step after Workflow Engineering: this is the multi-step chaining and state management, just applied specifically to retrieval.</a:t>
            </a:r>
            <a:endParaRPr/>
          </a:p>
        </p:txBody>
      </p:sp>
      <p:pic>
        <p:nvPicPr>
          <p:cNvPr id="364" name="Google Shape;364;p14" title="ChatGPT Image Aug 25, 2026, 11_39_12 PM.png"/>
          <p:cNvPicPr preferRelativeResize="0"/>
          <p:nvPr/>
        </p:nvPicPr>
        <p:blipFill rotWithShape="1">
          <a:blip r:embed="rId4">
            <a:alphaModFix/>
          </a:blip>
          <a:srcRect b="0" l="-3522" r="-3522" t="0"/>
          <a:stretch/>
        </p:blipFill>
        <p:spPr>
          <a:xfrm>
            <a:off x="5007225" y="4156450"/>
            <a:ext cx="9113027" cy="57293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15"/>
          <p:cNvSpPr/>
          <p:nvPr/>
        </p:nvSpPr>
        <p:spPr>
          <a:xfrm>
            <a:off x="15700474" y="666750"/>
            <a:ext cx="1693753" cy="1476375"/>
          </a:xfrm>
          <a:prstGeom prst="rect">
            <a:avLst/>
          </a:prstGeom>
          <a:noFill/>
          <a:ln>
            <a:noFill/>
          </a:ln>
        </p:spPr>
        <p:txBody>
          <a:bodyPr anchorCtr="0" anchor="t" bIns="25400" lIns="25400" spcFirstLastPara="1" rIns="25400" wrap="square" tIns="25400">
            <a:noAutofit/>
          </a:bodyPr>
          <a:lstStyle/>
          <a:p>
            <a:pPr indent="0" lvl="0" marL="0" marR="0" rtl="0" algn="l">
              <a:lnSpc>
                <a:spcPct val="83425"/>
              </a:lnSpc>
              <a:spcBef>
                <a:spcPts val="0"/>
              </a:spcBef>
              <a:spcAft>
                <a:spcPts val="0"/>
              </a:spcAft>
              <a:buClr>
                <a:srgbClr val="FF9900"/>
              </a:buClr>
              <a:buSzPts val="11325"/>
              <a:buFont typeface="Gabarito"/>
              <a:buNone/>
            </a:pPr>
            <a:r>
              <a:rPr b="1" i="0" lang="en-US" sz="11325" u="none" cap="none" strike="noStrike">
                <a:solidFill>
                  <a:srgbClr val="FF9900"/>
                </a:solidFill>
                <a:latin typeface="Gabarito"/>
                <a:ea typeface="Gabarito"/>
                <a:cs typeface="Gabarito"/>
                <a:sym typeface="Gabarito"/>
              </a:rPr>
              <a:t>02</a:t>
            </a:r>
            <a:endParaRPr b="0" i="0" sz="11325" u="none" cap="none" strike="noStrike">
              <a:solidFill>
                <a:schemeClr val="dk1"/>
              </a:solidFill>
              <a:latin typeface="Calibri"/>
              <a:ea typeface="Calibri"/>
              <a:cs typeface="Calibri"/>
              <a:sym typeface="Calibri"/>
            </a:endParaRPr>
          </a:p>
        </p:txBody>
      </p:sp>
      <p:sp>
        <p:nvSpPr>
          <p:cNvPr id="371" name="Google Shape;371;p15"/>
          <p:cNvSpPr/>
          <p:nvPr/>
        </p:nvSpPr>
        <p:spPr>
          <a:xfrm>
            <a:off x="1266825" y="2857500"/>
            <a:ext cx="1905000" cy="1905000"/>
          </a:xfrm>
          <a:prstGeom prst="ellipse">
            <a:avLst/>
          </a:prstGeom>
          <a:solidFill>
            <a:srgbClr val="035595">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2" name="Google Shape;372;p15"/>
          <p:cNvPicPr preferRelativeResize="0"/>
          <p:nvPr/>
        </p:nvPicPr>
        <p:blipFill rotWithShape="1">
          <a:blip r:embed="rId3">
            <a:alphaModFix/>
          </a:blip>
          <a:srcRect b="0" l="0" r="0" t="0"/>
          <a:stretch/>
        </p:blipFill>
        <p:spPr>
          <a:xfrm>
            <a:off x="1743075" y="3333750"/>
            <a:ext cx="952500" cy="952500"/>
          </a:xfrm>
          <a:prstGeom prst="rect">
            <a:avLst/>
          </a:prstGeom>
          <a:noFill/>
          <a:ln>
            <a:noFill/>
          </a:ln>
        </p:spPr>
      </p:pic>
      <p:sp>
        <p:nvSpPr>
          <p:cNvPr id="373" name="Google Shape;373;p15"/>
          <p:cNvSpPr/>
          <p:nvPr/>
        </p:nvSpPr>
        <p:spPr>
          <a:xfrm>
            <a:off x="1266825" y="5334000"/>
            <a:ext cx="14668500" cy="1012924"/>
          </a:xfrm>
          <a:prstGeom prst="rect">
            <a:avLst/>
          </a:prstGeom>
          <a:noFill/>
          <a:ln>
            <a:noFill/>
          </a:ln>
        </p:spPr>
        <p:txBody>
          <a:bodyPr anchorCtr="0" anchor="t" bIns="25400" lIns="25400" spcFirstLastPara="1" rIns="25400" wrap="square" tIns="25400">
            <a:noAutofit/>
          </a:bodyPr>
          <a:lstStyle/>
          <a:p>
            <a:pPr indent="0" lvl="0" marL="0" marR="0" rtl="0" algn="l">
              <a:lnSpc>
                <a:spcPct val="95654"/>
              </a:lnSpc>
              <a:spcBef>
                <a:spcPts val="0"/>
              </a:spcBef>
              <a:spcAft>
                <a:spcPts val="0"/>
              </a:spcAft>
              <a:buClr>
                <a:srgbClr val="274D71"/>
              </a:buClr>
              <a:buSzPts val="6675"/>
              <a:buFont typeface="Gabarito"/>
              <a:buNone/>
            </a:pPr>
            <a:r>
              <a:rPr b="1" i="0" lang="en-US" sz="6800" u="none" cap="none" strike="noStrike">
                <a:solidFill>
                  <a:srgbClr val="274D71"/>
                </a:solidFill>
                <a:latin typeface="Gabarito"/>
                <a:ea typeface="Gabarito"/>
                <a:cs typeface="Gabarito"/>
                <a:sym typeface="Gabarito"/>
              </a:rPr>
              <a:t>The RAG Pipeline</a:t>
            </a:r>
            <a:endParaRPr b="0" i="0" sz="6800" u="none" cap="none" strike="noStrike">
              <a:solidFill>
                <a:schemeClr val="dk1"/>
              </a:solidFill>
              <a:latin typeface="Calibri"/>
              <a:ea typeface="Calibri"/>
              <a:cs typeface="Calibri"/>
              <a:sym typeface="Calibri"/>
            </a:endParaRPr>
          </a:p>
        </p:txBody>
      </p:sp>
      <p:sp>
        <p:nvSpPr>
          <p:cNvPr id="374" name="Google Shape;374;p15"/>
          <p:cNvSpPr/>
          <p:nvPr/>
        </p:nvSpPr>
        <p:spPr>
          <a:xfrm>
            <a:off x="1266825" y="6440537"/>
            <a:ext cx="15697200" cy="127635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78746A"/>
              </a:buClr>
              <a:buSzPts val="4050"/>
              <a:buFont typeface="Gabarito"/>
              <a:buNone/>
            </a:pPr>
            <a:r>
              <a:rPr b="0" i="0" lang="en-US" sz="4000" u="none" cap="none" strike="noStrike">
                <a:solidFill>
                  <a:srgbClr val="78746A"/>
                </a:solidFill>
                <a:latin typeface="Gabarito"/>
                <a:ea typeface="Gabarito"/>
                <a:cs typeface="Gabarito"/>
                <a:sym typeface="Gabarito"/>
              </a:rPr>
              <a:t>Ingestion, chunking, embedding, retrieval, and generation </a:t>
            </a:r>
            <a:endParaRPr/>
          </a:p>
          <a:p>
            <a:pPr indent="0" lvl="0" marL="0" marR="0" rtl="0" algn="l">
              <a:lnSpc>
                <a:spcPct val="120000"/>
              </a:lnSpc>
              <a:spcBef>
                <a:spcPts val="0"/>
              </a:spcBef>
              <a:spcAft>
                <a:spcPts val="0"/>
              </a:spcAft>
              <a:buClr>
                <a:srgbClr val="78746A"/>
              </a:buClr>
              <a:buSzPts val="4050"/>
              <a:buFont typeface="Gabarito"/>
              <a:buNone/>
            </a:pPr>
            <a:r>
              <a:rPr b="0" i="0" lang="en-US" sz="4000" u="none" cap="none" strike="noStrike">
                <a:solidFill>
                  <a:srgbClr val="78746A"/>
                </a:solidFill>
                <a:latin typeface="Gabarito"/>
                <a:ea typeface="Gabarito"/>
                <a:cs typeface="Gabarito"/>
                <a:sym typeface="Gabarito"/>
              </a:rPr>
              <a:t>— five stages, step by step.</a:t>
            </a:r>
            <a:endParaRPr b="0" i="0" sz="4000" u="none" cap="none" strike="noStrike">
              <a:solidFill>
                <a:schemeClr val="dk1"/>
              </a:solidFill>
              <a:latin typeface="Calibri"/>
              <a:ea typeface="Calibri"/>
              <a:cs typeface="Calibri"/>
              <a:sym typeface="Calibri"/>
            </a:endParaRPr>
          </a:p>
        </p:txBody>
      </p:sp>
      <p:sp>
        <p:nvSpPr>
          <p:cNvPr id="375" name="Google Shape;375;p15"/>
          <p:cNvSpPr/>
          <p:nvPr/>
        </p:nvSpPr>
        <p:spPr>
          <a:xfrm>
            <a:off x="1266825" y="9086850"/>
            <a:ext cx="990600" cy="9525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pic>
        <p:nvPicPr>
          <p:cNvPr descr="preencoded.png" id="381" name="Google Shape;381;p16"/>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382" name="Google Shape;382;p16"/>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1</a:t>
            </a:r>
            <a:endParaRPr b="0" i="0" sz="3000" u="none" cap="none" strike="noStrike">
              <a:solidFill>
                <a:schemeClr val="dk1"/>
              </a:solidFill>
              <a:latin typeface="Calibri"/>
              <a:ea typeface="Calibri"/>
              <a:cs typeface="Calibri"/>
              <a:sym typeface="Calibri"/>
            </a:endParaRPr>
          </a:p>
        </p:txBody>
      </p:sp>
      <p:sp>
        <p:nvSpPr>
          <p:cNvPr id="383" name="Google Shape;383;p16"/>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Ingestion — Getting Data In</a:t>
            </a:r>
            <a:endParaRPr b="0" i="0" sz="6000" u="none" cap="none" strike="noStrike">
              <a:solidFill>
                <a:schemeClr val="dk1"/>
              </a:solidFill>
              <a:latin typeface="Calibri"/>
              <a:ea typeface="Calibri"/>
              <a:cs typeface="Calibri"/>
              <a:sym typeface="Calibri"/>
            </a:endParaRPr>
          </a:p>
        </p:txBody>
      </p:sp>
      <p:sp>
        <p:nvSpPr>
          <p:cNvPr id="384" name="Google Shape;384;p16"/>
          <p:cNvSpPr/>
          <p:nvPr/>
        </p:nvSpPr>
        <p:spPr>
          <a:xfrm>
            <a:off x="1047751" y="2255639"/>
            <a:ext cx="14363700"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Before anything can be retrieved, raw documents have to be pulled into the pipeline — the first stage, and the easiest to overlook.</a:t>
            </a:r>
            <a:endParaRPr b="0" i="0" sz="3000" u="none" cap="none" strike="noStrike">
              <a:solidFill>
                <a:schemeClr val="dk1"/>
              </a:solidFill>
              <a:latin typeface="Calibri"/>
              <a:ea typeface="Calibri"/>
              <a:cs typeface="Calibri"/>
              <a:sym typeface="Calibri"/>
            </a:endParaRPr>
          </a:p>
        </p:txBody>
      </p:sp>
      <p:sp>
        <p:nvSpPr>
          <p:cNvPr id="385" name="Google Shape;385;p16"/>
          <p:cNvSpPr/>
          <p:nvPr/>
        </p:nvSpPr>
        <p:spPr>
          <a:xfrm>
            <a:off x="1047750" y="3554908"/>
            <a:ext cx="5245001" cy="3177183"/>
          </a:xfrm>
          <a:prstGeom prst="roundRect">
            <a:avLst>
              <a:gd fmla="val 6029"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6"/>
          <p:cNvSpPr/>
          <p:nvPr/>
        </p:nvSpPr>
        <p:spPr>
          <a:xfrm>
            <a:off x="1352550" y="3821608"/>
            <a:ext cx="5098941" cy="3905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325"/>
              <a:buFont typeface="Gabarito"/>
              <a:buNone/>
            </a:pPr>
            <a:r>
              <a:rPr b="1" i="0" lang="en-US" sz="2600" u="none" cap="none" strike="noStrike">
                <a:solidFill>
                  <a:srgbClr val="035595"/>
                </a:solidFill>
                <a:latin typeface="Gabarito"/>
                <a:ea typeface="Gabarito"/>
                <a:cs typeface="Gabarito"/>
                <a:sym typeface="Gabarito"/>
              </a:rPr>
              <a:t>WHAT IT IS</a:t>
            </a:r>
            <a:endParaRPr b="0" i="0" sz="2600" u="none" cap="none" strike="noStrike">
              <a:solidFill>
                <a:schemeClr val="dk1"/>
              </a:solidFill>
              <a:latin typeface="Calibri"/>
              <a:ea typeface="Calibri"/>
              <a:cs typeface="Calibri"/>
              <a:sym typeface="Calibri"/>
            </a:endParaRPr>
          </a:p>
        </p:txBody>
      </p:sp>
      <p:sp>
        <p:nvSpPr>
          <p:cNvPr id="387" name="Google Shape;387;p16"/>
          <p:cNvSpPr/>
          <p:nvPr/>
        </p:nvSpPr>
        <p:spPr>
          <a:xfrm>
            <a:off x="1352551" y="4440733"/>
            <a:ext cx="4667250" cy="1198066"/>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37474F"/>
              </a:buClr>
              <a:buSzPts val="2175"/>
              <a:buFont typeface="Gabarito"/>
              <a:buNone/>
            </a:pPr>
            <a:r>
              <a:rPr b="0" i="0" lang="en-US" sz="2400" u="none" cap="none" strike="noStrike">
                <a:solidFill>
                  <a:srgbClr val="37474F"/>
                </a:solidFill>
                <a:latin typeface="Gabarito"/>
                <a:ea typeface="Gabarito"/>
                <a:cs typeface="Gabarito"/>
                <a:sym typeface="Gabarito"/>
              </a:rPr>
              <a:t>Connecting to data sources (PDFs, web pages, docs, databases) and pulling their content into the pipeline.</a:t>
            </a:r>
            <a:endParaRPr b="0" i="0" sz="2400" u="none" cap="none" strike="noStrike">
              <a:solidFill>
                <a:schemeClr val="dk1"/>
              </a:solidFill>
              <a:latin typeface="Calibri"/>
              <a:ea typeface="Calibri"/>
              <a:cs typeface="Calibri"/>
              <a:sym typeface="Calibri"/>
            </a:endParaRPr>
          </a:p>
        </p:txBody>
      </p:sp>
      <p:sp>
        <p:nvSpPr>
          <p:cNvPr id="388" name="Google Shape;388;p16"/>
          <p:cNvSpPr/>
          <p:nvPr/>
        </p:nvSpPr>
        <p:spPr>
          <a:xfrm>
            <a:off x="6521351" y="3554908"/>
            <a:ext cx="5245150" cy="3177183"/>
          </a:xfrm>
          <a:prstGeom prst="roundRect">
            <a:avLst>
              <a:gd fmla="val 6029"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6"/>
          <p:cNvSpPr/>
          <p:nvPr/>
        </p:nvSpPr>
        <p:spPr>
          <a:xfrm>
            <a:off x="6826151" y="3821608"/>
            <a:ext cx="5099105" cy="3905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325"/>
              <a:buFont typeface="Gabarito"/>
              <a:buNone/>
            </a:pPr>
            <a:r>
              <a:rPr b="1" i="0" lang="en-US" sz="2600" u="none" cap="none" strike="noStrike">
                <a:solidFill>
                  <a:srgbClr val="274D71"/>
                </a:solidFill>
                <a:latin typeface="Gabarito"/>
                <a:ea typeface="Gabarito"/>
                <a:cs typeface="Gabarito"/>
                <a:sym typeface="Gabarito"/>
              </a:rPr>
              <a:t>WHY IT'S TRICKY</a:t>
            </a:r>
            <a:endParaRPr b="0" i="0" sz="2600" u="none" cap="none" strike="noStrike">
              <a:solidFill>
                <a:schemeClr val="dk1"/>
              </a:solidFill>
              <a:latin typeface="Calibri"/>
              <a:ea typeface="Calibri"/>
              <a:cs typeface="Calibri"/>
              <a:sym typeface="Calibri"/>
            </a:endParaRPr>
          </a:p>
        </p:txBody>
      </p:sp>
      <p:sp>
        <p:nvSpPr>
          <p:cNvPr id="390" name="Google Shape;390;p16"/>
          <p:cNvSpPr/>
          <p:nvPr/>
        </p:nvSpPr>
        <p:spPr>
          <a:xfrm>
            <a:off x="6826151" y="4440733"/>
            <a:ext cx="4667400" cy="1198066"/>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37474F"/>
              </a:buClr>
              <a:buSzPts val="2175"/>
              <a:buFont typeface="Gabarito"/>
              <a:buNone/>
            </a:pPr>
            <a:r>
              <a:rPr b="0" i="0" lang="en-US" sz="2400" u="none" cap="none" strike="noStrike">
                <a:solidFill>
                  <a:srgbClr val="37474F"/>
                </a:solidFill>
                <a:latin typeface="Gabarito"/>
                <a:ea typeface="Gabarito"/>
                <a:cs typeface="Gabarito"/>
                <a:sym typeface="Gabarito"/>
              </a:rPr>
              <a:t>Most attention goes to retrieval and generation, but ingestion is the stage that breaks first — and most quietly.</a:t>
            </a:r>
            <a:endParaRPr b="0" i="0" sz="2400" u="none" cap="none" strike="noStrike">
              <a:solidFill>
                <a:schemeClr val="dk1"/>
              </a:solidFill>
              <a:latin typeface="Calibri"/>
              <a:ea typeface="Calibri"/>
              <a:cs typeface="Calibri"/>
              <a:sym typeface="Calibri"/>
            </a:endParaRPr>
          </a:p>
        </p:txBody>
      </p:sp>
      <p:sp>
        <p:nvSpPr>
          <p:cNvPr id="391" name="Google Shape;391;p16"/>
          <p:cNvSpPr/>
          <p:nvPr/>
        </p:nvSpPr>
        <p:spPr>
          <a:xfrm>
            <a:off x="11995100" y="3554908"/>
            <a:ext cx="5245150" cy="3177183"/>
          </a:xfrm>
          <a:prstGeom prst="roundRect">
            <a:avLst>
              <a:gd fmla="val 6029" name="adj"/>
            </a:avLst>
          </a:prstGeom>
          <a:solidFill>
            <a:srgbClr val="C15F3C">
              <a:alpha val="3922"/>
            </a:srgbClr>
          </a:solidFill>
          <a:ln cap="flat" cmpd="sng" w="19050">
            <a:solidFill>
              <a:srgbClr val="C15F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6"/>
          <p:cNvSpPr/>
          <p:nvPr/>
        </p:nvSpPr>
        <p:spPr>
          <a:xfrm>
            <a:off x="12299900" y="3821608"/>
            <a:ext cx="5099105" cy="3905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C15F3C"/>
              </a:buClr>
              <a:buSzPts val="2325"/>
              <a:buFont typeface="Gabarito"/>
              <a:buNone/>
            </a:pPr>
            <a:r>
              <a:rPr b="1" i="0" lang="en-US" sz="2600" u="none" cap="none" strike="noStrike">
                <a:solidFill>
                  <a:srgbClr val="C15F3C"/>
                </a:solidFill>
                <a:latin typeface="Gabarito"/>
                <a:ea typeface="Gabarito"/>
                <a:cs typeface="Gabarito"/>
                <a:sym typeface="Gabarito"/>
              </a:rPr>
              <a:t>COMMON FAILURE MODES</a:t>
            </a:r>
            <a:endParaRPr b="0" i="0" sz="2600" u="none" cap="none" strike="noStrike">
              <a:solidFill>
                <a:schemeClr val="dk1"/>
              </a:solidFill>
              <a:latin typeface="Calibri"/>
              <a:ea typeface="Calibri"/>
              <a:cs typeface="Calibri"/>
              <a:sym typeface="Calibri"/>
            </a:endParaRPr>
          </a:p>
        </p:txBody>
      </p:sp>
      <p:sp>
        <p:nvSpPr>
          <p:cNvPr id="393" name="Google Shape;393;p16"/>
          <p:cNvSpPr/>
          <p:nvPr/>
        </p:nvSpPr>
        <p:spPr>
          <a:xfrm>
            <a:off x="12299900" y="4440733"/>
            <a:ext cx="4667400" cy="1584722"/>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37474F"/>
              </a:buClr>
              <a:buSzPts val="2175"/>
              <a:buFont typeface="Gabarito"/>
              <a:buNone/>
            </a:pPr>
            <a:r>
              <a:rPr b="0" i="0" lang="en-US" sz="2400" u="none" cap="none" strike="noStrike">
                <a:solidFill>
                  <a:srgbClr val="37474F"/>
                </a:solidFill>
                <a:latin typeface="Gabarito"/>
                <a:ea typeface="Gabarito"/>
                <a:cs typeface="Gabarito"/>
                <a:sym typeface="Gabarito"/>
              </a:rPr>
              <a:t>Retrieving both an old and new version of the same document, or rebuilding the entire store instead of processing only what changed.</a:t>
            </a:r>
            <a:endParaRPr b="0" i="0" sz="2400" u="none" cap="none" strike="noStrike">
              <a:solidFill>
                <a:schemeClr val="dk1"/>
              </a:solidFill>
              <a:latin typeface="Calibri"/>
              <a:ea typeface="Calibri"/>
              <a:cs typeface="Calibri"/>
              <a:sym typeface="Calibri"/>
            </a:endParaRPr>
          </a:p>
        </p:txBody>
      </p:sp>
      <p:sp>
        <p:nvSpPr>
          <p:cNvPr id="394" name="Google Shape;394;p16"/>
          <p:cNvSpPr/>
          <p:nvPr/>
        </p:nvSpPr>
        <p:spPr>
          <a:xfrm>
            <a:off x="1047750" y="6960691"/>
            <a:ext cx="16192500" cy="1314450"/>
          </a:xfrm>
          <a:prstGeom prst="roundRect">
            <a:avLst>
              <a:gd fmla="val 11594"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6"/>
          <p:cNvSpPr/>
          <p:nvPr/>
        </p:nvSpPr>
        <p:spPr>
          <a:xfrm>
            <a:off x="1390650" y="7227400"/>
            <a:ext cx="15216000" cy="819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550"/>
              <a:buFont typeface="Gabarito"/>
              <a:buNone/>
            </a:pPr>
            <a:r>
              <a:rPr b="1" i="0" lang="en-US" sz="2550" u="none" cap="none" strike="noStrike">
                <a:solidFill>
                  <a:srgbClr val="FF9900"/>
                </a:solidFill>
                <a:latin typeface="Gabarito"/>
                <a:ea typeface="Gabarito"/>
                <a:cs typeface="Gabarito"/>
                <a:sym typeface="Gabarito"/>
              </a:rPr>
              <a:t>Why it matters: </a:t>
            </a:r>
            <a:r>
              <a:rPr b="0" i="0" lang="en-US" sz="2550" u="none" cap="none" strike="noStrike">
                <a:solidFill>
                  <a:srgbClr val="5B5B5B"/>
                </a:solidFill>
                <a:latin typeface="Gabarito"/>
                <a:ea typeface="Gabarito"/>
                <a:cs typeface="Gabarito"/>
                <a:sym typeface="Gabarito"/>
              </a:rPr>
              <a:t>a RAG system is only as good as the data it can see — if ingestion misses updates or duplicate content, no amount of clever retrieval or generation can fix a broken foundation.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pic>
        <p:nvPicPr>
          <p:cNvPr descr="preencoded.png" id="401" name="Google Shape;401;p17"/>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402" name="Google Shape;402;p17"/>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1</a:t>
            </a:r>
            <a:endParaRPr b="0" i="0" sz="3000" u="none" cap="none" strike="noStrike">
              <a:solidFill>
                <a:schemeClr val="dk1"/>
              </a:solidFill>
              <a:latin typeface="Calibri"/>
              <a:ea typeface="Calibri"/>
              <a:cs typeface="Calibri"/>
              <a:sym typeface="Calibri"/>
            </a:endParaRPr>
          </a:p>
        </p:txBody>
      </p:sp>
      <p:sp>
        <p:nvSpPr>
          <p:cNvPr id="403" name="Google Shape;403;p17"/>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Ingestion — Illustration</a:t>
            </a:r>
            <a:endParaRPr b="0" i="0" sz="6000" u="none" cap="none" strike="noStrike">
              <a:solidFill>
                <a:schemeClr val="dk1"/>
              </a:solidFill>
              <a:latin typeface="Calibri"/>
              <a:ea typeface="Calibri"/>
              <a:cs typeface="Calibri"/>
              <a:sym typeface="Calibri"/>
            </a:endParaRPr>
          </a:p>
        </p:txBody>
      </p:sp>
      <p:sp>
        <p:nvSpPr>
          <p:cNvPr id="404" name="Google Shape;404;p17"/>
          <p:cNvSpPr/>
          <p:nvPr/>
        </p:nvSpPr>
        <p:spPr>
          <a:xfrm>
            <a:off x="1047751" y="2255639"/>
            <a:ext cx="14363700"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1" i="0" lang="en-US" sz="3000" u="none" cap="none" strike="noStrike">
                <a:solidFill>
                  <a:srgbClr val="1E4E79"/>
                </a:solidFill>
                <a:latin typeface="Gabarito"/>
                <a:ea typeface="Gabarito"/>
                <a:cs typeface="Gabarito"/>
                <a:sym typeface="Gabarito"/>
              </a:rPr>
              <a:t>Notes: </a:t>
            </a:r>
            <a:r>
              <a:rPr b="0" i="0" lang="en-US" sz="3000" u="none" cap="none" strike="noStrike">
                <a:solidFill>
                  <a:srgbClr val="212121"/>
                </a:solidFill>
                <a:latin typeface="Gabarito"/>
                <a:ea typeface="Gabarito"/>
                <a:cs typeface="Gabarito"/>
                <a:sym typeface="Gabarito"/>
              </a:rPr>
              <a:t>When ingesting make sure the content are clean and well structure because quality in this stage matters a lot – “</a:t>
            </a:r>
            <a:r>
              <a:rPr b="1" i="0" lang="en-US" sz="3000" u="none" cap="none" strike="noStrike">
                <a:solidFill>
                  <a:srgbClr val="212121"/>
                </a:solidFill>
                <a:latin typeface="Gabarito"/>
                <a:ea typeface="Gabarito"/>
                <a:cs typeface="Gabarito"/>
                <a:sym typeface="Gabarito"/>
              </a:rPr>
              <a:t>garbage in</a:t>
            </a:r>
            <a:r>
              <a:rPr b="0" i="0" lang="en-US" sz="3000" u="none" cap="none" strike="noStrike">
                <a:solidFill>
                  <a:srgbClr val="212121"/>
                </a:solidFill>
                <a:latin typeface="Gabarito"/>
                <a:ea typeface="Gabarito"/>
                <a:cs typeface="Gabarito"/>
                <a:sym typeface="Gabarito"/>
              </a:rPr>
              <a:t>, </a:t>
            </a:r>
            <a:r>
              <a:rPr b="1" i="0" lang="en-US" sz="3000" u="none" cap="none" strike="noStrike">
                <a:solidFill>
                  <a:srgbClr val="212121"/>
                </a:solidFill>
                <a:latin typeface="Gabarito"/>
                <a:ea typeface="Gabarito"/>
                <a:cs typeface="Gabarito"/>
                <a:sym typeface="Gabarito"/>
              </a:rPr>
              <a:t>garbage out</a:t>
            </a:r>
            <a:r>
              <a:rPr b="0" i="0" lang="en-US" sz="3000" u="none" cap="none" strike="noStrike">
                <a:solidFill>
                  <a:srgbClr val="212121"/>
                </a:solidFill>
                <a:latin typeface="Gabarito"/>
                <a:ea typeface="Gabarito"/>
                <a:cs typeface="Gabarito"/>
                <a:sym typeface="Gabarito"/>
              </a:rPr>
              <a:t>”</a:t>
            </a:r>
            <a:endParaRPr/>
          </a:p>
        </p:txBody>
      </p:sp>
      <p:pic>
        <p:nvPicPr>
          <p:cNvPr id="405" name="Google Shape;405;p17" title="ChatGPT Image Aug 20, 2026, 10_21_15 AM.png"/>
          <p:cNvPicPr preferRelativeResize="0"/>
          <p:nvPr/>
        </p:nvPicPr>
        <p:blipFill>
          <a:blip r:embed="rId4">
            <a:alphaModFix/>
          </a:blip>
          <a:stretch>
            <a:fillRect/>
          </a:stretch>
        </p:blipFill>
        <p:spPr>
          <a:xfrm>
            <a:off x="4400038" y="3556825"/>
            <a:ext cx="9487926" cy="63252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pic>
        <p:nvPicPr>
          <p:cNvPr descr="preencoded.png" id="411" name="Google Shape;411;p18"/>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412" name="Google Shape;412;p18"/>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1</a:t>
            </a:r>
            <a:endParaRPr b="0" i="0" sz="3000" u="none" cap="none" strike="noStrike">
              <a:solidFill>
                <a:schemeClr val="dk1"/>
              </a:solidFill>
              <a:latin typeface="Calibri"/>
              <a:ea typeface="Calibri"/>
              <a:cs typeface="Calibri"/>
              <a:sym typeface="Calibri"/>
            </a:endParaRPr>
          </a:p>
        </p:txBody>
      </p:sp>
      <p:sp>
        <p:nvSpPr>
          <p:cNvPr id="413" name="Google Shape;413;p18"/>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Ingestion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Loading Demonstration</a:t>
            </a:r>
            <a:endParaRPr b="0" i="0" sz="6000" u="none" cap="none" strike="noStrike">
              <a:solidFill>
                <a:schemeClr val="dk1"/>
              </a:solidFill>
              <a:latin typeface="Calibri"/>
              <a:ea typeface="Calibri"/>
              <a:cs typeface="Calibri"/>
              <a:sym typeface="Calibri"/>
            </a:endParaRPr>
          </a:p>
        </p:txBody>
      </p:sp>
      <p:sp>
        <p:nvSpPr>
          <p:cNvPr id="414" name="Google Shape;414;p18"/>
          <p:cNvSpPr/>
          <p:nvPr/>
        </p:nvSpPr>
        <p:spPr>
          <a:xfrm>
            <a:off x="1047750" y="2418159"/>
            <a:ext cx="17811750" cy="438150"/>
          </a:xfrm>
          <a:prstGeom prst="rect">
            <a:avLst/>
          </a:prstGeom>
          <a:noFill/>
          <a:ln>
            <a:noFill/>
          </a:ln>
        </p:spPr>
        <p:txBody>
          <a:bodyPr anchorCtr="0" anchor="t" bIns="25400" lIns="25400" spcFirstLastPara="1" rIns="25400" wrap="square" tIns="25400">
            <a:noAutofit/>
          </a:bodyPr>
          <a:lstStyle/>
          <a:p>
            <a:pPr indent="-419100" lvl="0" marL="457200" marR="0" rtl="0" algn="l">
              <a:lnSpc>
                <a:spcPct val="115000"/>
              </a:lnSpc>
              <a:spcBef>
                <a:spcPts val="0"/>
              </a:spcBef>
              <a:spcAft>
                <a:spcPts val="0"/>
              </a:spcAft>
              <a:buClr>
                <a:srgbClr val="212121"/>
              </a:buClr>
              <a:buSzPts val="3000"/>
              <a:buFont typeface="Gabarito"/>
              <a:buChar char="●"/>
            </a:pPr>
            <a:r>
              <a:rPr lang="en-US" sz="3000">
                <a:solidFill>
                  <a:srgbClr val="212121"/>
                </a:solidFill>
                <a:latin typeface="Gabarito"/>
                <a:ea typeface="Gabarito"/>
                <a:cs typeface="Gabarito"/>
                <a:sym typeface="Gabarito"/>
              </a:rPr>
              <a:t>Loops into the path if the documentation directory and look for any file that has extension ‘.txt’</a:t>
            </a:r>
            <a:endParaRPr sz="3000">
              <a:solidFill>
                <a:srgbClr val="212121"/>
              </a:solidFill>
              <a:latin typeface="Gabarito"/>
              <a:ea typeface="Gabarito"/>
              <a:cs typeface="Gabarito"/>
              <a:sym typeface="Gabarito"/>
            </a:endParaRPr>
          </a:p>
          <a:p>
            <a:pPr indent="-419100" lvl="0" marL="457200" marR="0" rtl="0" algn="l">
              <a:lnSpc>
                <a:spcPct val="115000"/>
              </a:lnSpc>
              <a:spcBef>
                <a:spcPts val="0"/>
              </a:spcBef>
              <a:spcAft>
                <a:spcPts val="0"/>
              </a:spcAft>
              <a:buClr>
                <a:srgbClr val="212121"/>
              </a:buClr>
              <a:buSzPts val="3000"/>
              <a:buFont typeface="Gabarito"/>
              <a:buChar char="●"/>
            </a:pPr>
            <a:r>
              <a:rPr lang="en-US" sz="3000">
                <a:solidFill>
                  <a:srgbClr val="212121"/>
                </a:solidFill>
                <a:latin typeface="Gabarito"/>
                <a:ea typeface="Gabarito"/>
                <a:cs typeface="Gabarito"/>
                <a:sym typeface="Gabarito"/>
              </a:rPr>
              <a:t>Then append the file name and content into document list and return the document</a:t>
            </a:r>
            <a:endParaRPr sz="3000">
              <a:solidFill>
                <a:srgbClr val="212121"/>
              </a:solidFill>
              <a:latin typeface="Gabarito"/>
              <a:ea typeface="Gabarito"/>
              <a:cs typeface="Gabarito"/>
              <a:sym typeface="Gabarito"/>
            </a:endParaRPr>
          </a:p>
          <a:p>
            <a:pPr indent="0" lvl="0" marL="0" marR="0" rtl="0" algn="l">
              <a:lnSpc>
                <a:spcPct val="115000"/>
              </a:lnSpc>
              <a:spcBef>
                <a:spcPts val="0"/>
              </a:spcBef>
              <a:spcAft>
                <a:spcPts val="0"/>
              </a:spcAft>
              <a:buClr>
                <a:srgbClr val="212121"/>
              </a:buClr>
              <a:buSzPts val="2625"/>
              <a:buFont typeface="Gabarito"/>
              <a:buNone/>
            </a:pPr>
            <a:r>
              <a:t/>
            </a:r>
            <a:endParaRPr sz="3000">
              <a:solidFill>
                <a:srgbClr val="212121"/>
              </a:solidFill>
              <a:latin typeface="Gabarito"/>
              <a:ea typeface="Gabarito"/>
              <a:cs typeface="Gabarito"/>
              <a:sym typeface="Gabarito"/>
            </a:endParaRPr>
          </a:p>
        </p:txBody>
      </p:sp>
      <p:sp>
        <p:nvSpPr>
          <p:cNvPr id="415" name="Google Shape;415;p18"/>
          <p:cNvSpPr/>
          <p:nvPr/>
        </p:nvSpPr>
        <p:spPr>
          <a:xfrm>
            <a:off x="1047750" y="3839777"/>
            <a:ext cx="16192500" cy="5768100"/>
          </a:xfrm>
          <a:prstGeom prst="roundRect">
            <a:avLst>
              <a:gd fmla="val 3033"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US"/>
              <a:t>fo</a:t>
            </a:r>
            <a:endParaRPr b="0" i="0" sz="1400" u="none" cap="none" strike="noStrike">
              <a:solidFill>
                <a:srgbClr val="000000"/>
              </a:solidFill>
              <a:latin typeface="Arial"/>
              <a:ea typeface="Arial"/>
              <a:cs typeface="Arial"/>
              <a:sym typeface="Arial"/>
            </a:endParaRPr>
          </a:p>
        </p:txBody>
      </p:sp>
      <p:sp>
        <p:nvSpPr>
          <p:cNvPr id="416" name="Google Shape;416;p18"/>
          <p:cNvSpPr/>
          <p:nvPr/>
        </p:nvSpPr>
        <p:spPr>
          <a:xfrm>
            <a:off x="1047750" y="3839781"/>
            <a:ext cx="16192500" cy="714300"/>
          </a:xfrm>
          <a:prstGeom prst="rect">
            <a:avLst/>
          </a:prstGeom>
          <a:solidFill>
            <a:srgbClr val="2A2F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8"/>
          <p:cNvSpPr/>
          <p:nvPr/>
        </p:nvSpPr>
        <p:spPr>
          <a:xfrm>
            <a:off x="1295400" y="4120769"/>
            <a:ext cx="152400" cy="152400"/>
          </a:xfrm>
          <a:prstGeom prst="ellipse">
            <a:avLst/>
          </a:prstGeom>
          <a:solidFill>
            <a:srgbClr val="FF5F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8"/>
          <p:cNvSpPr/>
          <p:nvPr/>
        </p:nvSpPr>
        <p:spPr>
          <a:xfrm>
            <a:off x="1543050" y="4120769"/>
            <a:ext cx="152400" cy="152400"/>
          </a:xfrm>
          <a:prstGeom prst="ellipse">
            <a:avLst/>
          </a:prstGeom>
          <a:solidFill>
            <a:srgbClr val="FEBC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8"/>
          <p:cNvSpPr/>
          <p:nvPr/>
        </p:nvSpPr>
        <p:spPr>
          <a:xfrm>
            <a:off x="1790700" y="4120769"/>
            <a:ext cx="152400" cy="152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8"/>
          <p:cNvSpPr/>
          <p:nvPr/>
        </p:nvSpPr>
        <p:spPr>
          <a:xfrm>
            <a:off x="2171700" y="3992181"/>
            <a:ext cx="24141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AA0A6"/>
              </a:buClr>
              <a:buSzPts val="2400"/>
              <a:buFont typeface="JetBrains Mono"/>
              <a:buNone/>
            </a:pPr>
            <a:r>
              <a:rPr b="0" i="0" lang="en-US" sz="2400" u="none" cap="none" strike="noStrike">
                <a:solidFill>
                  <a:srgbClr val="9AA0A6"/>
                </a:solidFill>
                <a:latin typeface="JetBrains Mono"/>
                <a:ea typeface="JetBrains Mono"/>
                <a:cs typeface="JetBrains Mono"/>
                <a:sym typeface="JetBrains Mono"/>
              </a:rPr>
              <a:t>ingestion.py</a:t>
            </a:r>
            <a:endParaRPr b="0" i="0" sz="2400" u="none" cap="none" strike="noStrike">
              <a:solidFill>
                <a:schemeClr val="dk1"/>
              </a:solidFill>
              <a:latin typeface="Calibri"/>
              <a:ea typeface="Calibri"/>
              <a:cs typeface="Calibri"/>
              <a:sym typeface="Calibri"/>
            </a:endParaRPr>
          </a:p>
        </p:txBody>
      </p:sp>
      <p:sp>
        <p:nvSpPr>
          <p:cNvPr id="421" name="Google Shape;421;p18"/>
          <p:cNvSpPr/>
          <p:nvPr/>
        </p:nvSpPr>
        <p:spPr>
          <a:xfrm>
            <a:off x="1466850" y="4858952"/>
            <a:ext cx="15814800" cy="43554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C792EA"/>
              </a:buClr>
              <a:buSzPts val="2625"/>
              <a:buFont typeface="JetBrains Mono"/>
              <a:buNone/>
            </a:pPr>
            <a:r>
              <a:rPr b="0" i="0" lang="en-US" sz="2625" u="none" cap="none" strike="noStrike">
                <a:solidFill>
                  <a:srgbClr val="C792EA"/>
                </a:solidFill>
                <a:latin typeface="JetBrains Mono"/>
                <a:ea typeface="JetBrains Mono"/>
                <a:cs typeface="JetBrains Mono"/>
                <a:sym typeface="JetBrains Mono"/>
              </a:rPr>
              <a:t>def	</a:t>
            </a:r>
            <a:r>
              <a:rPr b="0" i="0" lang="en-US" sz="2625" u="none" cap="none" strike="noStrike">
                <a:solidFill>
                  <a:srgbClr val="E8EAED"/>
                </a:solidFill>
                <a:latin typeface="JetBrains Mono"/>
                <a:ea typeface="JetBrains Mono"/>
                <a:cs typeface="JetBrains Mono"/>
                <a:sym typeface="JetBrains Mono"/>
              </a:rPr>
              <a:t>load_documents(docs_dir:</a:t>
            </a:r>
            <a:r>
              <a:rPr b="0" i="0" lang="en-US" sz="2625" u="none" cap="none" strike="noStrike">
                <a:solidFill>
                  <a:srgbClr val="7FB3E8"/>
                </a:solidFill>
                <a:latin typeface="JetBrains Mono"/>
                <a:ea typeface="JetBrains Mono"/>
                <a:cs typeface="JetBrains Mono"/>
                <a:sym typeface="JetBrains Mono"/>
              </a:rPr>
              <a:t>str</a:t>
            </a:r>
            <a:r>
              <a:rPr b="0" i="0" lang="en-US" sz="2625" u="none" cap="none" strike="noStrike">
                <a:solidFill>
                  <a:srgbClr val="E8EAED"/>
                </a:solidFill>
                <a:latin typeface="JetBrains Mono"/>
                <a:ea typeface="JetBrains Mono"/>
                <a:cs typeface="JetBrains Mono"/>
                <a:sym typeface="JetBrains Mono"/>
              </a:rPr>
              <a:t>) -&gt; list[</a:t>
            </a:r>
            <a:r>
              <a:rPr b="0" i="0" lang="en-US" sz="2625" u="none" cap="none" strike="noStrike">
                <a:solidFill>
                  <a:srgbClr val="7FB3E8"/>
                </a:solidFill>
                <a:latin typeface="JetBrains Mono"/>
                <a:ea typeface="JetBrains Mono"/>
                <a:cs typeface="JetBrains Mono"/>
                <a:sym typeface="JetBrains Mono"/>
              </a:rPr>
              <a:t>dict</a:t>
            </a:r>
            <a:r>
              <a:rPr b="0" i="0" lang="en-US" sz="2625" u="none" cap="none" strike="noStrike">
                <a:solidFill>
                  <a:srgbClr val="E8EAED"/>
                </a:solidFill>
                <a:latin typeface="JetBrains Mono"/>
                <a:ea typeface="JetBrains Mono"/>
                <a:cs typeface="JetBrains Mono"/>
                <a:sym typeface="JetBrains Mono"/>
              </a:rPr>
              <a:t>]:</a:t>
            </a:r>
            <a:endParaRPr b="0" i="0" sz="2625" u="none" cap="none" strike="noStrike">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C792EA"/>
              </a:buClr>
              <a:buSzPts val="2625"/>
              <a:buFont typeface="JetBrains Mono"/>
              <a:buNone/>
            </a:pPr>
            <a:r>
              <a:rPr lang="en-US" sz="2625">
                <a:solidFill>
                  <a:srgbClr val="E8EAED"/>
                </a:solidFill>
                <a:latin typeface="JetBrains Mono"/>
                <a:ea typeface="JetBrains Mono"/>
                <a:cs typeface="JetBrains Mono"/>
                <a:sym typeface="JetBrains Mono"/>
              </a:rPr>
              <a:t>	</a:t>
            </a:r>
            <a:r>
              <a:rPr lang="en-US" sz="2625">
                <a:solidFill>
                  <a:srgbClr val="9AA0A6"/>
                </a:solidFill>
                <a:latin typeface="JetBrains Mono"/>
                <a:ea typeface="JetBrains Mono"/>
                <a:cs typeface="JetBrains Mono"/>
                <a:sym typeface="JetBrains Mono"/>
              </a:rPr>
              <a:t>#reads every .txt / .md -&gt; returns {source, text}</a:t>
            </a:r>
            <a:endParaRPr sz="26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9AA0A6"/>
              </a:buClr>
              <a:buSzPts val="2625"/>
              <a:buFont typeface="JetBrains Mono"/>
              <a:buNone/>
            </a:pPr>
            <a:r>
              <a:rPr lang="en-US" sz="2625">
                <a:solidFill>
                  <a:srgbClr val="9AA0A6"/>
                </a:solidFill>
                <a:latin typeface="JetBrains Mono"/>
                <a:ea typeface="JetBrains Mono"/>
                <a:cs typeface="JetBrains Mono"/>
                <a:sym typeface="JetBrains Mono"/>
              </a:rPr>
              <a:t>	documents = []</a:t>
            </a:r>
            <a:endParaRPr sz="2625">
              <a:solidFill>
                <a:srgbClr val="9AA0A6"/>
              </a:solidFill>
              <a:latin typeface="JetBrains Mono"/>
              <a:ea typeface="JetBrains Mono"/>
              <a:cs typeface="JetBrains Mono"/>
              <a:sym typeface="JetBrains Mono"/>
            </a:endParaRPr>
          </a:p>
          <a:p>
            <a:pPr indent="457200" lvl="0" marL="0" rtl="0" algn="l">
              <a:lnSpc>
                <a:spcPct val="150000"/>
              </a:lnSpc>
              <a:spcBef>
                <a:spcPts val="0"/>
              </a:spcBef>
              <a:spcAft>
                <a:spcPts val="0"/>
              </a:spcAft>
              <a:buClr>
                <a:srgbClr val="C792EA"/>
              </a:buClr>
              <a:buSzPts val="2625"/>
              <a:buFont typeface="JetBrains Mono"/>
              <a:buNone/>
            </a:pPr>
            <a:r>
              <a:rPr lang="en-US" sz="2625">
                <a:solidFill>
                  <a:srgbClr val="C792EA"/>
                </a:solidFill>
                <a:latin typeface="JetBrains Mono"/>
                <a:ea typeface="JetBrains Mono"/>
                <a:cs typeface="JetBrains Mono"/>
                <a:sym typeface="JetBrains Mono"/>
              </a:rPr>
              <a:t>for	</a:t>
            </a:r>
            <a:r>
              <a:rPr lang="en-US" sz="2625">
                <a:solidFill>
                  <a:srgbClr val="9AA0A6"/>
                </a:solidFill>
                <a:latin typeface="JetBrains Mono"/>
                <a:ea typeface="JetBrains Mono"/>
                <a:cs typeface="JetBrains Mono"/>
                <a:sym typeface="JetBrains Mono"/>
              </a:rPr>
              <a:t>filepath	</a:t>
            </a:r>
            <a:r>
              <a:rPr lang="en-US" sz="2625">
                <a:solidFill>
                  <a:srgbClr val="C792EA"/>
                </a:solidFill>
                <a:latin typeface="JetBrains Mono"/>
                <a:ea typeface="JetBrains Mono"/>
                <a:cs typeface="JetBrains Mono"/>
                <a:sym typeface="JetBrains Mono"/>
              </a:rPr>
              <a:t>in </a:t>
            </a:r>
            <a:r>
              <a:rPr lang="en-US" sz="2625">
                <a:solidFill>
                  <a:srgbClr val="9AA0A6"/>
                </a:solidFill>
                <a:latin typeface="JetBrains Mono"/>
                <a:ea typeface="JetBrains Mono"/>
                <a:cs typeface="JetBrains Mono"/>
                <a:sym typeface="JetBrains Mono"/>
              </a:rPr>
              <a:t>Path(docs_dir).glob(</a:t>
            </a:r>
            <a:r>
              <a:rPr lang="en-US" sz="2625">
                <a:solidFill>
                  <a:srgbClr val="A3C57F"/>
                </a:solidFill>
                <a:latin typeface="JetBrains Mono"/>
                <a:ea typeface="JetBrains Mono"/>
                <a:cs typeface="JetBrains Mono"/>
                <a:sym typeface="JetBrains Mono"/>
              </a:rPr>
              <a:t>"*.txt"</a:t>
            </a:r>
            <a:r>
              <a:rPr lang="en-US" sz="2625">
                <a:solidFill>
                  <a:srgbClr val="9AA0A6"/>
                </a:solidFill>
                <a:latin typeface="JetBrains Mono"/>
                <a:ea typeface="JetBrains Mono"/>
                <a:cs typeface="JetBrains Mono"/>
                <a:sym typeface="JetBrains Mono"/>
              </a:rPr>
              <a:t>):</a:t>
            </a:r>
            <a:endParaRPr sz="26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9AA0A6"/>
              </a:buClr>
              <a:buSzPts val="2625"/>
              <a:buFont typeface="JetBrains Mono"/>
              <a:buNone/>
            </a:pPr>
            <a:r>
              <a:rPr lang="en-US" sz="2625">
                <a:solidFill>
                  <a:srgbClr val="9AA0A6"/>
                </a:solidFill>
                <a:latin typeface="JetBrains Mono"/>
                <a:ea typeface="JetBrains Mono"/>
                <a:cs typeface="JetBrains Mono"/>
                <a:sym typeface="JetBrains Mono"/>
              </a:rPr>
              <a:t>			documents.append({"source": filepath.name,</a:t>
            </a:r>
            <a:endParaRPr sz="26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9AA0A6"/>
              </a:buClr>
              <a:buSzPts val="2625"/>
              <a:buFont typeface="JetBrains Mono"/>
              <a:buNone/>
            </a:pPr>
            <a:r>
              <a:rPr lang="en-US" sz="2625">
                <a:solidFill>
                  <a:srgbClr val="9AA0A6"/>
                </a:solidFill>
                <a:latin typeface="JetBrains Mono"/>
                <a:ea typeface="JetBrains Mono"/>
                <a:cs typeface="JetBrains Mono"/>
                <a:sym typeface="JetBrains Mono"/>
              </a:rPr>
              <a:t>"text": filepath.read_text()})</a:t>
            </a:r>
            <a:endParaRPr sz="2625">
              <a:solidFill>
                <a:srgbClr val="9AA0A6"/>
              </a:solidFill>
              <a:latin typeface="JetBrains Mono"/>
              <a:ea typeface="JetBrains Mono"/>
              <a:cs typeface="JetBrains Mono"/>
              <a:sym typeface="JetBrains Mono"/>
            </a:endParaRPr>
          </a:p>
          <a:p>
            <a:pPr indent="457200" lvl="0" marL="0" rtl="0" algn="l">
              <a:lnSpc>
                <a:spcPct val="150000"/>
              </a:lnSpc>
              <a:spcBef>
                <a:spcPts val="0"/>
              </a:spcBef>
              <a:spcAft>
                <a:spcPts val="0"/>
              </a:spcAft>
              <a:buClr>
                <a:srgbClr val="C792EA"/>
              </a:buClr>
              <a:buSzPts val="2625"/>
              <a:buFont typeface="JetBrains Mono"/>
              <a:buNone/>
            </a:pPr>
            <a:r>
              <a:rPr lang="en-US" sz="2625">
                <a:solidFill>
                  <a:srgbClr val="C792EA"/>
                </a:solidFill>
                <a:latin typeface="JetBrains Mono"/>
                <a:ea typeface="JetBrains Mono"/>
                <a:cs typeface="JetBrains Mono"/>
                <a:sym typeface="JetBrains Mono"/>
              </a:rPr>
              <a:t>return	</a:t>
            </a:r>
            <a:r>
              <a:rPr lang="en-US" sz="2625">
                <a:solidFill>
                  <a:srgbClr val="9AA0A6"/>
                </a:solidFill>
                <a:latin typeface="JetBrains Mono"/>
                <a:ea typeface="JetBrains Mono"/>
                <a:cs typeface="JetBrains Mono"/>
                <a:sym typeface="JetBrains Mono"/>
              </a:rPr>
              <a:t>documents</a:t>
            </a:r>
            <a:endParaRPr sz="2625">
              <a:solidFill>
                <a:schemeClr val="dk1"/>
              </a:solidFill>
              <a:latin typeface="Calibri"/>
              <a:ea typeface="Calibri"/>
              <a:cs typeface="Calibri"/>
              <a:sym typeface="Calibri"/>
            </a:endParaRPr>
          </a:p>
          <a:p>
            <a:pPr indent="0" lvl="0" marL="0" rtl="0" algn="l">
              <a:lnSpc>
                <a:spcPct val="150000"/>
              </a:lnSpc>
              <a:spcBef>
                <a:spcPts val="0"/>
              </a:spcBef>
              <a:spcAft>
                <a:spcPts val="0"/>
              </a:spcAft>
              <a:buClr>
                <a:srgbClr val="9AA0A6"/>
              </a:buClr>
              <a:buSzPts val="2625"/>
              <a:buFont typeface="JetBrains Mono"/>
              <a:buNone/>
            </a:pPr>
            <a:r>
              <a:t/>
            </a:r>
            <a:endParaRPr sz="26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9AA0A6"/>
              </a:buClr>
              <a:buSzPts val="2625"/>
              <a:buFont typeface="JetBrains Mono"/>
              <a:buNone/>
            </a:pPr>
            <a:r>
              <a:t/>
            </a:r>
            <a:endParaRPr sz="2625">
              <a:solidFill>
                <a:srgbClr val="9AA0A6"/>
              </a:solidFill>
              <a:latin typeface="JetBrains Mono"/>
              <a:ea typeface="JetBrains Mono"/>
              <a:cs typeface="JetBrains Mono"/>
              <a:sym typeface="JetBrains Mono"/>
            </a:endParaRPr>
          </a:p>
          <a:p>
            <a:pPr indent="457200" lvl="0" marL="0" rtl="0" algn="l">
              <a:lnSpc>
                <a:spcPct val="150000"/>
              </a:lnSpc>
              <a:spcBef>
                <a:spcPts val="0"/>
              </a:spcBef>
              <a:spcAft>
                <a:spcPts val="0"/>
              </a:spcAft>
              <a:buClr>
                <a:srgbClr val="C792EA"/>
              </a:buClr>
              <a:buSzPts val="2625"/>
              <a:buFont typeface="JetBrains Mono"/>
              <a:buNone/>
            </a:pPr>
            <a:r>
              <a:t/>
            </a:r>
            <a:endParaRPr sz="26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9AA0A6"/>
              </a:buClr>
              <a:buSzPts val="2625"/>
              <a:buFont typeface="JetBrains Mono"/>
              <a:buNone/>
            </a:pPr>
            <a:r>
              <a:t/>
            </a:r>
            <a:endParaRPr sz="2625">
              <a:solidFill>
                <a:srgbClr val="9AA0A6"/>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C792EA"/>
              </a:buClr>
              <a:buSzPts val="2625"/>
              <a:buFont typeface="JetBrains Mono"/>
              <a:buNone/>
            </a:pPr>
            <a:r>
              <a:t/>
            </a:r>
            <a:endParaRPr sz="2625">
              <a:solidFill>
                <a:srgbClr val="E8EAED"/>
              </a:solidFill>
              <a:latin typeface="JetBrains Mono"/>
              <a:ea typeface="JetBrains Mono"/>
              <a:cs typeface="JetBrains Mono"/>
              <a:sym typeface="JetBrains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pic>
        <p:nvPicPr>
          <p:cNvPr descr="preencoded.png" id="427" name="Google Shape;427;p19"/>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428" name="Google Shape;428;p19"/>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3000" u="none" cap="none" strike="noStrike">
                <a:solidFill>
                  <a:srgbClr val="FF9900"/>
                </a:solidFill>
                <a:latin typeface="Gabarito"/>
                <a:ea typeface="Gabarito"/>
                <a:cs typeface="Gabarito"/>
                <a:sym typeface="Gabarito"/>
              </a:rPr>
              <a:t>Stage 1</a:t>
            </a:r>
            <a:endParaRPr b="0" i="0" sz="3000" u="none" cap="none" strike="noStrike">
              <a:solidFill>
                <a:schemeClr val="dk1"/>
              </a:solidFill>
              <a:latin typeface="Calibri"/>
              <a:ea typeface="Calibri"/>
              <a:cs typeface="Calibri"/>
              <a:sym typeface="Calibri"/>
            </a:endParaRPr>
          </a:p>
        </p:txBody>
      </p:sp>
      <p:sp>
        <p:nvSpPr>
          <p:cNvPr id="429" name="Google Shape;429;p19"/>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Ingestion</a:t>
            </a:r>
            <a:r>
              <a:rPr b="1" lang="en-US" sz="6000">
                <a:solidFill>
                  <a:srgbClr val="274D71"/>
                </a:solidFill>
                <a:latin typeface="Gabarito"/>
                <a:ea typeface="Gabarito"/>
                <a:cs typeface="Gabarito"/>
                <a:sym typeface="Gabarito"/>
              </a:rPr>
              <a:t> -</a:t>
            </a:r>
            <a:r>
              <a:rPr b="1" i="0" lang="en-US" sz="6000" u="none" cap="none" strike="noStrike">
                <a:solidFill>
                  <a:srgbClr val="274D71"/>
                </a:solidFill>
                <a:latin typeface="Gabarito"/>
                <a:ea typeface="Gabarito"/>
                <a:cs typeface="Gabarito"/>
                <a:sym typeface="Gabarito"/>
              </a:rPr>
              <a:t> Loading Demonstration</a:t>
            </a:r>
            <a:endParaRPr b="0" i="0" sz="6000" u="none" cap="none" strike="noStrike">
              <a:solidFill>
                <a:schemeClr val="dk1"/>
              </a:solidFill>
              <a:latin typeface="Calibri"/>
              <a:ea typeface="Calibri"/>
              <a:cs typeface="Calibri"/>
              <a:sym typeface="Calibri"/>
            </a:endParaRPr>
          </a:p>
        </p:txBody>
      </p:sp>
      <p:sp>
        <p:nvSpPr>
          <p:cNvPr id="430" name="Google Shape;430;p19"/>
          <p:cNvSpPr/>
          <p:nvPr/>
        </p:nvSpPr>
        <p:spPr>
          <a:xfrm>
            <a:off x="1047750" y="2686050"/>
            <a:ext cx="16192500" cy="5907300"/>
          </a:xfrm>
          <a:prstGeom prst="roundRect">
            <a:avLst>
              <a:gd fmla="val 5933"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9"/>
          <p:cNvSpPr/>
          <p:nvPr/>
        </p:nvSpPr>
        <p:spPr>
          <a:xfrm>
            <a:off x="1470725" y="3005218"/>
            <a:ext cx="5196840"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700"/>
              <a:buFont typeface="Gabarito"/>
              <a:buNone/>
            </a:pPr>
            <a:r>
              <a:rPr b="1" i="0" lang="en-US" sz="3200" u="none" cap="none" strike="noStrike">
                <a:solidFill>
                  <a:srgbClr val="D97D00"/>
                </a:solidFill>
                <a:latin typeface="Gabarito"/>
                <a:ea typeface="Gabarito"/>
                <a:cs typeface="Gabarito"/>
                <a:sym typeface="Gabarito"/>
              </a:rPr>
              <a:t>Code Explanation</a:t>
            </a:r>
            <a:endParaRPr b="0" i="0" sz="3200" u="none" cap="none" strike="noStrike">
              <a:solidFill>
                <a:schemeClr val="dk1"/>
              </a:solidFill>
              <a:latin typeface="Calibri"/>
              <a:ea typeface="Calibri"/>
              <a:cs typeface="Calibri"/>
              <a:sym typeface="Calibri"/>
            </a:endParaRPr>
          </a:p>
        </p:txBody>
      </p:sp>
      <p:sp>
        <p:nvSpPr>
          <p:cNvPr id="432" name="Google Shape;432;p19"/>
          <p:cNvSpPr/>
          <p:nvPr/>
        </p:nvSpPr>
        <p:spPr>
          <a:xfrm>
            <a:off x="1470725" y="3616416"/>
            <a:ext cx="15015900" cy="4272900"/>
          </a:xfrm>
          <a:prstGeom prst="rect">
            <a:avLst/>
          </a:prstGeom>
          <a:noFill/>
          <a:ln>
            <a:noFill/>
          </a:ln>
        </p:spPr>
        <p:txBody>
          <a:bodyPr anchorCtr="0" anchor="t" bIns="25400" lIns="25400" spcFirstLastPara="1" rIns="25400" wrap="square" tIns="25400">
            <a:noAutofit/>
          </a:bodyPr>
          <a:lstStyle/>
          <a:p>
            <a:pPr indent="-374650" lvl="0" marL="342900" marR="0" rtl="0" algn="l">
              <a:lnSpc>
                <a:spcPct val="120000"/>
              </a:lnSpc>
              <a:spcBef>
                <a:spcPts val="1000"/>
              </a:spcBef>
              <a:spcAft>
                <a:spcPts val="0"/>
              </a:spcAft>
              <a:buClr>
                <a:srgbClr val="000000"/>
              </a:buClr>
              <a:buSzPts val="3100"/>
              <a:buFont typeface="Arial"/>
              <a:buChar char="•"/>
            </a:pPr>
            <a:r>
              <a:rPr b="0" i="0" lang="en-US" sz="3100" u="none" cap="none" strike="noStrike">
                <a:solidFill>
                  <a:srgbClr val="37474F"/>
                </a:solidFill>
                <a:latin typeface="Gabarito"/>
                <a:ea typeface="Gabarito"/>
                <a:cs typeface="Gabarito"/>
                <a:sym typeface="Gabarito"/>
              </a:rPr>
              <a:t>When Takes in the </a:t>
            </a:r>
            <a:r>
              <a:rPr b="1" i="0" lang="en-US" sz="3100" u="none" cap="none" strike="noStrike">
                <a:solidFill>
                  <a:srgbClr val="37474F"/>
                </a:solidFill>
                <a:latin typeface="Gabarito"/>
                <a:ea typeface="Gabarito"/>
                <a:cs typeface="Gabarito"/>
                <a:sym typeface="Gabarito"/>
              </a:rPr>
              <a:t>docs_dir</a:t>
            </a:r>
            <a:r>
              <a:rPr b="0" i="0" lang="en-US" sz="3100" u="none" cap="none" strike="noStrike">
                <a:solidFill>
                  <a:srgbClr val="37474F"/>
                </a:solidFill>
                <a:latin typeface="Gabarito"/>
                <a:ea typeface="Gabarito"/>
                <a:cs typeface="Gabarito"/>
                <a:sym typeface="Gabarito"/>
              </a:rPr>
              <a:t> as string type and return a list of </a:t>
            </a:r>
            <a:r>
              <a:rPr b="1" i="0" lang="en-US" sz="3100" u="none" cap="none" strike="noStrike">
                <a:solidFill>
                  <a:srgbClr val="37474F"/>
                </a:solidFill>
                <a:latin typeface="Gabarito"/>
                <a:ea typeface="Gabarito"/>
                <a:cs typeface="Gabarito"/>
                <a:sym typeface="Gabarito"/>
              </a:rPr>
              <a:t>[dict]</a:t>
            </a:r>
            <a:endParaRPr sz="1900"/>
          </a:p>
          <a:p>
            <a:pPr indent="-374650" lvl="0" marL="342900" marR="0" rtl="0" algn="l">
              <a:lnSpc>
                <a:spcPct val="120000"/>
              </a:lnSpc>
              <a:spcBef>
                <a:spcPts val="0"/>
              </a:spcBef>
              <a:spcAft>
                <a:spcPts val="0"/>
              </a:spcAft>
              <a:buClr>
                <a:srgbClr val="000000"/>
              </a:buClr>
              <a:buSzPts val="3100"/>
              <a:buFont typeface="Arial"/>
              <a:buChar char="•"/>
            </a:pPr>
            <a:r>
              <a:rPr b="1" i="0" lang="en-US" sz="3100" u="none" cap="none" strike="noStrike">
                <a:solidFill>
                  <a:srgbClr val="37474F"/>
                </a:solidFill>
                <a:latin typeface="Gabarito"/>
                <a:ea typeface="Gabarito"/>
                <a:cs typeface="Gabarito"/>
                <a:sym typeface="Gabarito"/>
              </a:rPr>
              <a:t>document = [] </a:t>
            </a:r>
            <a:r>
              <a:rPr b="0" i="0" lang="en-US" sz="3100" u="none" cap="none" strike="noStrike">
                <a:solidFill>
                  <a:srgbClr val="37474F"/>
                </a:solidFill>
                <a:latin typeface="Gabarito"/>
                <a:ea typeface="Gabarito"/>
                <a:cs typeface="Gabarito"/>
                <a:sym typeface="Gabarito"/>
              </a:rPr>
              <a:t>– initially start out as an empty array</a:t>
            </a:r>
            <a:endParaRPr sz="1900"/>
          </a:p>
          <a:p>
            <a:pPr indent="-374650" lvl="0" marL="342900" marR="0" rtl="0" algn="l">
              <a:lnSpc>
                <a:spcPct val="120000"/>
              </a:lnSpc>
              <a:spcBef>
                <a:spcPts val="1000"/>
              </a:spcBef>
              <a:spcAft>
                <a:spcPts val="0"/>
              </a:spcAft>
              <a:buClr>
                <a:srgbClr val="000000"/>
              </a:buClr>
              <a:buSzPts val="3100"/>
              <a:buFont typeface="Arial"/>
              <a:buChar char="•"/>
            </a:pPr>
            <a:r>
              <a:rPr b="1" i="0" lang="en-US" sz="3100" u="none" cap="none" strike="noStrike">
                <a:solidFill>
                  <a:srgbClr val="37474F"/>
                </a:solidFill>
                <a:latin typeface="Gabarito"/>
                <a:ea typeface="Gabarito"/>
                <a:cs typeface="Gabarito"/>
                <a:sym typeface="Gabarito"/>
              </a:rPr>
              <a:t>filepath.name </a:t>
            </a:r>
            <a:r>
              <a:rPr b="0" i="0" lang="en-US" sz="3100" u="none" cap="none" strike="noStrike">
                <a:solidFill>
                  <a:srgbClr val="37474F"/>
                </a:solidFill>
                <a:latin typeface="Gabarito"/>
                <a:ea typeface="Gabarito"/>
                <a:cs typeface="Gabarito"/>
                <a:sym typeface="Gabarito"/>
              </a:rPr>
              <a:t>and not a full path: this is our stable document-id. </a:t>
            </a:r>
            <a:endParaRPr sz="1900"/>
          </a:p>
          <a:p>
            <a:pPr indent="0" lvl="0" marL="0" marR="0" rtl="0" algn="l">
              <a:lnSpc>
                <a:spcPct val="120000"/>
              </a:lnSpc>
              <a:spcBef>
                <a:spcPts val="1000"/>
              </a:spcBef>
              <a:spcAft>
                <a:spcPts val="0"/>
              </a:spcAft>
              <a:buNone/>
            </a:pPr>
            <a:r>
              <a:t/>
            </a:r>
            <a:endParaRPr sz="3100">
              <a:solidFill>
                <a:srgbClr val="37474F"/>
              </a:solidFill>
              <a:latin typeface="Gabarito"/>
              <a:ea typeface="Gabarito"/>
              <a:cs typeface="Gabarito"/>
              <a:sym typeface="Gabarito"/>
            </a:endParaRPr>
          </a:p>
          <a:p>
            <a:pPr indent="0" lvl="0" marL="0" marR="0" rtl="0" algn="l">
              <a:lnSpc>
                <a:spcPct val="120000"/>
              </a:lnSpc>
              <a:spcBef>
                <a:spcPts val="1000"/>
              </a:spcBef>
              <a:spcAft>
                <a:spcPts val="0"/>
              </a:spcAft>
              <a:buNone/>
            </a:pPr>
            <a:r>
              <a:t/>
            </a:r>
            <a:endParaRPr sz="3100">
              <a:solidFill>
                <a:srgbClr val="37474F"/>
              </a:solidFill>
              <a:latin typeface="Gabarito"/>
              <a:ea typeface="Gabarito"/>
              <a:cs typeface="Gabarito"/>
              <a:sym typeface="Gabarito"/>
            </a:endParaRPr>
          </a:p>
          <a:p>
            <a:pPr indent="0" lvl="0" marL="0" marR="0" rtl="0" algn="l">
              <a:lnSpc>
                <a:spcPct val="120000"/>
              </a:lnSpc>
              <a:spcBef>
                <a:spcPts val="1000"/>
              </a:spcBef>
              <a:spcAft>
                <a:spcPts val="0"/>
              </a:spcAft>
              <a:buNone/>
            </a:pPr>
            <a:r>
              <a:rPr b="0" i="0" lang="en-US" sz="3100" u="none" cap="none" strike="noStrike">
                <a:solidFill>
                  <a:srgbClr val="37474F"/>
                </a:solidFill>
                <a:latin typeface="Gabarito"/>
                <a:ea typeface="Gabarito"/>
                <a:cs typeface="Gabarito"/>
                <a:sym typeface="Gabarito"/>
              </a:rPr>
              <a:t>If we ingest the same document file twice, we would want it to recognize to be the same file and not silently create duplicate files.</a:t>
            </a:r>
            <a:endParaRPr sz="1900"/>
          </a:p>
          <a:p>
            <a:pPr indent="0" lvl="0" marL="0" marR="0" rtl="0" algn="l">
              <a:lnSpc>
                <a:spcPct val="120000"/>
              </a:lnSpc>
              <a:spcBef>
                <a:spcPts val="0"/>
              </a:spcBef>
              <a:spcAft>
                <a:spcPts val="0"/>
              </a:spcAft>
              <a:buClr>
                <a:srgbClr val="37474F"/>
              </a:buClr>
              <a:buSzPts val="2550"/>
              <a:buFont typeface="Gabarito"/>
              <a:buNone/>
            </a:pPr>
            <a:r>
              <a:t/>
            </a:r>
            <a:endParaRPr b="0" i="0" sz="3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pic>
        <p:nvPicPr>
          <p:cNvPr descr="preencoded.png" id="438" name="Google Shape;438;g3f776df2723_1_6"/>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439" name="Google Shape;439;g3f776df2723_1_6"/>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440" name="Google Shape;440;g3f776df2723_1_6"/>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Chunking - S</a:t>
            </a:r>
            <a:r>
              <a:rPr b="1" lang="en-US" sz="6000">
                <a:solidFill>
                  <a:srgbClr val="274D71"/>
                </a:solidFill>
                <a:latin typeface="Gabarito"/>
                <a:ea typeface="Gabarito"/>
                <a:cs typeface="Gabarito"/>
                <a:sym typeface="Gabarito"/>
              </a:rPr>
              <a:t>plitting Documents Into Pieces</a:t>
            </a:r>
            <a:endParaRPr b="0" i="0" sz="6000" u="none" cap="none" strike="noStrike">
              <a:solidFill>
                <a:schemeClr val="dk1"/>
              </a:solidFill>
              <a:latin typeface="Calibri"/>
              <a:ea typeface="Calibri"/>
              <a:cs typeface="Calibri"/>
              <a:sym typeface="Calibri"/>
            </a:endParaRPr>
          </a:p>
        </p:txBody>
      </p:sp>
      <p:sp>
        <p:nvSpPr>
          <p:cNvPr id="441" name="Google Shape;441;g3f776df2723_1_6"/>
          <p:cNvSpPr/>
          <p:nvPr/>
        </p:nvSpPr>
        <p:spPr>
          <a:xfrm>
            <a:off x="1047750" y="2521325"/>
            <a:ext cx="162210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3000">
                <a:solidFill>
                  <a:srgbClr val="212121"/>
                </a:solidFill>
                <a:latin typeface="Gabarito"/>
                <a:ea typeface="Gabarito"/>
                <a:cs typeface="Gabarito"/>
                <a:sym typeface="Gabarito"/>
              </a:rPr>
              <a:t>It</a:t>
            </a:r>
            <a:r>
              <a:rPr lang="en-US" sz="3000">
                <a:solidFill>
                  <a:srgbClr val="212121"/>
                </a:solidFill>
                <a:latin typeface="Gabarito"/>
                <a:ea typeface="Gabarito"/>
                <a:cs typeface="Gabarito"/>
                <a:sym typeface="Gabarito"/>
              </a:rPr>
              <a:t> is the </a:t>
            </a:r>
            <a:r>
              <a:rPr b="1" lang="en-US" sz="3000">
                <a:solidFill>
                  <a:srgbClr val="1E4E79"/>
                </a:solidFill>
                <a:latin typeface="Gabarito"/>
                <a:ea typeface="Gabarito"/>
                <a:cs typeface="Gabarito"/>
                <a:sym typeface="Gabarito"/>
              </a:rPr>
              <a:t>process </a:t>
            </a:r>
            <a:r>
              <a:rPr lang="en-US" sz="3000">
                <a:solidFill>
                  <a:srgbClr val="212121"/>
                </a:solidFill>
                <a:latin typeface="Gabarito"/>
                <a:ea typeface="Gabarito"/>
                <a:cs typeface="Gabarito"/>
                <a:sym typeface="Gabarito"/>
              </a:rPr>
              <a:t>of </a:t>
            </a:r>
            <a:r>
              <a:rPr b="1" lang="en-US" sz="3000">
                <a:solidFill>
                  <a:schemeClr val="accent2"/>
                </a:solidFill>
                <a:latin typeface="Gabarito"/>
                <a:ea typeface="Gabarito"/>
                <a:cs typeface="Gabarito"/>
                <a:sym typeface="Gabarito"/>
              </a:rPr>
              <a:t>dividing large pieces of information</a:t>
            </a:r>
            <a:r>
              <a:rPr lang="en-US" sz="3000">
                <a:solidFill>
                  <a:srgbClr val="212121"/>
                </a:solidFill>
                <a:latin typeface="Gabarito"/>
                <a:ea typeface="Gabarito"/>
                <a:cs typeface="Gabarito"/>
                <a:sym typeface="Gabarito"/>
              </a:rPr>
              <a:t>, such as documents, transcripts, or technical manuals, </a:t>
            </a:r>
            <a:r>
              <a:rPr b="1" lang="en-US" sz="3000">
                <a:solidFill>
                  <a:schemeClr val="accent2"/>
                </a:solidFill>
                <a:latin typeface="Gabarito"/>
                <a:ea typeface="Gabarito"/>
                <a:cs typeface="Gabarito"/>
                <a:sym typeface="Gabarito"/>
              </a:rPr>
              <a:t>into smaller, more manageable segments.</a:t>
            </a:r>
            <a:r>
              <a:rPr lang="en-US" sz="3000">
                <a:solidFill>
                  <a:srgbClr val="212121"/>
                </a:solidFill>
                <a:latin typeface="Gabarito"/>
                <a:ea typeface="Gabarito"/>
                <a:cs typeface="Gabarito"/>
                <a:sym typeface="Gabarito"/>
              </a:rPr>
              <a:t> These segments can then be processed, embedded, and retrieved by AI systems.</a:t>
            </a:r>
            <a:endParaRPr sz="3000">
              <a:solidFill>
                <a:srgbClr val="212121"/>
              </a:solidFill>
              <a:latin typeface="Gabarito"/>
              <a:ea typeface="Gabarito"/>
              <a:cs typeface="Gabarito"/>
              <a:sym typeface="Gabarito"/>
            </a:endParaRPr>
          </a:p>
          <a:p>
            <a:pPr indent="0" lvl="0" marL="0" marR="0" rtl="0" algn="l">
              <a:lnSpc>
                <a:spcPct val="112500"/>
              </a:lnSpc>
              <a:spcBef>
                <a:spcPts val="0"/>
              </a:spcBef>
              <a:spcAft>
                <a:spcPts val="0"/>
              </a:spcAft>
              <a:buClr>
                <a:srgbClr val="212121"/>
              </a:buClr>
              <a:buSzPts val="2625"/>
              <a:buFont typeface="Gabarito"/>
              <a:buNone/>
            </a:pPr>
            <a:r>
              <a:t/>
            </a:r>
            <a:endParaRPr sz="3000">
              <a:solidFill>
                <a:srgbClr val="212121"/>
              </a:solidFill>
              <a:latin typeface="Gabarito"/>
              <a:ea typeface="Gabarito"/>
              <a:cs typeface="Gabarito"/>
              <a:sym typeface="Gabarito"/>
            </a:endParaRPr>
          </a:p>
        </p:txBody>
      </p:sp>
      <p:sp>
        <p:nvSpPr>
          <p:cNvPr id="442" name="Google Shape;442;g3f776df2723_1_6"/>
          <p:cNvSpPr/>
          <p:nvPr/>
        </p:nvSpPr>
        <p:spPr>
          <a:xfrm>
            <a:off x="1047750" y="4423325"/>
            <a:ext cx="16221000" cy="2513400"/>
          </a:xfrm>
          <a:prstGeom prst="roundRect">
            <a:avLst>
              <a:gd fmla="val 6492" name="adj"/>
            </a:avLst>
          </a:prstGeom>
          <a:solidFill>
            <a:srgbClr val="035595">
              <a:alpha val="3920"/>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43" name="Google Shape;443;g3f776df2723_1_6"/>
          <p:cNvSpPr/>
          <p:nvPr/>
        </p:nvSpPr>
        <p:spPr>
          <a:xfrm>
            <a:off x="1557850" y="4811100"/>
            <a:ext cx="15276600" cy="593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250"/>
              <a:buFont typeface="Gabarito"/>
              <a:buNone/>
            </a:pPr>
            <a:r>
              <a:rPr b="1" lang="en-US" sz="3200">
                <a:solidFill>
                  <a:srgbClr val="035595"/>
                </a:solidFill>
                <a:latin typeface="Gabarito"/>
                <a:ea typeface="Gabarito"/>
                <a:cs typeface="Gabarito"/>
                <a:sym typeface="Gabarito"/>
              </a:rPr>
              <a:t>Why does chunking matter in the architecture?</a:t>
            </a:r>
            <a:endParaRPr sz="2800">
              <a:solidFill>
                <a:srgbClr val="37474F"/>
              </a:solidFill>
              <a:latin typeface="Gabarito"/>
              <a:ea typeface="Gabarito"/>
              <a:cs typeface="Gabarito"/>
              <a:sym typeface="Gabarito"/>
            </a:endParaRPr>
          </a:p>
        </p:txBody>
      </p:sp>
      <p:sp>
        <p:nvSpPr>
          <p:cNvPr id="444" name="Google Shape;444;g3f776df2723_1_6"/>
          <p:cNvSpPr/>
          <p:nvPr/>
        </p:nvSpPr>
        <p:spPr>
          <a:xfrm>
            <a:off x="1047750" y="7308933"/>
            <a:ext cx="16221000" cy="1719000"/>
          </a:xfrm>
          <a:prstGeom prst="roundRect">
            <a:avLst>
              <a:gd fmla="val 10141"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45" name="Google Shape;445;g3f776df2723_1_6"/>
          <p:cNvSpPr/>
          <p:nvPr/>
        </p:nvSpPr>
        <p:spPr>
          <a:xfrm>
            <a:off x="1557850" y="7699370"/>
            <a:ext cx="14917500" cy="9381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1000"/>
              </a:spcBef>
              <a:spcAft>
                <a:spcPts val="0"/>
              </a:spcAft>
              <a:buNone/>
            </a:pPr>
            <a:r>
              <a:rPr b="1" lang="en-US" sz="2800">
                <a:solidFill>
                  <a:srgbClr val="37474F"/>
                </a:solidFill>
                <a:latin typeface="Gabarito"/>
                <a:ea typeface="Gabarito"/>
                <a:cs typeface="Gabarito"/>
                <a:sym typeface="Gabarito"/>
              </a:rPr>
              <a:t>Notes: </a:t>
            </a:r>
            <a:r>
              <a:rPr lang="en-US" sz="2800">
                <a:solidFill>
                  <a:srgbClr val="37474F"/>
                </a:solidFill>
                <a:latin typeface="Gabarito"/>
                <a:ea typeface="Gabarito"/>
                <a:cs typeface="Gabarito"/>
                <a:sym typeface="Gabarito"/>
              </a:rPr>
              <a:t>So chunking is necessary – but where exactly do we cut? There is more than one answer to that question</a:t>
            </a:r>
            <a:r>
              <a:rPr lang="en-US" sz="1600">
                <a:solidFill>
                  <a:srgbClr val="274D71"/>
                </a:solidFill>
                <a:latin typeface="Nunito SemiBold"/>
                <a:ea typeface="Nunito SemiBold"/>
                <a:cs typeface="Nunito SemiBold"/>
                <a:sym typeface="Nunito SemiBold"/>
              </a:rPr>
              <a:t>.</a:t>
            </a:r>
            <a:endParaRPr sz="1600">
              <a:solidFill>
                <a:srgbClr val="274D71"/>
              </a:solidFill>
              <a:latin typeface="Nunito SemiBold"/>
              <a:ea typeface="Nunito SemiBold"/>
              <a:cs typeface="Nunito SemiBold"/>
              <a:sym typeface="Nunito SemiBold"/>
            </a:endParaRPr>
          </a:p>
          <a:p>
            <a:pPr indent="0" lvl="0" marL="0" marR="0" rtl="0" algn="l">
              <a:lnSpc>
                <a:spcPct val="116000"/>
              </a:lnSpc>
              <a:spcBef>
                <a:spcPts val="0"/>
              </a:spcBef>
              <a:spcAft>
                <a:spcPts val="0"/>
              </a:spcAft>
              <a:buClr>
                <a:srgbClr val="5B5B5B"/>
              </a:buClr>
              <a:buSzPts val="2175"/>
              <a:buFont typeface="Gabarito"/>
              <a:buNone/>
            </a:pPr>
            <a:r>
              <a:t/>
            </a:r>
            <a:endParaRPr sz="2400">
              <a:solidFill>
                <a:srgbClr val="5B5B5B"/>
              </a:solidFill>
              <a:latin typeface="Gabarito"/>
              <a:ea typeface="Gabarito"/>
              <a:cs typeface="Gabarito"/>
              <a:sym typeface="Gabarito"/>
            </a:endParaRPr>
          </a:p>
        </p:txBody>
      </p:sp>
      <p:sp>
        <p:nvSpPr>
          <p:cNvPr id="446" name="Google Shape;446;g3f776df2723_1_6"/>
          <p:cNvSpPr/>
          <p:nvPr/>
        </p:nvSpPr>
        <p:spPr>
          <a:xfrm>
            <a:off x="1640675" y="5483770"/>
            <a:ext cx="14917500" cy="9381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lang="en-US" sz="2800">
                <a:solidFill>
                  <a:srgbClr val="37474F"/>
                </a:solidFill>
                <a:latin typeface="Gabarito"/>
                <a:ea typeface="Gabarito"/>
                <a:cs typeface="Gabarito"/>
                <a:sym typeface="Gabarito"/>
              </a:rPr>
              <a:t>AI model can only read a limited amount of text at once – chunking break a huge document into pieces that actually fit</a:t>
            </a:r>
            <a:endParaRPr>
              <a:solidFill>
                <a:schemeClr val="dk1"/>
              </a:solidFill>
            </a:endParaRPr>
          </a:p>
          <a:p>
            <a:pPr indent="0" lvl="0" marL="0" marR="0" rtl="0" algn="l">
              <a:lnSpc>
                <a:spcPct val="115000"/>
              </a:lnSpc>
              <a:spcBef>
                <a:spcPts val="0"/>
              </a:spcBef>
              <a:spcAft>
                <a:spcPts val="0"/>
              </a:spcAft>
              <a:buClr>
                <a:srgbClr val="5B5B5B"/>
              </a:buClr>
              <a:buSzPts val="2175"/>
              <a:buFont typeface="Gabarito"/>
              <a:buNone/>
            </a:pPr>
            <a:r>
              <a:t/>
            </a:r>
            <a:endParaRPr b="1" sz="2800">
              <a:solidFill>
                <a:srgbClr val="37474F"/>
              </a:solidFill>
              <a:latin typeface="Gabarito"/>
              <a:ea typeface="Gabarito"/>
              <a:cs typeface="Gabarito"/>
              <a:sym typeface="Gabarito"/>
            </a:endParaRPr>
          </a:p>
        </p:txBody>
      </p:sp>
      <p:sp>
        <p:nvSpPr>
          <p:cNvPr id="447" name="Google Shape;447;g3f776df2723_1_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pic>
        <p:nvPicPr>
          <p:cNvPr descr="preencoded.png" id="453" name="Google Shape;453;g3f776df2723_1_39"/>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454" name="Google Shape;454;g3f776df2723_1_39"/>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455" name="Google Shape;455;g3f776df2723_1_39"/>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Fixed-Size Chunking</a:t>
            </a:r>
            <a:endParaRPr b="0" i="0" sz="6000" u="none" cap="none" strike="noStrike">
              <a:solidFill>
                <a:schemeClr val="dk1"/>
              </a:solidFill>
              <a:latin typeface="Calibri"/>
              <a:ea typeface="Calibri"/>
              <a:cs typeface="Calibri"/>
              <a:sym typeface="Calibri"/>
            </a:endParaRPr>
          </a:p>
        </p:txBody>
      </p:sp>
      <p:sp>
        <p:nvSpPr>
          <p:cNvPr id="456" name="Google Shape;456;g3f776df2723_1_39"/>
          <p:cNvSpPr/>
          <p:nvPr/>
        </p:nvSpPr>
        <p:spPr>
          <a:xfrm>
            <a:off x="1047751" y="2272852"/>
            <a:ext cx="148401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b="0" i="0" lang="en-US" sz="3000" u="none" cap="none" strike="noStrike">
                <a:solidFill>
                  <a:srgbClr val="212121"/>
                </a:solidFill>
                <a:latin typeface="Gabarito"/>
                <a:ea typeface="Gabarito"/>
                <a:cs typeface="Gabarito"/>
                <a:sym typeface="Gabarito"/>
              </a:rPr>
              <a:t>Cuts the text at a fixed length </a:t>
            </a:r>
            <a:r>
              <a:rPr lang="en-US" sz="3000">
                <a:solidFill>
                  <a:srgbClr val="212121"/>
                </a:solidFill>
                <a:latin typeface="Gabarito"/>
                <a:ea typeface="Gabarito"/>
                <a:cs typeface="Gabarito"/>
                <a:sym typeface="Gabarito"/>
              </a:rPr>
              <a:t>-</a:t>
            </a:r>
            <a:r>
              <a:rPr b="0" i="0" lang="en-US" sz="3000" u="none" cap="none" strike="noStrike">
                <a:solidFill>
                  <a:srgbClr val="212121"/>
                </a:solidFill>
                <a:latin typeface="Gabarito"/>
                <a:ea typeface="Gabarito"/>
                <a:cs typeface="Gabarito"/>
                <a:sym typeface="Gabarito"/>
              </a:rPr>
              <a:t> for example,</a:t>
            </a:r>
            <a:r>
              <a:rPr lang="en-US" sz="3000">
                <a:solidFill>
                  <a:srgbClr val="212121"/>
                </a:solidFill>
                <a:latin typeface="Gabarito"/>
                <a:ea typeface="Gabarito"/>
                <a:cs typeface="Gabarito"/>
                <a:sym typeface="Gabarito"/>
              </a:rPr>
              <a:t> if the fixed length is 40 characters - </a:t>
            </a:r>
            <a:endParaRPr sz="3000">
              <a:solidFill>
                <a:srgbClr val="212121"/>
              </a:solidFill>
              <a:latin typeface="Gabarito"/>
              <a:ea typeface="Gabarito"/>
              <a:cs typeface="Gabarito"/>
              <a:sym typeface="Gabarito"/>
            </a:endParaRPr>
          </a:p>
          <a:p>
            <a:pPr indent="0" lvl="0" marL="0" marR="0" rtl="0" algn="l">
              <a:lnSpc>
                <a:spcPct val="112500"/>
              </a:lnSpc>
              <a:spcBef>
                <a:spcPts val="0"/>
              </a:spcBef>
              <a:spcAft>
                <a:spcPts val="0"/>
              </a:spcAft>
              <a:buClr>
                <a:srgbClr val="212121"/>
              </a:buClr>
              <a:buSzPts val="2625"/>
              <a:buFont typeface="Gabarito"/>
              <a:buNone/>
            </a:pPr>
            <a:r>
              <a:rPr lang="en-US" sz="3000">
                <a:solidFill>
                  <a:srgbClr val="212121"/>
                </a:solidFill>
                <a:latin typeface="Gabarito"/>
                <a:ea typeface="Gabarito"/>
                <a:cs typeface="Gabarito"/>
                <a:sym typeface="Gabarito"/>
              </a:rPr>
              <a:t>no matters where the sentence or ideas begin it will still cut and that fixed length. </a:t>
            </a:r>
            <a:endParaRPr sz="3000">
              <a:solidFill>
                <a:srgbClr val="212121"/>
              </a:solidFill>
              <a:latin typeface="Gabarito"/>
              <a:ea typeface="Gabarito"/>
              <a:cs typeface="Gabarito"/>
              <a:sym typeface="Gabarito"/>
            </a:endParaRPr>
          </a:p>
          <a:p>
            <a:pPr indent="0" lvl="0" marL="0" marR="0" rtl="0" algn="l">
              <a:lnSpc>
                <a:spcPct val="112500"/>
              </a:lnSpc>
              <a:spcBef>
                <a:spcPts val="0"/>
              </a:spcBef>
              <a:spcAft>
                <a:spcPts val="0"/>
              </a:spcAft>
              <a:buClr>
                <a:srgbClr val="212121"/>
              </a:buClr>
              <a:buSzPts val="2625"/>
              <a:buFont typeface="Gabarito"/>
              <a:buNone/>
            </a:pPr>
            <a:r>
              <a:t/>
            </a:r>
            <a:endParaRPr sz="3000">
              <a:solidFill>
                <a:srgbClr val="212121"/>
              </a:solidFill>
              <a:latin typeface="Gabarito"/>
              <a:ea typeface="Gabarito"/>
              <a:cs typeface="Gabarito"/>
              <a:sym typeface="Gabarito"/>
            </a:endParaRPr>
          </a:p>
        </p:txBody>
      </p:sp>
      <p:sp>
        <p:nvSpPr>
          <p:cNvPr id="457" name="Google Shape;457;g3f776df2723_1_39"/>
          <p:cNvSpPr/>
          <p:nvPr/>
        </p:nvSpPr>
        <p:spPr>
          <a:xfrm>
            <a:off x="1047750" y="3572095"/>
            <a:ext cx="16182600" cy="2124300"/>
          </a:xfrm>
          <a:prstGeom prst="roundRect">
            <a:avLst>
              <a:gd fmla="val 7583"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Arial"/>
              <a:ea typeface="Arial"/>
              <a:cs typeface="Arial"/>
              <a:sym typeface="Arial"/>
            </a:endParaRPr>
          </a:p>
        </p:txBody>
      </p:sp>
      <p:sp>
        <p:nvSpPr>
          <p:cNvPr id="458" name="Google Shape;458;g3f776df2723_1_39"/>
          <p:cNvSpPr/>
          <p:nvPr/>
        </p:nvSpPr>
        <p:spPr>
          <a:xfrm>
            <a:off x="1557850" y="3824714"/>
            <a:ext cx="15711000" cy="390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325"/>
              <a:buFont typeface="Gabarito"/>
              <a:buNone/>
            </a:pPr>
            <a:r>
              <a:rPr b="1" i="0" lang="en-US" sz="2925" u="none" cap="none" strike="noStrike">
                <a:solidFill>
                  <a:srgbClr val="274D71"/>
                </a:solidFill>
                <a:latin typeface="Gabarito"/>
                <a:ea typeface="Gabarito"/>
                <a:cs typeface="Gabarito"/>
                <a:sym typeface="Gabarito"/>
              </a:rPr>
              <a:t>CHARACTERISTICS</a:t>
            </a:r>
            <a:endParaRPr b="0" i="0" sz="2925" u="none" cap="none" strike="noStrike">
              <a:solidFill>
                <a:schemeClr val="dk1"/>
              </a:solidFill>
              <a:latin typeface="Calibri"/>
              <a:ea typeface="Calibri"/>
              <a:cs typeface="Calibri"/>
              <a:sym typeface="Calibri"/>
            </a:endParaRPr>
          </a:p>
        </p:txBody>
      </p:sp>
      <p:sp>
        <p:nvSpPr>
          <p:cNvPr id="459" name="Google Shape;459;g3f776df2723_1_39"/>
          <p:cNvSpPr/>
          <p:nvPr/>
        </p:nvSpPr>
        <p:spPr>
          <a:xfrm>
            <a:off x="1557850" y="4399901"/>
            <a:ext cx="15711000" cy="419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250"/>
              <a:buFont typeface="Gabarito"/>
              <a:buNone/>
            </a:pPr>
            <a:r>
              <a:rPr b="0" i="0" lang="en-US" sz="2700" u="none" cap="none" strike="noStrike">
                <a:solidFill>
                  <a:srgbClr val="4C5A33"/>
                </a:solidFill>
                <a:latin typeface="Gabarito"/>
                <a:ea typeface="Gabarito"/>
                <a:cs typeface="Gabarito"/>
                <a:sym typeface="Gabarito"/>
              </a:rPr>
              <a:t>✓ Very fast — no extra processing needed</a:t>
            </a:r>
            <a:endParaRPr b="0" i="0" sz="2700" u="none" cap="none" strike="noStrike">
              <a:solidFill>
                <a:schemeClr val="dk1"/>
              </a:solidFill>
              <a:latin typeface="Calibri"/>
              <a:ea typeface="Calibri"/>
              <a:cs typeface="Calibri"/>
              <a:sym typeface="Calibri"/>
            </a:endParaRPr>
          </a:p>
        </p:txBody>
      </p:sp>
      <p:sp>
        <p:nvSpPr>
          <p:cNvPr id="460" name="Google Shape;460;g3f776df2723_1_39"/>
          <p:cNvSpPr/>
          <p:nvPr/>
        </p:nvSpPr>
        <p:spPr>
          <a:xfrm>
            <a:off x="1557850" y="4939936"/>
            <a:ext cx="147114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C15F3C"/>
              </a:buClr>
              <a:buSzPts val="2250"/>
              <a:buFont typeface="Gabarito"/>
              <a:buNone/>
            </a:pPr>
            <a:r>
              <a:rPr b="0" i="0" lang="en-US" sz="2700" u="none" cap="none" strike="noStrike">
                <a:solidFill>
                  <a:srgbClr val="C15F3C"/>
                </a:solidFill>
                <a:latin typeface="Gabarito"/>
                <a:ea typeface="Gabarito"/>
                <a:cs typeface="Gabarito"/>
                <a:sym typeface="Gabarito"/>
              </a:rPr>
              <a:t>✕ Can cut a sentence right in the middle, losing its meaning</a:t>
            </a:r>
            <a:endParaRPr b="0" i="0" sz="2700" u="none" cap="none" strike="noStrike">
              <a:solidFill>
                <a:schemeClr val="dk1"/>
              </a:solidFill>
              <a:latin typeface="Calibri"/>
              <a:ea typeface="Calibri"/>
              <a:cs typeface="Calibri"/>
              <a:sym typeface="Calibri"/>
            </a:endParaRPr>
          </a:p>
        </p:txBody>
      </p:sp>
      <p:sp>
        <p:nvSpPr>
          <p:cNvPr id="461" name="Google Shape;461;g3f776df2723_1_39"/>
          <p:cNvSpPr/>
          <p:nvPr/>
        </p:nvSpPr>
        <p:spPr>
          <a:xfrm>
            <a:off x="1047750" y="5914427"/>
            <a:ext cx="16221000" cy="1176600"/>
          </a:xfrm>
          <a:prstGeom prst="roundRect">
            <a:avLst>
              <a:gd fmla="val 14815" name="adj"/>
            </a:avLst>
          </a:prstGeom>
          <a:solidFill>
            <a:srgbClr val="035595">
              <a:alpha val="3920"/>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Arial"/>
              <a:ea typeface="Arial"/>
              <a:cs typeface="Arial"/>
              <a:sym typeface="Arial"/>
            </a:endParaRPr>
          </a:p>
        </p:txBody>
      </p:sp>
      <p:sp>
        <p:nvSpPr>
          <p:cNvPr id="462" name="Google Shape;462;g3f776df2723_1_39"/>
          <p:cNvSpPr/>
          <p:nvPr/>
        </p:nvSpPr>
        <p:spPr>
          <a:xfrm>
            <a:off x="1557850" y="6286663"/>
            <a:ext cx="14741700" cy="390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250"/>
              <a:buFont typeface="Gabarito"/>
              <a:buNone/>
            </a:pPr>
            <a:r>
              <a:rPr b="1" i="0" lang="en-US" sz="2700" u="none" cap="none" strike="noStrike">
                <a:solidFill>
                  <a:srgbClr val="035595"/>
                </a:solidFill>
                <a:latin typeface="Gabarito"/>
                <a:ea typeface="Gabarito"/>
                <a:cs typeface="Gabarito"/>
                <a:sym typeface="Gabarito"/>
              </a:rPr>
              <a:t>Best for: </a:t>
            </a:r>
            <a:r>
              <a:rPr b="0" i="0" lang="en-US" sz="2700" u="none" cap="none" strike="noStrike">
                <a:solidFill>
                  <a:srgbClr val="37474F"/>
                </a:solidFill>
                <a:latin typeface="Gabarito"/>
                <a:ea typeface="Gabarito"/>
                <a:cs typeface="Gabarito"/>
                <a:sym typeface="Gabarito"/>
              </a:rPr>
              <a:t>quick prototypes, or text that's already short and uniform.</a:t>
            </a:r>
            <a:endParaRPr b="0" i="0" sz="2700" u="none" cap="none" strike="noStrike">
              <a:solidFill>
                <a:schemeClr val="dk1"/>
              </a:solidFill>
              <a:latin typeface="Calibri"/>
              <a:ea typeface="Calibri"/>
              <a:cs typeface="Calibri"/>
              <a:sym typeface="Calibri"/>
            </a:endParaRPr>
          </a:p>
        </p:txBody>
      </p:sp>
      <p:sp>
        <p:nvSpPr>
          <p:cNvPr id="463" name="Google Shape;463;g3f776df2723_1_39"/>
          <p:cNvSpPr/>
          <p:nvPr/>
        </p:nvSpPr>
        <p:spPr>
          <a:xfrm>
            <a:off x="1047750" y="7308933"/>
            <a:ext cx="16221000" cy="1719000"/>
          </a:xfrm>
          <a:prstGeom prst="roundRect">
            <a:avLst>
              <a:gd fmla="val 10141"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Arial"/>
              <a:ea typeface="Arial"/>
              <a:cs typeface="Arial"/>
              <a:sym typeface="Arial"/>
            </a:endParaRPr>
          </a:p>
        </p:txBody>
      </p:sp>
      <p:sp>
        <p:nvSpPr>
          <p:cNvPr id="464" name="Google Shape;464;g3f776df2723_1_39"/>
          <p:cNvSpPr/>
          <p:nvPr/>
        </p:nvSpPr>
        <p:spPr>
          <a:xfrm>
            <a:off x="1557850" y="7673243"/>
            <a:ext cx="149175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5B5B5B"/>
              </a:buClr>
              <a:buSzPts val="2175"/>
              <a:buFont typeface="Gabarito"/>
              <a:buNone/>
            </a:pPr>
            <a:r>
              <a:rPr b="0" i="0" lang="en-US" sz="2700" u="none" cap="none" strike="noStrike">
                <a:solidFill>
                  <a:srgbClr val="5B5B5B"/>
                </a:solidFill>
                <a:latin typeface="Gabarito"/>
                <a:ea typeface="Gabarito"/>
                <a:cs typeface="Gabarito"/>
                <a:sym typeface="Gabarito"/>
              </a:rPr>
              <a:t>The simplest chunking method to build, but the risk of breaking a sentence mid-way makes it a weak default for real documents.</a:t>
            </a:r>
            <a:endParaRPr b="0" i="0" sz="27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pic>
        <p:nvPicPr>
          <p:cNvPr descr="preencoded.png" id="470" name="Google Shape;470;g3f776df2723_1_55"/>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471" name="Google Shape;471;g3f776df2723_1_55"/>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472" name="Google Shape;472;g3f776df2723_1_55"/>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Fixed-Size Chunking</a:t>
            </a:r>
            <a:endParaRPr b="0" i="0" sz="6000" u="none" cap="none" strike="noStrike">
              <a:solidFill>
                <a:schemeClr val="dk1"/>
              </a:solidFill>
              <a:latin typeface="Calibri"/>
              <a:ea typeface="Calibri"/>
              <a:cs typeface="Calibri"/>
              <a:sym typeface="Calibri"/>
            </a:endParaRPr>
          </a:p>
        </p:txBody>
      </p:sp>
      <p:sp>
        <p:nvSpPr>
          <p:cNvPr id="473" name="Google Shape;473;g3f776df2723_1_55"/>
          <p:cNvSpPr/>
          <p:nvPr/>
        </p:nvSpPr>
        <p:spPr>
          <a:xfrm>
            <a:off x="1047751" y="2431114"/>
            <a:ext cx="148401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3000">
                <a:solidFill>
                  <a:srgbClr val="212121"/>
                </a:solidFill>
                <a:latin typeface="Gabarito"/>
                <a:ea typeface="Gabarito"/>
                <a:cs typeface="Gabarito"/>
                <a:sym typeface="Gabarito"/>
              </a:rPr>
              <a:t>This is the most simplest form of chunking method to build, but the risk of breaking sentence mid-way make it a weak default options for real document chunking</a:t>
            </a:r>
            <a:endParaRPr sz="3000">
              <a:solidFill>
                <a:srgbClr val="212121"/>
              </a:solidFill>
              <a:latin typeface="Gabarito"/>
              <a:ea typeface="Gabarito"/>
              <a:cs typeface="Gabarito"/>
              <a:sym typeface="Gabarito"/>
            </a:endParaRPr>
          </a:p>
          <a:p>
            <a:pPr indent="0" lvl="0" marL="0" marR="0" rtl="0" algn="l">
              <a:lnSpc>
                <a:spcPct val="112500"/>
              </a:lnSpc>
              <a:spcBef>
                <a:spcPts val="0"/>
              </a:spcBef>
              <a:spcAft>
                <a:spcPts val="0"/>
              </a:spcAft>
              <a:buClr>
                <a:srgbClr val="212121"/>
              </a:buClr>
              <a:buSzPts val="2625"/>
              <a:buFont typeface="Gabarito"/>
              <a:buNone/>
            </a:pPr>
            <a:r>
              <a:t/>
            </a:r>
            <a:endParaRPr sz="3000">
              <a:solidFill>
                <a:srgbClr val="212121"/>
              </a:solidFill>
              <a:latin typeface="Gabarito"/>
              <a:ea typeface="Gabarito"/>
              <a:cs typeface="Gabarito"/>
              <a:sym typeface="Gabarito"/>
            </a:endParaRPr>
          </a:p>
          <a:p>
            <a:pPr indent="0" lvl="0" marL="0" marR="0" rtl="0" algn="l">
              <a:lnSpc>
                <a:spcPct val="112500"/>
              </a:lnSpc>
              <a:spcBef>
                <a:spcPts val="0"/>
              </a:spcBef>
              <a:spcAft>
                <a:spcPts val="0"/>
              </a:spcAft>
              <a:buClr>
                <a:srgbClr val="212121"/>
              </a:buClr>
              <a:buSzPts val="2625"/>
              <a:buFont typeface="Gabarito"/>
              <a:buNone/>
            </a:pPr>
            <a:r>
              <a:t/>
            </a:r>
            <a:endParaRPr sz="3000">
              <a:solidFill>
                <a:srgbClr val="212121"/>
              </a:solidFill>
              <a:latin typeface="Gabarito"/>
              <a:ea typeface="Gabarito"/>
              <a:cs typeface="Gabarito"/>
              <a:sym typeface="Gabarito"/>
            </a:endParaRPr>
          </a:p>
        </p:txBody>
      </p:sp>
      <p:pic>
        <p:nvPicPr>
          <p:cNvPr id="474" name="Google Shape;474;g3f776df2723_1_55" title="ChatGPT Image Aug 21, 2026, 10_12_21 AM.png"/>
          <p:cNvPicPr preferRelativeResize="0"/>
          <p:nvPr/>
        </p:nvPicPr>
        <p:blipFill rotWithShape="1">
          <a:blip r:embed="rId4">
            <a:alphaModFix/>
          </a:blip>
          <a:srcRect b="34951" l="0" r="0" t="0"/>
          <a:stretch/>
        </p:blipFill>
        <p:spPr>
          <a:xfrm>
            <a:off x="1566075" y="3902425"/>
            <a:ext cx="15155850" cy="3287924"/>
          </a:xfrm>
          <a:prstGeom prst="rect">
            <a:avLst/>
          </a:prstGeom>
          <a:noFill/>
          <a:ln>
            <a:noFill/>
          </a:ln>
        </p:spPr>
      </p:pic>
      <p:sp>
        <p:nvSpPr>
          <p:cNvPr id="475" name="Google Shape;475;g3f776df2723_1_55"/>
          <p:cNvSpPr/>
          <p:nvPr/>
        </p:nvSpPr>
        <p:spPr>
          <a:xfrm>
            <a:off x="2346226" y="7101464"/>
            <a:ext cx="148401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2200">
                <a:solidFill>
                  <a:srgbClr val="212121"/>
                </a:solidFill>
                <a:latin typeface="Gabarito"/>
                <a:ea typeface="Gabarito"/>
                <a:cs typeface="Gabarito"/>
                <a:sym typeface="Gabarito"/>
              </a:rPr>
              <a:t>Cuts fall anywhere - may slice mid-sentence</a:t>
            </a:r>
            <a:endParaRPr sz="2200">
              <a:solidFill>
                <a:srgbClr val="212121"/>
              </a:solidFill>
              <a:latin typeface="Gabarito"/>
              <a:ea typeface="Gabarito"/>
              <a:cs typeface="Gabarito"/>
              <a:sym typeface="Gabarito"/>
            </a:endParaRPr>
          </a:p>
        </p:txBody>
      </p:sp>
      <p:sp>
        <p:nvSpPr>
          <p:cNvPr id="476" name="Google Shape;476;g3f776df2723_1_55"/>
          <p:cNvSpPr/>
          <p:nvPr/>
        </p:nvSpPr>
        <p:spPr>
          <a:xfrm>
            <a:off x="3729150" y="5875850"/>
            <a:ext cx="14637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3000">
                <a:solidFill>
                  <a:srgbClr val="212121"/>
                </a:solidFill>
                <a:latin typeface="Gabarito"/>
                <a:ea typeface="Gabarito"/>
                <a:cs typeface="Gabarito"/>
                <a:sym typeface="Gabarito"/>
              </a:rPr>
              <a:t>Chunk 1</a:t>
            </a:r>
            <a:endParaRPr sz="3000">
              <a:solidFill>
                <a:srgbClr val="212121"/>
              </a:solidFill>
              <a:latin typeface="Gabarito"/>
              <a:ea typeface="Gabarito"/>
              <a:cs typeface="Gabarito"/>
              <a:sym typeface="Gabarito"/>
            </a:endParaRPr>
          </a:p>
        </p:txBody>
      </p:sp>
      <p:sp>
        <p:nvSpPr>
          <p:cNvPr id="477" name="Google Shape;477;g3f776df2723_1_55"/>
          <p:cNvSpPr/>
          <p:nvPr/>
        </p:nvSpPr>
        <p:spPr>
          <a:xfrm>
            <a:off x="8221925" y="5875850"/>
            <a:ext cx="14637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3000">
                <a:solidFill>
                  <a:srgbClr val="212121"/>
                </a:solidFill>
                <a:latin typeface="Gabarito"/>
                <a:ea typeface="Gabarito"/>
                <a:cs typeface="Gabarito"/>
                <a:sym typeface="Gabarito"/>
              </a:rPr>
              <a:t>Chunk </a:t>
            </a:r>
            <a:r>
              <a:rPr lang="en-US" sz="3000">
                <a:solidFill>
                  <a:srgbClr val="212121"/>
                </a:solidFill>
                <a:latin typeface="Gabarito"/>
                <a:ea typeface="Gabarito"/>
                <a:cs typeface="Gabarito"/>
                <a:sym typeface="Gabarito"/>
              </a:rPr>
              <a:t>2</a:t>
            </a:r>
            <a:endParaRPr sz="3000">
              <a:solidFill>
                <a:srgbClr val="212121"/>
              </a:solidFill>
              <a:latin typeface="Gabarito"/>
              <a:ea typeface="Gabarito"/>
              <a:cs typeface="Gabarito"/>
              <a:sym typeface="Gabarito"/>
            </a:endParaRPr>
          </a:p>
        </p:txBody>
      </p:sp>
      <p:sp>
        <p:nvSpPr>
          <p:cNvPr id="478" name="Google Shape;478;g3f776df2723_1_55"/>
          <p:cNvSpPr/>
          <p:nvPr/>
        </p:nvSpPr>
        <p:spPr>
          <a:xfrm>
            <a:off x="13158975" y="5875850"/>
            <a:ext cx="14637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3000">
                <a:solidFill>
                  <a:srgbClr val="212121"/>
                </a:solidFill>
                <a:latin typeface="Gabarito"/>
                <a:ea typeface="Gabarito"/>
                <a:cs typeface="Gabarito"/>
                <a:sym typeface="Gabarito"/>
              </a:rPr>
              <a:t>Chunk 3</a:t>
            </a:r>
            <a:endParaRPr sz="3000">
              <a:solidFill>
                <a:srgbClr val="212121"/>
              </a:solidFill>
              <a:latin typeface="Gabarito"/>
              <a:ea typeface="Gabarito"/>
              <a:cs typeface="Gabarito"/>
              <a:sym typeface="Gabar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pic>
        <p:nvPicPr>
          <p:cNvPr descr="preencoded.png" id="484" name="Google Shape;484;g3f776df2723_1_100"/>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485" name="Google Shape;485;g3f776df2723_1_100"/>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486" name="Google Shape;486;g3f776df2723_1_100"/>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Fixed-Size Chunking Demonstration</a:t>
            </a:r>
            <a:endParaRPr b="0" i="0" sz="6000" u="none" cap="none" strike="noStrike">
              <a:solidFill>
                <a:schemeClr val="dk1"/>
              </a:solidFill>
              <a:latin typeface="Calibri"/>
              <a:ea typeface="Calibri"/>
              <a:cs typeface="Calibri"/>
              <a:sym typeface="Calibri"/>
            </a:endParaRPr>
          </a:p>
        </p:txBody>
      </p:sp>
      <p:sp>
        <p:nvSpPr>
          <p:cNvPr id="487" name="Google Shape;487;g3f776df2723_1_100"/>
          <p:cNvSpPr/>
          <p:nvPr/>
        </p:nvSpPr>
        <p:spPr>
          <a:xfrm>
            <a:off x="1047750" y="8037975"/>
            <a:ext cx="16192800" cy="1059000"/>
          </a:xfrm>
          <a:prstGeom prst="roundRect">
            <a:avLst>
              <a:gd fmla="val 14390"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f776df2723_1_100"/>
          <p:cNvSpPr/>
          <p:nvPr/>
        </p:nvSpPr>
        <p:spPr>
          <a:xfrm>
            <a:off x="1333500" y="8285175"/>
            <a:ext cx="15516900" cy="67800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FF9900"/>
              </a:buClr>
              <a:buSzPts val="1800"/>
              <a:buFont typeface="Gabarito"/>
              <a:buNone/>
            </a:pPr>
            <a:r>
              <a:rPr b="1" i="0" lang="en-US" sz="2400" u="none" cap="none" strike="noStrike">
                <a:solidFill>
                  <a:srgbClr val="FF9900"/>
                </a:solidFill>
                <a:latin typeface="Gabarito"/>
                <a:ea typeface="Gabarito"/>
                <a:cs typeface="Gabarito"/>
                <a:sym typeface="Gabarito"/>
              </a:rPr>
              <a:t>Try it yourself:</a:t>
            </a:r>
            <a:r>
              <a:rPr b="1" lang="en-US" sz="2400">
                <a:solidFill>
                  <a:srgbClr val="FF9900"/>
                </a:solidFill>
                <a:latin typeface="Gabarito"/>
                <a:ea typeface="Gabarito"/>
                <a:cs typeface="Gabarito"/>
                <a:sym typeface="Gabarito"/>
              </a:rPr>
              <a:t> </a:t>
            </a:r>
            <a:r>
              <a:rPr lang="en-US" sz="2400">
                <a:solidFill>
                  <a:srgbClr val="5B5B5B"/>
                </a:solidFill>
                <a:latin typeface="Gabarito"/>
                <a:ea typeface="Gabarito"/>
                <a:cs typeface="Gabarito"/>
                <a:sym typeface="Gabarito"/>
              </a:rPr>
              <a:t>change size=40 to something bigger or smaller and re-run — watch where the cuts land differently</a:t>
            </a:r>
            <a:endParaRPr sz="2400">
              <a:solidFill>
                <a:srgbClr val="5B5B5B"/>
              </a:solidFill>
              <a:latin typeface="Gabarito"/>
              <a:ea typeface="Gabarito"/>
              <a:cs typeface="Gabarito"/>
              <a:sym typeface="Gabarito"/>
            </a:endParaRPr>
          </a:p>
          <a:p>
            <a:pPr indent="0" lvl="0" marL="0" marR="0" rtl="0" algn="l">
              <a:lnSpc>
                <a:spcPct val="115862"/>
              </a:lnSpc>
              <a:spcBef>
                <a:spcPts val="0"/>
              </a:spcBef>
              <a:spcAft>
                <a:spcPts val="0"/>
              </a:spcAft>
              <a:buClr>
                <a:srgbClr val="FF9900"/>
              </a:buClr>
              <a:buSzPts val="1800"/>
              <a:buFont typeface="Gabarito"/>
              <a:buNone/>
            </a:pPr>
            <a:r>
              <a:t/>
            </a:r>
            <a:endParaRPr sz="2400">
              <a:solidFill>
                <a:srgbClr val="4C5A33"/>
              </a:solidFill>
              <a:latin typeface="JetBrains Mono"/>
              <a:ea typeface="JetBrains Mono"/>
              <a:cs typeface="JetBrains Mono"/>
              <a:sym typeface="JetBrains Mono"/>
            </a:endParaRPr>
          </a:p>
          <a:p>
            <a:pPr indent="0" lvl="0" marL="0" marR="0" rtl="0" algn="l">
              <a:lnSpc>
                <a:spcPct val="115862"/>
              </a:lnSpc>
              <a:spcBef>
                <a:spcPts val="0"/>
              </a:spcBef>
              <a:spcAft>
                <a:spcPts val="0"/>
              </a:spcAft>
              <a:buClr>
                <a:srgbClr val="FF9900"/>
              </a:buClr>
              <a:buSzPts val="1800"/>
              <a:buFont typeface="Gabarito"/>
              <a:buNone/>
            </a:pPr>
            <a:r>
              <a:t/>
            </a:r>
            <a:endParaRPr sz="2400">
              <a:solidFill>
                <a:srgbClr val="4C5A33"/>
              </a:solidFill>
              <a:latin typeface="JetBrains Mono"/>
              <a:ea typeface="JetBrains Mono"/>
              <a:cs typeface="JetBrains Mono"/>
              <a:sym typeface="JetBrains Mono"/>
            </a:endParaRPr>
          </a:p>
          <a:p>
            <a:pPr indent="0" lvl="0" marL="0" marR="0" rtl="0" algn="l">
              <a:lnSpc>
                <a:spcPct val="115862"/>
              </a:lnSpc>
              <a:spcBef>
                <a:spcPts val="0"/>
              </a:spcBef>
              <a:spcAft>
                <a:spcPts val="0"/>
              </a:spcAft>
              <a:buClr>
                <a:srgbClr val="FF9900"/>
              </a:buClr>
              <a:buSzPts val="1800"/>
              <a:buFont typeface="Gabarito"/>
              <a:buNone/>
            </a:pPr>
            <a:r>
              <a:t/>
            </a:r>
            <a:endParaRPr sz="2400">
              <a:solidFill>
                <a:srgbClr val="5B5B5B"/>
              </a:solidFill>
              <a:latin typeface="Gabarito"/>
              <a:ea typeface="Gabarito"/>
              <a:cs typeface="Gabarito"/>
              <a:sym typeface="Gabarito"/>
            </a:endParaRPr>
          </a:p>
        </p:txBody>
      </p:sp>
      <p:sp>
        <p:nvSpPr>
          <p:cNvPr id="489" name="Google Shape;489;g3f776df2723_1_100"/>
          <p:cNvSpPr/>
          <p:nvPr/>
        </p:nvSpPr>
        <p:spPr>
          <a:xfrm>
            <a:off x="1047750" y="2625575"/>
            <a:ext cx="7905900" cy="4787400"/>
          </a:xfrm>
          <a:prstGeom prst="roundRect">
            <a:avLst>
              <a:gd fmla="val 4618"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f776df2723_1_100"/>
          <p:cNvSpPr/>
          <p:nvPr/>
        </p:nvSpPr>
        <p:spPr>
          <a:xfrm>
            <a:off x="1047750" y="2625575"/>
            <a:ext cx="7905900" cy="590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f776df2723_1_100"/>
          <p:cNvSpPr/>
          <p:nvPr/>
        </p:nvSpPr>
        <p:spPr>
          <a:xfrm>
            <a:off x="1295400" y="2854175"/>
            <a:ext cx="133500" cy="1335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g3f776df2723_1_100"/>
          <p:cNvSpPr/>
          <p:nvPr/>
        </p:nvSpPr>
        <p:spPr>
          <a:xfrm>
            <a:off x="1524000" y="2854175"/>
            <a:ext cx="133500" cy="1335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f776df2723_1_100"/>
          <p:cNvSpPr/>
          <p:nvPr/>
        </p:nvSpPr>
        <p:spPr>
          <a:xfrm>
            <a:off x="1752600" y="2854175"/>
            <a:ext cx="133500" cy="1335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f776df2723_1_100"/>
          <p:cNvSpPr/>
          <p:nvPr/>
        </p:nvSpPr>
        <p:spPr>
          <a:xfrm>
            <a:off x="2114550" y="2758925"/>
            <a:ext cx="20430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1875"/>
              <a:buFont typeface="JetBrains Mono"/>
              <a:buNone/>
            </a:pPr>
            <a:r>
              <a:rPr b="0" i="0" lang="en-US" sz="1875" u="none" cap="none" strike="noStrike">
                <a:solidFill>
                  <a:srgbClr val="9AA0A6"/>
                </a:solidFill>
                <a:latin typeface="JetBrains Mono"/>
                <a:ea typeface="JetBrains Mono"/>
                <a:cs typeface="JetBrains Mono"/>
                <a:sym typeface="JetBrains Mono"/>
              </a:rPr>
              <a:t>fixed_size.py</a:t>
            </a:r>
            <a:endParaRPr b="0" i="0" sz="1875" u="none" cap="none" strike="noStrike">
              <a:solidFill>
                <a:srgbClr val="000000"/>
              </a:solidFill>
              <a:latin typeface="Calibri"/>
              <a:ea typeface="Calibri"/>
              <a:cs typeface="Calibri"/>
              <a:sym typeface="Calibri"/>
            </a:endParaRPr>
          </a:p>
        </p:txBody>
      </p:sp>
      <p:sp>
        <p:nvSpPr>
          <p:cNvPr id="495" name="Google Shape;495;g3f776df2723_1_100"/>
          <p:cNvSpPr/>
          <p:nvPr/>
        </p:nvSpPr>
        <p:spPr>
          <a:xfrm>
            <a:off x="1352550" y="3480875"/>
            <a:ext cx="8025900" cy="2917800"/>
          </a:xfrm>
          <a:prstGeom prst="rect">
            <a:avLst/>
          </a:prstGeom>
          <a:noFill/>
          <a:ln>
            <a:noFill/>
          </a:ln>
        </p:spPr>
        <p:txBody>
          <a:bodyPr anchorCtr="0" anchor="t" bIns="25400" lIns="25400" spcFirstLastPara="1" rIns="25400" wrap="square" tIns="25400">
            <a:noAutofit/>
          </a:bodyPr>
          <a:lstStyle/>
          <a:p>
            <a:pPr indent="0" lvl="0" marL="0" rtl="0" algn="l">
              <a:lnSpc>
                <a:spcPct val="150000"/>
              </a:lnSpc>
              <a:spcBef>
                <a:spcPts val="0"/>
              </a:spcBef>
              <a:spcAft>
                <a:spcPts val="0"/>
              </a:spcAft>
              <a:buClr>
                <a:srgbClr val="C792EA"/>
              </a:buClr>
              <a:buSzPts val="1875"/>
              <a:buFont typeface="JetBrains Mono"/>
              <a:buNone/>
            </a:pPr>
            <a:r>
              <a:rPr lang="en-US" sz="1875">
                <a:solidFill>
                  <a:srgbClr val="C792EA"/>
                </a:solidFill>
                <a:latin typeface="JetBrains Mono"/>
                <a:ea typeface="JetBrains Mono"/>
                <a:cs typeface="JetBrains Mono"/>
                <a:sym typeface="JetBrains Mono"/>
              </a:rPr>
              <a:t>def </a:t>
            </a:r>
            <a:r>
              <a:rPr lang="en-US" sz="1875">
                <a:solidFill>
                  <a:srgbClr val="E8EAED"/>
                </a:solidFill>
                <a:latin typeface="JetBrains Mono"/>
                <a:ea typeface="JetBrains Mono"/>
                <a:cs typeface="JetBrains Mono"/>
                <a:sym typeface="JetBrains Mono"/>
              </a:rPr>
              <a:t>fixed_size_chunk(text, source, size=</a:t>
            </a:r>
            <a:r>
              <a:rPr lang="en-US" sz="1875">
                <a:solidFill>
                  <a:srgbClr val="F0B45C"/>
                </a:solidFill>
                <a:latin typeface="JetBrains Mono"/>
                <a:ea typeface="JetBrains Mono"/>
                <a:cs typeface="JetBrains Mono"/>
                <a:sym typeface="JetBrains Mono"/>
              </a:rPr>
              <a:t>40</a:t>
            </a:r>
            <a:r>
              <a:rPr lang="en-US" sz="1875">
                <a:solidFill>
                  <a:srgbClr val="E8EAED"/>
                </a:solidFill>
                <a:latin typeface="JetBrains Mono"/>
                <a:ea typeface="JetBrains Mono"/>
                <a:cs typeface="JetBrains Mono"/>
                <a:sym typeface="JetBrains Mono"/>
              </a:rPr>
              <a:t>):</a:t>
            </a:r>
            <a:endParaRPr sz="1875">
              <a:solidFill>
                <a:srgbClr val="E8EAED"/>
              </a:solidFill>
              <a:latin typeface="JetBrains Mono"/>
              <a:ea typeface="JetBrains Mono"/>
              <a:cs typeface="JetBrains Mono"/>
              <a:sym typeface="JetBrains Mono"/>
            </a:endParaRPr>
          </a:p>
          <a:p>
            <a:pPr indent="0" lvl="0" marL="457200" marR="0" rtl="0" algn="l">
              <a:lnSpc>
                <a:spcPct val="150000"/>
              </a:lnSpc>
              <a:spcBef>
                <a:spcPts val="0"/>
              </a:spcBef>
              <a:spcAft>
                <a:spcPts val="0"/>
              </a:spcAft>
              <a:buClr>
                <a:srgbClr val="C792EA"/>
              </a:buClr>
              <a:buSzPts val="1875"/>
              <a:buFont typeface="JetBrains Mono"/>
              <a:buNone/>
            </a:pPr>
            <a:r>
              <a:rPr lang="en-US" sz="1875">
                <a:solidFill>
                  <a:srgbClr val="E8EAED"/>
                </a:solidFill>
                <a:latin typeface="JetBrains Mono"/>
                <a:ea typeface="JetBrains Mono"/>
                <a:cs typeface="JetBrains Mono"/>
                <a:sym typeface="JetBrains Mono"/>
              </a:rPr>
              <a:t>chunks = []</a:t>
            </a:r>
            <a:endParaRPr sz="1875">
              <a:solidFill>
                <a:srgbClr val="E8EAED"/>
              </a:solidFill>
              <a:latin typeface="JetBrains Mono"/>
              <a:ea typeface="JetBrains Mono"/>
              <a:cs typeface="JetBrains Mono"/>
              <a:sym typeface="JetBrains Mono"/>
            </a:endParaRPr>
          </a:p>
          <a:p>
            <a:pPr indent="457200" lvl="0" marL="0" rtl="0" algn="l">
              <a:lnSpc>
                <a:spcPct val="150000"/>
              </a:lnSpc>
              <a:spcBef>
                <a:spcPts val="0"/>
              </a:spcBef>
              <a:spcAft>
                <a:spcPts val="0"/>
              </a:spcAft>
              <a:buClr>
                <a:srgbClr val="C792EA"/>
              </a:buClr>
              <a:buSzPts val="1875"/>
              <a:buFont typeface="JetBrains Mono"/>
              <a:buNone/>
            </a:pPr>
            <a:r>
              <a:rPr lang="en-US" sz="1875">
                <a:solidFill>
                  <a:srgbClr val="C792EA"/>
                </a:solidFill>
                <a:latin typeface="JetBrains Mono"/>
                <a:ea typeface="JetBrains Mono"/>
                <a:cs typeface="JetBrains Mono"/>
                <a:sym typeface="JetBrains Mono"/>
              </a:rPr>
              <a:t>for </a:t>
            </a:r>
            <a:r>
              <a:rPr lang="en-US" sz="1875">
                <a:solidFill>
                  <a:srgbClr val="E8EAED"/>
                </a:solidFill>
                <a:latin typeface="JetBrains Mono"/>
                <a:ea typeface="JetBrains Mono"/>
                <a:cs typeface="JetBrains Mono"/>
                <a:sym typeface="JetBrains Mono"/>
              </a:rPr>
              <a:t>i</a:t>
            </a:r>
            <a:r>
              <a:rPr lang="en-US" sz="1875">
                <a:solidFill>
                  <a:srgbClr val="9AA0A6"/>
                </a:solidFill>
                <a:latin typeface="JetBrains Mono"/>
                <a:ea typeface="JetBrains Mono"/>
                <a:cs typeface="JetBrains Mono"/>
                <a:sym typeface="JetBrains Mono"/>
              </a:rPr>
              <a:t> </a:t>
            </a:r>
            <a:r>
              <a:rPr lang="en-US" sz="1875">
                <a:solidFill>
                  <a:srgbClr val="C792EA"/>
                </a:solidFill>
                <a:latin typeface="JetBrains Mono"/>
                <a:ea typeface="JetBrains Mono"/>
                <a:cs typeface="JetBrains Mono"/>
                <a:sym typeface="JetBrains Mono"/>
              </a:rPr>
              <a:t>in</a:t>
            </a:r>
            <a:r>
              <a:rPr lang="en-US" sz="1875">
                <a:solidFill>
                  <a:srgbClr val="E8EAED"/>
                </a:solidFill>
                <a:latin typeface="JetBrains Mono"/>
                <a:ea typeface="JetBrains Mono"/>
                <a:cs typeface="JetBrains Mono"/>
                <a:sym typeface="JetBrains Mono"/>
              </a:rPr>
              <a:t> range(0, len(text), size):</a:t>
            </a:r>
            <a:endParaRPr sz="1875">
              <a:solidFill>
                <a:srgbClr val="E8EAED"/>
              </a:solidFill>
              <a:latin typeface="JetBrains Mono"/>
              <a:ea typeface="JetBrains Mono"/>
              <a:cs typeface="JetBrains Mono"/>
              <a:sym typeface="JetBrains Mono"/>
            </a:endParaRPr>
          </a:p>
          <a:p>
            <a:pPr indent="0" lvl="0" marL="914400" marR="0" rtl="0" algn="l">
              <a:lnSpc>
                <a:spcPct val="150000"/>
              </a:lnSpc>
              <a:spcBef>
                <a:spcPts val="0"/>
              </a:spcBef>
              <a:spcAft>
                <a:spcPts val="0"/>
              </a:spcAft>
              <a:buClr>
                <a:srgbClr val="C792EA"/>
              </a:buClr>
              <a:buSzPts val="1875"/>
              <a:buFont typeface="JetBrains Mono"/>
              <a:buNone/>
            </a:pPr>
            <a:r>
              <a:rPr lang="en-US" sz="1875">
                <a:solidFill>
                  <a:srgbClr val="E8EAED"/>
                </a:solidFill>
                <a:latin typeface="JetBrains Mono"/>
                <a:ea typeface="JetBrains Mono"/>
                <a:cs typeface="JetBrains Mono"/>
                <a:sym typeface="JetBrains Mono"/>
              </a:rPr>
              <a:t>piece = text[i : i + size]</a:t>
            </a:r>
            <a:endParaRPr sz="1875">
              <a:solidFill>
                <a:srgbClr val="E8EAED"/>
              </a:solidFill>
              <a:latin typeface="JetBrains Mono"/>
              <a:ea typeface="JetBrains Mono"/>
              <a:cs typeface="JetBrains Mono"/>
              <a:sym typeface="JetBrains Mono"/>
            </a:endParaRPr>
          </a:p>
          <a:p>
            <a:pPr indent="0" lvl="0" marL="914400" marR="0" rtl="0" algn="l">
              <a:lnSpc>
                <a:spcPct val="150000"/>
              </a:lnSpc>
              <a:spcBef>
                <a:spcPts val="0"/>
              </a:spcBef>
              <a:spcAft>
                <a:spcPts val="0"/>
              </a:spcAft>
              <a:buClr>
                <a:srgbClr val="C792EA"/>
              </a:buClr>
              <a:buSzPts val="1875"/>
              <a:buFont typeface="JetBrains Mono"/>
              <a:buNone/>
            </a:pPr>
            <a:r>
              <a:rPr lang="en-US" sz="1875">
                <a:solidFill>
                  <a:srgbClr val="E8EAED"/>
                </a:solidFill>
                <a:latin typeface="JetBrains Mono"/>
                <a:ea typeface="JetBrains Mono"/>
                <a:cs typeface="JetBrains Mono"/>
                <a:sym typeface="JetBrains Mono"/>
              </a:rPr>
              <a:t>chunk_id = f”</a:t>
            </a:r>
            <a:r>
              <a:rPr lang="en-US" sz="1875">
                <a:solidFill>
                  <a:schemeClr val="accent4"/>
                </a:solidFill>
                <a:latin typeface="JetBrains Mono"/>
                <a:ea typeface="JetBrains Mono"/>
                <a:cs typeface="JetBrains Mono"/>
                <a:sym typeface="JetBrains Mono"/>
              </a:rPr>
              <a:t>{source}::chunk_{len(chunks)}</a:t>
            </a:r>
            <a:r>
              <a:rPr lang="en-US" sz="1875">
                <a:solidFill>
                  <a:srgbClr val="E8EAED"/>
                </a:solidFill>
                <a:latin typeface="JetBrains Mono"/>
                <a:ea typeface="JetBrains Mono"/>
                <a:cs typeface="JetBrains Mono"/>
                <a:sym typeface="JetBrains Mono"/>
              </a:rPr>
              <a:t>”</a:t>
            </a:r>
            <a:endParaRPr sz="1875">
              <a:solidFill>
                <a:srgbClr val="E8EAED"/>
              </a:solidFill>
              <a:latin typeface="JetBrains Mono"/>
              <a:ea typeface="JetBrains Mono"/>
              <a:cs typeface="JetBrains Mono"/>
              <a:sym typeface="JetBrains Mono"/>
            </a:endParaRPr>
          </a:p>
          <a:p>
            <a:pPr indent="0" lvl="0" marL="914400" marR="0" rtl="0" algn="l">
              <a:lnSpc>
                <a:spcPct val="150000"/>
              </a:lnSpc>
              <a:spcBef>
                <a:spcPts val="0"/>
              </a:spcBef>
              <a:spcAft>
                <a:spcPts val="0"/>
              </a:spcAft>
              <a:buClr>
                <a:srgbClr val="C792EA"/>
              </a:buClr>
              <a:buSzPts val="1875"/>
              <a:buFont typeface="JetBrains Mono"/>
              <a:buNone/>
            </a:pPr>
            <a:r>
              <a:rPr lang="en-US" sz="1875">
                <a:solidFill>
                  <a:srgbClr val="E8EAED"/>
                </a:solidFill>
                <a:latin typeface="JetBrains Mono"/>
                <a:ea typeface="JetBrains Mono"/>
                <a:cs typeface="JetBrains Mono"/>
                <a:sym typeface="JetBrains Mono"/>
              </a:rPr>
              <a:t>chunks.append(Chunk(chunk_id=chunk_id, text=piece))</a:t>
            </a:r>
            <a:endParaRPr sz="1875">
              <a:solidFill>
                <a:srgbClr val="E8EAED"/>
              </a:solidFill>
              <a:latin typeface="JetBrains Mono"/>
              <a:ea typeface="JetBrains Mono"/>
              <a:cs typeface="JetBrains Mono"/>
              <a:sym typeface="JetBrains Mono"/>
            </a:endParaRPr>
          </a:p>
          <a:p>
            <a:pPr indent="457200" lvl="0" marL="0" marR="0" rtl="0" algn="l">
              <a:lnSpc>
                <a:spcPct val="150000"/>
              </a:lnSpc>
              <a:spcBef>
                <a:spcPts val="0"/>
              </a:spcBef>
              <a:spcAft>
                <a:spcPts val="0"/>
              </a:spcAft>
              <a:buClr>
                <a:srgbClr val="9AA0A6"/>
              </a:buClr>
              <a:buSzPts val="1875"/>
              <a:buFont typeface="JetBrains Mono"/>
              <a:buNone/>
            </a:pPr>
            <a:r>
              <a:rPr lang="en-US" sz="1875">
                <a:solidFill>
                  <a:srgbClr val="C792EA"/>
                </a:solidFill>
                <a:latin typeface="JetBrains Mono"/>
                <a:ea typeface="JetBrains Mono"/>
                <a:cs typeface="JetBrains Mono"/>
                <a:sym typeface="JetBrains Mono"/>
              </a:rPr>
              <a:t>return</a:t>
            </a:r>
            <a:r>
              <a:rPr lang="en-US" sz="1875">
                <a:solidFill>
                  <a:srgbClr val="9AA0A6"/>
                </a:solidFill>
                <a:latin typeface="JetBrains Mono"/>
                <a:ea typeface="JetBrains Mono"/>
                <a:cs typeface="JetBrains Mono"/>
                <a:sym typeface="JetBrains Mono"/>
              </a:rPr>
              <a:t> chunks</a:t>
            </a:r>
            <a:endParaRPr sz="1875">
              <a:solidFill>
                <a:srgbClr val="9AA0A6"/>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9AA0A6"/>
              </a:buClr>
              <a:buSzPts val="1875"/>
              <a:buFont typeface="JetBrains Mono"/>
              <a:buNone/>
            </a:pPr>
            <a:r>
              <a:t/>
            </a:r>
            <a:endParaRPr sz="1875">
              <a:solidFill>
                <a:srgbClr val="9AA0A6"/>
              </a:solidFill>
              <a:latin typeface="JetBrains Mono"/>
              <a:ea typeface="JetBrains Mono"/>
              <a:cs typeface="JetBrains Mono"/>
              <a:sym typeface="JetBrains Mono"/>
            </a:endParaRPr>
          </a:p>
        </p:txBody>
      </p:sp>
      <p:sp>
        <p:nvSpPr>
          <p:cNvPr id="496" name="Google Shape;496;g3f776df2723_1_100"/>
          <p:cNvSpPr/>
          <p:nvPr/>
        </p:nvSpPr>
        <p:spPr>
          <a:xfrm>
            <a:off x="9334500" y="2608350"/>
            <a:ext cx="7905900" cy="4787400"/>
          </a:xfrm>
          <a:prstGeom prst="roundRect">
            <a:avLst>
              <a:gd fmla="val 4455" name="adj"/>
            </a:avLst>
          </a:prstGeom>
          <a:solidFill>
            <a:srgbClr val="FAF9F5"/>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f776df2723_1_100"/>
          <p:cNvSpPr/>
          <p:nvPr/>
        </p:nvSpPr>
        <p:spPr>
          <a:xfrm>
            <a:off x="9620250" y="2827200"/>
            <a:ext cx="73383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1875"/>
              <a:buFont typeface="Gabarito"/>
              <a:buNone/>
            </a:pPr>
            <a:r>
              <a:rPr b="1" i="0" lang="en-US" sz="2400" u="none" cap="none" strike="noStrike">
                <a:solidFill>
                  <a:srgbClr val="274D71"/>
                </a:solidFill>
                <a:latin typeface="Gabarito"/>
                <a:ea typeface="Gabarito"/>
                <a:cs typeface="Gabarito"/>
                <a:sym typeface="Gabarito"/>
              </a:rPr>
              <a:t>Result </a:t>
            </a:r>
            <a:r>
              <a:rPr b="1" lang="en-US" sz="2400">
                <a:solidFill>
                  <a:srgbClr val="274D71"/>
                </a:solidFill>
                <a:latin typeface="Gabarito"/>
                <a:ea typeface="Gabarito"/>
                <a:cs typeface="Gabarito"/>
                <a:sym typeface="Gabarito"/>
              </a:rPr>
              <a:t> </a:t>
            </a:r>
            <a:endParaRPr b="0" i="0" sz="2400" u="none" cap="none" strike="noStrike">
              <a:solidFill>
                <a:srgbClr val="000000"/>
              </a:solidFill>
              <a:latin typeface="Calibri"/>
              <a:ea typeface="Calibri"/>
              <a:cs typeface="Calibri"/>
              <a:sym typeface="Calibri"/>
            </a:endParaRPr>
          </a:p>
        </p:txBody>
      </p:sp>
      <p:sp>
        <p:nvSpPr>
          <p:cNvPr id="498" name="Google Shape;498;g3f776df2723_1_100"/>
          <p:cNvSpPr/>
          <p:nvPr/>
        </p:nvSpPr>
        <p:spPr>
          <a:xfrm>
            <a:off x="9620250" y="3479213"/>
            <a:ext cx="7230000" cy="2241600"/>
          </a:xfrm>
          <a:prstGeom prst="rect">
            <a:avLst/>
          </a:prstGeom>
          <a:noFill/>
          <a:ln>
            <a:noFill/>
          </a:ln>
        </p:spPr>
        <p:txBody>
          <a:bodyPr anchorCtr="0" anchor="t" bIns="25400" lIns="25400" spcFirstLastPara="1" rIns="25400" wrap="square" tIns="25400">
            <a:noAutofit/>
          </a:bodyPr>
          <a:lstStyle/>
          <a:p>
            <a:pPr indent="-338138" lvl="0" marL="457200" marR="0" rtl="0" algn="l">
              <a:lnSpc>
                <a:spcPct val="150000"/>
              </a:lnSpc>
              <a:spcBef>
                <a:spcPts val="0"/>
              </a:spcBef>
              <a:spcAft>
                <a:spcPts val="0"/>
              </a:spcAft>
              <a:buClr>
                <a:srgbClr val="78746A"/>
              </a:buClr>
              <a:buSzPts val="1725"/>
              <a:buFont typeface="JetBrains Mono"/>
              <a:buAutoNum type="arabicPeriod"/>
            </a:pPr>
            <a:r>
              <a:rPr lang="en-US" sz="1725">
                <a:solidFill>
                  <a:srgbClr val="78746A"/>
                </a:solidFill>
                <a:latin typeface="JetBrains Mono"/>
                <a:ea typeface="JetBrains Mono"/>
                <a:cs typeface="JetBrains Mono"/>
                <a:sym typeface="JetBrains Mono"/>
              </a:rPr>
              <a:t>[pets_example.txt::chunk_0] </a:t>
            </a:r>
            <a:r>
              <a:rPr b="1" lang="en-US" sz="1725">
                <a:solidFill>
                  <a:srgbClr val="1E4E79"/>
                </a:solidFill>
                <a:latin typeface="JetBrains Mono"/>
                <a:ea typeface="JetBrains Mono"/>
                <a:cs typeface="JetBrains Mono"/>
                <a:sym typeface="JetBrains Mono"/>
              </a:rPr>
              <a:t>“Dogs are loyal animals that</a:t>
            </a:r>
            <a:r>
              <a:rPr b="1" lang="en-US" sz="1725">
                <a:solidFill>
                  <a:srgbClr val="1E4E79"/>
                </a:solidFill>
                <a:latin typeface="JetBrains Mono"/>
                <a:ea typeface="JetBrains Mono"/>
                <a:cs typeface="JetBrains Mono"/>
                <a:sym typeface="JetBrains Mono"/>
              </a:rPr>
              <a:t> </a:t>
            </a:r>
            <a:r>
              <a:rPr b="1" lang="en-US" sz="1725">
                <a:solidFill>
                  <a:srgbClr val="1E4E79"/>
                </a:solidFill>
                <a:latin typeface="JetBrains Mono"/>
                <a:ea typeface="JetBrains Mono"/>
                <a:cs typeface="JetBrains Mono"/>
                <a:sym typeface="JetBrains Mono"/>
              </a:rPr>
              <a:t>have lived w”</a:t>
            </a:r>
            <a:endParaRPr b="1" sz="1725">
              <a:solidFill>
                <a:srgbClr val="1E4E79"/>
              </a:solidFill>
              <a:latin typeface="JetBrains Mono"/>
              <a:ea typeface="JetBrains Mono"/>
              <a:cs typeface="JetBrains Mono"/>
              <a:sym typeface="JetBrains Mono"/>
            </a:endParaRPr>
          </a:p>
          <a:p>
            <a:pPr indent="-338138" lvl="0" marL="457200" rtl="0" algn="l">
              <a:lnSpc>
                <a:spcPct val="150000"/>
              </a:lnSpc>
              <a:spcBef>
                <a:spcPts val="0"/>
              </a:spcBef>
              <a:spcAft>
                <a:spcPts val="0"/>
              </a:spcAft>
              <a:buClr>
                <a:srgbClr val="78746A"/>
              </a:buClr>
              <a:buSzPts val="1725"/>
              <a:buFont typeface="JetBrains Mono"/>
              <a:buAutoNum type="arabicPeriod"/>
            </a:pPr>
            <a:r>
              <a:rPr lang="en-US" sz="1725">
                <a:solidFill>
                  <a:srgbClr val="78746A"/>
                </a:solidFill>
                <a:latin typeface="JetBrains Mono"/>
                <a:ea typeface="JetBrains Mono"/>
                <a:cs typeface="JetBrains Mono"/>
                <a:sym typeface="JetBrains Mono"/>
              </a:rPr>
              <a:t>[pets_example.txt::chunk_1] </a:t>
            </a:r>
            <a:r>
              <a:rPr b="1" lang="en-US" sz="1725">
                <a:solidFill>
                  <a:srgbClr val="1E4E79"/>
                </a:solidFill>
                <a:latin typeface="JetBrains Mono"/>
                <a:ea typeface="JetBrains Mono"/>
                <a:cs typeface="JetBrains Mono"/>
                <a:sym typeface="JetBrains Mono"/>
              </a:rPr>
              <a:t>“ith humans for thousands of years. They ”</a:t>
            </a:r>
            <a:endParaRPr b="1" sz="1725">
              <a:solidFill>
                <a:srgbClr val="1E4E79"/>
              </a:solidFill>
              <a:latin typeface="JetBrains Mono"/>
              <a:ea typeface="JetBrains Mono"/>
              <a:cs typeface="JetBrains Mono"/>
              <a:sym typeface="JetBrains Mono"/>
            </a:endParaRPr>
          </a:p>
          <a:p>
            <a:pPr indent="-338138" lvl="0" marL="457200" rtl="0" algn="l">
              <a:lnSpc>
                <a:spcPct val="150000"/>
              </a:lnSpc>
              <a:spcBef>
                <a:spcPts val="0"/>
              </a:spcBef>
              <a:spcAft>
                <a:spcPts val="0"/>
              </a:spcAft>
              <a:buClr>
                <a:srgbClr val="78746A"/>
              </a:buClr>
              <a:buSzPts val="1725"/>
              <a:buFont typeface="JetBrains Mono"/>
              <a:buAutoNum type="arabicPeriod"/>
            </a:pPr>
            <a:r>
              <a:rPr lang="en-US" sz="1725">
                <a:solidFill>
                  <a:srgbClr val="78746A"/>
                </a:solidFill>
                <a:latin typeface="JetBrains Mono"/>
                <a:ea typeface="JetBrains Mono"/>
                <a:cs typeface="JetBrains Mono"/>
                <a:sym typeface="JetBrains Mono"/>
              </a:rPr>
              <a:t>[pets_example.txt::chunk_2] </a:t>
            </a:r>
            <a:r>
              <a:rPr b="1" lang="en-US" sz="1725">
                <a:solidFill>
                  <a:srgbClr val="1E4E79"/>
                </a:solidFill>
                <a:latin typeface="JetBrains Mono"/>
                <a:ea typeface="JetBrains Mono"/>
                <a:cs typeface="JetBrains Mono"/>
                <a:sym typeface="JetBrains Mono"/>
              </a:rPr>
              <a:t>“can be trained to do helpful tasks, like”</a:t>
            </a:r>
            <a:endParaRPr b="1" sz="1725">
              <a:solidFill>
                <a:srgbClr val="1E4E79"/>
              </a:solidFill>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pic>
        <p:nvPicPr>
          <p:cNvPr descr="preencoded.png" id="504" name="Google Shape;504;p21"/>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505" name="Google Shape;505;p21"/>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506" name="Google Shape;506;p21"/>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Recursive Chunking</a:t>
            </a:r>
            <a:endParaRPr b="0" i="0" sz="6000" u="none" cap="none" strike="noStrike">
              <a:solidFill>
                <a:schemeClr val="dk1"/>
              </a:solidFill>
              <a:latin typeface="Calibri"/>
              <a:ea typeface="Calibri"/>
              <a:cs typeface="Calibri"/>
              <a:sym typeface="Calibri"/>
            </a:endParaRPr>
          </a:p>
        </p:txBody>
      </p:sp>
      <p:sp>
        <p:nvSpPr>
          <p:cNvPr id="507" name="Google Shape;507;p21"/>
          <p:cNvSpPr/>
          <p:nvPr/>
        </p:nvSpPr>
        <p:spPr>
          <a:xfrm>
            <a:off x="1047751" y="2188368"/>
            <a:ext cx="14725650" cy="938213"/>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2700">
                <a:solidFill>
                  <a:srgbClr val="212121"/>
                </a:solidFill>
                <a:latin typeface="Gabarito"/>
                <a:ea typeface="Gabarito"/>
                <a:cs typeface="Gabarito"/>
                <a:sym typeface="Gabarito"/>
              </a:rPr>
              <a:t>Tries to cut at the most natural break first - paragraph then sentence - and only move to a smaller break if the chunk is still too big. It also does </a:t>
            </a:r>
            <a:r>
              <a:rPr b="1" lang="en-US" sz="2700">
                <a:solidFill>
                  <a:srgbClr val="212121"/>
                </a:solidFill>
                <a:latin typeface="Gabarito"/>
                <a:ea typeface="Gabarito"/>
                <a:cs typeface="Gabarito"/>
                <a:sym typeface="Gabarito"/>
              </a:rPr>
              <a:t>chunk overlap </a:t>
            </a:r>
            <a:r>
              <a:rPr lang="en-US" sz="2700">
                <a:solidFill>
                  <a:srgbClr val="212121"/>
                </a:solidFill>
                <a:latin typeface="Gabarito"/>
                <a:ea typeface="Gabarito"/>
                <a:cs typeface="Gabarito"/>
                <a:sym typeface="Gabarito"/>
              </a:rPr>
              <a:t>so it does not cut in the middle of a sentence</a:t>
            </a:r>
            <a:endParaRPr sz="2700">
              <a:solidFill>
                <a:srgbClr val="212121"/>
              </a:solidFill>
              <a:latin typeface="Gabarito"/>
              <a:ea typeface="Gabarito"/>
              <a:cs typeface="Gabarito"/>
              <a:sym typeface="Gabarito"/>
            </a:endParaRPr>
          </a:p>
        </p:txBody>
      </p:sp>
      <p:sp>
        <p:nvSpPr>
          <p:cNvPr id="508" name="Google Shape;508;p21"/>
          <p:cNvSpPr/>
          <p:nvPr/>
        </p:nvSpPr>
        <p:spPr>
          <a:xfrm>
            <a:off x="1047750" y="3548075"/>
            <a:ext cx="16192500" cy="2352600"/>
          </a:xfrm>
          <a:prstGeom prst="roundRect">
            <a:avLst>
              <a:gd fmla="val 6478"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21"/>
          <p:cNvSpPr/>
          <p:nvPr/>
        </p:nvSpPr>
        <p:spPr>
          <a:xfrm>
            <a:off x="1314450" y="3800688"/>
            <a:ext cx="8214300" cy="390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325"/>
              <a:buFont typeface="Gabarito"/>
              <a:buNone/>
            </a:pPr>
            <a:r>
              <a:rPr b="1" i="0" lang="en-US" sz="2425" u="none" cap="none" strike="noStrike">
                <a:solidFill>
                  <a:srgbClr val="274D71"/>
                </a:solidFill>
                <a:latin typeface="Gabarito"/>
                <a:ea typeface="Gabarito"/>
                <a:cs typeface="Gabarito"/>
                <a:sym typeface="Gabarito"/>
              </a:rPr>
              <a:t>CHARACTERISTICS</a:t>
            </a:r>
            <a:endParaRPr b="0" i="0" sz="2425" u="none" cap="none" strike="noStrike">
              <a:solidFill>
                <a:schemeClr val="dk1"/>
              </a:solidFill>
              <a:latin typeface="Calibri"/>
              <a:ea typeface="Calibri"/>
              <a:cs typeface="Calibri"/>
              <a:sym typeface="Calibri"/>
            </a:endParaRPr>
          </a:p>
        </p:txBody>
      </p:sp>
      <p:sp>
        <p:nvSpPr>
          <p:cNvPr id="510" name="Google Shape;510;p21"/>
          <p:cNvSpPr/>
          <p:nvPr/>
        </p:nvSpPr>
        <p:spPr>
          <a:xfrm>
            <a:off x="1314450" y="4418263"/>
            <a:ext cx="11358000" cy="7620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4C5A33"/>
              </a:buClr>
              <a:buSzPts val="2250"/>
              <a:buFont typeface="Gabarito"/>
              <a:buNone/>
            </a:pPr>
            <a:r>
              <a:rPr b="0" i="0" lang="en-US" sz="2350" u="none" cap="none" strike="noStrike">
                <a:solidFill>
                  <a:srgbClr val="4C5A33"/>
                </a:solidFill>
                <a:latin typeface="Gabarito"/>
                <a:ea typeface="Gabarito"/>
                <a:cs typeface="Gabarito"/>
                <a:sym typeface="Gabarito"/>
              </a:rPr>
              <a:t>✓ Keeps every sentence whole </a:t>
            </a:r>
            <a:r>
              <a:rPr lang="en-US" sz="2350">
                <a:solidFill>
                  <a:srgbClr val="4C5A33"/>
                </a:solidFill>
                <a:latin typeface="Gabarito"/>
                <a:ea typeface="Gabarito"/>
                <a:cs typeface="Gabarito"/>
                <a:sym typeface="Gabarito"/>
              </a:rPr>
              <a:t>-</a:t>
            </a:r>
            <a:r>
              <a:rPr b="0" i="0" lang="en-US" sz="2350" u="none" cap="none" strike="noStrike">
                <a:solidFill>
                  <a:srgbClr val="4C5A33"/>
                </a:solidFill>
                <a:latin typeface="Gabarito"/>
                <a:ea typeface="Gabarito"/>
                <a:cs typeface="Gabarito"/>
                <a:sym typeface="Gabarito"/>
              </a:rPr>
              <a:t> cuts happen only at sentence gaps</a:t>
            </a:r>
            <a:endParaRPr b="0" i="0" sz="2350" u="none" cap="none" strike="noStrike">
              <a:solidFill>
                <a:srgbClr val="4C5A33"/>
              </a:solidFill>
              <a:latin typeface="Gabarito"/>
              <a:ea typeface="Gabarito"/>
              <a:cs typeface="Gabarito"/>
              <a:sym typeface="Gabarito"/>
            </a:endParaRPr>
          </a:p>
          <a:p>
            <a:pPr indent="0" lvl="0" marL="0" rtl="0" algn="l">
              <a:lnSpc>
                <a:spcPct val="150000"/>
              </a:lnSpc>
              <a:spcBef>
                <a:spcPts val="0"/>
              </a:spcBef>
              <a:spcAft>
                <a:spcPts val="0"/>
              </a:spcAft>
              <a:buClr>
                <a:srgbClr val="4C5A33"/>
              </a:buClr>
              <a:buSzPts val="2250"/>
              <a:buFont typeface="Gabarito"/>
              <a:buNone/>
            </a:pPr>
            <a:r>
              <a:rPr lang="en-US" sz="2350">
                <a:solidFill>
                  <a:srgbClr val="4C5A33"/>
                </a:solidFill>
                <a:latin typeface="Gabarito"/>
                <a:ea typeface="Gabarito"/>
                <a:cs typeface="Gabarito"/>
                <a:sym typeface="Gabarito"/>
              </a:rPr>
              <a:t>✓ Falls back to a smaller break only when needed to fit the size limit</a:t>
            </a:r>
            <a:endParaRPr sz="235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4C5A33"/>
              </a:buClr>
              <a:buSzPts val="2250"/>
              <a:buFont typeface="Gabarito"/>
              <a:buNone/>
            </a:pPr>
            <a:r>
              <a:t/>
            </a:r>
            <a:endParaRPr sz="2350">
              <a:solidFill>
                <a:srgbClr val="4C5A33"/>
              </a:solidFill>
              <a:latin typeface="Gabarito"/>
              <a:ea typeface="Gabarito"/>
              <a:cs typeface="Gabarito"/>
              <a:sym typeface="Gabarito"/>
            </a:endParaRPr>
          </a:p>
        </p:txBody>
      </p:sp>
      <p:sp>
        <p:nvSpPr>
          <p:cNvPr id="511" name="Google Shape;511;p21"/>
          <p:cNvSpPr/>
          <p:nvPr/>
        </p:nvSpPr>
        <p:spPr>
          <a:xfrm>
            <a:off x="1047750" y="6144225"/>
            <a:ext cx="16192500" cy="1085700"/>
          </a:xfrm>
          <a:prstGeom prst="roundRect">
            <a:avLst>
              <a:gd fmla="val 14815"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1"/>
          <p:cNvSpPr/>
          <p:nvPr/>
        </p:nvSpPr>
        <p:spPr>
          <a:xfrm>
            <a:off x="1314450" y="6471950"/>
            <a:ext cx="133458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250"/>
              <a:buFont typeface="Gabarito"/>
              <a:buNone/>
            </a:pPr>
            <a:r>
              <a:rPr b="1" i="0" lang="en-US" sz="2400" u="none" cap="none" strike="noStrike">
                <a:solidFill>
                  <a:srgbClr val="035595"/>
                </a:solidFill>
                <a:latin typeface="Gabarito"/>
                <a:ea typeface="Gabarito"/>
                <a:cs typeface="Gabarito"/>
                <a:sym typeface="Gabarito"/>
              </a:rPr>
              <a:t>Best for: </a:t>
            </a:r>
            <a:r>
              <a:rPr b="0" i="0" lang="en-US" sz="2400" u="none" cap="none" strike="noStrike">
                <a:solidFill>
                  <a:srgbClr val="37474F"/>
                </a:solidFill>
                <a:latin typeface="Gabarito"/>
                <a:ea typeface="Gabarito"/>
                <a:cs typeface="Gabarito"/>
                <a:sym typeface="Gabarito"/>
              </a:rPr>
              <a:t>most real documents</a:t>
            </a:r>
            <a:r>
              <a:rPr lang="en-US" sz="2400">
                <a:solidFill>
                  <a:srgbClr val="37474F"/>
                </a:solidFill>
                <a:latin typeface="Gabarito"/>
                <a:ea typeface="Gabarito"/>
                <a:cs typeface="Gabarito"/>
                <a:sym typeface="Gabarito"/>
              </a:rPr>
              <a:t> - </a:t>
            </a:r>
            <a:r>
              <a:rPr b="0" i="0" lang="en-US" sz="2400" u="none" cap="none" strike="noStrike">
                <a:solidFill>
                  <a:srgbClr val="37474F"/>
                </a:solidFill>
                <a:latin typeface="Gabarito"/>
                <a:ea typeface="Gabarito"/>
                <a:cs typeface="Gabarito"/>
                <a:sym typeface="Gabarito"/>
              </a:rPr>
              <a:t>this is the usual default choice.</a:t>
            </a:r>
            <a:endParaRPr b="0" i="0" sz="2400" u="none" cap="none" strike="noStrike">
              <a:solidFill>
                <a:schemeClr val="dk1"/>
              </a:solidFill>
              <a:latin typeface="Calibri"/>
              <a:ea typeface="Calibri"/>
              <a:cs typeface="Calibri"/>
              <a:sym typeface="Calibri"/>
            </a:endParaRPr>
          </a:p>
        </p:txBody>
      </p:sp>
      <p:sp>
        <p:nvSpPr>
          <p:cNvPr id="513" name="Google Shape;513;p21"/>
          <p:cNvSpPr/>
          <p:nvPr/>
        </p:nvSpPr>
        <p:spPr>
          <a:xfrm>
            <a:off x="1047750" y="7538534"/>
            <a:ext cx="16192500" cy="1503000"/>
          </a:xfrm>
          <a:prstGeom prst="roundRect">
            <a:avLst>
              <a:gd fmla="val 10141"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1"/>
          <p:cNvSpPr/>
          <p:nvPr/>
        </p:nvSpPr>
        <p:spPr>
          <a:xfrm>
            <a:off x="1314449" y="7751657"/>
            <a:ext cx="15840000" cy="824400"/>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D97D00"/>
              </a:buClr>
              <a:buSzPts val="2175"/>
              <a:buFont typeface="Gabarito"/>
              <a:buNone/>
            </a:pPr>
            <a:r>
              <a:rPr b="1" i="0" lang="en-US" sz="2400" u="none" cap="none" strike="noStrike">
                <a:solidFill>
                  <a:srgbClr val="D97D00"/>
                </a:solidFill>
                <a:latin typeface="Gabarito"/>
                <a:ea typeface="Gabarito"/>
                <a:cs typeface="Gabarito"/>
                <a:sym typeface="Gabarito"/>
              </a:rPr>
              <a:t>Why it matters: </a:t>
            </a:r>
            <a:r>
              <a:rPr lang="en-US" sz="2400">
                <a:solidFill>
                  <a:srgbClr val="5B5B5B"/>
                </a:solidFill>
                <a:latin typeface="Gabarito"/>
                <a:ea typeface="Gabarito"/>
                <a:cs typeface="Gabarito"/>
                <a:sym typeface="Gabarito"/>
              </a:rPr>
              <a:t>M</a:t>
            </a:r>
            <a:r>
              <a:rPr b="0" i="0" lang="en-US" sz="2400" u="none" cap="none" strike="noStrike">
                <a:solidFill>
                  <a:srgbClr val="5B5B5B"/>
                </a:solidFill>
                <a:latin typeface="Gabarito"/>
                <a:ea typeface="Gabarito"/>
                <a:cs typeface="Gabarito"/>
                <a:sym typeface="Gabarito"/>
              </a:rPr>
              <a:t>ost RAG applications start here</a:t>
            </a:r>
            <a:r>
              <a:rPr lang="en-US" sz="2400">
                <a:solidFill>
                  <a:srgbClr val="5B5B5B"/>
                </a:solidFill>
                <a:latin typeface="Gabarito"/>
                <a:ea typeface="Gabarito"/>
                <a:cs typeface="Gabarito"/>
                <a:sym typeface="Gabarito"/>
              </a:rPr>
              <a:t>.</a:t>
            </a:r>
            <a:r>
              <a:rPr b="0" i="0" lang="en-US" sz="2400" u="none" cap="none" strike="noStrike">
                <a:solidFill>
                  <a:srgbClr val="5B5B5B"/>
                </a:solidFill>
                <a:latin typeface="Gabarito"/>
                <a:ea typeface="Gabarito"/>
                <a:cs typeface="Gabarito"/>
                <a:sym typeface="Gabarito"/>
              </a:rPr>
              <a:t> </a:t>
            </a:r>
            <a:r>
              <a:rPr lang="en-US" sz="2400">
                <a:solidFill>
                  <a:srgbClr val="5B5B5B"/>
                </a:solidFill>
                <a:latin typeface="Gabarito"/>
                <a:ea typeface="Gabarito"/>
                <a:cs typeface="Gabarito"/>
                <a:sym typeface="Gabarito"/>
              </a:rPr>
              <a:t>I</a:t>
            </a:r>
            <a:r>
              <a:rPr b="0" i="0" lang="en-US" sz="2400" u="none" cap="none" strike="noStrike">
                <a:solidFill>
                  <a:srgbClr val="5B5B5B"/>
                </a:solidFill>
                <a:latin typeface="Gabarito"/>
                <a:ea typeface="Gabarito"/>
                <a:cs typeface="Gabarito"/>
                <a:sym typeface="Gabarito"/>
              </a:rPr>
              <a:t>t respects sentence boundaries instead of cutting blindly, without the extra cost of semantic chunking.</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9" name="Shape 519"/>
        <p:cNvGrpSpPr/>
        <p:nvPr/>
      </p:nvGrpSpPr>
      <p:grpSpPr>
        <a:xfrm>
          <a:off x="0" y="0"/>
          <a:ext cx="0" cy="0"/>
          <a:chOff x="0" y="0"/>
          <a:chExt cx="0" cy="0"/>
        </a:xfrm>
      </p:grpSpPr>
      <p:pic>
        <p:nvPicPr>
          <p:cNvPr descr="preencoded.png" id="520" name="Google Shape;520;p22"/>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521" name="Google Shape;521;p22"/>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522" name="Google Shape;522;p22"/>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6000" u="none" cap="none" strike="noStrike">
                <a:solidFill>
                  <a:srgbClr val="274D71"/>
                </a:solidFill>
                <a:latin typeface="Gabarito"/>
                <a:ea typeface="Gabarito"/>
                <a:cs typeface="Gabarito"/>
                <a:sym typeface="Gabarito"/>
              </a:rPr>
              <a:t>Recursive Chunking - Example </a:t>
            </a:r>
            <a:endParaRPr b="0" i="0" sz="6000" u="none" cap="none" strike="noStrike">
              <a:solidFill>
                <a:schemeClr val="dk1"/>
              </a:solidFill>
              <a:latin typeface="Calibri"/>
              <a:ea typeface="Calibri"/>
              <a:cs typeface="Calibri"/>
              <a:sym typeface="Calibri"/>
            </a:endParaRPr>
          </a:p>
        </p:txBody>
      </p:sp>
      <p:sp>
        <p:nvSpPr>
          <p:cNvPr id="523" name="Google Shape;523;p22"/>
          <p:cNvSpPr/>
          <p:nvPr/>
        </p:nvSpPr>
        <p:spPr>
          <a:xfrm>
            <a:off x="1047750" y="5704501"/>
            <a:ext cx="16192500" cy="3724200"/>
          </a:xfrm>
          <a:prstGeom prst="roundRect">
            <a:avLst>
              <a:gd fmla="val 3132" name="adj"/>
            </a:avLst>
          </a:prstGeom>
          <a:solidFill>
            <a:srgbClr val="FAF9F5"/>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22"/>
          <p:cNvSpPr/>
          <p:nvPr/>
        </p:nvSpPr>
        <p:spPr>
          <a:xfrm>
            <a:off x="1362882" y="6018825"/>
            <a:ext cx="16470600" cy="581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3600"/>
              <a:buFont typeface="Gabarito"/>
              <a:buNone/>
            </a:pPr>
            <a:r>
              <a:rPr b="1" i="0" lang="en-US" sz="3200" u="none" cap="none" strike="noStrike">
                <a:solidFill>
                  <a:srgbClr val="274D71"/>
                </a:solidFill>
                <a:latin typeface="Gabarito"/>
                <a:ea typeface="Gabarito"/>
                <a:cs typeface="Gabarito"/>
                <a:sym typeface="Gabarito"/>
              </a:rPr>
              <a:t>Example — limit ~2 sentences per chunk</a:t>
            </a:r>
            <a:endParaRPr b="0" i="0" sz="3200" u="none" cap="none" strike="noStrike">
              <a:solidFill>
                <a:schemeClr val="dk1"/>
              </a:solidFill>
              <a:latin typeface="Calibri"/>
              <a:ea typeface="Calibri"/>
              <a:cs typeface="Calibri"/>
              <a:sym typeface="Calibri"/>
            </a:endParaRPr>
          </a:p>
        </p:txBody>
      </p:sp>
      <p:sp>
        <p:nvSpPr>
          <p:cNvPr id="525" name="Google Shape;525;p22"/>
          <p:cNvSpPr/>
          <p:nvPr/>
        </p:nvSpPr>
        <p:spPr>
          <a:xfrm>
            <a:off x="1362882" y="6914175"/>
            <a:ext cx="15422400" cy="1333500"/>
          </a:xfrm>
          <a:prstGeom prst="rect">
            <a:avLst/>
          </a:prstGeom>
          <a:noFill/>
          <a:ln>
            <a:noFill/>
          </a:ln>
        </p:spPr>
        <p:txBody>
          <a:bodyPr anchorCtr="0" anchor="t" bIns="25400" lIns="25400" spcFirstLastPara="1" rIns="25400" wrap="square" tIns="25400">
            <a:noAutofit/>
          </a:bodyPr>
          <a:lstStyle/>
          <a:p>
            <a:pPr indent="0" lvl="0" marL="0" marR="0" rtl="0" algn="l">
              <a:lnSpc>
                <a:spcPct val="130000"/>
              </a:lnSpc>
              <a:spcBef>
                <a:spcPts val="0"/>
              </a:spcBef>
              <a:spcAft>
                <a:spcPts val="0"/>
              </a:spcAft>
              <a:buClr>
                <a:srgbClr val="78746A"/>
              </a:buClr>
              <a:buSzPts val="3000"/>
              <a:buFont typeface="JetBrains Mono"/>
              <a:buNone/>
            </a:pPr>
            <a:r>
              <a:rPr b="0" i="0" lang="en-US" sz="2400" u="none" cap="none" strike="noStrike">
                <a:solidFill>
                  <a:srgbClr val="78746A"/>
                </a:solidFill>
                <a:latin typeface="JetBrains Mono"/>
                <a:ea typeface="JetBrains Mono"/>
                <a:cs typeface="JetBrains Mono"/>
                <a:sym typeface="JetBrains Mono"/>
              </a:rPr>
              <a:t>[chunk_0] "Dogs are loyal... guiding blind people." </a:t>
            </a:r>
            <a:endParaRPr/>
          </a:p>
          <a:p>
            <a:pPr indent="0" lvl="0" marL="0" marR="0" rtl="0" algn="l">
              <a:lnSpc>
                <a:spcPct val="130000"/>
              </a:lnSpc>
              <a:spcBef>
                <a:spcPts val="0"/>
              </a:spcBef>
              <a:spcAft>
                <a:spcPts val="0"/>
              </a:spcAft>
              <a:buClr>
                <a:srgbClr val="78746A"/>
              </a:buClr>
              <a:buSzPts val="3000"/>
              <a:buFont typeface="JetBrains Mono"/>
              <a:buNone/>
            </a:pPr>
            <a:r>
              <a:rPr b="0" i="0" lang="en-US" sz="2400" u="none" cap="none" strike="noStrike">
                <a:solidFill>
                  <a:srgbClr val="78746A"/>
                </a:solidFill>
                <a:latin typeface="JetBrains Mono"/>
                <a:ea typeface="JetBrains Mono"/>
                <a:cs typeface="JetBrains Mono"/>
                <a:sym typeface="JetBrains Mono"/>
              </a:rPr>
              <a:t>[chunk_1] "Cats are more independent... low-maintenance pets."</a:t>
            </a:r>
            <a:endParaRPr b="0" i="0" sz="2400" u="none" cap="none" strike="noStrike">
              <a:solidFill>
                <a:schemeClr val="dk1"/>
              </a:solidFill>
              <a:latin typeface="Calibri"/>
              <a:ea typeface="Calibri"/>
              <a:cs typeface="Calibri"/>
              <a:sym typeface="Calibri"/>
            </a:endParaRPr>
          </a:p>
        </p:txBody>
      </p:sp>
      <p:sp>
        <p:nvSpPr>
          <p:cNvPr id="526" name="Google Shape;526;p22"/>
          <p:cNvSpPr/>
          <p:nvPr/>
        </p:nvSpPr>
        <p:spPr>
          <a:xfrm>
            <a:off x="1362882" y="8323875"/>
            <a:ext cx="15422400" cy="11049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5B5B5B"/>
              </a:buClr>
              <a:buSzPts val="3000"/>
              <a:buFont typeface="Gabarito"/>
              <a:buNone/>
            </a:pPr>
            <a:r>
              <a:rPr lang="en-US" sz="2400">
                <a:solidFill>
                  <a:srgbClr val="5B5B5B"/>
                </a:solidFill>
                <a:latin typeface="Gabarito"/>
                <a:ea typeface="Gabarito"/>
                <a:cs typeface="Gabarito"/>
                <a:sym typeface="Gabarito"/>
              </a:rPr>
              <a:t>(Here it happened to land on the topics shift from sentence 1 to sentence – but for future reference recursive chunking isn’t aware of this)</a:t>
            </a:r>
            <a:endParaRPr sz="2400">
              <a:solidFill>
                <a:srgbClr val="5B5B5B"/>
              </a:solidFill>
              <a:latin typeface="Gabarito"/>
              <a:ea typeface="Gabarito"/>
              <a:cs typeface="Gabarito"/>
              <a:sym typeface="Gabarito"/>
            </a:endParaRPr>
          </a:p>
          <a:p>
            <a:pPr indent="0" lvl="0" marL="0" marR="0" rtl="0" algn="l">
              <a:lnSpc>
                <a:spcPct val="116667"/>
              </a:lnSpc>
              <a:spcBef>
                <a:spcPts val="0"/>
              </a:spcBef>
              <a:spcAft>
                <a:spcPts val="0"/>
              </a:spcAft>
              <a:buClr>
                <a:srgbClr val="5B5B5B"/>
              </a:buClr>
              <a:buSzPts val="3000"/>
              <a:buFont typeface="Gabarito"/>
              <a:buNone/>
            </a:pPr>
            <a:r>
              <a:t/>
            </a:r>
            <a:endParaRPr sz="2400">
              <a:solidFill>
                <a:srgbClr val="5B5B5B"/>
              </a:solidFill>
              <a:latin typeface="Gabarito"/>
              <a:ea typeface="Gabarito"/>
              <a:cs typeface="Gabarito"/>
              <a:sym typeface="Gabarito"/>
            </a:endParaRPr>
          </a:p>
        </p:txBody>
      </p:sp>
      <p:pic>
        <p:nvPicPr>
          <p:cNvPr id="527" name="Google Shape;527;p22" title="ChatGPT Image Aug 21, 2026, 11_28_01 AM.png"/>
          <p:cNvPicPr preferRelativeResize="0"/>
          <p:nvPr/>
        </p:nvPicPr>
        <p:blipFill rotWithShape="1">
          <a:blip r:embed="rId4">
            <a:alphaModFix/>
          </a:blip>
          <a:srcRect b="41339" l="0" r="0" t="24743"/>
          <a:stretch/>
        </p:blipFill>
        <p:spPr>
          <a:xfrm>
            <a:off x="1971638" y="2581026"/>
            <a:ext cx="14344723" cy="2347850"/>
          </a:xfrm>
          <a:prstGeom prst="rect">
            <a:avLst/>
          </a:prstGeom>
          <a:noFill/>
          <a:ln>
            <a:noFill/>
          </a:ln>
        </p:spPr>
      </p:pic>
      <p:sp>
        <p:nvSpPr>
          <p:cNvPr id="528" name="Google Shape;528;p22"/>
          <p:cNvSpPr/>
          <p:nvPr/>
        </p:nvSpPr>
        <p:spPr>
          <a:xfrm>
            <a:off x="2824951" y="4928864"/>
            <a:ext cx="148401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2200">
                <a:solidFill>
                  <a:srgbClr val="212121"/>
                </a:solidFill>
                <a:latin typeface="Gabarito"/>
                <a:ea typeface="Gabarito"/>
                <a:cs typeface="Gabarito"/>
                <a:sym typeface="Gabarito"/>
              </a:rPr>
              <a:t>Cuts fall between sentences - preserves each sentence</a:t>
            </a:r>
            <a:endParaRPr sz="2200">
              <a:solidFill>
                <a:srgbClr val="212121"/>
              </a:solidFill>
              <a:latin typeface="Gabarito"/>
              <a:ea typeface="Gabarito"/>
              <a:cs typeface="Gabarito"/>
              <a:sym typeface="Gabar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pic>
        <p:nvPicPr>
          <p:cNvPr descr="preencoded.png" id="534" name="Google Shape;534;g3f776df2723_1_126"/>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535" name="Google Shape;535;g3f776df2723_1_126"/>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536" name="Google Shape;536;g3f776df2723_1_126"/>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lang="en-US" sz="6000">
                <a:solidFill>
                  <a:srgbClr val="274D71"/>
                </a:solidFill>
                <a:latin typeface="Gabarito"/>
                <a:ea typeface="Gabarito"/>
                <a:cs typeface="Gabarito"/>
                <a:sym typeface="Gabarito"/>
              </a:rPr>
              <a:t>Recursive </a:t>
            </a:r>
            <a:r>
              <a:rPr b="1" i="0" lang="en-US" sz="6000" u="none" cap="none" strike="noStrike">
                <a:solidFill>
                  <a:srgbClr val="274D71"/>
                </a:solidFill>
                <a:latin typeface="Gabarito"/>
                <a:ea typeface="Gabarito"/>
                <a:cs typeface="Gabarito"/>
                <a:sym typeface="Gabarito"/>
              </a:rPr>
              <a:t>Chunking </a:t>
            </a:r>
            <a:r>
              <a:rPr b="1" lang="en-US" sz="6000">
                <a:solidFill>
                  <a:srgbClr val="274D71"/>
                </a:solidFill>
                <a:latin typeface="Gabarito"/>
                <a:ea typeface="Gabarito"/>
                <a:cs typeface="Gabarito"/>
                <a:sym typeface="Gabarito"/>
              </a:rPr>
              <a:t>Demonstration</a:t>
            </a:r>
            <a:endParaRPr b="0" i="0" sz="6000" u="none" cap="none" strike="noStrike">
              <a:solidFill>
                <a:schemeClr val="dk1"/>
              </a:solidFill>
              <a:latin typeface="Calibri"/>
              <a:ea typeface="Calibri"/>
              <a:cs typeface="Calibri"/>
              <a:sym typeface="Calibri"/>
            </a:endParaRPr>
          </a:p>
        </p:txBody>
      </p:sp>
      <p:sp>
        <p:nvSpPr>
          <p:cNvPr id="537" name="Google Shape;537;g3f776df2723_1_126"/>
          <p:cNvSpPr/>
          <p:nvPr/>
        </p:nvSpPr>
        <p:spPr>
          <a:xfrm>
            <a:off x="1047750" y="8037975"/>
            <a:ext cx="16192800" cy="1404300"/>
          </a:xfrm>
          <a:prstGeom prst="roundRect">
            <a:avLst>
              <a:gd fmla="val 14390"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3f776df2723_1_126"/>
          <p:cNvSpPr/>
          <p:nvPr/>
        </p:nvSpPr>
        <p:spPr>
          <a:xfrm>
            <a:off x="1333500" y="8285175"/>
            <a:ext cx="15751500" cy="67800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FF9900"/>
              </a:buClr>
              <a:buSzPts val="1800"/>
              <a:buFont typeface="Gabarito"/>
              <a:buNone/>
            </a:pPr>
            <a:r>
              <a:rPr b="1" i="0" lang="en-US" sz="2400" u="none" cap="none" strike="noStrike">
                <a:solidFill>
                  <a:srgbClr val="FF9900"/>
                </a:solidFill>
                <a:latin typeface="Gabarito"/>
                <a:ea typeface="Gabarito"/>
                <a:cs typeface="Gabarito"/>
                <a:sym typeface="Gabarito"/>
              </a:rPr>
              <a:t>Try it yourself:</a:t>
            </a:r>
            <a:r>
              <a:rPr b="1" lang="en-US" sz="2400">
                <a:solidFill>
                  <a:srgbClr val="FF9900"/>
                </a:solidFill>
                <a:latin typeface="Gabarito"/>
                <a:ea typeface="Gabarito"/>
                <a:cs typeface="Gabarito"/>
                <a:sym typeface="Gabarito"/>
              </a:rPr>
              <a:t> </a:t>
            </a:r>
            <a:r>
              <a:rPr lang="en-US" sz="2400">
                <a:solidFill>
                  <a:srgbClr val="5B5B5B"/>
                </a:solidFill>
                <a:latin typeface="Gabarito"/>
                <a:ea typeface="Gabarito"/>
                <a:cs typeface="Gabarito"/>
                <a:sym typeface="Gabarito"/>
              </a:rPr>
              <a:t>change size=150 to something bigger or smaller - see when sentences start splitting apart or merging further.</a:t>
            </a:r>
            <a:endParaRPr sz="2400">
              <a:solidFill>
                <a:srgbClr val="5B5B5B"/>
              </a:solidFill>
              <a:latin typeface="Gabarito"/>
              <a:ea typeface="Gabarito"/>
              <a:cs typeface="Gabarito"/>
              <a:sym typeface="Gabarito"/>
            </a:endParaRPr>
          </a:p>
          <a:p>
            <a:pPr indent="0" lvl="0" marL="0" marR="0" rtl="0" algn="l">
              <a:lnSpc>
                <a:spcPct val="115862"/>
              </a:lnSpc>
              <a:spcBef>
                <a:spcPts val="0"/>
              </a:spcBef>
              <a:spcAft>
                <a:spcPts val="0"/>
              </a:spcAft>
              <a:buClr>
                <a:srgbClr val="FF9900"/>
              </a:buClr>
              <a:buSzPts val="1800"/>
              <a:buFont typeface="Gabarito"/>
              <a:buNone/>
            </a:pPr>
            <a:r>
              <a:t/>
            </a:r>
            <a:endParaRPr sz="2400">
              <a:solidFill>
                <a:srgbClr val="4C5A33"/>
              </a:solidFill>
              <a:latin typeface="JetBrains Mono"/>
              <a:ea typeface="JetBrains Mono"/>
              <a:cs typeface="JetBrains Mono"/>
              <a:sym typeface="JetBrains Mono"/>
            </a:endParaRPr>
          </a:p>
          <a:p>
            <a:pPr indent="0" lvl="0" marL="0" marR="0" rtl="0" algn="l">
              <a:lnSpc>
                <a:spcPct val="115862"/>
              </a:lnSpc>
              <a:spcBef>
                <a:spcPts val="0"/>
              </a:spcBef>
              <a:spcAft>
                <a:spcPts val="0"/>
              </a:spcAft>
              <a:buClr>
                <a:srgbClr val="FF9900"/>
              </a:buClr>
              <a:buSzPts val="1800"/>
              <a:buFont typeface="Gabarito"/>
              <a:buNone/>
            </a:pPr>
            <a:r>
              <a:t/>
            </a:r>
            <a:endParaRPr sz="2400">
              <a:solidFill>
                <a:srgbClr val="4C5A33"/>
              </a:solidFill>
              <a:latin typeface="JetBrains Mono"/>
              <a:ea typeface="JetBrains Mono"/>
              <a:cs typeface="JetBrains Mono"/>
              <a:sym typeface="JetBrains Mono"/>
            </a:endParaRPr>
          </a:p>
          <a:p>
            <a:pPr indent="0" lvl="0" marL="0" marR="0" rtl="0" algn="l">
              <a:lnSpc>
                <a:spcPct val="115862"/>
              </a:lnSpc>
              <a:spcBef>
                <a:spcPts val="0"/>
              </a:spcBef>
              <a:spcAft>
                <a:spcPts val="0"/>
              </a:spcAft>
              <a:buClr>
                <a:srgbClr val="FF9900"/>
              </a:buClr>
              <a:buSzPts val="1800"/>
              <a:buFont typeface="Gabarito"/>
              <a:buNone/>
            </a:pPr>
            <a:r>
              <a:t/>
            </a:r>
            <a:endParaRPr sz="2400">
              <a:solidFill>
                <a:srgbClr val="5B5B5B"/>
              </a:solidFill>
              <a:latin typeface="Gabarito"/>
              <a:ea typeface="Gabarito"/>
              <a:cs typeface="Gabarito"/>
              <a:sym typeface="Gabarito"/>
            </a:endParaRPr>
          </a:p>
        </p:txBody>
      </p:sp>
      <p:sp>
        <p:nvSpPr>
          <p:cNvPr id="539" name="Google Shape;539;g3f776df2723_1_126"/>
          <p:cNvSpPr/>
          <p:nvPr/>
        </p:nvSpPr>
        <p:spPr>
          <a:xfrm>
            <a:off x="1047750" y="2625575"/>
            <a:ext cx="7905900" cy="4787400"/>
          </a:xfrm>
          <a:prstGeom prst="roundRect">
            <a:avLst>
              <a:gd fmla="val 4618"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3f776df2723_1_126"/>
          <p:cNvSpPr/>
          <p:nvPr/>
        </p:nvSpPr>
        <p:spPr>
          <a:xfrm>
            <a:off x="1047750" y="2625575"/>
            <a:ext cx="7905900" cy="590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g3f776df2723_1_126"/>
          <p:cNvSpPr/>
          <p:nvPr/>
        </p:nvSpPr>
        <p:spPr>
          <a:xfrm>
            <a:off x="1295400" y="2854175"/>
            <a:ext cx="133500" cy="1335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3f776df2723_1_126"/>
          <p:cNvSpPr/>
          <p:nvPr/>
        </p:nvSpPr>
        <p:spPr>
          <a:xfrm>
            <a:off x="1524000" y="2854175"/>
            <a:ext cx="133500" cy="1335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f776df2723_1_126"/>
          <p:cNvSpPr/>
          <p:nvPr/>
        </p:nvSpPr>
        <p:spPr>
          <a:xfrm>
            <a:off x="1752600" y="2854175"/>
            <a:ext cx="133500" cy="1335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g3f776df2723_1_126"/>
          <p:cNvSpPr/>
          <p:nvPr/>
        </p:nvSpPr>
        <p:spPr>
          <a:xfrm>
            <a:off x="2114550" y="2758925"/>
            <a:ext cx="20430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1875"/>
              <a:buFont typeface="JetBrains Mono"/>
              <a:buNone/>
            </a:pPr>
            <a:r>
              <a:rPr b="0" i="0" lang="en-US" sz="1875" u="none" cap="none" strike="noStrike">
                <a:solidFill>
                  <a:srgbClr val="9AA0A6"/>
                </a:solidFill>
                <a:latin typeface="JetBrains Mono"/>
                <a:ea typeface="JetBrains Mono"/>
                <a:cs typeface="JetBrains Mono"/>
                <a:sym typeface="JetBrains Mono"/>
              </a:rPr>
              <a:t>fixed_size.py</a:t>
            </a:r>
            <a:endParaRPr b="0" i="0" sz="1875" u="none" cap="none" strike="noStrike">
              <a:solidFill>
                <a:srgbClr val="000000"/>
              </a:solidFill>
              <a:latin typeface="Calibri"/>
              <a:ea typeface="Calibri"/>
              <a:cs typeface="Calibri"/>
              <a:sym typeface="Calibri"/>
            </a:endParaRPr>
          </a:p>
        </p:txBody>
      </p:sp>
      <p:sp>
        <p:nvSpPr>
          <p:cNvPr id="545" name="Google Shape;545;g3f776df2723_1_126"/>
          <p:cNvSpPr/>
          <p:nvPr/>
        </p:nvSpPr>
        <p:spPr>
          <a:xfrm>
            <a:off x="1352550" y="3480875"/>
            <a:ext cx="7095300" cy="2917800"/>
          </a:xfrm>
          <a:prstGeom prst="rect">
            <a:avLst/>
          </a:prstGeom>
          <a:noFill/>
          <a:ln>
            <a:noFill/>
          </a:ln>
        </p:spPr>
        <p:txBody>
          <a:bodyPr anchorCtr="0" anchor="t" bIns="25400" lIns="25400" spcFirstLastPara="1" rIns="25400" wrap="square" tIns="25400">
            <a:noAutofit/>
          </a:bodyPr>
          <a:lstStyle/>
          <a:p>
            <a:pPr indent="0" lvl="0" marL="0" rtl="0" algn="l">
              <a:lnSpc>
                <a:spcPct val="110294"/>
              </a:lnSpc>
              <a:spcBef>
                <a:spcPts val="0"/>
              </a:spcBef>
              <a:spcAft>
                <a:spcPts val="0"/>
              </a:spcAft>
              <a:buClr>
                <a:srgbClr val="9AA0A6"/>
              </a:buClr>
              <a:buSzPts val="1875"/>
              <a:buFont typeface="JetBrains Mono"/>
              <a:buNone/>
            </a:pPr>
            <a:r>
              <a:rPr lang="en-US" sz="1875">
                <a:solidFill>
                  <a:srgbClr val="9AA0A6"/>
                </a:solidFill>
                <a:latin typeface="JetBrains Mono"/>
                <a:ea typeface="JetBrains Mono"/>
                <a:cs typeface="JetBrains Mono"/>
                <a:sym typeface="JetBrains Mono"/>
              </a:rPr>
              <a:t>SEPARATORS = ["\n\n", ". ", " "] </a:t>
            </a:r>
            <a:r>
              <a:rPr lang="en-US" sz="1650">
                <a:solidFill>
                  <a:srgbClr val="9AA0A6"/>
                </a:solidFill>
                <a:latin typeface="JetBrains Mono"/>
                <a:ea typeface="JetBrains Mono"/>
                <a:cs typeface="JetBrains Mono"/>
                <a:sym typeface="JetBrains Mono"/>
              </a:rPr>
              <a:t># paragraph → sentence → word</a:t>
            </a:r>
            <a:endParaRPr sz="1650">
              <a:solidFill>
                <a:srgbClr val="9AA0A6"/>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9AA0A6"/>
              </a:buClr>
              <a:buSzPts val="1875"/>
              <a:buFont typeface="JetBrains Mono"/>
              <a:buNone/>
            </a:pPr>
            <a:r>
              <a:t/>
            </a:r>
            <a:endParaRPr sz="1650">
              <a:solidFill>
                <a:srgbClr val="9AA0A6"/>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C792EA"/>
              </a:buClr>
              <a:buSzPts val="1875"/>
              <a:buFont typeface="JetBrains Mono"/>
              <a:buNone/>
            </a:pPr>
            <a:r>
              <a:rPr lang="en-US" sz="1875">
                <a:solidFill>
                  <a:srgbClr val="C792EA"/>
                </a:solidFill>
                <a:latin typeface="JetBrains Mono"/>
                <a:ea typeface="JetBrains Mono"/>
                <a:cs typeface="JetBrains Mono"/>
                <a:sym typeface="JetBrains Mono"/>
              </a:rPr>
              <a:t>def </a:t>
            </a:r>
            <a:r>
              <a:rPr lang="en-US" sz="1875">
                <a:solidFill>
                  <a:srgbClr val="E8EAED"/>
                </a:solidFill>
                <a:latin typeface="JetBrains Mono"/>
                <a:ea typeface="JetBrains Mono"/>
                <a:cs typeface="JetBrains Mono"/>
                <a:sym typeface="JetBrains Mono"/>
              </a:rPr>
              <a:t>recursive_chunk(text, source, size=</a:t>
            </a:r>
            <a:r>
              <a:rPr lang="en-US" sz="1875">
                <a:solidFill>
                  <a:srgbClr val="F0B45C"/>
                </a:solidFill>
                <a:latin typeface="JetBrains Mono"/>
                <a:ea typeface="JetBrains Mono"/>
                <a:cs typeface="JetBrains Mono"/>
                <a:sym typeface="JetBrains Mono"/>
              </a:rPr>
              <a:t>150</a:t>
            </a:r>
            <a:r>
              <a:rPr lang="en-US" sz="1875">
                <a:solidFill>
                  <a:srgbClr val="E8EAED"/>
                </a:solidFill>
                <a:latin typeface="JetBrains Mono"/>
                <a:ea typeface="JetBrains Mono"/>
                <a:cs typeface="JetBrains Mono"/>
                <a:sym typeface="JetBrains Mono"/>
              </a:rPr>
              <a:t>):</a:t>
            </a:r>
            <a:endParaRPr sz="1875">
              <a:solidFill>
                <a:srgbClr val="E8EAED"/>
              </a:solidFill>
              <a:latin typeface="JetBrains Mono"/>
              <a:ea typeface="JetBrains Mono"/>
              <a:cs typeface="JetBrains Mono"/>
              <a:sym typeface="JetBrains Mono"/>
            </a:endParaRPr>
          </a:p>
          <a:p>
            <a:pPr indent="457200" lvl="0" marL="0" rtl="0" algn="l">
              <a:lnSpc>
                <a:spcPct val="110294"/>
              </a:lnSpc>
              <a:spcBef>
                <a:spcPts val="0"/>
              </a:spcBef>
              <a:spcAft>
                <a:spcPts val="0"/>
              </a:spcAft>
              <a:buClr>
                <a:srgbClr val="9AA0A6"/>
              </a:buClr>
              <a:buSzPts val="1875"/>
              <a:buFont typeface="JetBrains Mono"/>
              <a:buNone/>
            </a:pPr>
            <a:r>
              <a:rPr lang="en-US" sz="1875">
                <a:solidFill>
                  <a:srgbClr val="9AA0A6"/>
                </a:solidFill>
                <a:latin typeface="JetBrains Mono"/>
                <a:ea typeface="JetBrains Mono"/>
                <a:cs typeface="JetBrains Mono"/>
                <a:sym typeface="JetBrains Mono"/>
              </a:rPr>
              <a:t>pieces = _recursive_split(text, size, SEPARATORS)</a:t>
            </a:r>
            <a:endParaRPr sz="1875">
              <a:solidFill>
                <a:srgbClr val="9AA0A6"/>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C792EA"/>
              </a:buClr>
              <a:buSzPts val="1875"/>
              <a:buFont typeface="JetBrains Mono"/>
              <a:buNone/>
            </a:pPr>
            <a:r>
              <a:t/>
            </a:r>
            <a:endParaRPr sz="1875">
              <a:solidFill>
                <a:srgbClr val="C792EA"/>
              </a:solidFill>
              <a:latin typeface="JetBrains Mono"/>
              <a:ea typeface="JetBrains Mono"/>
              <a:cs typeface="JetBrains Mono"/>
              <a:sym typeface="JetBrains Mono"/>
            </a:endParaRPr>
          </a:p>
          <a:p>
            <a:pPr indent="457200" lvl="0" marL="0" rtl="0" algn="l">
              <a:lnSpc>
                <a:spcPct val="110294"/>
              </a:lnSpc>
              <a:spcBef>
                <a:spcPts val="0"/>
              </a:spcBef>
              <a:spcAft>
                <a:spcPts val="0"/>
              </a:spcAft>
              <a:buClr>
                <a:srgbClr val="C792EA"/>
              </a:buClr>
              <a:buSzPts val="1875"/>
              <a:buFont typeface="JetBrains Mono"/>
              <a:buNone/>
            </a:pPr>
            <a:r>
              <a:rPr lang="en-US" sz="1875">
                <a:solidFill>
                  <a:srgbClr val="C792EA"/>
                </a:solidFill>
                <a:latin typeface="JetBrains Mono"/>
                <a:ea typeface="JetBrains Mono"/>
                <a:cs typeface="JetBrains Mono"/>
                <a:sym typeface="JetBrains Mono"/>
              </a:rPr>
              <a:t>return </a:t>
            </a:r>
            <a:r>
              <a:rPr lang="en-US" sz="1875">
                <a:solidFill>
                  <a:srgbClr val="9AA0A6"/>
                </a:solidFill>
                <a:latin typeface="JetBrains Mono"/>
                <a:ea typeface="JetBrains Mono"/>
                <a:cs typeface="JetBrains Mono"/>
                <a:sym typeface="JetBrains Mono"/>
              </a:rPr>
              <a:t>[Chunk(chunk_id=f”{source}::chunk_{i}”, text=p.strip())</a:t>
            </a:r>
            <a:endParaRPr sz="1875">
              <a:solidFill>
                <a:srgbClr val="9AA0A6"/>
              </a:solidFill>
              <a:latin typeface="JetBrains Mono"/>
              <a:ea typeface="JetBrains Mono"/>
              <a:cs typeface="JetBrains Mono"/>
              <a:sym typeface="JetBrains Mono"/>
            </a:endParaRPr>
          </a:p>
          <a:p>
            <a:pPr indent="457200" lvl="0" marL="0" rtl="0" algn="l">
              <a:lnSpc>
                <a:spcPct val="110294"/>
              </a:lnSpc>
              <a:spcBef>
                <a:spcPts val="0"/>
              </a:spcBef>
              <a:spcAft>
                <a:spcPts val="0"/>
              </a:spcAft>
              <a:buClr>
                <a:srgbClr val="C792EA"/>
              </a:buClr>
              <a:buSzPts val="1875"/>
              <a:buFont typeface="JetBrains Mono"/>
              <a:buNone/>
            </a:pPr>
            <a:r>
              <a:t/>
            </a:r>
            <a:endParaRPr sz="1875">
              <a:solidFill>
                <a:srgbClr val="9AA0A6"/>
              </a:solidFill>
              <a:latin typeface="JetBrains Mono"/>
              <a:ea typeface="JetBrains Mono"/>
              <a:cs typeface="JetBrains Mono"/>
              <a:sym typeface="JetBrains Mono"/>
            </a:endParaRPr>
          </a:p>
          <a:p>
            <a:pPr indent="457200" lvl="0" marL="0" rtl="0" algn="l">
              <a:lnSpc>
                <a:spcPct val="110294"/>
              </a:lnSpc>
              <a:spcBef>
                <a:spcPts val="0"/>
              </a:spcBef>
              <a:spcAft>
                <a:spcPts val="0"/>
              </a:spcAft>
              <a:buClr>
                <a:srgbClr val="C792EA"/>
              </a:buClr>
              <a:buSzPts val="1875"/>
              <a:buFont typeface="JetBrains Mono"/>
              <a:buNone/>
            </a:pPr>
            <a:r>
              <a:rPr lang="en-US" sz="1875">
                <a:solidFill>
                  <a:srgbClr val="9AA0A6"/>
                </a:solidFill>
                <a:latin typeface="JetBrains Mono"/>
                <a:ea typeface="JetBrains Mono"/>
                <a:cs typeface="JetBrains Mono"/>
                <a:sym typeface="JetBrains Mono"/>
              </a:rPr>
              <a:t>for i, p in enumerate(pieces) if p.strip()]</a:t>
            </a:r>
            <a:endParaRPr sz="1875">
              <a:solidFill>
                <a:srgbClr val="9AA0A6"/>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9AA0A6"/>
              </a:buClr>
              <a:buSzPts val="1875"/>
              <a:buFont typeface="JetBrains Mono"/>
              <a:buNone/>
            </a:pPr>
            <a:r>
              <a:t/>
            </a:r>
            <a:endParaRPr sz="1875">
              <a:solidFill>
                <a:srgbClr val="9AA0A6"/>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C792EA"/>
              </a:buClr>
              <a:buSzPts val="1875"/>
              <a:buFont typeface="JetBrains Mono"/>
              <a:buNone/>
            </a:pPr>
            <a:r>
              <a:t/>
            </a:r>
            <a:endParaRPr sz="1875">
              <a:solidFill>
                <a:srgbClr val="E8EAED"/>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9AA0A6"/>
              </a:buClr>
              <a:buSzPts val="1875"/>
              <a:buFont typeface="JetBrains Mono"/>
              <a:buNone/>
            </a:pPr>
            <a:r>
              <a:t/>
            </a:r>
            <a:endParaRPr sz="1650">
              <a:solidFill>
                <a:srgbClr val="9AA0A6"/>
              </a:solidFill>
              <a:latin typeface="JetBrains Mono"/>
              <a:ea typeface="JetBrains Mono"/>
              <a:cs typeface="JetBrains Mono"/>
              <a:sym typeface="JetBrains Mono"/>
            </a:endParaRPr>
          </a:p>
          <a:p>
            <a:pPr indent="0" lvl="0" marL="0" rtl="0" algn="l">
              <a:lnSpc>
                <a:spcPct val="110294"/>
              </a:lnSpc>
              <a:spcBef>
                <a:spcPts val="0"/>
              </a:spcBef>
              <a:spcAft>
                <a:spcPts val="0"/>
              </a:spcAft>
              <a:buClr>
                <a:srgbClr val="9AA0A6"/>
              </a:buClr>
              <a:buSzPts val="1875"/>
              <a:buFont typeface="JetBrains Mono"/>
              <a:buNone/>
            </a:pPr>
            <a:r>
              <a:t/>
            </a:r>
            <a:endParaRPr sz="1875">
              <a:solidFill>
                <a:srgbClr val="9AA0A6"/>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9AA0A6"/>
              </a:buClr>
              <a:buSzPts val="1875"/>
              <a:buFont typeface="JetBrains Mono"/>
              <a:buNone/>
            </a:pPr>
            <a:r>
              <a:t/>
            </a:r>
            <a:endParaRPr sz="1875">
              <a:solidFill>
                <a:srgbClr val="C792EA"/>
              </a:solidFill>
              <a:latin typeface="JetBrains Mono"/>
              <a:ea typeface="JetBrains Mono"/>
              <a:cs typeface="JetBrains Mono"/>
              <a:sym typeface="JetBrains Mono"/>
            </a:endParaRPr>
          </a:p>
        </p:txBody>
      </p:sp>
      <p:sp>
        <p:nvSpPr>
          <p:cNvPr id="546" name="Google Shape;546;g3f776df2723_1_126"/>
          <p:cNvSpPr/>
          <p:nvPr/>
        </p:nvSpPr>
        <p:spPr>
          <a:xfrm>
            <a:off x="9334500" y="2608350"/>
            <a:ext cx="7905900" cy="4787400"/>
          </a:xfrm>
          <a:prstGeom prst="roundRect">
            <a:avLst>
              <a:gd fmla="val 8404" name="adj"/>
            </a:avLst>
          </a:prstGeom>
          <a:solidFill>
            <a:srgbClr val="FAF9F5"/>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3f776df2723_1_126"/>
          <p:cNvSpPr/>
          <p:nvPr/>
        </p:nvSpPr>
        <p:spPr>
          <a:xfrm>
            <a:off x="9620250" y="2827200"/>
            <a:ext cx="7338300" cy="362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1875"/>
              <a:buFont typeface="Gabarito"/>
              <a:buNone/>
            </a:pPr>
            <a:r>
              <a:rPr b="1" i="0" lang="en-US" sz="2400" u="none" cap="none" strike="noStrike">
                <a:solidFill>
                  <a:srgbClr val="274D71"/>
                </a:solidFill>
                <a:latin typeface="Gabarito"/>
                <a:ea typeface="Gabarito"/>
                <a:cs typeface="Gabarito"/>
                <a:sym typeface="Gabarito"/>
              </a:rPr>
              <a:t>Result </a:t>
            </a:r>
            <a:r>
              <a:rPr b="1" lang="en-US" sz="2400">
                <a:solidFill>
                  <a:srgbClr val="274D71"/>
                </a:solidFill>
                <a:latin typeface="Gabarito"/>
                <a:ea typeface="Gabarito"/>
                <a:cs typeface="Gabarito"/>
                <a:sym typeface="Gabarito"/>
              </a:rPr>
              <a:t> </a:t>
            </a:r>
            <a:endParaRPr b="0" i="0" sz="2400" u="none" cap="none" strike="noStrike">
              <a:solidFill>
                <a:srgbClr val="000000"/>
              </a:solidFill>
              <a:latin typeface="Calibri"/>
              <a:ea typeface="Calibri"/>
              <a:cs typeface="Calibri"/>
              <a:sym typeface="Calibri"/>
            </a:endParaRPr>
          </a:p>
        </p:txBody>
      </p:sp>
      <p:sp>
        <p:nvSpPr>
          <p:cNvPr id="548" name="Google Shape;548;g3f776df2723_1_126"/>
          <p:cNvSpPr/>
          <p:nvPr/>
        </p:nvSpPr>
        <p:spPr>
          <a:xfrm>
            <a:off x="9620250" y="3479213"/>
            <a:ext cx="7230000" cy="22416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None/>
            </a:pPr>
            <a:r>
              <a:rPr lang="en-US" sz="1725">
                <a:solidFill>
                  <a:srgbClr val="78746A"/>
                </a:solidFill>
                <a:latin typeface="JetBrains Mono"/>
                <a:ea typeface="JetBrains Mono"/>
                <a:cs typeface="JetBrains Mono"/>
                <a:sym typeface="JetBrains Mono"/>
              </a:rPr>
              <a:t>[pets_example.txt::chunk_0] </a:t>
            </a:r>
            <a:r>
              <a:rPr b="1" lang="en-US" sz="1725">
                <a:solidFill>
                  <a:srgbClr val="1E4E79"/>
                </a:solidFill>
                <a:latin typeface="JetBrains Mono"/>
                <a:ea typeface="JetBrains Mono"/>
                <a:cs typeface="JetBrains Mono"/>
                <a:sym typeface="JetBrains Mono"/>
              </a:rPr>
              <a:t>“Dogs are loyal animals… guiding blind people.”</a:t>
            </a:r>
            <a:endParaRPr b="1" sz="1725">
              <a:solidFill>
                <a:srgbClr val="1E4E79"/>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US" sz="1725">
                <a:solidFill>
                  <a:srgbClr val="78746A"/>
                </a:solidFill>
                <a:latin typeface="JetBrains Mono"/>
                <a:ea typeface="JetBrains Mono"/>
                <a:cs typeface="JetBrains Mono"/>
                <a:sym typeface="JetBrains Mono"/>
              </a:rPr>
              <a:t>[pets_example.txt::chunk_1] </a:t>
            </a:r>
            <a:r>
              <a:rPr b="1" lang="en-US" sz="1725">
                <a:solidFill>
                  <a:srgbClr val="1E4E79"/>
                </a:solidFill>
                <a:latin typeface="JetBrains Mono"/>
                <a:ea typeface="JetBrains Mono"/>
                <a:cs typeface="JetBrains Mono"/>
                <a:sym typeface="JetBrains Mono"/>
              </a:rPr>
              <a:t>“Cats are more independent… low maintenance pets.”</a:t>
            </a:r>
            <a:endParaRPr b="1" sz="1725">
              <a:solidFill>
                <a:srgbClr val="1E4E79"/>
              </a:solidFill>
              <a:latin typeface="JetBrains Mono"/>
              <a:ea typeface="JetBrains Mono"/>
              <a:cs typeface="JetBrains Mono"/>
              <a:sym typeface="JetBrains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pic>
        <p:nvPicPr>
          <p:cNvPr descr="preencoded.png" id="554" name="Google Shape;554;p23"/>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555" name="Google Shape;555;p23"/>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556" name="Google Shape;556;p23"/>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Semantic Chunking</a:t>
            </a:r>
            <a:endParaRPr b="0" i="0" sz="6000" u="none" cap="none" strike="noStrike">
              <a:solidFill>
                <a:schemeClr val="dk1"/>
              </a:solidFill>
              <a:latin typeface="Calibri"/>
              <a:ea typeface="Calibri"/>
              <a:cs typeface="Calibri"/>
              <a:sym typeface="Calibri"/>
            </a:endParaRPr>
          </a:p>
        </p:txBody>
      </p:sp>
      <p:sp>
        <p:nvSpPr>
          <p:cNvPr id="557" name="Google Shape;557;p23"/>
          <p:cNvSpPr/>
          <p:nvPr/>
        </p:nvSpPr>
        <p:spPr>
          <a:xfrm>
            <a:off x="1047750" y="2231967"/>
            <a:ext cx="13830623"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Groups sentences by meaning </a:t>
            </a:r>
            <a:r>
              <a:rPr lang="en-US" sz="3000">
                <a:solidFill>
                  <a:srgbClr val="212121"/>
                </a:solidFill>
                <a:latin typeface="Gabarito"/>
                <a:ea typeface="Gabarito"/>
                <a:cs typeface="Gabarito"/>
                <a:sym typeface="Gabarito"/>
              </a:rPr>
              <a:t>- </a:t>
            </a:r>
            <a:r>
              <a:rPr b="0" i="0" lang="en-US" sz="3000" u="none" cap="none" strike="noStrike">
                <a:solidFill>
                  <a:srgbClr val="212121"/>
                </a:solidFill>
                <a:latin typeface="Gabarito"/>
                <a:ea typeface="Gabarito"/>
                <a:cs typeface="Gabarito"/>
                <a:sym typeface="Gabarito"/>
              </a:rPr>
              <a:t>nearby sentences with the same meaning stay together, and a new chunk starts only when the topic has shifted.</a:t>
            </a:r>
            <a:endParaRPr b="0" i="0" sz="3000" u="none" cap="none" strike="noStrike">
              <a:solidFill>
                <a:schemeClr val="dk1"/>
              </a:solidFill>
              <a:latin typeface="Calibri"/>
              <a:ea typeface="Calibri"/>
              <a:cs typeface="Calibri"/>
              <a:sym typeface="Calibri"/>
            </a:endParaRPr>
          </a:p>
        </p:txBody>
      </p:sp>
      <p:sp>
        <p:nvSpPr>
          <p:cNvPr id="558" name="Google Shape;558;p23"/>
          <p:cNvSpPr/>
          <p:nvPr/>
        </p:nvSpPr>
        <p:spPr>
          <a:xfrm>
            <a:off x="1047750" y="3611750"/>
            <a:ext cx="16221000" cy="2200200"/>
          </a:xfrm>
          <a:prstGeom prst="roundRect">
            <a:avLst>
              <a:gd fmla="val 6926"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23"/>
          <p:cNvSpPr/>
          <p:nvPr/>
        </p:nvSpPr>
        <p:spPr>
          <a:xfrm>
            <a:off x="1333500" y="3859411"/>
            <a:ext cx="8172600" cy="400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400"/>
              <a:buFont typeface="Gabarito"/>
              <a:buNone/>
            </a:pPr>
            <a:r>
              <a:rPr b="1" i="0" lang="en-US" sz="2600" u="none" cap="none" strike="noStrike">
                <a:solidFill>
                  <a:srgbClr val="274D71"/>
                </a:solidFill>
                <a:latin typeface="Gabarito"/>
                <a:ea typeface="Gabarito"/>
                <a:cs typeface="Gabarito"/>
                <a:sym typeface="Gabarito"/>
              </a:rPr>
              <a:t>CHARACTERISTICS</a:t>
            </a:r>
            <a:endParaRPr b="0" i="0" sz="2600" u="none" cap="none" strike="noStrike">
              <a:solidFill>
                <a:schemeClr val="dk1"/>
              </a:solidFill>
              <a:latin typeface="Calibri"/>
              <a:ea typeface="Calibri"/>
              <a:cs typeface="Calibri"/>
              <a:sym typeface="Calibri"/>
            </a:endParaRPr>
          </a:p>
        </p:txBody>
      </p:sp>
      <p:sp>
        <p:nvSpPr>
          <p:cNvPr id="560" name="Google Shape;560;p23"/>
          <p:cNvSpPr/>
          <p:nvPr/>
        </p:nvSpPr>
        <p:spPr>
          <a:xfrm>
            <a:off x="1333500" y="4497586"/>
            <a:ext cx="81726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325"/>
              <a:buFont typeface="Gabarito"/>
              <a:buNone/>
            </a:pPr>
            <a:r>
              <a:rPr b="0" i="0" lang="en-US" sz="2525" u="none" cap="none" strike="noStrike">
                <a:solidFill>
                  <a:srgbClr val="4C5A33"/>
                </a:solidFill>
                <a:latin typeface="Gabarito"/>
                <a:ea typeface="Gabarito"/>
                <a:cs typeface="Gabarito"/>
                <a:sym typeface="Gabarito"/>
              </a:rPr>
              <a:t>✓ Most accurate at keeping full ideas together</a:t>
            </a:r>
            <a:endParaRPr b="0" i="0" sz="2525" u="none" cap="none" strike="noStrike">
              <a:solidFill>
                <a:schemeClr val="dk1"/>
              </a:solidFill>
              <a:latin typeface="Calibri"/>
              <a:ea typeface="Calibri"/>
              <a:cs typeface="Calibri"/>
              <a:sym typeface="Calibri"/>
            </a:endParaRPr>
          </a:p>
        </p:txBody>
      </p:sp>
      <p:sp>
        <p:nvSpPr>
          <p:cNvPr id="561" name="Google Shape;561;p23"/>
          <p:cNvSpPr/>
          <p:nvPr/>
        </p:nvSpPr>
        <p:spPr>
          <a:xfrm>
            <a:off x="1333500" y="5045470"/>
            <a:ext cx="14486400" cy="781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C15F3C"/>
              </a:buClr>
              <a:buSzPts val="2325"/>
              <a:buFont typeface="Gabarito"/>
              <a:buNone/>
            </a:pPr>
            <a:r>
              <a:rPr b="0" i="0" lang="en-US" sz="2525" u="none" cap="none" strike="noStrike">
                <a:solidFill>
                  <a:srgbClr val="C15F3C"/>
                </a:solidFill>
                <a:latin typeface="Gabarito"/>
                <a:ea typeface="Gabarito"/>
                <a:cs typeface="Gabarito"/>
                <a:sym typeface="Gabarito"/>
              </a:rPr>
              <a:t>✕ Needs extra processing to compare meaning between sentences </a:t>
            </a:r>
            <a:r>
              <a:rPr lang="en-US" sz="2525">
                <a:solidFill>
                  <a:srgbClr val="C15F3C"/>
                </a:solidFill>
                <a:latin typeface="Gabarito"/>
                <a:ea typeface="Gabarito"/>
                <a:cs typeface="Gabarito"/>
                <a:sym typeface="Gabarito"/>
              </a:rPr>
              <a:t>- </a:t>
            </a:r>
            <a:r>
              <a:rPr b="0" i="0" lang="en-US" sz="2525" u="none" cap="none" strike="noStrike">
                <a:solidFill>
                  <a:srgbClr val="C15F3C"/>
                </a:solidFill>
                <a:latin typeface="Gabarito"/>
                <a:ea typeface="Gabarito"/>
                <a:cs typeface="Gabarito"/>
                <a:sym typeface="Gabarito"/>
              </a:rPr>
              <a:t>slower and costlier</a:t>
            </a:r>
            <a:endParaRPr b="0" i="0" sz="2525" u="none" cap="none" strike="noStrike">
              <a:solidFill>
                <a:schemeClr val="dk1"/>
              </a:solidFill>
              <a:latin typeface="Calibri"/>
              <a:ea typeface="Calibri"/>
              <a:cs typeface="Calibri"/>
              <a:sym typeface="Calibri"/>
            </a:endParaRPr>
          </a:p>
        </p:txBody>
      </p:sp>
      <p:sp>
        <p:nvSpPr>
          <p:cNvPr id="562" name="Google Shape;562;p23"/>
          <p:cNvSpPr/>
          <p:nvPr/>
        </p:nvSpPr>
        <p:spPr>
          <a:xfrm>
            <a:off x="1047750" y="6002525"/>
            <a:ext cx="16221000" cy="1162200"/>
          </a:xfrm>
          <a:prstGeom prst="roundRect">
            <a:avLst>
              <a:gd fmla="val 13115"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23"/>
          <p:cNvSpPr/>
          <p:nvPr/>
        </p:nvSpPr>
        <p:spPr>
          <a:xfrm>
            <a:off x="1333500" y="6343225"/>
            <a:ext cx="123741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325"/>
              <a:buFont typeface="Gabarito"/>
              <a:buNone/>
            </a:pPr>
            <a:r>
              <a:rPr b="1" i="0" lang="en-US" sz="2525" u="none" cap="none" strike="noStrike">
                <a:solidFill>
                  <a:srgbClr val="035595"/>
                </a:solidFill>
                <a:latin typeface="Gabarito"/>
                <a:ea typeface="Gabarito"/>
                <a:cs typeface="Gabarito"/>
                <a:sym typeface="Gabarito"/>
              </a:rPr>
              <a:t>Best for: </a:t>
            </a:r>
            <a:r>
              <a:rPr b="0" i="0" lang="en-US" sz="2525" u="none" cap="none" strike="noStrike">
                <a:solidFill>
                  <a:srgbClr val="37474F"/>
                </a:solidFill>
                <a:latin typeface="Gabarito"/>
                <a:ea typeface="Gabarito"/>
                <a:cs typeface="Gabarito"/>
                <a:sym typeface="Gabarito"/>
              </a:rPr>
              <a:t>long documents that mix several topics (reports, manuals...).</a:t>
            </a:r>
            <a:endParaRPr b="0" i="0" u="none" cap="none" strike="noStrike">
              <a:solidFill>
                <a:schemeClr val="dk1"/>
              </a:solidFill>
              <a:latin typeface="Calibri"/>
              <a:ea typeface="Calibri"/>
              <a:cs typeface="Calibri"/>
              <a:sym typeface="Calibri"/>
            </a:endParaRPr>
          </a:p>
        </p:txBody>
      </p:sp>
      <p:sp>
        <p:nvSpPr>
          <p:cNvPr id="564" name="Google Shape;564;p23"/>
          <p:cNvSpPr/>
          <p:nvPr/>
        </p:nvSpPr>
        <p:spPr>
          <a:xfrm>
            <a:off x="1047750" y="7355075"/>
            <a:ext cx="16221000" cy="1657500"/>
          </a:xfrm>
          <a:prstGeom prst="roundRect">
            <a:avLst>
              <a:gd fmla="val 9195"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3"/>
          <p:cNvSpPr/>
          <p:nvPr/>
        </p:nvSpPr>
        <p:spPr>
          <a:xfrm>
            <a:off x="1333500" y="7621300"/>
            <a:ext cx="15625200" cy="12381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D97D00"/>
              </a:buClr>
              <a:buSzPts val="2250"/>
              <a:buFont typeface="Gabarito"/>
              <a:buNone/>
            </a:pPr>
            <a:r>
              <a:rPr b="1" i="0" lang="en-US" sz="2400" u="none" cap="none" strike="noStrike">
                <a:solidFill>
                  <a:srgbClr val="D97D00"/>
                </a:solidFill>
                <a:latin typeface="Gabarito"/>
                <a:ea typeface="Gabarito"/>
                <a:cs typeface="Gabarito"/>
                <a:sym typeface="Gabarito"/>
              </a:rPr>
              <a:t>Why it matters: </a:t>
            </a:r>
            <a:r>
              <a:rPr b="0" i="0" lang="en-US" sz="2400" u="none" cap="none" strike="noStrike">
                <a:solidFill>
                  <a:srgbClr val="5B5B5B"/>
                </a:solidFill>
                <a:latin typeface="Gabarito"/>
                <a:ea typeface="Gabarito"/>
                <a:cs typeface="Gabarito"/>
                <a:sym typeface="Gabarito"/>
              </a:rPr>
              <a:t>it produces the most natural chunks, but that quality comes at a real compute cost </a:t>
            </a:r>
            <a:r>
              <a:rPr lang="en-US" sz="2400">
                <a:solidFill>
                  <a:srgbClr val="5B5B5B"/>
                </a:solidFill>
                <a:latin typeface="Gabarito"/>
                <a:ea typeface="Gabarito"/>
                <a:cs typeface="Gabarito"/>
                <a:sym typeface="Gabarito"/>
              </a:rPr>
              <a:t>-</a:t>
            </a:r>
            <a:r>
              <a:rPr b="0" i="0" lang="en-US" sz="2400" u="none" cap="none" strike="noStrike">
                <a:solidFill>
                  <a:srgbClr val="5B5B5B"/>
                </a:solidFill>
                <a:latin typeface="Gabarito"/>
                <a:ea typeface="Gabarito"/>
                <a:cs typeface="Gabarito"/>
                <a:sym typeface="Gabarito"/>
              </a:rPr>
              <a:t> worth knowing before defaulting to it.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pic>
        <p:nvPicPr>
          <p:cNvPr descr="preencoded.png" id="571" name="Google Shape;571;g3f776df2723_1_74"/>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572" name="Google Shape;572;g3f776df2723_1_74"/>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2 — Chunking</a:t>
            </a:r>
            <a:endParaRPr b="0" i="0" sz="3000" u="none" cap="none" strike="noStrike">
              <a:solidFill>
                <a:schemeClr val="dk1"/>
              </a:solidFill>
              <a:latin typeface="Calibri"/>
              <a:ea typeface="Calibri"/>
              <a:cs typeface="Calibri"/>
              <a:sym typeface="Calibri"/>
            </a:endParaRPr>
          </a:p>
        </p:txBody>
      </p:sp>
      <p:sp>
        <p:nvSpPr>
          <p:cNvPr id="573" name="Google Shape;573;g3f776df2723_1_74"/>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Semantic Chunking</a:t>
            </a:r>
            <a:endParaRPr b="0" i="0" sz="6000" u="none" cap="none" strike="noStrike">
              <a:solidFill>
                <a:schemeClr val="dk1"/>
              </a:solidFill>
              <a:latin typeface="Calibri"/>
              <a:ea typeface="Calibri"/>
              <a:cs typeface="Calibri"/>
              <a:sym typeface="Calibri"/>
            </a:endParaRPr>
          </a:p>
        </p:txBody>
      </p:sp>
      <p:sp>
        <p:nvSpPr>
          <p:cNvPr id="574" name="Google Shape;574;g3f776df2723_1_74"/>
          <p:cNvSpPr/>
          <p:nvPr/>
        </p:nvSpPr>
        <p:spPr>
          <a:xfrm>
            <a:off x="1047750" y="5827350"/>
            <a:ext cx="16221000" cy="3594000"/>
          </a:xfrm>
          <a:prstGeom prst="roundRect">
            <a:avLst>
              <a:gd fmla="val 3332" name="adj"/>
            </a:avLst>
          </a:prstGeom>
          <a:solidFill>
            <a:srgbClr val="FAF9F5"/>
          </a:solid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3f776df2723_1_74"/>
          <p:cNvSpPr/>
          <p:nvPr/>
        </p:nvSpPr>
        <p:spPr>
          <a:xfrm>
            <a:off x="1426850" y="6132161"/>
            <a:ext cx="79419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550"/>
              <a:buFont typeface="Gabarito"/>
              <a:buNone/>
            </a:pPr>
            <a:r>
              <a:rPr b="1" i="0" lang="en-US" sz="2550" u="none" cap="none" strike="noStrike">
                <a:solidFill>
                  <a:srgbClr val="274D71"/>
                </a:solidFill>
                <a:latin typeface="Gabarito"/>
                <a:ea typeface="Gabarito"/>
                <a:cs typeface="Gabarito"/>
                <a:sym typeface="Gabarito"/>
              </a:rPr>
              <a:t>Example — split follows topic, not length</a:t>
            </a:r>
            <a:endParaRPr b="0" i="0" sz="2550" u="none" cap="none" strike="noStrike">
              <a:solidFill>
                <a:schemeClr val="dk1"/>
              </a:solidFill>
              <a:latin typeface="Calibri"/>
              <a:ea typeface="Calibri"/>
              <a:cs typeface="Calibri"/>
              <a:sym typeface="Calibri"/>
            </a:endParaRPr>
          </a:p>
        </p:txBody>
      </p:sp>
      <p:sp>
        <p:nvSpPr>
          <p:cNvPr id="576" name="Google Shape;576;g3f776df2723_1_74"/>
          <p:cNvSpPr/>
          <p:nvPr/>
        </p:nvSpPr>
        <p:spPr>
          <a:xfrm>
            <a:off x="1426850" y="6942108"/>
            <a:ext cx="38100" cy="1143000"/>
          </a:xfrm>
          <a:prstGeom prst="rect">
            <a:avLst/>
          </a:prstGeom>
          <a:solidFill>
            <a:srgbClr val="6E7D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3f776df2723_1_74"/>
          <p:cNvSpPr/>
          <p:nvPr/>
        </p:nvSpPr>
        <p:spPr>
          <a:xfrm>
            <a:off x="1636400" y="6942108"/>
            <a:ext cx="77115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250"/>
              <a:buFont typeface="Gabarito"/>
              <a:buNone/>
            </a:pPr>
            <a:r>
              <a:rPr b="1" i="0" lang="en-US" sz="2250" u="none" cap="none" strike="noStrike">
                <a:solidFill>
                  <a:srgbClr val="4C5A33"/>
                </a:solidFill>
                <a:latin typeface="Gabarito"/>
                <a:ea typeface="Gabarito"/>
                <a:cs typeface="Gabarito"/>
                <a:sym typeface="Gabarito"/>
              </a:rPr>
              <a:t>Chunk 1 — topic: dogs</a:t>
            </a:r>
            <a:endParaRPr b="0" i="0" sz="2250" u="none" cap="none" strike="noStrike">
              <a:solidFill>
                <a:schemeClr val="dk1"/>
              </a:solidFill>
              <a:latin typeface="Calibri"/>
              <a:ea typeface="Calibri"/>
              <a:cs typeface="Calibri"/>
              <a:sym typeface="Calibri"/>
            </a:endParaRPr>
          </a:p>
        </p:txBody>
      </p:sp>
      <p:sp>
        <p:nvSpPr>
          <p:cNvPr id="578" name="Google Shape;578;g3f776df2723_1_74"/>
          <p:cNvSpPr/>
          <p:nvPr/>
        </p:nvSpPr>
        <p:spPr>
          <a:xfrm>
            <a:off x="1636400" y="7342158"/>
            <a:ext cx="7220700" cy="781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7474F"/>
              </a:buClr>
              <a:buSzPts val="2175"/>
              <a:buFont typeface="JetBrains Mono"/>
              <a:buNone/>
            </a:pPr>
            <a:r>
              <a:rPr b="0" i="0" lang="en-US" sz="2175" u="none" cap="none" strike="noStrike">
                <a:solidFill>
                  <a:srgbClr val="37474F"/>
                </a:solidFill>
                <a:latin typeface="JetBrains Mono"/>
                <a:ea typeface="JetBrains Mono"/>
                <a:cs typeface="JetBrains Mono"/>
                <a:sym typeface="JetBrains Mono"/>
              </a:rPr>
              <a:t>"Dogs are loyal animals... guiding blind people."</a:t>
            </a:r>
            <a:endParaRPr b="0" i="0" sz="2175" u="none" cap="none" strike="noStrike">
              <a:solidFill>
                <a:schemeClr val="dk1"/>
              </a:solidFill>
              <a:latin typeface="Calibri"/>
              <a:ea typeface="Calibri"/>
              <a:cs typeface="Calibri"/>
              <a:sym typeface="Calibri"/>
            </a:endParaRPr>
          </a:p>
        </p:txBody>
      </p:sp>
      <p:sp>
        <p:nvSpPr>
          <p:cNvPr id="579" name="Google Shape;579;g3f776df2723_1_74"/>
          <p:cNvSpPr/>
          <p:nvPr/>
        </p:nvSpPr>
        <p:spPr>
          <a:xfrm>
            <a:off x="9028550" y="6942107"/>
            <a:ext cx="38100" cy="1143000"/>
          </a:xfrm>
          <a:prstGeom prst="rect">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3f776df2723_1_74"/>
          <p:cNvSpPr/>
          <p:nvPr/>
        </p:nvSpPr>
        <p:spPr>
          <a:xfrm>
            <a:off x="9238100" y="6942107"/>
            <a:ext cx="77115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250"/>
              <a:buFont typeface="Gabarito"/>
              <a:buNone/>
            </a:pPr>
            <a:r>
              <a:rPr b="1" i="0" lang="en-US" sz="2250" u="none" cap="none" strike="noStrike">
                <a:solidFill>
                  <a:srgbClr val="D97D00"/>
                </a:solidFill>
                <a:latin typeface="Gabarito"/>
                <a:ea typeface="Gabarito"/>
                <a:cs typeface="Gabarito"/>
                <a:sym typeface="Gabarito"/>
              </a:rPr>
              <a:t>Chunk 2 — topic: cats</a:t>
            </a:r>
            <a:endParaRPr b="0" i="0" sz="2250" u="none" cap="none" strike="noStrike">
              <a:solidFill>
                <a:schemeClr val="dk1"/>
              </a:solidFill>
              <a:latin typeface="Calibri"/>
              <a:ea typeface="Calibri"/>
              <a:cs typeface="Calibri"/>
              <a:sym typeface="Calibri"/>
            </a:endParaRPr>
          </a:p>
        </p:txBody>
      </p:sp>
      <p:sp>
        <p:nvSpPr>
          <p:cNvPr id="581" name="Google Shape;581;g3f776df2723_1_74"/>
          <p:cNvSpPr/>
          <p:nvPr/>
        </p:nvSpPr>
        <p:spPr>
          <a:xfrm>
            <a:off x="9238100" y="7342157"/>
            <a:ext cx="6882300" cy="781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7474F"/>
              </a:buClr>
              <a:buSzPts val="2175"/>
              <a:buFont typeface="JetBrains Mono"/>
              <a:buNone/>
            </a:pPr>
            <a:r>
              <a:rPr b="0" i="0" lang="en-US" sz="2175" u="none" cap="none" strike="noStrike">
                <a:solidFill>
                  <a:srgbClr val="37474F"/>
                </a:solidFill>
                <a:latin typeface="JetBrains Mono"/>
                <a:ea typeface="JetBrains Mono"/>
                <a:cs typeface="JetBrains Mono"/>
                <a:sym typeface="JetBrains Mono"/>
              </a:rPr>
              <a:t>"Cats are more independent... low-maintenance pets."</a:t>
            </a:r>
            <a:endParaRPr b="0" i="0" sz="2175" u="none" cap="none" strike="noStrike">
              <a:solidFill>
                <a:schemeClr val="dk1"/>
              </a:solidFill>
              <a:latin typeface="Calibri"/>
              <a:ea typeface="Calibri"/>
              <a:cs typeface="Calibri"/>
              <a:sym typeface="Calibri"/>
            </a:endParaRPr>
          </a:p>
        </p:txBody>
      </p:sp>
      <p:sp>
        <p:nvSpPr>
          <p:cNvPr id="582" name="Google Shape;582;g3f776df2723_1_74"/>
          <p:cNvSpPr/>
          <p:nvPr/>
        </p:nvSpPr>
        <p:spPr>
          <a:xfrm>
            <a:off x="1426850" y="8466350"/>
            <a:ext cx="15303900" cy="811500"/>
          </a:xfrm>
          <a:prstGeom prst="rect">
            <a:avLst/>
          </a:prstGeom>
          <a:noFill/>
          <a:ln>
            <a:noFill/>
          </a:ln>
        </p:spPr>
        <p:txBody>
          <a:bodyPr anchorCtr="0" anchor="t" bIns="25400" lIns="25400" spcFirstLastPara="1" rIns="25400" wrap="square" tIns="25400">
            <a:noAutofit/>
          </a:bodyPr>
          <a:lstStyle/>
          <a:p>
            <a:pPr indent="0" lvl="0" marL="0" marR="0" rtl="0" algn="l">
              <a:lnSpc>
                <a:spcPct val="116000"/>
              </a:lnSpc>
              <a:spcBef>
                <a:spcPts val="0"/>
              </a:spcBef>
              <a:spcAft>
                <a:spcPts val="0"/>
              </a:spcAft>
              <a:buClr>
                <a:srgbClr val="5B5B5B"/>
              </a:buClr>
              <a:buSzPts val="2175"/>
              <a:buFont typeface="Gabarito"/>
              <a:buNone/>
            </a:pPr>
            <a:r>
              <a:rPr b="0" i="0" lang="en-US" sz="2400" u="none" cap="none" strike="noStrike">
                <a:solidFill>
                  <a:srgbClr val="5B5B5B"/>
                </a:solidFill>
                <a:latin typeface="Gabarito"/>
                <a:ea typeface="Gabarito"/>
                <a:cs typeface="Gabarito"/>
                <a:sym typeface="Gabarito"/>
              </a:rPr>
              <a:t>This time the split happens because the topic changed</a:t>
            </a:r>
            <a:r>
              <a:rPr lang="en-US" sz="2400">
                <a:solidFill>
                  <a:srgbClr val="5B5B5B"/>
                </a:solidFill>
                <a:latin typeface="Gabarito"/>
                <a:ea typeface="Gabarito"/>
                <a:cs typeface="Gabarito"/>
                <a:sym typeface="Gabarito"/>
              </a:rPr>
              <a:t> - </a:t>
            </a:r>
            <a:r>
              <a:rPr b="0" i="0" lang="en-US" sz="2400" u="none" cap="none" strike="noStrike">
                <a:solidFill>
                  <a:srgbClr val="5B5B5B"/>
                </a:solidFill>
                <a:latin typeface="Gabarito"/>
                <a:ea typeface="Gabarito"/>
                <a:cs typeface="Gabarito"/>
                <a:sym typeface="Gabarito"/>
              </a:rPr>
              <a:t> not because of length or position.</a:t>
            </a:r>
            <a:endParaRPr b="0" i="0" sz="2400" u="none" cap="none" strike="noStrike">
              <a:solidFill>
                <a:schemeClr val="dk1"/>
              </a:solidFill>
              <a:latin typeface="Calibri"/>
              <a:ea typeface="Calibri"/>
              <a:cs typeface="Calibri"/>
              <a:sym typeface="Calibri"/>
            </a:endParaRPr>
          </a:p>
        </p:txBody>
      </p:sp>
      <p:pic>
        <p:nvPicPr>
          <p:cNvPr id="583" name="Google Shape;583;g3f776df2723_1_74" title="ChatGPT Image Aug 20, 2026, 10_44_28 AM.png"/>
          <p:cNvPicPr preferRelativeResize="0"/>
          <p:nvPr/>
        </p:nvPicPr>
        <p:blipFill rotWithShape="1">
          <a:blip r:embed="rId4">
            <a:alphaModFix/>
          </a:blip>
          <a:srcRect b="44688" l="0" r="0" t="36189"/>
          <a:stretch/>
        </p:blipFill>
        <p:spPr>
          <a:xfrm>
            <a:off x="2199675" y="3116228"/>
            <a:ext cx="13888650" cy="1304174"/>
          </a:xfrm>
          <a:prstGeom prst="rect">
            <a:avLst/>
          </a:prstGeom>
          <a:noFill/>
          <a:ln>
            <a:noFill/>
          </a:ln>
        </p:spPr>
      </p:pic>
      <p:sp>
        <p:nvSpPr>
          <p:cNvPr id="584" name="Google Shape;584;g3f776df2723_1_74"/>
          <p:cNvSpPr/>
          <p:nvPr/>
        </p:nvSpPr>
        <p:spPr>
          <a:xfrm>
            <a:off x="2880976" y="4534739"/>
            <a:ext cx="14840100" cy="9381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lang="en-US" sz="2200">
                <a:solidFill>
                  <a:srgbClr val="212121"/>
                </a:solidFill>
                <a:latin typeface="Gabarito"/>
                <a:ea typeface="Gabarito"/>
                <a:cs typeface="Gabarito"/>
                <a:sym typeface="Gabarito"/>
              </a:rPr>
              <a:t>Cuts fall only where meaning shifts - groups related sentences</a:t>
            </a:r>
            <a:endParaRPr sz="2200">
              <a:solidFill>
                <a:srgbClr val="212121"/>
              </a:solidFill>
              <a:latin typeface="Gabarito"/>
              <a:ea typeface="Gabarito"/>
              <a:cs typeface="Gabarito"/>
              <a:sym typeface="Gabarito"/>
            </a:endParaRPr>
          </a:p>
        </p:txBody>
      </p:sp>
      <p:sp>
        <p:nvSpPr>
          <p:cNvPr id="585" name="Google Shape;585;g3f776df2723_1_74"/>
          <p:cNvSpPr/>
          <p:nvPr/>
        </p:nvSpPr>
        <p:spPr>
          <a:xfrm>
            <a:off x="4236525" y="2581625"/>
            <a:ext cx="2847000" cy="495300"/>
          </a:xfrm>
          <a:prstGeom prst="rect">
            <a:avLst/>
          </a:prstGeom>
          <a:noFill/>
          <a:ln>
            <a:noFill/>
          </a:ln>
        </p:spPr>
        <p:txBody>
          <a:bodyPr anchorCtr="0" anchor="t" bIns="25400" lIns="25400" spcFirstLastPara="1" rIns="25400" wrap="square" tIns="25400">
            <a:noAutofit/>
          </a:bodyPr>
          <a:lstStyle/>
          <a:p>
            <a:pPr indent="0" lvl="0" marL="0" marR="0" rtl="0" algn="ctr">
              <a:lnSpc>
                <a:spcPct val="112500"/>
              </a:lnSpc>
              <a:spcBef>
                <a:spcPts val="0"/>
              </a:spcBef>
              <a:spcAft>
                <a:spcPts val="0"/>
              </a:spcAft>
              <a:buClr>
                <a:srgbClr val="212121"/>
              </a:buClr>
              <a:buSzPts val="2625"/>
              <a:buFont typeface="Gabarito"/>
              <a:buNone/>
            </a:pPr>
            <a:r>
              <a:rPr b="1" lang="en-US" sz="2600">
                <a:solidFill>
                  <a:srgbClr val="7979D7"/>
                </a:solidFill>
                <a:latin typeface="Gabarito"/>
                <a:ea typeface="Gabarito"/>
                <a:cs typeface="Gabarito"/>
                <a:sym typeface="Gabarito"/>
              </a:rPr>
              <a:t>Same Topic</a:t>
            </a:r>
            <a:endParaRPr b="1" sz="2600">
              <a:solidFill>
                <a:srgbClr val="7979D7"/>
              </a:solidFill>
              <a:latin typeface="Gabarito"/>
              <a:ea typeface="Gabarito"/>
              <a:cs typeface="Gabarito"/>
              <a:sym typeface="Gabarito"/>
            </a:endParaRPr>
          </a:p>
        </p:txBody>
      </p:sp>
      <p:sp>
        <p:nvSpPr>
          <p:cNvPr id="586" name="Google Shape;586;g3f776df2723_1_74"/>
          <p:cNvSpPr/>
          <p:nvPr/>
        </p:nvSpPr>
        <p:spPr>
          <a:xfrm>
            <a:off x="11670350" y="2600750"/>
            <a:ext cx="2847000" cy="495300"/>
          </a:xfrm>
          <a:prstGeom prst="rect">
            <a:avLst/>
          </a:prstGeom>
          <a:noFill/>
          <a:ln>
            <a:noFill/>
          </a:ln>
        </p:spPr>
        <p:txBody>
          <a:bodyPr anchorCtr="0" anchor="t" bIns="25400" lIns="25400" spcFirstLastPara="1" rIns="25400" wrap="square" tIns="25400">
            <a:noAutofit/>
          </a:bodyPr>
          <a:lstStyle/>
          <a:p>
            <a:pPr indent="0" lvl="0" marL="0" marR="0" rtl="0" algn="ctr">
              <a:lnSpc>
                <a:spcPct val="112500"/>
              </a:lnSpc>
              <a:spcBef>
                <a:spcPts val="0"/>
              </a:spcBef>
              <a:spcAft>
                <a:spcPts val="0"/>
              </a:spcAft>
              <a:buClr>
                <a:srgbClr val="212121"/>
              </a:buClr>
              <a:buSzPts val="2625"/>
              <a:buFont typeface="Gabarito"/>
              <a:buNone/>
            </a:pPr>
            <a:r>
              <a:rPr b="1" lang="en-US" sz="2600">
                <a:solidFill>
                  <a:srgbClr val="FF9900"/>
                </a:solidFill>
                <a:latin typeface="Gabarito"/>
                <a:ea typeface="Gabarito"/>
                <a:cs typeface="Gabarito"/>
                <a:sym typeface="Gabarito"/>
              </a:rPr>
              <a:t>New </a:t>
            </a:r>
            <a:r>
              <a:rPr b="1" lang="en-US" sz="2600">
                <a:solidFill>
                  <a:srgbClr val="FF9900"/>
                </a:solidFill>
                <a:latin typeface="Gabarito"/>
                <a:ea typeface="Gabarito"/>
                <a:cs typeface="Gabarito"/>
                <a:sym typeface="Gabarito"/>
              </a:rPr>
              <a:t>Topic</a:t>
            </a:r>
            <a:endParaRPr b="1" sz="2600">
              <a:solidFill>
                <a:srgbClr val="FF9900"/>
              </a:solidFill>
              <a:latin typeface="Gabarito"/>
              <a:ea typeface="Gabarito"/>
              <a:cs typeface="Gabarito"/>
              <a:sym typeface="Gabar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pic>
        <p:nvPicPr>
          <p:cNvPr descr="preencoded.png" id="592" name="Google Shape;592;p24"/>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593" name="Google Shape;593;p24"/>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Comparison</a:t>
            </a:r>
            <a:endParaRPr b="0" i="0" sz="3000" u="none" cap="none" strike="noStrike">
              <a:solidFill>
                <a:schemeClr val="dk1"/>
              </a:solidFill>
              <a:latin typeface="Calibri"/>
              <a:ea typeface="Calibri"/>
              <a:cs typeface="Calibri"/>
              <a:sym typeface="Calibri"/>
            </a:endParaRPr>
          </a:p>
        </p:txBody>
      </p:sp>
      <p:sp>
        <p:nvSpPr>
          <p:cNvPr id="594" name="Google Shape;594;p24"/>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Chunking Strategies Compared</a:t>
            </a:r>
            <a:endParaRPr b="0" i="0" sz="6000" u="none" cap="none" strike="noStrike">
              <a:solidFill>
                <a:schemeClr val="dk1"/>
              </a:solidFill>
              <a:latin typeface="Calibri"/>
              <a:ea typeface="Calibri"/>
              <a:cs typeface="Calibri"/>
              <a:sym typeface="Calibri"/>
            </a:endParaRPr>
          </a:p>
        </p:txBody>
      </p:sp>
      <p:sp>
        <p:nvSpPr>
          <p:cNvPr id="595" name="Google Shape;595;p24"/>
          <p:cNvSpPr/>
          <p:nvPr/>
        </p:nvSpPr>
        <p:spPr>
          <a:xfrm>
            <a:off x="1047750" y="2995050"/>
            <a:ext cx="2590800" cy="752475"/>
          </a:xfrm>
          <a:custGeom>
            <a:rect b="b" l="l" r="r" t="t"/>
            <a:pathLst>
              <a:path extrusionOk="0" h="752475" w="2590800">
                <a:moveTo>
                  <a:pt x="133350" y="0"/>
                </a:moveTo>
                <a:lnTo>
                  <a:pt x="2590800" y="0"/>
                </a:lnTo>
                <a:lnTo>
                  <a:pt x="2590800" y="752475"/>
                </a:lnTo>
                <a:lnTo>
                  <a:pt x="0" y="752475"/>
                </a:lnTo>
                <a:lnTo>
                  <a:pt x="0" y="133350"/>
                </a:lnTo>
                <a:cubicBezTo>
                  <a:pt x="0" y="59703"/>
                  <a:pt x="59703" y="0"/>
                  <a:pt x="133350" y="0"/>
                </a:cubicBezTo>
                <a:close/>
              </a:path>
            </a:pathLst>
          </a:cu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24"/>
          <p:cNvSpPr/>
          <p:nvPr/>
        </p:nvSpPr>
        <p:spPr>
          <a:xfrm>
            <a:off x="1333500" y="3166500"/>
            <a:ext cx="2097000" cy="447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700"/>
              <a:buFont typeface="Gabarito"/>
              <a:buNone/>
            </a:pPr>
            <a:r>
              <a:rPr b="1" i="0" lang="en-US" sz="2700" u="none" cap="none" strike="noStrike">
                <a:solidFill>
                  <a:srgbClr val="FFFFFF"/>
                </a:solidFill>
                <a:latin typeface="Gabarito"/>
                <a:ea typeface="Gabarito"/>
                <a:cs typeface="Gabarito"/>
                <a:sym typeface="Gabarito"/>
              </a:rPr>
              <a:t>Strategy</a:t>
            </a:r>
            <a:endParaRPr b="0" i="0" sz="2700" u="none" cap="none" strike="noStrike">
              <a:solidFill>
                <a:schemeClr val="dk1"/>
              </a:solidFill>
              <a:latin typeface="Calibri"/>
              <a:ea typeface="Calibri"/>
              <a:cs typeface="Calibri"/>
              <a:sym typeface="Calibri"/>
            </a:endParaRPr>
          </a:p>
        </p:txBody>
      </p:sp>
      <p:sp>
        <p:nvSpPr>
          <p:cNvPr id="597" name="Google Shape;597;p24"/>
          <p:cNvSpPr/>
          <p:nvPr/>
        </p:nvSpPr>
        <p:spPr>
          <a:xfrm>
            <a:off x="3638550" y="2995050"/>
            <a:ext cx="5505600" cy="752400"/>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4"/>
          <p:cNvSpPr/>
          <p:nvPr/>
        </p:nvSpPr>
        <p:spPr>
          <a:xfrm>
            <a:off x="3924300" y="3166500"/>
            <a:ext cx="5099100" cy="447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700"/>
              <a:buFont typeface="Gabarito"/>
              <a:buNone/>
            </a:pPr>
            <a:r>
              <a:rPr b="1" i="0" lang="en-US" sz="2700" u="none" cap="none" strike="noStrike">
                <a:solidFill>
                  <a:srgbClr val="FFFFFF"/>
                </a:solidFill>
                <a:latin typeface="Gabarito"/>
                <a:ea typeface="Gabarito"/>
                <a:cs typeface="Gabarito"/>
                <a:sym typeface="Gabarito"/>
              </a:rPr>
              <a:t>How it decides where to cut</a:t>
            </a:r>
            <a:endParaRPr b="0" i="0" sz="2700" u="none" cap="none" strike="noStrike">
              <a:solidFill>
                <a:schemeClr val="dk1"/>
              </a:solidFill>
              <a:latin typeface="Calibri"/>
              <a:ea typeface="Calibri"/>
              <a:cs typeface="Calibri"/>
              <a:sym typeface="Calibri"/>
            </a:endParaRPr>
          </a:p>
        </p:txBody>
      </p:sp>
      <p:sp>
        <p:nvSpPr>
          <p:cNvPr id="599" name="Google Shape;599;p24"/>
          <p:cNvSpPr/>
          <p:nvPr/>
        </p:nvSpPr>
        <p:spPr>
          <a:xfrm>
            <a:off x="9144000" y="2995050"/>
            <a:ext cx="3886200" cy="752400"/>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24"/>
          <p:cNvSpPr/>
          <p:nvPr/>
        </p:nvSpPr>
        <p:spPr>
          <a:xfrm>
            <a:off x="9429750" y="3166500"/>
            <a:ext cx="3431400" cy="447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700"/>
              <a:buFont typeface="Gabarito"/>
              <a:buNone/>
            </a:pPr>
            <a:r>
              <a:rPr b="1" i="0" lang="en-US" sz="2700" u="none" cap="none" strike="noStrike">
                <a:solidFill>
                  <a:srgbClr val="FFFFFF"/>
                </a:solidFill>
                <a:latin typeface="Gabarito"/>
                <a:ea typeface="Gabarito"/>
                <a:cs typeface="Gabarito"/>
                <a:sym typeface="Gabarito"/>
              </a:rPr>
              <a:t>Speed &amp; Cost</a:t>
            </a:r>
            <a:endParaRPr b="0" i="0" sz="2700" u="none" cap="none" strike="noStrike">
              <a:solidFill>
                <a:schemeClr val="dk1"/>
              </a:solidFill>
              <a:latin typeface="Calibri"/>
              <a:ea typeface="Calibri"/>
              <a:cs typeface="Calibri"/>
              <a:sym typeface="Calibri"/>
            </a:endParaRPr>
          </a:p>
        </p:txBody>
      </p:sp>
      <p:sp>
        <p:nvSpPr>
          <p:cNvPr id="601" name="Google Shape;601;p24"/>
          <p:cNvSpPr/>
          <p:nvPr/>
        </p:nvSpPr>
        <p:spPr>
          <a:xfrm>
            <a:off x="13030200" y="2995050"/>
            <a:ext cx="4210050" cy="752475"/>
          </a:xfrm>
          <a:custGeom>
            <a:rect b="b" l="l" r="r" t="t"/>
            <a:pathLst>
              <a:path extrusionOk="0" h="752475" w="4210050">
                <a:moveTo>
                  <a:pt x="0" y="0"/>
                </a:moveTo>
                <a:lnTo>
                  <a:pt x="4076700" y="0"/>
                </a:lnTo>
                <a:cubicBezTo>
                  <a:pt x="4112067" y="0"/>
                  <a:pt x="4145985" y="14049"/>
                  <a:pt x="4170993" y="39057"/>
                </a:cubicBezTo>
                <a:cubicBezTo>
                  <a:pt x="4196001" y="64065"/>
                  <a:pt x="4210050" y="97983"/>
                  <a:pt x="4210050" y="133350"/>
                </a:cubicBezTo>
                <a:lnTo>
                  <a:pt x="4210050" y="752475"/>
                </a:lnTo>
                <a:lnTo>
                  <a:pt x="0" y="752475"/>
                </a:lnTo>
                <a:lnTo>
                  <a:pt x="0" y="0"/>
                </a:lnTo>
                <a:close/>
              </a:path>
            </a:pathLst>
          </a:cu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4"/>
          <p:cNvSpPr/>
          <p:nvPr/>
        </p:nvSpPr>
        <p:spPr>
          <a:xfrm>
            <a:off x="13315950" y="3166500"/>
            <a:ext cx="3765000" cy="447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700"/>
              <a:buFont typeface="Gabarito"/>
              <a:buNone/>
            </a:pPr>
            <a:r>
              <a:rPr b="1" i="0" lang="en-US" sz="2700" u="none" cap="none" strike="noStrike">
                <a:solidFill>
                  <a:srgbClr val="FFFFFF"/>
                </a:solidFill>
                <a:latin typeface="Gabarito"/>
                <a:ea typeface="Gabarito"/>
                <a:cs typeface="Gabarito"/>
                <a:sym typeface="Gabarito"/>
              </a:rPr>
              <a:t>Best for</a:t>
            </a:r>
            <a:endParaRPr b="0" i="0" sz="2700" u="none" cap="none" strike="noStrike">
              <a:solidFill>
                <a:schemeClr val="dk1"/>
              </a:solidFill>
              <a:latin typeface="Calibri"/>
              <a:ea typeface="Calibri"/>
              <a:cs typeface="Calibri"/>
              <a:sym typeface="Calibri"/>
            </a:endParaRPr>
          </a:p>
        </p:txBody>
      </p:sp>
      <p:sp>
        <p:nvSpPr>
          <p:cNvPr id="603" name="Google Shape;603;p24"/>
          <p:cNvSpPr/>
          <p:nvPr/>
        </p:nvSpPr>
        <p:spPr>
          <a:xfrm>
            <a:off x="1047750" y="4985775"/>
            <a:ext cx="25908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4"/>
          <p:cNvSpPr/>
          <p:nvPr/>
        </p:nvSpPr>
        <p:spPr>
          <a:xfrm>
            <a:off x="1333500" y="3957075"/>
            <a:ext cx="2097000" cy="8574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274D71"/>
              </a:buClr>
              <a:buSzPts val="2700"/>
              <a:buFont typeface="Gabarito"/>
              <a:buNone/>
            </a:pPr>
            <a:r>
              <a:rPr b="1" i="0" lang="en-US" sz="2400" u="none" cap="none" strike="noStrike">
                <a:solidFill>
                  <a:srgbClr val="274D71"/>
                </a:solidFill>
                <a:latin typeface="Gabarito"/>
                <a:ea typeface="Gabarito"/>
                <a:cs typeface="Gabarito"/>
                <a:sym typeface="Gabarito"/>
              </a:rPr>
              <a:t>Fixed-size</a:t>
            </a:r>
            <a:endParaRPr b="0" i="0" sz="2400" u="none" cap="none" strike="noStrike">
              <a:solidFill>
                <a:schemeClr val="dk1"/>
              </a:solidFill>
              <a:latin typeface="Calibri"/>
              <a:ea typeface="Calibri"/>
              <a:cs typeface="Calibri"/>
              <a:sym typeface="Calibri"/>
            </a:endParaRPr>
          </a:p>
        </p:txBody>
      </p:sp>
      <p:sp>
        <p:nvSpPr>
          <p:cNvPr id="605" name="Google Shape;605;p24"/>
          <p:cNvSpPr/>
          <p:nvPr/>
        </p:nvSpPr>
        <p:spPr>
          <a:xfrm>
            <a:off x="3638550" y="4985775"/>
            <a:ext cx="55056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24"/>
          <p:cNvSpPr/>
          <p:nvPr/>
        </p:nvSpPr>
        <p:spPr>
          <a:xfrm>
            <a:off x="3924300" y="3957075"/>
            <a:ext cx="5099100" cy="8574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00"/>
              <a:buFont typeface="Gabarito"/>
              <a:buNone/>
            </a:pPr>
            <a:r>
              <a:rPr b="0" i="0" lang="en-US" sz="2400" u="none" cap="none" strike="noStrike">
                <a:solidFill>
                  <a:srgbClr val="5B5B5B"/>
                </a:solidFill>
                <a:latin typeface="Gabarito"/>
                <a:ea typeface="Gabarito"/>
                <a:cs typeface="Gabarito"/>
                <a:sym typeface="Gabarito"/>
              </a:rPr>
              <a:t>Fixed length (characters/tokens), ignores content</a:t>
            </a:r>
            <a:endParaRPr b="0" i="0" sz="2400" u="none" cap="none" strike="noStrike">
              <a:solidFill>
                <a:schemeClr val="dk1"/>
              </a:solidFill>
              <a:latin typeface="Calibri"/>
              <a:ea typeface="Calibri"/>
              <a:cs typeface="Calibri"/>
              <a:sym typeface="Calibri"/>
            </a:endParaRPr>
          </a:p>
        </p:txBody>
      </p:sp>
      <p:sp>
        <p:nvSpPr>
          <p:cNvPr id="607" name="Google Shape;607;p24"/>
          <p:cNvSpPr/>
          <p:nvPr/>
        </p:nvSpPr>
        <p:spPr>
          <a:xfrm>
            <a:off x="9144000" y="4985775"/>
            <a:ext cx="38862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4"/>
          <p:cNvSpPr/>
          <p:nvPr/>
        </p:nvSpPr>
        <p:spPr>
          <a:xfrm>
            <a:off x="9429750" y="3957075"/>
            <a:ext cx="3431400" cy="8574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4C5A33"/>
              </a:buClr>
              <a:buSzPts val="2700"/>
              <a:buFont typeface="Gabarito"/>
              <a:buNone/>
            </a:pPr>
            <a:r>
              <a:rPr b="1" i="0" lang="en-US" sz="2400" u="none" cap="none" strike="noStrike">
                <a:solidFill>
                  <a:srgbClr val="4C5A33"/>
                </a:solidFill>
                <a:latin typeface="Gabarito"/>
                <a:ea typeface="Gabarito"/>
                <a:cs typeface="Gabarito"/>
                <a:sym typeface="Gabarito"/>
              </a:rPr>
              <a:t>Fastest - no extra processing</a:t>
            </a:r>
            <a:endParaRPr b="0" i="0" sz="2400" u="none" cap="none" strike="noStrike">
              <a:solidFill>
                <a:schemeClr val="dk1"/>
              </a:solidFill>
              <a:latin typeface="Calibri"/>
              <a:ea typeface="Calibri"/>
              <a:cs typeface="Calibri"/>
              <a:sym typeface="Calibri"/>
            </a:endParaRPr>
          </a:p>
        </p:txBody>
      </p:sp>
      <p:sp>
        <p:nvSpPr>
          <p:cNvPr id="609" name="Google Shape;609;p24"/>
          <p:cNvSpPr/>
          <p:nvPr/>
        </p:nvSpPr>
        <p:spPr>
          <a:xfrm>
            <a:off x="13030200" y="4985775"/>
            <a:ext cx="42102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4"/>
          <p:cNvSpPr/>
          <p:nvPr/>
        </p:nvSpPr>
        <p:spPr>
          <a:xfrm>
            <a:off x="13315950" y="3957075"/>
            <a:ext cx="3765000" cy="8574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00"/>
              <a:buFont typeface="Gabarito"/>
              <a:buNone/>
            </a:pPr>
            <a:r>
              <a:rPr b="0" i="0" lang="en-US" sz="2400" u="none" cap="none" strike="noStrike">
                <a:solidFill>
                  <a:srgbClr val="5B5B5B"/>
                </a:solidFill>
                <a:latin typeface="Gabarito"/>
                <a:ea typeface="Gabarito"/>
                <a:cs typeface="Gabarito"/>
                <a:sym typeface="Gabarito"/>
              </a:rPr>
              <a:t>Quick prototypes, short uniform text</a:t>
            </a:r>
            <a:endParaRPr b="0" i="0" sz="2400" u="none" cap="none" strike="noStrike">
              <a:solidFill>
                <a:schemeClr val="dk1"/>
              </a:solidFill>
              <a:latin typeface="Calibri"/>
              <a:ea typeface="Calibri"/>
              <a:cs typeface="Calibri"/>
              <a:sym typeface="Calibri"/>
            </a:endParaRPr>
          </a:p>
        </p:txBody>
      </p:sp>
      <p:sp>
        <p:nvSpPr>
          <p:cNvPr id="611" name="Google Shape;611;p24"/>
          <p:cNvSpPr/>
          <p:nvPr/>
        </p:nvSpPr>
        <p:spPr>
          <a:xfrm>
            <a:off x="1047750" y="5004825"/>
            <a:ext cx="16192500" cy="1666800"/>
          </a:xfrm>
          <a:prstGeom prst="rect">
            <a:avLst/>
          </a:prstGeom>
          <a:solidFill>
            <a:srgbClr val="FAF9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24"/>
          <p:cNvSpPr/>
          <p:nvPr/>
        </p:nvSpPr>
        <p:spPr>
          <a:xfrm>
            <a:off x="1047750" y="6652650"/>
            <a:ext cx="25908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24"/>
          <p:cNvSpPr/>
          <p:nvPr/>
        </p:nvSpPr>
        <p:spPr>
          <a:xfrm>
            <a:off x="1333500" y="5214375"/>
            <a:ext cx="20970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274D71"/>
              </a:buClr>
              <a:buSzPts val="2700"/>
              <a:buFont typeface="Gabarito"/>
              <a:buNone/>
            </a:pPr>
            <a:r>
              <a:rPr b="1" i="0" lang="en-US" sz="2400" u="none" cap="none" strike="noStrike">
                <a:solidFill>
                  <a:srgbClr val="274D71"/>
                </a:solidFill>
                <a:latin typeface="Gabarito"/>
                <a:ea typeface="Gabarito"/>
                <a:cs typeface="Gabarito"/>
                <a:sym typeface="Gabarito"/>
              </a:rPr>
              <a:t>Recursive</a:t>
            </a:r>
            <a:endParaRPr b="0" i="0" sz="2400" u="none" cap="none" strike="noStrike">
              <a:solidFill>
                <a:schemeClr val="dk1"/>
              </a:solidFill>
              <a:latin typeface="Calibri"/>
              <a:ea typeface="Calibri"/>
              <a:cs typeface="Calibri"/>
              <a:sym typeface="Calibri"/>
            </a:endParaRPr>
          </a:p>
        </p:txBody>
      </p:sp>
      <p:sp>
        <p:nvSpPr>
          <p:cNvPr id="614" name="Google Shape;614;p24"/>
          <p:cNvSpPr/>
          <p:nvPr/>
        </p:nvSpPr>
        <p:spPr>
          <a:xfrm>
            <a:off x="3638550" y="6652650"/>
            <a:ext cx="55056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24"/>
          <p:cNvSpPr/>
          <p:nvPr/>
        </p:nvSpPr>
        <p:spPr>
          <a:xfrm>
            <a:off x="3924300" y="5214375"/>
            <a:ext cx="50505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00"/>
              <a:buFont typeface="Gabarito"/>
              <a:buNone/>
            </a:pPr>
            <a:r>
              <a:rPr b="0" i="0" lang="en-US" sz="2400" u="none" cap="none" strike="noStrike">
                <a:solidFill>
                  <a:srgbClr val="5B5B5B"/>
                </a:solidFill>
                <a:latin typeface="Gabarito"/>
                <a:ea typeface="Gabarito"/>
                <a:cs typeface="Gabarito"/>
                <a:sym typeface="Gabarito"/>
              </a:rPr>
              <a:t>Natural breaks first (paragraph → sentence → word), as fallback</a:t>
            </a:r>
            <a:endParaRPr b="0" i="0" sz="2400" u="none" cap="none" strike="noStrike">
              <a:solidFill>
                <a:schemeClr val="dk1"/>
              </a:solidFill>
              <a:latin typeface="Calibri"/>
              <a:ea typeface="Calibri"/>
              <a:cs typeface="Calibri"/>
              <a:sym typeface="Calibri"/>
            </a:endParaRPr>
          </a:p>
        </p:txBody>
      </p:sp>
      <p:sp>
        <p:nvSpPr>
          <p:cNvPr id="616" name="Google Shape;616;p24"/>
          <p:cNvSpPr/>
          <p:nvPr/>
        </p:nvSpPr>
        <p:spPr>
          <a:xfrm>
            <a:off x="9144000" y="6652650"/>
            <a:ext cx="38862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4"/>
          <p:cNvSpPr/>
          <p:nvPr/>
        </p:nvSpPr>
        <p:spPr>
          <a:xfrm>
            <a:off x="9429750" y="5214375"/>
            <a:ext cx="34314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4C5A33"/>
              </a:buClr>
              <a:buSzPts val="2700"/>
              <a:buFont typeface="Gabarito"/>
              <a:buNone/>
            </a:pPr>
            <a:r>
              <a:rPr b="1" i="0" lang="en-US" sz="2400" u="none" cap="none" strike="noStrike">
                <a:solidFill>
                  <a:srgbClr val="4C5A33"/>
                </a:solidFill>
                <a:latin typeface="Gabarito"/>
                <a:ea typeface="Gabarito"/>
                <a:cs typeface="Gabarito"/>
                <a:sym typeface="Gabarito"/>
              </a:rPr>
              <a:t>Fast - no embedding calls needed</a:t>
            </a:r>
            <a:endParaRPr b="0" i="0" sz="2400" u="none" cap="none" strike="noStrike">
              <a:solidFill>
                <a:schemeClr val="dk1"/>
              </a:solidFill>
              <a:latin typeface="Calibri"/>
              <a:ea typeface="Calibri"/>
              <a:cs typeface="Calibri"/>
              <a:sym typeface="Calibri"/>
            </a:endParaRPr>
          </a:p>
        </p:txBody>
      </p:sp>
      <p:sp>
        <p:nvSpPr>
          <p:cNvPr id="618" name="Google Shape;618;p24"/>
          <p:cNvSpPr/>
          <p:nvPr/>
        </p:nvSpPr>
        <p:spPr>
          <a:xfrm>
            <a:off x="13030200" y="6652650"/>
            <a:ext cx="42102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24"/>
          <p:cNvSpPr/>
          <p:nvPr/>
        </p:nvSpPr>
        <p:spPr>
          <a:xfrm>
            <a:off x="13315950" y="5214375"/>
            <a:ext cx="37650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00"/>
              <a:buFont typeface="Gabarito"/>
              <a:buNone/>
            </a:pPr>
            <a:r>
              <a:rPr b="0" i="0" lang="en-US" sz="2400" u="none" cap="none" strike="noStrike">
                <a:solidFill>
                  <a:srgbClr val="5B5B5B"/>
                </a:solidFill>
                <a:latin typeface="Gabarito"/>
                <a:ea typeface="Gabarito"/>
                <a:cs typeface="Gabarito"/>
                <a:sym typeface="Gabarito"/>
              </a:rPr>
              <a:t>Most real documents -the default choice</a:t>
            </a:r>
            <a:endParaRPr b="0" i="0" sz="2400" u="none" cap="none" strike="noStrike">
              <a:solidFill>
                <a:schemeClr val="dk1"/>
              </a:solidFill>
              <a:latin typeface="Calibri"/>
              <a:ea typeface="Calibri"/>
              <a:cs typeface="Calibri"/>
              <a:sym typeface="Calibri"/>
            </a:endParaRPr>
          </a:p>
        </p:txBody>
      </p:sp>
      <p:sp>
        <p:nvSpPr>
          <p:cNvPr id="620" name="Google Shape;620;p24"/>
          <p:cNvSpPr/>
          <p:nvPr/>
        </p:nvSpPr>
        <p:spPr>
          <a:xfrm>
            <a:off x="1333500" y="6881250"/>
            <a:ext cx="20970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274D71"/>
              </a:buClr>
              <a:buSzPts val="2700"/>
              <a:buFont typeface="Gabarito"/>
              <a:buNone/>
            </a:pPr>
            <a:r>
              <a:rPr b="1" i="0" lang="en-US" sz="2400" u="none" cap="none" strike="noStrike">
                <a:solidFill>
                  <a:srgbClr val="274D71"/>
                </a:solidFill>
                <a:latin typeface="Gabarito"/>
                <a:ea typeface="Gabarito"/>
                <a:cs typeface="Gabarito"/>
                <a:sym typeface="Gabarito"/>
              </a:rPr>
              <a:t>Semantic</a:t>
            </a:r>
            <a:endParaRPr b="0" i="0" sz="2400" u="none" cap="none" strike="noStrike">
              <a:solidFill>
                <a:schemeClr val="dk1"/>
              </a:solidFill>
              <a:latin typeface="Calibri"/>
              <a:ea typeface="Calibri"/>
              <a:cs typeface="Calibri"/>
              <a:sym typeface="Calibri"/>
            </a:endParaRPr>
          </a:p>
        </p:txBody>
      </p:sp>
      <p:sp>
        <p:nvSpPr>
          <p:cNvPr id="621" name="Google Shape;621;p24"/>
          <p:cNvSpPr/>
          <p:nvPr/>
        </p:nvSpPr>
        <p:spPr>
          <a:xfrm>
            <a:off x="3924300" y="6881250"/>
            <a:ext cx="50991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00"/>
              <a:buFont typeface="Gabarito"/>
              <a:buNone/>
            </a:pPr>
            <a:r>
              <a:rPr b="0" i="0" lang="en-US" sz="2400" u="none" cap="none" strike="noStrike">
                <a:solidFill>
                  <a:srgbClr val="5B5B5B"/>
                </a:solidFill>
                <a:latin typeface="Gabarito"/>
                <a:ea typeface="Gabarito"/>
                <a:cs typeface="Gabarito"/>
                <a:sym typeface="Gabarito"/>
              </a:rPr>
              <a:t>Where the topic/meaning actually shifts</a:t>
            </a:r>
            <a:endParaRPr b="0" i="0" sz="2400" u="none" cap="none" strike="noStrike">
              <a:solidFill>
                <a:schemeClr val="dk1"/>
              </a:solidFill>
              <a:latin typeface="Calibri"/>
              <a:ea typeface="Calibri"/>
              <a:cs typeface="Calibri"/>
              <a:sym typeface="Calibri"/>
            </a:endParaRPr>
          </a:p>
        </p:txBody>
      </p:sp>
      <p:sp>
        <p:nvSpPr>
          <p:cNvPr id="622" name="Google Shape;622;p24"/>
          <p:cNvSpPr/>
          <p:nvPr/>
        </p:nvSpPr>
        <p:spPr>
          <a:xfrm>
            <a:off x="9429750" y="6881250"/>
            <a:ext cx="36006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C15F3C"/>
              </a:buClr>
              <a:buSzPts val="2700"/>
              <a:buFont typeface="Gabarito"/>
              <a:buNone/>
            </a:pPr>
            <a:r>
              <a:rPr b="1" i="0" lang="en-US" sz="2400" u="none" cap="none" strike="noStrike">
                <a:solidFill>
                  <a:srgbClr val="C15F3C"/>
                </a:solidFill>
                <a:latin typeface="Gabarito"/>
                <a:ea typeface="Gabarito"/>
                <a:cs typeface="Gabarito"/>
                <a:sym typeface="Gabarito"/>
              </a:rPr>
              <a:t>Slowest - needs embedding comparisons</a:t>
            </a:r>
            <a:endParaRPr b="0" i="0" sz="2400" u="none" cap="none" strike="noStrike">
              <a:solidFill>
                <a:schemeClr val="dk1"/>
              </a:solidFill>
              <a:latin typeface="Calibri"/>
              <a:ea typeface="Calibri"/>
              <a:cs typeface="Calibri"/>
              <a:sym typeface="Calibri"/>
            </a:endParaRPr>
          </a:p>
        </p:txBody>
      </p:sp>
      <p:sp>
        <p:nvSpPr>
          <p:cNvPr id="623" name="Google Shape;623;p24"/>
          <p:cNvSpPr/>
          <p:nvPr/>
        </p:nvSpPr>
        <p:spPr>
          <a:xfrm>
            <a:off x="13315950" y="6881250"/>
            <a:ext cx="3765000" cy="12669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700"/>
              <a:buFont typeface="Gabarito"/>
              <a:buNone/>
            </a:pPr>
            <a:r>
              <a:rPr b="0" i="0" lang="en-US" sz="2400" u="none" cap="none" strike="noStrike">
                <a:solidFill>
                  <a:srgbClr val="5B5B5B"/>
                </a:solidFill>
                <a:latin typeface="Gabarito"/>
                <a:ea typeface="Gabarito"/>
                <a:cs typeface="Gabarito"/>
                <a:sym typeface="Gabarito"/>
              </a:rPr>
              <a:t>Long documents mixing several topics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pic>
        <p:nvPicPr>
          <p:cNvPr descr="preencoded.png" id="629" name="Google Shape;629;p25"/>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630" name="Google Shape;630;p25"/>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3</a:t>
            </a:r>
            <a:endParaRPr b="0" i="0" sz="3000" u="none" cap="none" strike="noStrike">
              <a:solidFill>
                <a:schemeClr val="dk1"/>
              </a:solidFill>
              <a:latin typeface="Calibri"/>
              <a:ea typeface="Calibri"/>
              <a:cs typeface="Calibri"/>
              <a:sym typeface="Calibri"/>
            </a:endParaRPr>
          </a:p>
        </p:txBody>
      </p:sp>
      <p:sp>
        <p:nvSpPr>
          <p:cNvPr id="631" name="Google Shape;631;p25"/>
          <p:cNvSpPr/>
          <p:nvPr/>
        </p:nvSpPr>
        <p:spPr>
          <a:xfrm>
            <a:off x="1047750" y="1181100"/>
            <a:ext cx="16678275" cy="2133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Embeddings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Turning Text into </a:t>
            </a:r>
            <a:r>
              <a:rPr b="1" i="0" lang="en-US" sz="6000" u="none" cap="none" strike="noStrike">
                <a:solidFill>
                  <a:srgbClr val="274D71"/>
                </a:solidFill>
                <a:latin typeface="Gabarito"/>
                <a:ea typeface="Gabarito"/>
                <a:cs typeface="Gabarito"/>
                <a:sym typeface="Gabarito"/>
              </a:rPr>
              <a:t>Meaning</a:t>
            </a:r>
            <a:endParaRPr b="0" i="0" sz="6000" u="none" cap="none" strike="noStrike">
              <a:solidFill>
                <a:schemeClr val="dk1"/>
              </a:solidFill>
              <a:latin typeface="Calibri"/>
              <a:ea typeface="Calibri"/>
              <a:cs typeface="Calibri"/>
              <a:sym typeface="Calibri"/>
            </a:endParaRPr>
          </a:p>
        </p:txBody>
      </p:sp>
      <p:sp>
        <p:nvSpPr>
          <p:cNvPr id="632" name="Google Shape;632;p25"/>
          <p:cNvSpPr/>
          <p:nvPr/>
        </p:nvSpPr>
        <p:spPr>
          <a:xfrm>
            <a:off x="1047750" y="2275725"/>
            <a:ext cx="147513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Once text is chunked, each chunk gets converted into a list of numbers </a:t>
            </a:r>
            <a:r>
              <a:rPr lang="en-US" sz="3000">
                <a:solidFill>
                  <a:srgbClr val="212121"/>
                </a:solidFill>
                <a:latin typeface="Gabarito"/>
                <a:ea typeface="Gabarito"/>
                <a:cs typeface="Gabarito"/>
                <a:sym typeface="Gabarito"/>
              </a:rPr>
              <a:t>-</a:t>
            </a:r>
            <a:r>
              <a:rPr b="0" i="0" lang="en-US" sz="3000" u="none" cap="none" strike="noStrike">
                <a:solidFill>
                  <a:srgbClr val="212121"/>
                </a:solidFill>
                <a:latin typeface="Gabarito"/>
                <a:ea typeface="Gabarito"/>
                <a:cs typeface="Gabarito"/>
                <a:sym typeface="Gabarito"/>
              </a:rPr>
              <a:t> an </a:t>
            </a:r>
            <a:r>
              <a:rPr b="1" i="0" lang="en-US" sz="3000" u="none" cap="none" strike="noStrike">
                <a:solidFill>
                  <a:srgbClr val="FF9900"/>
                </a:solidFill>
                <a:latin typeface="Gabarito"/>
                <a:ea typeface="Gabarito"/>
                <a:cs typeface="Gabarito"/>
                <a:sym typeface="Gabarito"/>
              </a:rPr>
              <a:t>embedding </a:t>
            </a:r>
            <a:r>
              <a:rPr lang="en-US" sz="3000">
                <a:solidFill>
                  <a:srgbClr val="212121"/>
                </a:solidFill>
                <a:latin typeface="Gabarito"/>
                <a:ea typeface="Gabarito"/>
                <a:cs typeface="Gabarito"/>
                <a:sym typeface="Gabarito"/>
              </a:rPr>
              <a:t>-</a:t>
            </a:r>
            <a:r>
              <a:rPr b="0" i="0" lang="en-US" sz="3000" u="none" cap="none" strike="noStrike">
                <a:solidFill>
                  <a:srgbClr val="212121"/>
                </a:solidFill>
                <a:latin typeface="Gabarito"/>
                <a:ea typeface="Gabarito"/>
                <a:cs typeface="Gabarito"/>
                <a:sym typeface="Gabarito"/>
              </a:rPr>
              <a:t> that captures what it means, not just what words it contains.</a:t>
            </a:r>
            <a:endParaRPr b="0" i="0" sz="3000" u="none" cap="none" strike="noStrike">
              <a:solidFill>
                <a:schemeClr val="dk1"/>
              </a:solidFill>
              <a:latin typeface="Calibri"/>
              <a:ea typeface="Calibri"/>
              <a:cs typeface="Calibri"/>
              <a:sym typeface="Calibri"/>
            </a:endParaRPr>
          </a:p>
        </p:txBody>
      </p:sp>
      <p:sp>
        <p:nvSpPr>
          <p:cNvPr id="633" name="Google Shape;633;p25"/>
          <p:cNvSpPr/>
          <p:nvPr/>
        </p:nvSpPr>
        <p:spPr>
          <a:xfrm>
            <a:off x="1047750" y="3702250"/>
            <a:ext cx="16221000" cy="2133600"/>
          </a:xfrm>
          <a:prstGeom prst="roundRect">
            <a:avLst>
              <a:gd fmla="val 6601"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25"/>
          <p:cNvSpPr/>
          <p:nvPr/>
        </p:nvSpPr>
        <p:spPr>
          <a:xfrm>
            <a:off x="1352550" y="3968948"/>
            <a:ext cx="7920990"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625"/>
              <a:buFont typeface="Gabarito"/>
              <a:buNone/>
            </a:pPr>
            <a:r>
              <a:rPr b="1" i="0" lang="en-US" sz="2625" u="none" cap="none" strike="noStrike">
                <a:solidFill>
                  <a:srgbClr val="035595"/>
                </a:solidFill>
                <a:latin typeface="Gabarito"/>
                <a:ea typeface="Gabarito"/>
                <a:cs typeface="Gabarito"/>
                <a:sym typeface="Gabarito"/>
              </a:rPr>
              <a:t>WHAT IT IS</a:t>
            </a:r>
            <a:endParaRPr b="0" i="0" sz="2625" u="none" cap="none" strike="noStrike">
              <a:solidFill>
                <a:schemeClr val="dk1"/>
              </a:solidFill>
              <a:latin typeface="Calibri"/>
              <a:ea typeface="Calibri"/>
              <a:cs typeface="Calibri"/>
              <a:sym typeface="Calibri"/>
            </a:endParaRPr>
          </a:p>
        </p:txBody>
      </p:sp>
      <p:sp>
        <p:nvSpPr>
          <p:cNvPr id="635" name="Google Shape;635;p25"/>
          <p:cNvSpPr/>
          <p:nvPr/>
        </p:nvSpPr>
        <p:spPr>
          <a:xfrm>
            <a:off x="1352550" y="4469923"/>
            <a:ext cx="15502500" cy="895500"/>
          </a:xfrm>
          <a:prstGeom prst="rect">
            <a:avLst/>
          </a:prstGeom>
          <a:noFill/>
          <a:ln>
            <a:noFill/>
          </a:ln>
        </p:spPr>
        <p:txBody>
          <a:bodyPr anchorCtr="0" anchor="t" bIns="25400" lIns="25400" spcFirstLastPara="1" rIns="25400" wrap="square" tIns="25400">
            <a:noAutofit/>
          </a:bodyPr>
          <a:lstStyle/>
          <a:p>
            <a:pPr indent="0" lvl="0" marL="0" marR="0" rtl="0" algn="l">
              <a:lnSpc>
                <a:spcPct val="117895"/>
              </a:lnSpc>
              <a:spcBef>
                <a:spcPts val="0"/>
              </a:spcBef>
              <a:spcAft>
                <a:spcPts val="0"/>
              </a:spcAft>
              <a:buClr>
                <a:srgbClr val="37474F"/>
              </a:buClr>
              <a:buSzPts val="2400"/>
              <a:buFont typeface="Gabarito"/>
              <a:buNone/>
            </a:pPr>
            <a:r>
              <a:rPr b="0" i="0" lang="en-US" sz="2800" u="none" cap="none" strike="noStrike">
                <a:solidFill>
                  <a:srgbClr val="37474F"/>
                </a:solidFill>
                <a:latin typeface="Gabarito"/>
                <a:ea typeface="Gabarito"/>
                <a:cs typeface="Gabarito"/>
                <a:sym typeface="Gabarito"/>
              </a:rPr>
              <a:t>A vector positioned in a high-dimensional space, where chunks with similar meaning end up close together, and unrelated chunks end up far apart.</a:t>
            </a:r>
            <a:endParaRPr b="0" i="0" sz="2800" u="none" cap="none" strike="noStrike">
              <a:solidFill>
                <a:schemeClr val="dk1"/>
              </a:solidFill>
              <a:latin typeface="Calibri"/>
              <a:ea typeface="Calibri"/>
              <a:cs typeface="Calibri"/>
              <a:sym typeface="Calibri"/>
            </a:endParaRPr>
          </a:p>
        </p:txBody>
      </p:sp>
      <p:sp>
        <p:nvSpPr>
          <p:cNvPr id="636" name="Google Shape;636;p25"/>
          <p:cNvSpPr/>
          <p:nvPr/>
        </p:nvSpPr>
        <p:spPr>
          <a:xfrm>
            <a:off x="2963300" y="6992701"/>
            <a:ext cx="2664000" cy="618300"/>
          </a:xfrm>
          <a:prstGeom prst="roundRect">
            <a:avLst>
              <a:gd fmla="val 8511" name="adj"/>
            </a:avLst>
          </a:prstGeom>
          <a:noFill/>
          <a:ln cap="flat" cmpd="sng" w="19050">
            <a:solidFill>
              <a:srgbClr val="787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25"/>
          <p:cNvSpPr/>
          <p:nvPr/>
        </p:nvSpPr>
        <p:spPr>
          <a:xfrm>
            <a:off x="3202375" y="7107001"/>
            <a:ext cx="2185800" cy="4380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"Dogs are loyal..."</a:t>
            </a:r>
            <a:endParaRPr b="0" i="0" sz="2175" u="none" cap="none" strike="noStrike">
              <a:solidFill>
                <a:schemeClr val="dk1"/>
              </a:solidFill>
              <a:latin typeface="Calibri"/>
              <a:ea typeface="Calibri"/>
              <a:cs typeface="Calibri"/>
              <a:sym typeface="Calibri"/>
            </a:endParaRPr>
          </a:p>
        </p:txBody>
      </p:sp>
      <p:pic>
        <p:nvPicPr>
          <p:cNvPr descr="preencoded.png" id="638" name="Google Shape;638;p25"/>
          <p:cNvPicPr preferRelativeResize="0"/>
          <p:nvPr/>
        </p:nvPicPr>
        <p:blipFill rotWithShape="1">
          <a:blip r:embed="rId4">
            <a:alphaModFix/>
          </a:blip>
          <a:srcRect b="0" l="0" r="0" t="0"/>
          <a:stretch/>
        </p:blipFill>
        <p:spPr>
          <a:xfrm>
            <a:off x="6110502" y="7533613"/>
            <a:ext cx="466874" cy="666750"/>
          </a:xfrm>
          <a:prstGeom prst="rect">
            <a:avLst/>
          </a:prstGeom>
          <a:noFill/>
          <a:ln>
            <a:noFill/>
          </a:ln>
        </p:spPr>
      </p:pic>
      <p:sp>
        <p:nvSpPr>
          <p:cNvPr id="639" name="Google Shape;639;p25"/>
          <p:cNvSpPr/>
          <p:nvPr/>
        </p:nvSpPr>
        <p:spPr>
          <a:xfrm>
            <a:off x="7121075" y="7277351"/>
            <a:ext cx="2455200" cy="1304100"/>
          </a:xfrm>
          <a:prstGeom prst="roundRect">
            <a:avLst>
              <a:gd fmla="val 8621" name="adj"/>
            </a:avLst>
          </a:prstGeom>
          <a:solidFill>
            <a:srgbClr val="274D71"/>
          </a:solidFill>
          <a:ln cap="flat" cmpd="sng" w="19050">
            <a:solidFill>
              <a:srgbClr val="274D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5"/>
          <p:cNvSpPr/>
          <p:nvPr/>
        </p:nvSpPr>
        <p:spPr>
          <a:xfrm>
            <a:off x="7121075" y="7535701"/>
            <a:ext cx="2455200" cy="7239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2250"/>
              <a:buFont typeface="Gabarito"/>
              <a:buNone/>
            </a:pPr>
            <a:r>
              <a:rPr b="1" i="0" lang="en-US" sz="2400" u="none" cap="none" strike="noStrike">
                <a:solidFill>
                  <a:srgbClr val="FFFFFF"/>
                </a:solidFill>
                <a:highlight>
                  <a:srgbClr val="274D71"/>
                </a:highlight>
                <a:latin typeface="Gabarito"/>
                <a:ea typeface="Gabarito"/>
                <a:cs typeface="Gabarito"/>
                <a:sym typeface="Gabarito"/>
              </a:rPr>
              <a:t>Embedding </a:t>
            </a:r>
            <a:endParaRPr b="1" i="0" sz="2400" u="none" cap="none" strike="noStrike">
              <a:solidFill>
                <a:srgbClr val="FFFFFF"/>
              </a:solidFill>
              <a:highlight>
                <a:srgbClr val="274D71"/>
              </a:highlight>
              <a:latin typeface="Gabarito"/>
              <a:ea typeface="Gabarito"/>
              <a:cs typeface="Gabarito"/>
              <a:sym typeface="Gabarito"/>
            </a:endParaRPr>
          </a:p>
          <a:p>
            <a:pPr indent="0" lvl="0" marL="0" marR="0" rtl="0" algn="ctr">
              <a:lnSpc>
                <a:spcPct val="100000"/>
              </a:lnSpc>
              <a:spcBef>
                <a:spcPts val="0"/>
              </a:spcBef>
              <a:spcAft>
                <a:spcPts val="0"/>
              </a:spcAft>
              <a:buClr>
                <a:srgbClr val="FFFFFF"/>
              </a:buClr>
              <a:buSzPts val="2250"/>
              <a:buFont typeface="Gabarito"/>
              <a:buNone/>
            </a:pPr>
            <a:r>
              <a:rPr b="1" i="0" lang="en-US" sz="2400" u="none" cap="none" strike="noStrike">
                <a:solidFill>
                  <a:srgbClr val="FFFFFF"/>
                </a:solidFill>
                <a:highlight>
                  <a:srgbClr val="274D71"/>
                </a:highlight>
                <a:latin typeface="Gabarito"/>
                <a:ea typeface="Gabarito"/>
                <a:cs typeface="Gabarito"/>
                <a:sym typeface="Gabarito"/>
              </a:rPr>
              <a:t>Model</a:t>
            </a:r>
            <a:endParaRPr b="0" i="0" sz="2400" u="none" cap="none" strike="noStrike">
              <a:solidFill>
                <a:schemeClr val="dk1"/>
              </a:solidFill>
              <a:latin typeface="Calibri"/>
              <a:ea typeface="Calibri"/>
              <a:cs typeface="Calibri"/>
              <a:sym typeface="Calibri"/>
            </a:endParaRPr>
          </a:p>
        </p:txBody>
      </p:sp>
      <p:pic>
        <p:nvPicPr>
          <p:cNvPr descr="preencoded.png" id="641" name="Google Shape;641;p25"/>
          <p:cNvPicPr preferRelativeResize="0"/>
          <p:nvPr/>
        </p:nvPicPr>
        <p:blipFill rotWithShape="1">
          <a:blip r:embed="rId4">
            <a:alphaModFix/>
          </a:blip>
          <a:srcRect b="0" l="0" r="0" t="0"/>
          <a:stretch/>
        </p:blipFill>
        <p:spPr>
          <a:xfrm>
            <a:off x="10089790" y="7610720"/>
            <a:ext cx="466725" cy="666750"/>
          </a:xfrm>
          <a:prstGeom prst="rect">
            <a:avLst/>
          </a:prstGeom>
          <a:noFill/>
          <a:ln>
            <a:noFill/>
          </a:ln>
        </p:spPr>
      </p:pic>
      <p:sp>
        <p:nvSpPr>
          <p:cNvPr id="642" name="Google Shape;642;p25"/>
          <p:cNvSpPr/>
          <p:nvPr/>
        </p:nvSpPr>
        <p:spPr>
          <a:xfrm>
            <a:off x="11070050" y="6992701"/>
            <a:ext cx="6198600" cy="1809900"/>
          </a:xfrm>
          <a:prstGeom prst="rect">
            <a:avLst/>
          </a:prstGeom>
          <a:noFill/>
          <a:ln>
            <a:noFill/>
          </a:ln>
        </p:spPr>
        <p:txBody>
          <a:bodyPr anchorCtr="0" anchor="t" bIns="25400" lIns="25400" spcFirstLastPara="1" rIns="25400" wrap="square" tIns="25400">
            <a:noAutofit/>
          </a:bodyPr>
          <a:lstStyle/>
          <a:p>
            <a:pPr indent="0" lvl="0" marL="0" marR="0" rtl="0" algn="l">
              <a:lnSpc>
                <a:spcPct val="200000"/>
              </a:lnSpc>
              <a:spcBef>
                <a:spcPts val="0"/>
              </a:spcBef>
              <a:spcAft>
                <a:spcPts val="0"/>
              </a:spcAft>
              <a:buClr>
                <a:srgbClr val="78746A"/>
              </a:buClr>
              <a:buSzPts val="2175"/>
              <a:buFont typeface="JetBrains Mono"/>
              <a:buNone/>
            </a:pPr>
            <a:r>
              <a:rPr b="0" i="0" lang="en-US" sz="2400" u="none" cap="none" strike="noStrike">
                <a:solidFill>
                  <a:srgbClr val="78746A"/>
                </a:solidFill>
                <a:latin typeface="JetBrains Mono"/>
                <a:ea typeface="JetBrains Mono"/>
                <a:cs typeface="JetBrains Mono"/>
                <a:sym typeface="JetBrains Mono"/>
              </a:rPr>
              <a:t>[0.21, -0.32, 0.68, ...]</a:t>
            </a:r>
            <a:endParaRPr b="0" i="0" sz="2400" u="none" cap="none" strike="noStrike">
              <a:solidFill>
                <a:srgbClr val="78746A"/>
              </a:solidFill>
              <a:latin typeface="JetBrains Mono"/>
              <a:ea typeface="JetBrains Mono"/>
              <a:cs typeface="JetBrains Mono"/>
              <a:sym typeface="JetBrains Mono"/>
            </a:endParaRPr>
          </a:p>
          <a:p>
            <a:pPr indent="0" lvl="0" marL="0" rtl="0" algn="l">
              <a:lnSpc>
                <a:spcPct val="200000"/>
              </a:lnSpc>
              <a:spcBef>
                <a:spcPts val="0"/>
              </a:spcBef>
              <a:spcAft>
                <a:spcPts val="0"/>
              </a:spcAft>
              <a:buClr>
                <a:srgbClr val="78746A"/>
              </a:buClr>
              <a:buSzPts val="2175"/>
              <a:buFont typeface="JetBrains Mono"/>
              <a:buNone/>
            </a:pPr>
            <a:r>
              <a:rPr lang="en-US" sz="2400">
                <a:solidFill>
                  <a:srgbClr val="78746A"/>
                </a:solidFill>
                <a:latin typeface="JetBrains Mono"/>
                <a:ea typeface="JetBrains Mono"/>
                <a:cs typeface="JetBrains Mono"/>
                <a:sym typeface="JetBrains Mono"/>
              </a:rPr>
              <a:t>[0.19, -0.28, 0.71, ...]</a:t>
            </a:r>
            <a:endParaRPr sz="2400">
              <a:solidFill>
                <a:srgbClr val="78746A"/>
              </a:solidFill>
              <a:latin typeface="JetBrains Mono"/>
              <a:ea typeface="JetBrains Mono"/>
              <a:cs typeface="JetBrains Mono"/>
              <a:sym typeface="JetBrains Mono"/>
            </a:endParaRPr>
          </a:p>
          <a:p>
            <a:pPr indent="0" lvl="0" marL="0" rtl="0" algn="l">
              <a:lnSpc>
                <a:spcPct val="200000"/>
              </a:lnSpc>
              <a:spcBef>
                <a:spcPts val="0"/>
              </a:spcBef>
              <a:spcAft>
                <a:spcPts val="0"/>
              </a:spcAft>
              <a:buClr>
                <a:srgbClr val="78746A"/>
              </a:buClr>
              <a:buSzPts val="2175"/>
              <a:buFont typeface="JetBrains Mono"/>
              <a:buNone/>
            </a:pPr>
            <a:r>
              <a:rPr lang="en-US" sz="2400">
                <a:solidFill>
                  <a:srgbClr val="78746A"/>
                </a:solidFill>
                <a:latin typeface="JetBrains Mono"/>
                <a:ea typeface="JetBrains Mono"/>
                <a:cs typeface="JetBrains Mono"/>
                <a:sym typeface="JetBrains Mono"/>
              </a:rPr>
              <a:t>[-0.94, 0.55, -0.12, ...]</a:t>
            </a:r>
            <a:endParaRPr sz="2400">
              <a:solidFill>
                <a:schemeClr val="dk1"/>
              </a:solidFill>
              <a:latin typeface="Calibri"/>
              <a:ea typeface="Calibri"/>
              <a:cs typeface="Calibri"/>
              <a:sym typeface="Calibri"/>
            </a:endParaRPr>
          </a:p>
          <a:p>
            <a:pPr indent="0" lvl="0" marL="0" rtl="0" algn="l">
              <a:lnSpc>
                <a:spcPct val="200000"/>
              </a:lnSpc>
              <a:spcBef>
                <a:spcPts val="0"/>
              </a:spcBef>
              <a:spcAft>
                <a:spcPts val="0"/>
              </a:spcAft>
              <a:buClr>
                <a:srgbClr val="78746A"/>
              </a:buClr>
              <a:buSzPts val="2175"/>
              <a:buFont typeface="JetBrains Mono"/>
              <a:buNone/>
            </a:pPr>
            <a:r>
              <a:t/>
            </a:r>
            <a:endParaRPr sz="2400">
              <a:solidFill>
                <a:srgbClr val="78746A"/>
              </a:solidFill>
              <a:latin typeface="JetBrains Mono"/>
              <a:ea typeface="JetBrains Mono"/>
              <a:cs typeface="JetBrains Mono"/>
              <a:sym typeface="JetBrains Mono"/>
            </a:endParaRPr>
          </a:p>
          <a:p>
            <a:pPr indent="0" lvl="0" marL="0" marR="0" rtl="0" algn="l">
              <a:lnSpc>
                <a:spcPct val="200000"/>
              </a:lnSpc>
              <a:spcBef>
                <a:spcPts val="0"/>
              </a:spcBef>
              <a:spcAft>
                <a:spcPts val="0"/>
              </a:spcAft>
              <a:buClr>
                <a:srgbClr val="78746A"/>
              </a:buClr>
              <a:buSzPts val="2175"/>
              <a:buFont typeface="JetBrains Mono"/>
              <a:buNone/>
            </a:pPr>
            <a:r>
              <a:t/>
            </a:r>
            <a:endParaRPr sz="2400">
              <a:solidFill>
                <a:srgbClr val="78746A"/>
              </a:solidFill>
              <a:latin typeface="JetBrains Mono"/>
              <a:ea typeface="JetBrains Mono"/>
              <a:cs typeface="JetBrains Mono"/>
              <a:sym typeface="JetBrains Mono"/>
            </a:endParaRPr>
          </a:p>
        </p:txBody>
      </p:sp>
      <p:sp>
        <p:nvSpPr>
          <p:cNvPr id="643" name="Google Shape;643;p25"/>
          <p:cNvSpPr/>
          <p:nvPr/>
        </p:nvSpPr>
        <p:spPr>
          <a:xfrm>
            <a:off x="2963275" y="7763951"/>
            <a:ext cx="2664000" cy="618300"/>
          </a:xfrm>
          <a:prstGeom prst="roundRect">
            <a:avLst>
              <a:gd fmla="val 8511" name="adj"/>
            </a:avLst>
          </a:prstGeom>
          <a:noFill/>
          <a:ln cap="flat" cmpd="sng" w="19050">
            <a:solidFill>
              <a:srgbClr val="787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5"/>
          <p:cNvSpPr/>
          <p:nvPr/>
        </p:nvSpPr>
        <p:spPr>
          <a:xfrm>
            <a:off x="3202350" y="7878251"/>
            <a:ext cx="2185800" cy="438000"/>
          </a:xfrm>
          <a:prstGeom prst="rect">
            <a:avLst/>
          </a:prstGeom>
          <a:noFill/>
          <a:ln>
            <a:noFill/>
          </a:ln>
        </p:spPr>
        <p:txBody>
          <a:bodyPr anchorCtr="0" anchor="t" bIns="25400" lIns="25400" spcFirstLastPara="1" rIns="25400" wrap="square" tIns="25400">
            <a:noAutofit/>
          </a:bodyPr>
          <a:lstStyle/>
          <a:p>
            <a:pPr indent="0" lvl="0" marL="0" rtl="0" algn="ctr">
              <a:spcBef>
                <a:spcPts val="0"/>
              </a:spcBef>
              <a:spcAft>
                <a:spcPts val="0"/>
              </a:spcAft>
              <a:buClr>
                <a:srgbClr val="37474F"/>
              </a:buClr>
              <a:buSzPts val="2175"/>
              <a:buFont typeface="Gabarito"/>
              <a:buNone/>
            </a:pPr>
            <a:r>
              <a:rPr lang="en-US" sz="2175">
                <a:solidFill>
                  <a:srgbClr val="37474F"/>
                </a:solidFill>
                <a:latin typeface="Gabarito"/>
                <a:ea typeface="Gabarito"/>
                <a:cs typeface="Gabarito"/>
                <a:sym typeface="Gabarito"/>
              </a:rPr>
              <a:t>"Cats are..."</a:t>
            </a:r>
            <a:endParaRPr sz="2175">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37474F"/>
              </a:buClr>
              <a:buSzPts val="2175"/>
              <a:buFont typeface="Gabarito"/>
              <a:buNone/>
            </a:pPr>
            <a:r>
              <a:t/>
            </a:r>
            <a:endParaRPr sz="2175">
              <a:solidFill>
                <a:srgbClr val="37474F"/>
              </a:solidFill>
              <a:latin typeface="Gabarito"/>
              <a:ea typeface="Gabarito"/>
              <a:cs typeface="Gabarito"/>
              <a:sym typeface="Gabarito"/>
            </a:endParaRPr>
          </a:p>
        </p:txBody>
      </p:sp>
      <p:sp>
        <p:nvSpPr>
          <p:cNvPr id="645" name="Google Shape;645;p25"/>
          <p:cNvSpPr/>
          <p:nvPr/>
        </p:nvSpPr>
        <p:spPr>
          <a:xfrm>
            <a:off x="2963300" y="8535201"/>
            <a:ext cx="2664000" cy="618300"/>
          </a:xfrm>
          <a:prstGeom prst="roundRect">
            <a:avLst>
              <a:gd fmla="val 8511" name="adj"/>
            </a:avLst>
          </a:prstGeom>
          <a:noFill/>
          <a:ln cap="flat" cmpd="sng" w="19050">
            <a:solidFill>
              <a:srgbClr val="787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25"/>
          <p:cNvSpPr/>
          <p:nvPr/>
        </p:nvSpPr>
        <p:spPr>
          <a:xfrm>
            <a:off x="3202375" y="8649501"/>
            <a:ext cx="2185800" cy="438000"/>
          </a:xfrm>
          <a:prstGeom prst="rect">
            <a:avLst/>
          </a:prstGeom>
          <a:noFill/>
          <a:ln>
            <a:noFill/>
          </a:ln>
        </p:spPr>
        <p:txBody>
          <a:bodyPr anchorCtr="0" anchor="t" bIns="25400" lIns="25400" spcFirstLastPara="1" rIns="25400" wrap="square" tIns="25400">
            <a:noAutofit/>
          </a:bodyPr>
          <a:lstStyle/>
          <a:p>
            <a:pPr indent="0" lvl="0" marL="0" rtl="0" algn="ctr">
              <a:spcBef>
                <a:spcPts val="0"/>
              </a:spcBef>
              <a:spcAft>
                <a:spcPts val="0"/>
              </a:spcAft>
              <a:buClr>
                <a:srgbClr val="37474F"/>
              </a:buClr>
              <a:buSzPts val="2175"/>
              <a:buFont typeface="Gabarito"/>
              <a:buNone/>
            </a:pPr>
            <a:r>
              <a:rPr lang="en-US" sz="2175">
                <a:solidFill>
                  <a:srgbClr val="37474F"/>
                </a:solidFill>
                <a:latin typeface="Gabarito"/>
                <a:ea typeface="Gabarito"/>
                <a:cs typeface="Gabarito"/>
                <a:sym typeface="Gabarito"/>
              </a:rPr>
              <a:t>"Stocks rose..."</a:t>
            </a:r>
            <a:endParaRPr sz="2175">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37474F"/>
              </a:buClr>
              <a:buSzPts val="2175"/>
              <a:buFont typeface="Gabarito"/>
              <a:buNone/>
            </a:pPr>
            <a:r>
              <a:t/>
            </a:r>
            <a:endParaRPr sz="2175">
              <a:solidFill>
                <a:srgbClr val="37474F"/>
              </a:solidFill>
              <a:latin typeface="Gabarito"/>
              <a:ea typeface="Gabarito"/>
              <a:cs typeface="Gabarito"/>
              <a:sym typeface="Gabarito"/>
            </a:endParaRPr>
          </a:p>
        </p:txBody>
      </p:sp>
      <p:sp>
        <p:nvSpPr>
          <p:cNvPr id="647" name="Google Shape;647;p25"/>
          <p:cNvSpPr/>
          <p:nvPr/>
        </p:nvSpPr>
        <p:spPr>
          <a:xfrm>
            <a:off x="3545400" y="6231282"/>
            <a:ext cx="1499700" cy="4383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035595"/>
              </a:buClr>
              <a:buSzPts val="2625"/>
              <a:buFont typeface="Gabarito"/>
              <a:buNone/>
            </a:pPr>
            <a:r>
              <a:rPr b="1" lang="en-US" sz="3000">
                <a:solidFill>
                  <a:srgbClr val="035595"/>
                </a:solidFill>
                <a:latin typeface="Gabarito"/>
                <a:ea typeface="Gabarito"/>
                <a:cs typeface="Gabarito"/>
                <a:sym typeface="Gabarito"/>
              </a:rPr>
              <a:t>Chunk</a:t>
            </a:r>
            <a:endParaRPr b="0" i="0" sz="3000" u="none" cap="none" strike="noStrike">
              <a:solidFill>
                <a:schemeClr val="dk1"/>
              </a:solidFill>
              <a:latin typeface="Calibri"/>
              <a:ea typeface="Calibri"/>
              <a:cs typeface="Calibri"/>
              <a:sym typeface="Calibri"/>
            </a:endParaRPr>
          </a:p>
        </p:txBody>
      </p:sp>
      <p:sp>
        <p:nvSpPr>
          <p:cNvPr id="648" name="Google Shape;648;p25"/>
          <p:cNvSpPr/>
          <p:nvPr/>
        </p:nvSpPr>
        <p:spPr>
          <a:xfrm>
            <a:off x="12437450" y="6231282"/>
            <a:ext cx="1499700" cy="4383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035595"/>
              </a:buClr>
              <a:buSzPts val="2625"/>
              <a:buFont typeface="Gabarito"/>
              <a:buNone/>
            </a:pPr>
            <a:r>
              <a:rPr b="1" lang="en-US" sz="3000">
                <a:solidFill>
                  <a:srgbClr val="035595"/>
                </a:solidFill>
                <a:latin typeface="Gabarito"/>
                <a:ea typeface="Gabarito"/>
                <a:cs typeface="Gabarito"/>
                <a:sym typeface="Gabarito"/>
              </a:rPr>
              <a:t>Vector</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3" name="Shape 653"/>
        <p:cNvGrpSpPr/>
        <p:nvPr/>
      </p:nvGrpSpPr>
      <p:grpSpPr>
        <a:xfrm>
          <a:off x="0" y="0"/>
          <a:ext cx="0" cy="0"/>
          <a:chOff x="0" y="0"/>
          <a:chExt cx="0" cy="0"/>
        </a:xfrm>
      </p:grpSpPr>
      <p:pic>
        <p:nvPicPr>
          <p:cNvPr descr="preencoded.png" id="654" name="Google Shape;654;g3f776df2723_1_184"/>
          <p:cNvPicPr preferRelativeResize="0"/>
          <p:nvPr/>
        </p:nvPicPr>
        <p:blipFill rotWithShape="1">
          <a:blip r:embed="rId3">
            <a:alphaModFix/>
          </a:blip>
          <a:srcRect b="0" l="0" r="0" t="0"/>
          <a:stretch/>
        </p:blipFill>
        <p:spPr>
          <a:xfrm>
            <a:off x="16202025" y="952500"/>
            <a:ext cx="1066800" cy="1304182"/>
          </a:xfrm>
          <a:prstGeom prst="rect">
            <a:avLst/>
          </a:prstGeom>
          <a:noFill/>
          <a:ln>
            <a:noFill/>
          </a:ln>
        </p:spPr>
      </p:pic>
      <p:sp>
        <p:nvSpPr>
          <p:cNvPr id="655" name="Google Shape;655;g3f776df2723_1_184"/>
          <p:cNvSpPr/>
          <p:nvPr/>
        </p:nvSpPr>
        <p:spPr>
          <a:xfrm>
            <a:off x="1047750" y="666750"/>
            <a:ext cx="1781190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3</a:t>
            </a:r>
            <a:endParaRPr b="0" i="0" sz="3000" u="none" cap="none" strike="noStrike">
              <a:solidFill>
                <a:schemeClr val="dk1"/>
              </a:solidFill>
              <a:latin typeface="Calibri"/>
              <a:ea typeface="Calibri"/>
              <a:cs typeface="Calibri"/>
              <a:sym typeface="Calibri"/>
            </a:endParaRPr>
          </a:p>
        </p:txBody>
      </p:sp>
      <p:sp>
        <p:nvSpPr>
          <p:cNvPr id="656" name="Google Shape;656;g3f776df2723_1_184"/>
          <p:cNvSpPr/>
          <p:nvPr/>
        </p:nvSpPr>
        <p:spPr>
          <a:xfrm>
            <a:off x="1047750" y="1181100"/>
            <a:ext cx="178119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Embeddings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a:t>
            </a:r>
            <a:r>
              <a:rPr b="1" lang="en-US" sz="6000">
                <a:solidFill>
                  <a:srgbClr val="274D71"/>
                </a:solidFill>
                <a:latin typeface="Gabarito"/>
                <a:ea typeface="Gabarito"/>
                <a:cs typeface="Gabarito"/>
                <a:sym typeface="Gabarito"/>
              </a:rPr>
              <a:t>Turning Text into Meaning</a:t>
            </a:r>
            <a:endParaRPr b="0" i="0" sz="6000" u="none" cap="none" strike="noStrike">
              <a:solidFill>
                <a:schemeClr val="dk1"/>
              </a:solidFill>
              <a:latin typeface="Calibri"/>
              <a:ea typeface="Calibri"/>
              <a:cs typeface="Calibri"/>
              <a:sym typeface="Calibri"/>
            </a:endParaRPr>
          </a:p>
        </p:txBody>
      </p:sp>
      <p:sp>
        <p:nvSpPr>
          <p:cNvPr id="657" name="Google Shape;657;g3f776df2723_1_184"/>
          <p:cNvSpPr/>
          <p:nvPr/>
        </p:nvSpPr>
        <p:spPr>
          <a:xfrm>
            <a:off x="1076475" y="2741034"/>
            <a:ext cx="16192500" cy="2168700"/>
          </a:xfrm>
          <a:prstGeom prst="roundRect">
            <a:avLst>
              <a:gd fmla="val 7143" name="adj"/>
            </a:avLst>
          </a:prstGeom>
          <a:solidFill>
            <a:srgbClr val="035595">
              <a:alpha val="3920"/>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3f776df2723_1_184"/>
          <p:cNvSpPr/>
          <p:nvPr/>
        </p:nvSpPr>
        <p:spPr>
          <a:xfrm>
            <a:off x="1390650" y="3039634"/>
            <a:ext cx="16287900" cy="400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400"/>
              <a:buFont typeface="Gabarito"/>
              <a:buNone/>
            </a:pPr>
            <a:r>
              <a:rPr b="1" i="0" lang="en-US" sz="3000" u="none" cap="none" strike="noStrike">
                <a:solidFill>
                  <a:srgbClr val="035595"/>
                </a:solidFill>
                <a:latin typeface="Gabarito"/>
                <a:ea typeface="Gabarito"/>
                <a:cs typeface="Gabarito"/>
                <a:sym typeface="Gabarito"/>
              </a:rPr>
              <a:t>Semantic search, not keyword search</a:t>
            </a:r>
            <a:endParaRPr b="0" i="0" sz="3000" u="none" cap="none" strike="noStrike">
              <a:solidFill>
                <a:schemeClr val="dk1"/>
              </a:solidFill>
              <a:latin typeface="Calibri"/>
              <a:ea typeface="Calibri"/>
              <a:cs typeface="Calibri"/>
              <a:sym typeface="Calibri"/>
            </a:endParaRPr>
          </a:p>
        </p:txBody>
      </p:sp>
      <p:sp>
        <p:nvSpPr>
          <p:cNvPr id="659" name="Google Shape;659;g3f776df2723_1_184"/>
          <p:cNvSpPr/>
          <p:nvPr/>
        </p:nvSpPr>
        <p:spPr>
          <a:xfrm>
            <a:off x="1390650" y="3671266"/>
            <a:ext cx="14332800" cy="12384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600" u="none" cap="none" strike="noStrike">
                <a:solidFill>
                  <a:srgbClr val="37474F"/>
                </a:solidFill>
                <a:latin typeface="Gabarito"/>
                <a:ea typeface="Gabarito"/>
                <a:cs typeface="Gabarito"/>
                <a:sym typeface="Gabarito"/>
              </a:rPr>
              <a:t>A query about "puppy" can still retrieve a chunk about "dog" </a:t>
            </a:r>
            <a:r>
              <a:rPr lang="en-US" sz="2600">
                <a:solidFill>
                  <a:srgbClr val="37474F"/>
                </a:solidFill>
                <a:latin typeface="Gabarito"/>
                <a:ea typeface="Gabarito"/>
                <a:cs typeface="Gabarito"/>
                <a:sym typeface="Gabarito"/>
              </a:rPr>
              <a:t>-</a:t>
            </a:r>
            <a:r>
              <a:rPr b="0" i="0" lang="en-US" sz="2600" u="none" cap="none" strike="noStrike">
                <a:solidFill>
                  <a:srgbClr val="37474F"/>
                </a:solidFill>
                <a:latin typeface="Gabarito"/>
                <a:ea typeface="Gabarito"/>
                <a:cs typeface="Gabarito"/>
                <a:sym typeface="Gabarito"/>
              </a:rPr>
              <a:t> the embedding captures meaning, not exact word matches.</a:t>
            </a:r>
            <a:endParaRPr b="0" i="0" sz="2600" u="none" cap="none" strike="noStrike">
              <a:solidFill>
                <a:schemeClr val="dk1"/>
              </a:solidFill>
              <a:latin typeface="Calibri"/>
              <a:ea typeface="Calibri"/>
              <a:cs typeface="Calibri"/>
              <a:sym typeface="Calibri"/>
            </a:endParaRPr>
          </a:p>
        </p:txBody>
      </p:sp>
      <p:sp>
        <p:nvSpPr>
          <p:cNvPr id="660" name="Google Shape;660;g3f776df2723_1_184"/>
          <p:cNvSpPr/>
          <p:nvPr/>
        </p:nvSpPr>
        <p:spPr>
          <a:xfrm>
            <a:off x="1076475" y="5205309"/>
            <a:ext cx="16192500" cy="2168700"/>
          </a:xfrm>
          <a:prstGeom prst="roundRect">
            <a:avLst>
              <a:gd fmla="val 6015" name="adj"/>
            </a:avLst>
          </a:prstGeom>
          <a:solidFill>
            <a:srgbClr val="FF9900">
              <a:alpha val="3920"/>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g3f776df2723_1_184"/>
          <p:cNvSpPr/>
          <p:nvPr/>
        </p:nvSpPr>
        <p:spPr>
          <a:xfrm>
            <a:off x="1390650" y="5493028"/>
            <a:ext cx="16287900" cy="400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400"/>
              <a:buFont typeface="Gabarito"/>
              <a:buNone/>
            </a:pPr>
            <a:r>
              <a:rPr b="1" i="0" lang="en-US" sz="3000" u="none" cap="none" strike="noStrike">
                <a:solidFill>
                  <a:srgbClr val="D97D00"/>
                </a:solidFill>
                <a:latin typeface="Gabarito"/>
                <a:ea typeface="Gabarito"/>
                <a:cs typeface="Gabarito"/>
                <a:sym typeface="Gabarito"/>
              </a:rPr>
              <a:t>Two embedding calls happen in RAG</a:t>
            </a:r>
            <a:endParaRPr b="0" i="0" sz="3000" u="none" cap="none" strike="noStrike">
              <a:solidFill>
                <a:schemeClr val="dk1"/>
              </a:solidFill>
              <a:latin typeface="Calibri"/>
              <a:ea typeface="Calibri"/>
              <a:cs typeface="Calibri"/>
              <a:sym typeface="Calibri"/>
            </a:endParaRPr>
          </a:p>
        </p:txBody>
      </p:sp>
      <p:sp>
        <p:nvSpPr>
          <p:cNvPr id="662" name="Google Shape;662;g3f776df2723_1_184"/>
          <p:cNvSpPr/>
          <p:nvPr/>
        </p:nvSpPr>
        <p:spPr>
          <a:xfrm>
            <a:off x="1390650" y="6096833"/>
            <a:ext cx="15391800" cy="12384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600" u="none" cap="none" strike="noStrike">
                <a:solidFill>
                  <a:srgbClr val="37474F"/>
                </a:solidFill>
                <a:latin typeface="Gabarito"/>
                <a:ea typeface="Gabarito"/>
                <a:cs typeface="Gabarito"/>
                <a:sym typeface="Gabarito"/>
              </a:rPr>
              <a:t>Documents get embedded once during ingestion (offline); the user's query gets embedded again at question time (online) </a:t>
            </a:r>
            <a:r>
              <a:rPr lang="en-US" sz="2600">
                <a:solidFill>
                  <a:srgbClr val="37474F"/>
                </a:solidFill>
                <a:latin typeface="Gabarito"/>
                <a:ea typeface="Gabarito"/>
                <a:cs typeface="Gabarito"/>
                <a:sym typeface="Gabarito"/>
              </a:rPr>
              <a:t>-</a:t>
            </a:r>
            <a:r>
              <a:rPr b="0" i="0" lang="en-US" sz="2600" u="none" cap="none" strike="noStrike">
                <a:solidFill>
                  <a:srgbClr val="37474F"/>
                </a:solidFill>
                <a:latin typeface="Gabarito"/>
                <a:ea typeface="Gabarito"/>
                <a:cs typeface="Gabarito"/>
                <a:sym typeface="Gabarito"/>
              </a:rPr>
              <a:t> using the same embedding model for both, so they land in the same space.</a:t>
            </a:r>
            <a:endParaRPr b="0" i="0" sz="2600" u="none" cap="none" strike="noStrike">
              <a:solidFill>
                <a:schemeClr val="dk1"/>
              </a:solidFill>
              <a:latin typeface="Calibri"/>
              <a:ea typeface="Calibri"/>
              <a:cs typeface="Calibri"/>
              <a:sym typeface="Calibri"/>
            </a:endParaRPr>
          </a:p>
        </p:txBody>
      </p:sp>
      <p:sp>
        <p:nvSpPr>
          <p:cNvPr id="663" name="Google Shape;663;g3f776df2723_1_184"/>
          <p:cNvSpPr/>
          <p:nvPr/>
        </p:nvSpPr>
        <p:spPr>
          <a:xfrm>
            <a:off x="1047750" y="8002968"/>
            <a:ext cx="16192500" cy="1331400"/>
          </a:xfrm>
          <a:prstGeom prst="roundRect">
            <a:avLst>
              <a:gd fmla="val 12308"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3f776df2723_1_184"/>
          <p:cNvSpPr/>
          <p:nvPr/>
        </p:nvSpPr>
        <p:spPr>
          <a:xfrm>
            <a:off x="1390651" y="8193468"/>
            <a:ext cx="15163800" cy="81930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FF9900"/>
              </a:buClr>
              <a:buSzPts val="2550"/>
              <a:buFont typeface="Gabarito"/>
              <a:buNone/>
            </a:pPr>
            <a:r>
              <a:rPr b="1" i="0" lang="en-US" sz="2550" u="none" cap="none" strike="noStrike">
                <a:solidFill>
                  <a:srgbClr val="FF9900"/>
                </a:solidFill>
                <a:latin typeface="Gabarito"/>
                <a:ea typeface="Gabarito"/>
                <a:cs typeface="Gabarito"/>
                <a:sym typeface="Gabarito"/>
              </a:rPr>
              <a:t>Why it matters: </a:t>
            </a:r>
            <a:r>
              <a:rPr b="0" i="0" lang="en-US" sz="2550" u="none" cap="none" strike="noStrike">
                <a:solidFill>
                  <a:srgbClr val="5B5B5B"/>
                </a:solidFill>
                <a:latin typeface="Gabarito"/>
                <a:ea typeface="Gabarito"/>
                <a:cs typeface="Gabarito"/>
                <a:sym typeface="Gabarito"/>
              </a:rPr>
              <a:t>embeddings are what make "search by meaning" possible at all </a:t>
            </a:r>
            <a:r>
              <a:rPr lang="en-US" sz="2550">
                <a:solidFill>
                  <a:srgbClr val="5B5B5B"/>
                </a:solidFill>
                <a:latin typeface="Gabarito"/>
                <a:ea typeface="Gabarito"/>
                <a:cs typeface="Gabarito"/>
                <a:sym typeface="Gabarito"/>
              </a:rPr>
              <a:t>-</a:t>
            </a:r>
            <a:r>
              <a:rPr b="0" i="0" lang="en-US" sz="2550" u="none" cap="none" strike="noStrike">
                <a:solidFill>
                  <a:srgbClr val="5B5B5B"/>
                </a:solidFill>
                <a:latin typeface="Gabarito"/>
                <a:ea typeface="Gabarito"/>
                <a:cs typeface="Gabarito"/>
                <a:sym typeface="Gabarito"/>
              </a:rPr>
              <a:t> without them, retrieval would only ever find exact keyword matches, missing anything phrased differently.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9" name="Shape 669"/>
        <p:cNvGrpSpPr/>
        <p:nvPr/>
      </p:nvGrpSpPr>
      <p:grpSpPr>
        <a:xfrm>
          <a:off x="0" y="0"/>
          <a:ext cx="0" cy="0"/>
          <a:chOff x="0" y="0"/>
          <a:chExt cx="0" cy="0"/>
        </a:xfrm>
      </p:grpSpPr>
      <p:sp>
        <p:nvSpPr>
          <p:cNvPr id="670" name="Google Shape;670;p26"/>
          <p:cNvSpPr/>
          <p:nvPr/>
        </p:nvSpPr>
        <p:spPr>
          <a:xfrm>
            <a:off x="9213575" y="2985287"/>
            <a:ext cx="7938000" cy="5160600"/>
          </a:xfrm>
          <a:prstGeom prst="roundRect">
            <a:avLst>
              <a:gd fmla="val 3810"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1" name="Google Shape;671;p26"/>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672" name="Google Shape;672;p26"/>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3</a:t>
            </a:r>
            <a:endParaRPr b="0" i="0" sz="3000" u="none" cap="none" strike="noStrike">
              <a:solidFill>
                <a:schemeClr val="dk1"/>
              </a:solidFill>
              <a:latin typeface="Calibri"/>
              <a:ea typeface="Calibri"/>
              <a:cs typeface="Calibri"/>
              <a:sym typeface="Calibri"/>
            </a:endParaRPr>
          </a:p>
        </p:txBody>
      </p:sp>
      <p:sp>
        <p:nvSpPr>
          <p:cNvPr id="673" name="Google Shape;673;p26"/>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Embeddings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a:t>
            </a:r>
            <a:r>
              <a:rPr b="1" lang="en-US" sz="6000">
                <a:solidFill>
                  <a:srgbClr val="274D71"/>
                </a:solidFill>
                <a:latin typeface="Gabarito"/>
                <a:ea typeface="Gabarito"/>
                <a:cs typeface="Gabarito"/>
                <a:sym typeface="Gabarito"/>
              </a:rPr>
              <a:t>Illustration</a:t>
            </a:r>
            <a:endParaRPr b="0" i="0" sz="6000" u="none" cap="none" strike="noStrike">
              <a:solidFill>
                <a:schemeClr val="dk1"/>
              </a:solidFill>
              <a:latin typeface="Calibri"/>
              <a:ea typeface="Calibri"/>
              <a:cs typeface="Calibri"/>
              <a:sym typeface="Calibri"/>
            </a:endParaRPr>
          </a:p>
        </p:txBody>
      </p:sp>
      <p:sp>
        <p:nvSpPr>
          <p:cNvPr id="674" name="Google Shape;674;p26"/>
          <p:cNvSpPr/>
          <p:nvPr/>
        </p:nvSpPr>
        <p:spPr>
          <a:xfrm>
            <a:off x="1047750" y="2985287"/>
            <a:ext cx="7938000" cy="5160600"/>
          </a:xfrm>
          <a:prstGeom prst="roundRect">
            <a:avLst>
              <a:gd fmla="val 3810"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5" name="Google Shape;675;p26"/>
          <p:cNvPicPr preferRelativeResize="0"/>
          <p:nvPr/>
        </p:nvPicPr>
        <p:blipFill rotWithShape="1">
          <a:blip r:embed="rId4">
            <a:alphaModFix/>
          </a:blip>
          <a:srcRect b="0" l="0" r="0" t="0"/>
          <a:stretch/>
        </p:blipFill>
        <p:spPr>
          <a:xfrm>
            <a:off x="9652525" y="4642630"/>
            <a:ext cx="7391400" cy="2476500"/>
          </a:xfrm>
          <a:prstGeom prst="rect">
            <a:avLst/>
          </a:prstGeom>
          <a:noFill/>
          <a:ln>
            <a:noFill/>
          </a:ln>
        </p:spPr>
      </p:pic>
      <p:sp>
        <p:nvSpPr>
          <p:cNvPr id="676" name="Google Shape;676;p26"/>
          <p:cNvSpPr/>
          <p:nvPr/>
        </p:nvSpPr>
        <p:spPr>
          <a:xfrm>
            <a:off x="9213575" y="8375616"/>
            <a:ext cx="79380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FF9900"/>
              </a:buClr>
              <a:buSzPts val="2550"/>
              <a:buFont typeface="Gabarito"/>
              <a:buNone/>
            </a:pPr>
            <a:r>
              <a:rPr b="1" lang="en-US" sz="2450">
                <a:solidFill>
                  <a:srgbClr val="FF9900"/>
                </a:solidFill>
                <a:latin typeface="Gabarito"/>
                <a:ea typeface="Gabarito"/>
                <a:cs typeface="Gabarito"/>
                <a:sym typeface="Gabarito"/>
              </a:rPr>
              <a:t>Query:</a:t>
            </a:r>
            <a:r>
              <a:rPr b="1" lang="en-US" sz="2150">
                <a:solidFill>
                  <a:srgbClr val="9AA0A6"/>
                </a:solidFill>
                <a:latin typeface="Gabarito"/>
                <a:ea typeface="Gabarito"/>
                <a:cs typeface="Gabarito"/>
                <a:sym typeface="Gabarito"/>
              </a:rPr>
              <a:t> </a:t>
            </a:r>
            <a:r>
              <a:rPr lang="en-US" sz="2450">
                <a:solidFill>
                  <a:srgbClr val="5B5B5B"/>
                </a:solidFill>
                <a:latin typeface="Gabarito"/>
                <a:ea typeface="Gabarito"/>
                <a:cs typeface="Gabarito"/>
                <a:sym typeface="Gabarito"/>
              </a:rPr>
              <a:t> "puppy" lands close to Animals, even without the word "dog"</a:t>
            </a:r>
            <a:endParaRPr sz="2450">
              <a:solidFill>
                <a:srgbClr val="5B5B5B"/>
              </a:solidFill>
              <a:latin typeface="Gabarito"/>
              <a:ea typeface="Gabarito"/>
              <a:cs typeface="Gabarito"/>
              <a:sym typeface="Gabarito"/>
            </a:endParaRPr>
          </a:p>
          <a:p>
            <a:pPr indent="0" lvl="0" marL="0" marR="0" rtl="0" algn="l">
              <a:lnSpc>
                <a:spcPct val="120000"/>
              </a:lnSpc>
              <a:spcBef>
                <a:spcPts val="0"/>
              </a:spcBef>
              <a:spcAft>
                <a:spcPts val="0"/>
              </a:spcAft>
              <a:buClr>
                <a:srgbClr val="FF9900"/>
              </a:buClr>
              <a:buSzPts val="2550"/>
              <a:buFont typeface="Gabarito"/>
              <a:buNone/>
            </a:pPr>
            <a:r>
              <a:t/>
            </a:r>
            <a:endParaRPr sz="2450">
              <a:solidFill>
                <a:srgbClr val="5B5B5B"/>
              </a:solidFill>
              <a:latin typeface="Gabarito"/>
              <a:ea typeface="Gabarito"/>
              <a:cs typeface="Gabarito"/>
              <a:sym typeface="Gabarito"/>
            </a:endParaRPr>
          </a:p>
        </p:txBody>
      </p:sp>
      <p:sp>
        <p:nvSpPr>
          <p:cNvPr id="677" name="Google Shape;677;p26"/>
          <p:cNvSpPr txBox="1"/>
          <p:nvPr/>
        </p:nvSpPr>
        <p:spPr>
          <a:xfrm>
            <a:off x="1047750" y="2215262"/>
            <a:ext cx="7206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035595"/>
                </a:solidFill>
                <a:latin typeface="Gabarito"/>
                <a:ea typeface="Gabarito"/>
                <a:cs typeface="Gabarito"/>
                <a:sym typeface="Gabarito"/>
              </a:rPr>
              <a:t>Vector Positioning in Space</a:t>
            </a:r>
            <a:endParaRPr sz="3000">
              <a:solidFill>
                <a:schemeClr val="dk1"/>
              </a:solidFill>
              <a:latin typeface="Calibri"/>
              <a:ea typeface="Calibri"/>
              <a:cs typeface="Calibri"/>
              <a:sym typeface="Calibri"/>
            </a:endParaRPr>
          </a:p>
        </p:txBody>
      </p:sp>
      <p:sp>
        <p:nvSpPr>
          <p:cNvPr id="678" name="Google Shape;678;p26"/>
          <p:cNvSpPr txBox="1"/>
          <p:nvPr/>
        </p:nvSpPr>
        <p:spPr>
          <a:xfrm>
            <a:off x="9213575" y="2215262"/>
            <a:ext cx="7206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035595"/>
                </a:solidFill>
                <a:latin typeface="Gabarito"/>
                <a:ea typeface="Gabarito"/>
                <a:cs typeface="Gabarito"/>
                <a:sym typeface="Gabarito"/>
              </a:rPr>
              <a:t>User’s Query</a:t>
            </a:r>
            <a:endParaRPr sz="3000">
              <a:solidFill>
                <a:schemeClr val="dk1"/>
              </a:solidFill>
              <a:latin typeface="Calibri"/>
              <a:ea typeface="Calibri"/>
              <a:cs typeface="Calibri"/>
              <a:sym typeface="Calibri"/>
            </a:endParaRPr>
          </a:p>
        </p:txBody>
      </p:sp>
      <p:sp>
        <p:nvSpPr>
          <p:cNvPr id="679" name="Google Shape;679;p26"/>
          <p:cNvSpPr/>
          <p:nvPr/>
        </p:nvSpPr>
        <p:spPr>
          <a:xfrm>
            <a:off x="1047750" y="8375616"/>
            <a:ext cx="8165700" cy="108600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FF9900"/>
              </a:buClr>
              <a:buSzPts val="2550"/>
              <a:buFont typeface="Gabarito"/>
              <a:buNone/>
            </a:pPr>
            <a:r>
              <a:rPr lang="en-US" sz="2450">
                <a:solidFill>
                  <a:srgbClr val="5B5B5B"/>
                </a:solidFill>
                <a:latin typeface="Gabarito"/>
                <a:ea typeface="Gabarito"/>
                <a:cs typeface="Gabarito"/>
                <a:sym typeface="Gabarito"/>
              </a:rPr>
              <a:t>Vectors pointing the same way share a similar meaning </a:t>
            </a:r>
            <a:r>
              <a:rPr lang="en-US" sz="2450">
                <a:solidFill>
                  <a:srgbClr val="5B5B5B"/>
                </a:solidFill>
                <a:latin typeface="Gabarito"/>
                <a:ea typeface="Gabarito"/>
                <a:cs typeface="Gabarito"/>
                <a:sym typeface="Gabarito"/>
                <a:extLst>
                  <a:ext uri="http://customooxmlschemas.google.com/">
                    <go:slidesCustomData xmlns:go="http://customooxmlschemas.google.com/" textRoundtripDataId="3"/>
                  </a:ext>
                </a:extLst>
              </a:rPr>
              <a:t>(Showing in 2D - real embeddings use hundred of dimensions.</a:t>
            </a:r>
            <a:r>
              <a:rPr lang="en-US" sz="2450">
                <a:solidFill>
                  <a:srgbClr val="5B5B5B"/>
                </a:solidFill>
                <a:latin typeface="Gabarito"/>
                <a:ea typeface="Gabarito"/>
                <a:cs typeface="Gabarito"/>
                <a:sym typeface="Gabarito"/>
              </a:rPr>
              <a:t>)</a:t>
            </a:r>
            <a:endParaRPr sz="2450">
              <a:solidFill>
                <a:srgbClr val="5B5B5B"/>
              </a:solidFill>
              <a:latin typeface="Gabarito"/>
              <a:ea typeface="Gabarito"/>
              <a:cs typeface="Gabarito"/>
              <a:sym typeface="Gabarito"/>
            </a:endParaRPr>
          </a:p>
        </p:txBody>
      </p:sp>
      <p:pic>
        <p:nvPicPr>
          <p:cNvPr id="680" name="Google Shape;680;p26" title="ChatGPT Image Aug 20, 2026, 11_35_39 AM.png"/>
          <p:cNvPicPr preferRelativeResize="0"/>
          <p:nvPr/>
        </p:nvPicPr>
        <p:blipFill>
          <a:blip r:embed="rId5">
            <a:alphaModFix/>
          </a:blip>
          <a:stretch>
            <a:fillRect/>
          </a:stretch>
        </p:blipFill>
        <p:spPr>
          <a:xfrm>
            <a:off x="1321050" y="3352373"/>
            <a:ext cx="7391402" cy="415986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pic>
        <p:nvPicPr>
          <p:cNvPr descr="preencoded.png" id="686" name="Google Shape;686;p27"/>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687" name="Google Shape;687;p27"/>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3 - E</a:t>
            </a:r>
            <a:r>
              <a:rPr b="1" lang="en-US" sz="3000">
                <a:solidFill>
                  <a:srgbClr val="FF9900"/>
                </a:solidFill>
                <a:latin typeface="Gabarito"/>
                <a:ea typeface="Gabarito"/>
                <a:cs typeface="Gabarito"/>
                <a:sym typeface="Gabarito"/>
              </a:rPr>
              <a:t>mbedding</a:t>
            </a:r>
            <a:endParaRPr b="0" i="0" sz="3000" u="none" cap="none" strike="noStrike">
              <a:solidFill>
                <a:schemeClr val="dk1"/>
              </a:solidFill>
              <a:latin typeface="Calibri"/>
              <a:ea typeface="Calibri"/>
              <a:cs typeface="Calibri"/>
              <a:sym typeface="Calibri"/>
            </a:endParaRPr>
          </a:p>
        </p:txBody>
      </p:sp>
      <p:sp>
        <p:nvSpPr>
          <p:cNvPr id="688" name="Google Shape;688;p27"/>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Choos</a:t>
            </a:r>
            <a:r>
              <a:rPr b="1" lang="en-US" sz="6000">
                <a:solidFill>
                  <a:srgbClr val="274D71"/>
                </a:solidFill>
                <a:latin typeface="Gabarito"/>
                <a:ea typeface="Gabarito"/>
                <a:cs typeface="Gabarito"/>
                <a:sym typeface="Gabarito"/>
              </a:rPr>
              <a:t>ing </a:t>
            </a:r>
            <a:r>
              <a:rPr b="1" i="0" lang="en-US" sz="6000" u="none" cap="none" strike="noStrike">
                <a:solidFill>
                  <a:srgbClr val="274D71"/>
                </a:solidFill>
                <a:latin typeface="Gabarito"/>
                <a:ea typeface="Gabarito"/>
                <a:cs typeface="Gabarito"/>
                <a:sym typeface="Gabarito"/>
              </a:rPr>
              <a:t>an Embedding Model</a:t>
            </a:r>
            <a:endParaRPr b="0" i="0" sz="6000" u="none" cap="none" strike="noStrike">
              <a:solidFill>
                <a:schemeClr val="dk1"/>
              </a:solidFill>
              <a:latin typeface="Calibri"/>
              <a:ea typeface="Calibri"/>
              <a:cs typeface="Calibri"/>
              <a:sym typeface="Calibri"/>
            </a:endParaRPr>
          </a:p>
        </p:txBody>
      </p:sp>
      <p:sp>
        <p:nvSpPr>
          <p:cNvPr id="689" name="Google Shape;689;p27"/>
          <p:cNvSpPr/>
          <p:nvPr/>
        </p:nvSpPr>
        <p:spPr>
          <a:xfrm>
            <a:off x="1047750" y="2209800"/>
            <a:ext cx="13133199"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Just like there's more than one LLM, there's more than one embedding model</a:t>
            </a:r>
            <a:r>
              <a:rPr lang="en-US" sz="3000">
                <a:solidFill>
                  <a:srgbClr val="212121"/>
                </a:solidFill>
                <a:latin typeface="Gabarito"/>
                <a:ea typeface="Gabarito"/>
                <a:cs typeface="Gabarito"/>
                <a:sym typeface="Gabarito"/>
              </a:rPr>
              <a:t> </a:t>
            </a:r>
            <a:r>
              <a:rPr b="0" i="0" lang="en-US" sz="3000" u="none" cap="none" strike="noStrike">
                <a:solidFill>
                  <a:srgbClr val="212121"/>
                </a:solidFill>
                <a:latin typeface="Gabarito"/>
                <a:ea typeface="Gabarito"/>
                <a:cs typeface="Gabarito"/>
                <a:sym typeface="Gabarito"/>
              </a:rPr>
              <a:t>and the choice affects both speed and retrieval quality.</a:t>
            </a:r>
            <a:endParaRPr b="0" i="0" sz="3000" u="none" cap="none" strike="noStrike">
              <a:solidFill>
                <a:schemeClr val="dk1"/>
              </a:solidFill>
              <a:latin typeface="Calibri"/>
              <a:ea typeface="Calibri"/>
              <a:cs typeface="Calibri"/>
              <a:sym typeface="Calibri"/>
            </a:endParaRPr>
          </a:p>
        </p:txBody>
      </p:sp>
      <p:sp>
        <p:nvSpPr>
          <p:cNvPr id="690" name="Google Shape;690;p27"/>
          <p:cNvSpPr/>
          <p:nvPr/>
        </p:nvSpPr>
        <p:spPr>
          <a:xfrm>
            <a:off x="1047750" y="3597670"/>
            <a:ext cx="5099100" cy="4401600"/>
          </a:xfrm>
          <a:prstGeom prst="roundRect">
            <a:avLst>
              <a:gd fmla="val 4923" name="adj"/>
            </a:avLst>
          </a:prstGeom>
          <a:noFill/>
          <a:ln cap="flat" cmpd="sng" w="19050">
            <a:solidFill>
              <a:srgbClr val="A8813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7"/>
          <p:cNvSpPr/>
          <p:nvPr/>
        </p:nvSpPr>
        <p:spPr>
          <a:xfrm>
            <a:off x="1270933" y="5373331"/>
            <a:ext cx="50988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700"/>
              <a:buFont typeface="Gabarito"/>
              <a:buNone/>
            </a:pPr>
            <a:r>
              <a:rPr b="1" i="0" lang="en-US" sz="3200" u="none" cap="none" strike="noStrike">
                <a:solidFill>
                  <a:srgbClr val="D97D00"/>
                </a:solidFill>
                <a:latin typeface="Gabarito"/>
                <a:ea typeface="Gabarito"/>
                <a:cs typeface="Gabarito"/>
                <a:sym typeface="Gabarito"/>
              </a:rPr>
              <a:t>Nomic-embed-text</a:t>
            </a:r>
            <a:endParaRPr b="0" i="0" sz="3200" u="none" cap="none" strike="noStrike">
              <a:solidFill>
                <a:srgbClr val="D97D00"/>
              </a:solidFill>
              <a:latin typeface="Calibri"/>
              <a:ea typeface="Calibri"/>
              <a:cs typeface="Calibri"/>
              <a:sym typeface="Calibri"/>
            </a:endParaRPr>
          </a:p>
        </p:txBody>
      </p:sp>
      <p:sp>
        <p:nvSpPr>
          <p:cNvPr id="692" name="Google Shape;692;p27"/>
          <p:cNvSpPr/>
          <p:nvPr/>
        </p:nvSpPr>
        <p:spPr>
          <a:xfrm>
            <a:off x="1270925" y="6084523"/>
            <a:ext cx="4875900" cy="15921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The model this course uses (via Ollama). The most-pulled embedding model on Ollama, lightweight enough to run on a laptop.</a:t>
            </a:r>
            <a:endParaRPr b="0" i="0" sz="2250" u="none" cap="none" strike="noStrike">
              <a:solidFill>
                <a:schemeClr val="dk1"/>
              </a:solidFill>
              <a:latin typeface="Calibri"/>
              <a:ea typeface="Calibri"/>
              <a:cs typeface="Calibri"/>
              <a:sym typeface="Calibri"/>
            </a:endParaRPr>
          </a:p>
        </p:txBody>
      </p:sp>
      <p:sp>
        <p:nvSpPr>
          <p:cNvPr id="693" name="Google Shape;693;p27"/>
          <p:cNvSpPr/>
          <p:nvPr/>
        </p:nvSpPr>
        <p:spPr>
          <a:xfrm>
            <a:off x="6359125" y="3597670"/>
            <a:ext cx="5403900" cy="4401600"/>
          </a:xfrm>
          <a:prstGeom prst="roundRect">
            <a:avLst>
              <a:gd fmla="val 4923" name="adj"/>
            </a:avLst>
          </a:prstGeom>
          <a:noFill/>
          <a:ln cap="flat" cmpd="sng" w="1905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27"/>
          <p:cNvSpPr/>
          <p:nvPr/>
        </p:nvSpPr>
        <p:spPr>
          <a:xfrm>
            <a:off x="6581100" y="5373331"/>
            <a:ext cx="50991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700"/>
              <a:buFont typeface="Gabarito"/>
              <a:buNone/>
            </a:pPr>
            <a:r>
              <a:rPr b="1" i="0" lang="en-US" sz="3200" u="none" cap="none" strike="noStrike">
                <a:solidFill>
                  <a:srgbClr val="1155CC"/>
                </a:solidFill>
                <a:latin typeface="Gabarito"/>
                <a:ea typeface="Gabarito"/>
                <a:cs typeface="Gabarito"/>
                <a:sym typeface="Gabarito"/>
              </a:rPr>
              <a:t>BGE-M3</a:t>
            </a:r>
            <a:endParaRPr b="0" i="0" sz="3200" u="none" cap="none" strike="noStrike">
              <a:solidFill>
                <a:srgbClr val="1155CC"/>
              </a:solidFill>
              <a:latin typeface="Calibri"/>
              <a:ea typeface="Calibri"/>
              <a:cs typeface="Calibri"/>
              <a:sym typeface="Calibri"/>
            </a:endParaRPr>
          </a:p>
        </p:txBody>
      </p:sp>
      <p:sp>
        <p:nvSpPr>
          <p:cNvPr id="695" name="Google Shape;695;p27"/>
          <p:cNvSpPr/>
          <p:nvPr/>
        </p:nvSpPr>
        <p:spPr>
          <a:xfrm>
            <a:off x="6581099" y="6084525"/>
            <a:ext cx="5099100" cy="16383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A heavier, multilingual option. MIT-licensed, supports 100+ languages, and offers dense, sparse, and multi-vector retrieval in a single model.</a:t>
            </a:r>
            <a:endParaRPr b="0" i="0" sz="2250" u="none" cap="none" strike="noStrike">
              <a:solidFill>
                <a:schemeClr val="dk1"/>
              </a:solidFill>
              <a:latin typeface="Calibri"/>
              <a:ea typeface="Calibri"/>
              <a:cs typeface="Calibri"/>
              <a:sym typeface="Calibri"/>
            </a:endParaRPr>
          </a:p>
        </p:txBody>
      </p:sp>
      <p:sp>
        <p:nvSpPr>
          <p:cNvPr id="696" name="Google Shape;696;p27"/>
          <p:cNvSpPr/>
          <p:nvPr/>
        </p:nvSpPr>
        <p:spPr>
          <a:xfrm>
            <a:off x="11995100" y="3597668"/>
            <a:ext cx="5245200" cy="4401600"/>
          </a:xfrm>
          <a:prstGeom prst="roundRect">
            <a:avLst>
              <a:gd fmla="val 4923" name="adj"/>
            </a:avLst>
          </a:prstGeom>
          <a:noFill/>
          <a:ln cap="flat" cmpd="sng" w="19050">
            <a:solidFill>
              <a:srgbClr val="2012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27"/>
          <p:cNvSpPr/>
          <p:nvPr/>
        </p:nvSpPr>
        <p:spPr>
          <a:xfrm>
            <a:off x="12153850" y="5373325"/>
            <a:ext cx="5245200" cy="447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700"/>
              <a:buFont typeface="Gabarito"/>
              <a:buNone/>
            </a:pPr>
            <a:r>
              <a:rPr b="1" i="0" lang="en-US" sz="3200" u="none" cap="none" strike="noStrike">
                <a:solidFill>
                  <a:srgbClr val="351C75"/>
                </a:solidFill>
                <a:latin typeface="Gabarito"/>
                <a:ea typeface="Gabarito"/>
                <a:cs typeface="Gabarito"/>
                <a:sym typeface="Gabarito"/>
              </a:rPr>
              <a:t>all-MiniLM-L6-v2</a:t>
            </a:r>
            <a:endParaRPr b="0" i="0" sz="3200" u="none" cap="none" strike="noStrike">
              <a:solidFill>
                <a:srgbClr val="351C75"/>
              </a:solidFill>
              <a:latin typeface="Calibri"/>
              <a:ea typeface="Calibri"/>
              <a:cs typeface="Calibri"/>
              <a:sym typeface="Calibri"/>
            </a:endParaRPr>
          </a:p>
        </p:txBody>
      </p:sp>
      <p:sp>
        <p:nvSpPr>
          <p:cNvPr id="698" name="Google Shape;698;p27"/>
          <p:cNvSpPr/>
          <p:nvPr/>
        </p:nvSpPr>
        <p:spPr>
          <a:xfrm>
            <a:off x="12153950" y="6084525"/>
            <a:ext cx="5025300" cy="20385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The smallest, fastest option, and the default starting point in the</a:t>
            </a:r>
            <a:r>
              <a:rPr lang="en-US" sz="2250">
                <a:solidFill>
                  <a:srgbClr val="37474F"/>
                </a:solidFill>
                <a:latin typeface="Gabarito"/>
                <a:ea typeface="Gabarito"/>
                <a:cs typeface="Gabarito"/>
                <a:sym typeface="Gabarito"/>
              </a:rPr>
              <a:t> </a:t>
            </a:r>
            <a:r>
              <a:rPr b="0" i="0" lang="en-US" sz="2250" u="none" cap="none" strike="noStrike">
                <a:solidFill>
                  <a:srgbClr val="37474F"/>
                </a:solidFill>
                <a:latin typeface="Gabarito"/>
                <a:ea typeface="Gabarito"/>
                <a:cs typeface="Gabarito"/>
                <a:sym typeface="Gabarito"/>
              </a:rPr>
              <a:t>sentence-transformers library </a:t>
            </a:r>
            <a:r>
              <a:rPr lang="en-US" sz="2250">
                <a:solidFill>
                  <a:srgbClr val="37474F"/>
                </a:solidFill>
                <a:latin typeface="Gabarito"/>
                <a:ea typeface="Gabarito"/>
                <a:cs typeface="Gabarito"/>
                <a:sym typeface="Gabarito"/>
              </a:rPr>
              <a:t>-</a:t>
            </a:r>
            <a:r>
              <a:rPr b="0" i="0" lang="en-US" sz="2250" u="none" cap="none" strike="noStrike">
                <a:solidFill>
                  <a:srgbClr val="37474F"/>
                </a:solidFill>
                <a:latin typeface="Gabarito"/>
                <a:ea typeface="Gabarito"/>
                <a:cs typeface="Gabarito"/>
                <a:sym typeface="Gabarito"/>
              </a:rPr>
              <a:t> though it trades away some accuracy for speed.</a:t>
            </a:r>
            <a:endParaRPr b="0" i="0" sz="2250" u="none" cap="none" strike="noStrike">
              <a:solidFill>
                <a:schemeClr val="dk1"/>
              </a:solidFill>
              <a:latin typeface="Calibri"/>
              <a:ea typeface="Calibri"/>
              <a:cs typeface="Calibri"/>
              <a:sym typeface="Calibri"/>
            </a:endParaRPr>
          </a:p>
        </p:txBody>
      </p:sp>
      <p:sp>
        <p:nvSpPr>
          <p:cNvPr id="699" name="Google Shape;699;p27"/>
          <p:cNvSpPr/>
          <p:nvPr/>
        </p:nvSpPr>
        <p:spPr>
          <a:xfrm>
            <a:off x="1047750" y="8532575"/>
            <a:ext cx="16335300" cy="8382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274D71"/>
              </a:buClr>
              <a:buSzPts val="2625"/>
              <a:buFont typeface="Gabarito"/>
              <a:buNone/>
            </a:pPr>
            <a:r>
              <a:rPr b="1" i="0" lang="en-US" sz="2625" u="none" cap="none" strike="noStrike">
                <a:solidFill>
                  <a:srgbClr val="274D71"/>
                </a:solidFill>
                <a:latin typeface="Gabarito"/>
                <a:ea typeface="Gabarito"/>
                <a:cs typeface="Gabarito"/>
                <a:sym typeface="Gabarito"/>
              </a:rPr>
              <a:t>Note: </a:t>
            </a:r>
            <a:r>
              <a:rPr b="0" i="0" lang="en-US" sz="2625" u="none" cap="none" strike="noStrike">
                <a:solidFill>
                  <a:srgbClr val="5B5B5B"/>
                </a:solidFill>
                <a:latin typeface="Gabarito"/>
                <a:ea typeface="Gabarito"/>
                <a:cs typeface="Gabarito"/>
                <a:sym typeface="Gabarito"/>
              </a:rPr>
              <a:t>the model you pick trades off speed, accuracy, and language support</a:t>
            </a:r>
            <a:r>
              <a:rPr lang="en-US" sz="2625">
                <a:solidFill>
                  <a:srgbClr val="5B5B5B"/>
                </a:solidFill>
                <a:latin typeface="Gabarito"/>
                <a:ea typeface="Gabarito"/>
                <a:cs typeface="Gabarito"/>
                <a:sym typeface="Gabarito"/>
              </a:rPr>
              <a:t> - </a:t>
            </a:r>
            <a:r>
              <a:rPr b="0" i="0" lang="en-US" sz="2625" u="none" cap="none" strike="noStrike">
                <a:solidFill>
                  <a:srgbClr val="5B5B5B"/>
                </a:solidFill>
                <a:latin typeface="Gabarito"/>
                <a:ea typeface="Gabarito"/>
                <a:cs typeface="Gabarito"/>
                <a:sym typeface="Gabarito"/>
              </a:rPr>
              <a:t>full specs in the Local Embedding Models section ahead.</a:t>
            </a:r>
            <a:endParaRPr b="0" i="0" sz="1200" u="none" cap="none" strike="noStrike">
              <a:solidFill>
                <a:schemeClr val="dk1"/>
              </a:solidFill>
              <a:latin typeface="Calibri"/>
              <a:ea typeface="Calibri"/>
              <a:cs typeface="Calibri"/>
              <a:sym typeface="Calibri"/>
            </a:endParaRPr>
          </a:p>
        </p:txBody>
      </p:sp>
      <p:pic>
        <p:nvPicPr>
          <p:cNvPr id="700" name="Google Shape;700;p27" title="ChatGPT Image Aug 20, 2026, 11_43_37 AM.png"/>
          <p:cNvPicPr preferRelativeResize="0"/>
          <p:nvPr/>
        </p:nvPicPr>
        <p:blipFill>
          <a:blip r:embed="rId4">
            <a:alphaModFix/>
          </a:blip>
          <a:stretch>
            <a:fillRect/>
          </a:stretch>
        </p:blipFill>
        <p:spPr>
          <a:xfrm>
            <a:off x="12325200" y="3947163"/>
            <a:ext cx="1321960" cy="1304176"/>
          </a:xfrm>
          <a:prstGeom prst="rect">
            <a:avLst/>
          </a:prstGeom>
          <a:noFill/>
          <a:ln>
            <a:noFill/>
          </a:ln>
        </p:spPr>
      </p:pic>
      <p:pic>
        <p:nvPicPr>
          <p:cNvPr id="701" name="Google Shape;701;p27" title="ChatGPT Image Aug 20, 2026, 11_46_24 AM.png"/>
          <p:cNvPicPr preferRelativeResize="0"/>
          <p:nvPr/>
        </p:nvPicPr>
        <p:blipFill>
          <a:blip r:embed="rId5">
            <a:alphaModFix/>
          </a:blip>
          <a:stretch>
            <a:fillRect/>
          </a:stretch>
        </p:blipFill>
        <p:spPr>
          <a:xfrm>
            <a:off x="1322550" y="4019645"/>
            <a:ext cx="1666235" cy="1333500"/>
          </a:xfrm>
          <a:prstGeom prst="rect">
            <a:avLst/>
          </a:prstGeom>
          <a:noFill/>
          <a:ln>
            <a:noFill/>
          </a:ln>
        </p:spPr>
      </p:pic>
      <p:pic>
        <p:nvPicPr>
          <p:cNvPr id="702" name="Google Shape;702;p27" title="ChatGPT Image Aug 20, 2026, 11_48_23 AM.png"/>
          <p:cNvPicPr preferRelativeResize="0"/>
          <p:nvPr/>
        </p:nvPicPr>
        <p:blipFill>
          <a:blip r:embed="rId6">
            <a:alphaModFix/>
          </a:blip>
          <a:stretch>
            <a:fillRect/>
          </a:stretch>
        </p:blipFill>
        <p:spPr>
          <a:xfrm>
            <a:off x="6605850" y="3983526"/>
            <a:ext cx="1373421" cy="13334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7" name="Shape 707"/>
        <p:cNvGrpSpPr/>
        <p:nvPr/>
      </p:nvGrpSpPr>
      <p:grpSpPr>
        <a:xfrm>
          <a:off x="0" y="0"/>
          <a:ext cx="0" cy="0"/>
          <a:chOff x="0" y="0"/>
          <a:chExt cx="0" cy="0"/>
        </a:xfrm>
      </p:grpSpPr>
      <p:pic>
        <p:nvPicPr>
          <p:cNvPr descr="preencoded.png" id="708" name="Google Shape;708;p28"/>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709" name="Google Shape;709;p28"/>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4</a:t>
            </a:r>
            <a:endParaRPr b="0" i="0" sz="3000" u="none" cap="none" strike="noStrike">
              <a:solidFill>
                <a:schemeClr val="dk1"/>
              </a:solidFill>
              <a:latin typeface="Calibri"/>
              <a:ea typeface="Calibri"/>
              <a:cs typeface="Calibri"/>
              <a:sym typeface="Calibri"/>
            </a:endParaRPr>
          </a:p>
        </p:txBody>
      </p:sp>
      <p:sp>
        <p:nvSpPr>
          <p:cNvPr id="710" name="Google Shape;710;p28"/>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Retrieval — Finding the Right Chunks</a:t>
            </a:r>
            <a:endParaRPr b="0" i="0" sz="6000" u="none" cap="none" strike="noStrike">
              <a:solidFill>
                <a:schemeClr val="dk1"/>
              </a:solidFill>
              <a:latin typeface="Calibri"/>
              <a:ea typeface="Calibri"/>
              <a:cs typeface="Calibri"/>
              <a:sym typeface="Calibri"/>
            </a:endParaRPr>
          </a:p>
        </p:txBody>
      </p:sp>
      <p:sp>
        <p:nvSpPr>
          <p:cNvPr id="711" name="Google Shape;711;p28"/>
          <p:cNvSpPr/>
          <p:nvPr/>
        </p:nvSpPr>
        <p:spPr>
          <a:xfrm>
            <a:off x="1047750" y="2207458"/>
            <a:ext cx="151542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Once the query is embedded, the system </a:t>
            </a:r>
            <a:r>
              <a:rPr b="1" i="0" lang="en-US" sz="3000" u="none" cap="none" strike="noStrike">
                <a:solidFill>
                  <a:srgbClr val="1E4E79"/>
                </a:solidFill>
                <a:latin typeface="Gabarito"/>
                <a:ea typeface="Gabarito"/>
                <a:cs typeface="Gabarito"/>
                <a:sym typeface="Gabarito"/>
              </a:rPr>
              <a:t>searches </a:t>
            </a:r>
            <a:r>
              <a:rPr b="0" i="0" lang="en-US" sz="3000" u="none" cap="none" strike="noStrike">
                <a:solidFill>
                  <a:srgbClr val="212121"/>
                </a:solidFill>
                <a:latin typeface="Gabarito"/>
                <a:ea typeface="Gabarito"/>
                <a:cs typeface="Gabarito"/>
                <a:sym typeface="Gabarito"/>
              </a:rPr>
              <a:t>the </a:t>
            </a:r>
            <a:r>
              <a:rPr b="1" i="0" lang="en-US" sz="3000" u="none" cap="none" strike="noStrike">
                <a:solidFill>
                  <a:schemeClr val="accent2"/>
                </a:solidFill>
                <a:latin typeface="Gabarito"/>
                <a:ea typeface="Gabarito"/>
                <a:cs typeface="Gabarito"/>
                <a:sym typeface="Gabarito"/>
              </a:rPr>
              <a:t>vector database</a:t>
            </a:r>
            <a:r>
              <a:rPr b="0" i="0" lang="en-US" sz="3000" u="none" cap="none" strike="noStrike">
                <a:solidFill>
                  <a:srgbClr val="212121"/>
                </a:solidFill>
                <a:latin typeface="Gabarito"/>
                <a:ea typeface="Gabarito"/>
                <a:cs typeface="Gabarito"/>
                <a:sym typeface="Gabarito"/>
              </a:rPr>
              <a:t> for the </a:t>
            </a:r>
            <a:r>
              <a:rPr b="1" i="0" lang="en-US" sz="3000" u="none" cap="none" strike="noStrike">
                <a:solidFill>
                  <a:srgbClr val="1E4E79"/>
                </a:solidFill>
                <a:latin typeface="Gabarito"/>
                <a:ea typeface="Gabarito"/>
                <a:cs typeface="Gabarito"/>
                <a:sym typeface="Gabarito"/>
              </a:rPr>
              <a:t>chunks whose embeddings sit closest to it</a:t>
            </a:r>
            <a:r>
              <a:rPr lang="en-US" sz="3000">
                <a:solidFill>
                  <a:srgbClr val="212121"/>
                </a:solidFill>
                <a:latin typeface="Gabarito"/>
                <a:ea typeface="Gabarito"/>
                <a:cs typeface="Gabarito"/>
                <a:sym typeface="Gabarito"/>
              </a:rPr>
              <a:t>. T</a:t>
            </a:r>
            <a:r>
              <a:rPr b="0" i="0" lang="en-US" sz="3000" u="none" cap="none" strike="noStrike">
                <a:solidFill>
                  <a:srgbClr val="212121"/>
                </a:solidFill>
                <a:latin typeface="Gabarito"/>
                <a:ea typeface="Gabarito"/>
                <a:cs typeface="Gabarito"/>
                <a:sym typeface="Gabarito"/>
              </a:rPr>
              <a:t>his is where </a:t>
            </a:r>
            <a:r>
              <a:rPr b="1" i="0" lang="en-US" sz="3000" u="none" cap="none" strike="noStrike">
                <a:solidFill>
                  <a:srgbClr val="1E4E79"/>
                </a:solidFill>
                <a:latin typeface="Gabarito"/>
                <a:ea typeface="Gabarito"/>
                <a:cs typeface="Gabarito"/>
                <a:sym typeface="Gabarito"/>
              </a:rPr>
              <a:t>"search by meaning"</a:t>
            </a:r>
            <a:r>
              <a:rPr b="0" i="0" lang="en-US" sz="3000" u="none" cap="none" strike="noStrike">
                <a:solidFill>
                  <a:srgbClr val="212121"/>
                </a:solidFill>
                <a:latin typeface="Gabarito"/>
                <a:ea typeface="Gabarito"/>
                <a:cs typeface="Gabarito"/>
                <a:sym typeface="Gabarito"/>
              </a:rPr>
              <a:t> actually happens.  </a:t>
            </a:r>
            <a:endParaRPr b="0" i="0" sz="3000" u="none" cap="none" strike="noStrike">
              <a:solidFill>
                <a:schemeClr val="dk1"/>
              </a:solidFill>
              <a:latin typeface="Calibri"/>
              <a:ea typeface="Calibri"/>
              <a:cs typeface="Calibri"/>
              <a:sym typeface="Calibri"/>
            </a:endParaRPr>
          </a:p>
        </p:txBody>
      </p:sp>
      <p:sp>
        <p:nvSpPr>
          <p:cNvPr id="712" name="Google Shape;712;p28"/>
          <p:cNvSpPr/>
          <p:nvPr/>
        </p:nvSpPr>
        <p:spPr>
          <a:xfrm>
            <a:off x="1047750" y="3535561"/>
            <a:ext cx="5245001" cy="3903625"/>
          </a:xfrm>
          <a:prstGeom prst="roundRect">
            <a:avLst>
              <a:gd fmla="val 4232"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28"/>
          <p:cNvSpPr/>
          <p:nvPr/>
        </p:nvSpPr>
        <p:spPr>
          <a:xfrm>
            <a:off x="1371600" y="3821311"/>
            <a:ext cx="5057031"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625"/>
              <a:buFont typeface="Gabarito"/>
              <a:buNone/>
            </a:pPr>
            <a:r>
              <a:rPr b="1" i="0" lang="en-US" sz="2800" u="none" cap="none" strike="noStrike">
                <a:solidFill>
                  <a:srgbClr val="035595"/>
                </a:solidFill>
                <a:latin typeface="Gabarito"/>
                <a:ea typeface="Gabarito"/>
                <a:cs typeface="Gabarito"/>
                <a:sym typeface="Gabarito"/>
              </a:rPr>
              <a:t>Similarity search</a:t>
            </a:r>
            <a:endParaRPr b="0" i="0" sz="2800" u="none" cap="none" strike="noStrike">
              <a:solidFill>
                <a:schemeClr val="dk1"/>
              </a:solidFill>
              <a:latin typeface="Calibri"/>
              <a:ea typeface="Calibri"/>
              <a:cs typeface="Calibri"/>
              <a:sym typeface="Calibri"/>
            </a:endParaRPr>
          </a:p>
        </p:txBody>
      </p:sp>
      <p:sp>
        <p:nvSpPr>
          <p:cNvPr id="714" name="Google Shape;714;p28"/>
          <p:cNvSpPr/>
          <p:nvPr/>
        </p:nvSpPr>
        <p:spPr>
          <a:xfrm>
            <a:off x="1371600" y="4413153"/>
            <a:ext cx="4735220" cy="2553593"/>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Clr>
                <a:srgbClr val="37474F"/>
              </a:buClr>
              <a:buSzPts val="2325"/>
              <a:buFont typeface="Gabarito"/>
              <a:buNone/>
            </a:pPr>
            <a:r>
              <a:rPr b="0" i="0" lang="en-US" sz="2325" u="none" cap="none" strike="noStrike">
                <a:solidFill>
                  <a:srgbClr val="37474F"/>
                </a:solidFill>
                <a:latin typeface="Gabarito"/>
                <a:ea typeface="Gabarito"/>
                <a:cs typeface="Gabarito"/>
                <a:sym typeface="Gabarito"/>
              </a:rPr>
              <a:t>The query's vector is compared against every stored chunk vector, most commonly with cosine similarity </a:t>
            </a:r>
            <a:r>
              <a:rPr lang="en-US" sz="2325">
                <a:solidFill>
                  <a:srgbClr val="37474F"/>
                </a:solidFill>
                <a:latin typeface="Gabarito"/>
                <a:ea typeface="Gabarito"/>
                <a:cs typeface="Gabarito"/>
                <a:sym typeface="Gabarito"/>
              </a:rPr>
              <a:t>-</a:t>
            </a:r>
            <a:r>
              <a:rPr b="0" i="0" lang="en-US" sz="2325" u="none" cap="none" strike="noStrike">
                <a:solidFill>
                  <a:srgbClr val="37474F"/>
                </a:solidFill>
                <a:latin typeface="Gabarito"/>
                <a:ea typeface="Gabarito"/>
                <a:cs typeface="Gabarito"/>
                <a:sym typeface="Gabarito"/>
              </a:rPr>
              <a:t> how closely two vectors point in the same direction, regardless of length.</a:t>
            </a:r>
            <a:endParaRPr b="0" i="0" sz="2325" u="none" cap="none" strike="noStrike">
              <a:solidFill>
                <a:schemeClr val="dk1"/>
              </a:solidFill>
              <a:latin typeface="Calibri"/>
              <a:ea typeface="Calibri"/>
              <a:cs typeface="Calibri"/>
              <a:sym typeface="Calibri"/>
            </a:endParaRPr>
          </a:p>
        </p:txBody>
      </p:sp>
      <p:sp>
        <p:nvSpPr>
          <p:cNvPr id="715" name="Google Shape;715;p28"/>
          <p:cNvSpPr/>
          <p:nvPr/>
        </p:nvSpPr>
        <p:spPr>
          <a:xfrm>
            <a:off x="6521351" y="3535561"/>
            <a:ext cx="5245150" cy="3903625"/>
          </a:xfrm>
          <a:prstGeom prst="roundRect">
            <a:avLst>
              <a:gd fmla="val 4232"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28"/>
          <p:cNvSpPr/>
          <p:nvPr/>
        </p:nvSpPr>
        <p:spPr>
          <a:xfrm>
            <a:off x="6845201" y="3821311"/>
            <a:ext cx="5057195"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625"/>
              <a:buFont typeface="Gabarito"/>
              <a:buNone/>
            </a:pPr>
            <a:r>
              <a:rPr b="1" i="0" lang="en-US" sz="2800" u="none" cap="none" strike="noStrike">
                <a:solidFill>
                  <a:srgbClr val="D97D00"/>
                </a:solidFill>
                <a:latin typeface="Gabarito"/>
                <a:ea typeface="Gabarito"/>
                <a:cs typeface="Gabarito"/>
                <a:sym typeface="Gabarito"/>
              </a:rPr>
              <a:t>The distance-naming note</a:t>
            </a:r>
            <a:endParaRPr b="0" i="0" sz="2800" u="none" cap="none" strike="noStrike">
              <a:solidFill>
                <a:schemeClr val="dk1"/>
              </a:solidFill>
              <a:latin typeface="Calibri"/>
              <a:ea typeface="Calibri"/>
              <a:cs typeface="Calibri"/>
              <a:sym typeface="Calibri"/>
            </a:endParaRPr>
          </a:p>
        </p:txBody>
      </p:sp>
      <p:sp>
        <p:nvSpPr>
          <p:cNvPr id="717" name="Google Shape;717;p28"/>
          <p:cNvSpPr/>
          <p:nvPr/>
        </p:nvSpPr>
        <p:spPr>
          <a:xfrm>
            <a:off x="6845201" y="4413153"/>
            <a:ext cx="4735373" cy="2134344"/>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Clr>
                <a:srgbClr val="37474F"/>
              </a:buClr>
              <a:buSzPts val="2325"/>
              <a:buFont typeface="Gabarito"/>
              <a:buNone/>
            </a:pPr>
            <a:r>
              <a:rPr b="1" i="0" lang="en-US" sz="2325" u="none" cap="none" strike="noStrike">
                <a:solidFill>
                  <a:srgbClr val="1E4E79"/>
                </a:solidFill>
                <a:latin typeface="Gabarito"/>
                <a:ea typeface="Gabarito"/>
                <a:cs typeface="Gabarito"/>
                <a:sym typeface="Gabarito"/>
              </a:rPr>
              <a:t>ChromaDB </a:t>
            </a:r>
            <a:r>
              <a:rPr b="0" i="0" lang="en-US" sz="2325" u="none" cap="none" strike="noStrike">
                <a:solidFill>
                  <a:srgbClr val="37474F"/>
                </a:solidFill>
                <a:latin typeface="Gabarito"/>
                <a:ea typeface="Gabarito"/>
                <a:cs typeface="Gabarito"/>
                <a:sym typeface="Gabarito"/>
              </a:rPr>
              <a:t>(and most vector databases) report this as a </a:t>
            </a:r>
            <a:r>
              <a:rPr b="0" i="1" lang="en-US" sz="2325" u="none" cap="none" strike="noStrike">
                <a:solidFill>
                  <a:srgbClr val="37474F"/>
                </a:solidFill>
                <a:latin typeface="Gabarito"/>
                <a:ea typeface="Gabarito"/>
                <a:cs typeface="Gabarito"/>
                <a:sym typeface="Gabarito"/>
              </a:rPr>
              <a:t>distance </a:t>
            </a:r>
            <a:r>
              <a:rPr b="0" i="0" lang="en-US" sz="2325" u="none" cap="none" strike="noStrike">
                <a:solidFill>
                  <a:srgbClr val="37474F"/>
                </a:solidFill>
                <a:latin typeface="Gabarito"/>
                <a:ea typeface="Gabarito"/>
                <a:cs typeface="Gabarito"/>
                <a:sym typeface="Gabarito"/>
              </a:rPr>
              <a:t>, not a similarity score </a:t>
            </a:r>
            <a:r>
              <a:rPr lang="en-US" sz="2325">
                <a:solidFill>
                  <a:srgbClr val="37474F"/>
                </a:solidFill>
                <a:latin typeface="Gabarito"/>
                <a:ea typeface="Gabarito"/>
                <a:cs typeface="Gabarito"/>
                <a:sym typeface="Gabarito"/>
              </a:rPr>
              <a:t>-</a:t>
            </a:r>
            <a:r>
              <a:rPr b="0" i="0" lang="en-US" sz="2325" u="none" cap="none" strike="noStrike">
                <a:solidFill>
                  <a:srgbClr val="37474F"/>
                </a:solidFill>
                <a:latin typeface="Gabarito"/>
                <a:ea typeface="Gabarito"/>
                <a:cs typeface="Gabarito"/>
                <a:sym typeface="Gabarito"/>
              </a:rPr>
              <a:t> smaller distance means a closer match, the opposite direction from similarity.</a:t>
            </a:r>
            <a:endParaRPr b="0" i="0" sz="2325" u="none" cap="none" strike="noStrike">
              <a:solidFill>
                <a:schemeClr val="dk1"/>
              </a:solidFill>
              <a:latin typeface="Calibri"/>
              <a:ea typeface="Calibri"/>
              <a:cs typeface="Calibri"/>
              <a:sym typeface="Calibri"/>
            </a:endParaRPr>
          </a:p>
        </p:txBody>
      </p:sp>
      <p:sp>
        <p:nvSpPr>
          <p:cNvPr id="718" name="Google Shape;718;p28"/>
          <p:cNvSpPr/>
          <p:nvPr/>
        </p:nvSpPr>
        <p:spPr>
          <a:xfrm>
            <a:off x="11995100" y="3535561"/>
            <a:ext cx="5245150" cy="3903625"/>
          </a:xfrm>
          <a:prstGeom prst="roundRect">
            <a:avLst>
              <a:gd fmla="val 4232" name="adj"/>
            </a:avLst>
          </a:prstGeom>
          <a:solidFill>
            <a:srgbClr val="7A8A5A">
              <a:alpha val="5882"/>
            </a:srgbClr>
          </a:solidFill>
          <a:ln cap="flat" cmpd="sng" w="19050">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28"/>
          <p:cNvSpPr/>
          <p:nvPr/>
        </p:nvSpPr>
        <p:spPr>
          <a:xfrm>
            <a:off x="12318950" y="3821311"/>
            <a:ext cx="5057195" cy="438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625"/>
              <a:buFont typeface="Gabarito"/>
              <a:buNone/>
            </a:pPr>
            <a:r>
              <a:rPr b="1" i="0" lang="en-US" sz="2800" u="none" cap="none" strike="noStrike">
                <a:solidFill>
                  <a:srgbClr val="4C5A33"/>
                </a:solidFill>
                <a:latin typeface="Gabarito"/>
                <a:ea typeface="Gabarito"/>
                <a:cs typeface="Gabarito"/>
                <a:sym typeface="Gabarito"/>
              </a:rPr>
              <a:t>Top-k retrieval</a:t>
            </a:r>
            <a:endParaRPr b="0" i="0" sz="2800" u="none" cap="none" strike="noStrike">
              <a:solidFill>
                <a:schemeClr val="dk1"/>
              </a:solidFill>
              <a:latin typeface="Calibri"/>
              <a:ea typeface="Calibri"/>
              <a:cs typeface="Calibri"/>
              <a:sym typeface="Calibri"/>
            </a:endParaRPr>
          </a:p>
        </p:txBody>
      </p:sp>
      <p:sp>
        <p:nvSpPr>
          <p:cNvPr id="720" name="Google Shape;720;p28"/>
          <p:cNvSpPr/>
          <p:nvPr/>
        </p:nvSpPr>
        <p:spPr>
          <a:xfrm>
            <a:off x="12318950" y="4413153"/>
            <a:ext cx="4735373" cy="1715095"/>
          </a:xfrm>
          <a:prstGeom prst="rect">
            <a:avLst/>
          </a:prstGeom>
          <a:noFill/>
          <a:ln>
            <a:noFill/>
          </a:ln>
        </p:spPr>
        <p:txBody>
          <a:bodyPr anchorCtr="0" anchor="t" bIns="25400" lIns="25400" spcFirstLastPara="1" rIns="25400" wrap="square" tIns="25400">
            <a:noAutofit/>
          </a:bodyPr>
          <a:lstStyle/>
          <a:p>
            <a:pPr indent="0" lvl="0" marL="0" marR="0" rtl="0" algn="l">
              <a:lnSpc>
                <a:spcPct val="118973"/>
              </a:lnSpc>
              <a:spcBef>
                <a:spcPts val="0"/>
              </a:spcBef>
              <a:spcAft>
                <a:spcPts val="0"/>
              </a:spcAft>
              <a:buClr>
                <a:srgbClr val="37474F"/>
              </a:buClr>
              <a:buSzPts val="2325"/>
              <a:buFont typeface="Gabarito"/>
              <a:buNone/>
            </a:pPr>
            <a:r>
              <a:rPr b="0" i="0" lang="en-US" sz="2325" u="none" cap="none" strike="noStrike">
                <a:solidFill>
                  <a:srgbClr val="37474F"/>
                </a:solidFill>
                <a:latin typeface="Gabarito"/>
                <a:ea typeface="Gabarito"/>
                <a:cs typeface="Gabarito"/>
                <a:sym typeface="Gabarito"/>
              </a:rPr>
              <a:t>Once every chunk is scored, retrieval returns a fixed number of the top-scoring ones </a:t>
            </a:r>
            <a:r>
              <a:rPr lang="en-US" sz="2325">
                <a:solidFill>
                  <a:srgbClr val="37474F"/>
                </a:solidFill>
                <a:latin typeface="Gabarito"/>
                <a:ea typeface="Gabarito"/>
                <a:cs typeface="Gabarito"/>
                <a:sym typeface="Gabarito"/>
              </a:rPr>
              <a:t>- </a:t>
            </a:r>
            <a:r>
              <a:rPr b="0" i="0" lang="en-US" sz="2325" u="none" cap="none" strike="noStrike">
                <a:solidFill>
                  <a:srgbClr val="37474F"/>
                </a:solidFill>
                <a:latin typeface="Gabarito"/>
                <a:ea typeface="Gabarito"/>
                <a:cs typeface="Gabarito"/>
                <a:sym typeface="Gabarito"/>
              </a:rPr>
              <a:t>never "the one best chunk" or "every chunk."</a:t>
            </a:r>
            <a:endParaRPr b="0" i="0" sz="2325" u="none" cap="none" strike="noStrike">
              <a:solidFill>
                <a:schemeClr val="dk1"/>
              </a:solidFill>
              <a:latin typeface="Calibri"/>
              <a:ea typeface="Calibri"/>
              <a:cs typeface="Calibri"/>
              <a:sym typeface="Calibri"/>
            </a:endParaRPr>
          </a:p>
        </p:txBody>
      </p:sp>
      <p:sp>
        <p:nvSpPr>
          <p:cNvPr id="721" name="Google Shape;721;p28"/>
          <p:cNvSpPr/>
          <p:nvPr/>
        </p:nvSpPr>
        <p:spPr>
          <a:xfrm>
            <a:off x="1047750" y="7786390"/>
            <a:ext cx="16192500" cy="1238250"/>
          </a:xfrm>
          <a:prstGeom prst="roundRect">
            <a:avLst>
              <a:gd fmla="val 12308"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28"/>
          <p:cNvSpPr/>
          <p:nvPr/>
        </p:nvSpPr>
        <p:spPr>
          <a:xfrm>
            <a:off x="1390650" y="8015000"/>
            <a:ext cx="15505800" cy="819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550"/>
              <a:buFont typeface="Gabarito"/>
              <a:buNone/>
            </a:pPr>
            <a:r>
              <a:rPr b="1" i="0" lang="en-US" sz="2550" u="none" cap="none" strike="noStrike">
                <a:solidFill>
                  <a:srgbClr val="FF9900"/>
                </a:solidFill>
                <a:latin typeface="Gabarito"/>
                <a:ea typeface="Gabarito"/>
                <a:cs typeface="Gabarito"/>
                <a:sym typeface="Gabarito"/>
              </a:rPr>
              <a:t>Why it matters: </a:t>
            </a:r>
            <a:r>
              <a:rPr b="0" i="0" lang="en-US" sz="2550" u="none" cap="none" strike="noStrike">
                <a:solidFill>
                  <a:srgbClr val="5B5B5B"/>
                </a:solidFill>
                <a:latin typeface="Gabarito"/>
                <a:ea typeface="Gabarito"/>
                <a:cs typeface="Gabarito"/>
                <a:sym typeface="Gabarito"/>
              </a:rPr>
              <a:t>retrieval quality is the ceiling on the whole system </a:t>
            </a:r>
            <a:r>
              <a:rPr lang="en-US" sz="2550">
                <a:solidFill>
                  <a:srgbClr val="5B5B5B"/>
                </a:solidFill>
                <a:latin typeface="Gabarito"/>
                <a:ea typeface="Gabarito"/>
                <a:cs typeface="Gabarito"/>
                <a:sym typeface="Gabarito"/>
              </a:rPr>
              <a:t>-</a:t>
            </a:r>
            <a:r>
              <a:rPr b="0" i="0" lang="en-US" sz="2550" u="none" cap="none" strike="noStrike">
                <a:solidFill>
                  <a:srgbClr val="5B5B5B"/>
                </a:solidFill>
                <a:latin typeface="Gabarito"/>
                <a:ea typeface="Gabarito"/>
                <a:cs typeface="Gabarito"/>
                <a:sym typeface="Gabarito"/>
              </a:rPr>
              <a:t> even a perfect LLM can't generate a good answer if it never receives the right context to begin with.</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pic>
        <p:nvPicPr>
          <p:cNvPr descr="preencoded.png" id="728" name="Google Shape;728;p29"/>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729" name="Google Shape;729;p29"/>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4</a:t>
            </a:r>
            <a:endParaRPr b="0" i="0" sz="3000" u="none" cap="none" strike="noStrike">
              <a:solidFill>
                <a:schemeClr val="dk1"/>
              </a:solidFill>
              <a:latin typeface="Calibri"/>
              <a:ea typeface="Calibri"/>
              <a:cs typeface="Calibri"/>
              <a:sym typeface="Calibri"/>
            </a:endParaRPr>
          </a:p>
        </p:txBody>
      </p:sp>
      <p:sp>
        <p:nvSpPr>
          <p:cNvPr id="730" name="Google Shape;730;p29"/>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Three Ways to Search</a:t>
            </a:r>
            <a:endParaRPr b="0" i="0" sz="6000" u="none" cap="none" strike="noStrike">
              <a:solidFill>
                <a:schemeClr val="dk1"/>
              </a:solidFill>
              <a:latin typeface="Calibri"/>
              <a:ea typeface="Calibri"/>
              <a:cs typeface="Calibri"/>
              <a:sym typeface="Calibri"/>
            </a:endParaRPr>
          </a:p>
        </p:txBody>
      </p:sp>
      <p:sp>
        <p:nvSpPr>
          <p:cNvPr id="731" name="Google Shape;731;p29"/>
          <p:cNvSpPr/>
          <p:nvPr/>
        </p:nvSpPr>
        <p:spPr>
          <a:xfrm>
            <a:off x="1047751" y="2200275"/>
            <a:ext cx="14419558" cy="8572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Vector similarity isn't the only way to find relevant chunks - systems typically choose from</a:t>
            </a:r>
            <a:r>
              <a:rPr b="1" i="0" lang="en-US" sz="3000" u="none" cap="none" strike="noStrike">
                <a:solidFill>
                  <a:schemeClr val="accent2"/>
                </a:solidFill>
                <a:latin typeface="Gabarito"/>
                <a:ea typeface="Gabarito"/>
                <a:cs typeface="Gabarito"/>
                <a:sym typeface="Gabarito"/>
              </a:rPr>
              <a:t> three strategies</a:t>
            </a:r>
            <a:r>
              <a:rPr b="0" i="0" lang="en-US" sz="3000" u="none" cap="none" strike="noStrike">
                <a:solidFill>
                  <a:srgbClr val="212121"/>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732" name="Google Shape;732;p29"/>
          <p:cNvSpPr/>
          <p:nvPr/>
        </p:nvSpPr>
        <p:spPr>
          <a:xfrm>
            <a:off x="1047750" y="3429000"/>
            <a:ext cx="2428875" cy="638175"/>
          </a:xfrm>
          <a:custGeom>
            <a:rect b="b" l="l" r="r" t="t"/>
            <a:pathLst>
              <a:path extrusionOk="0" h="638175" w="2428875">
                <a:moveTo>
                  <a:pt x="133350" y="0"/>
                </a:moveTo>
                <a:lnTo>
                  <a:pt x="2428875" y="0"/>
                </a:lnTo>
                <a:lnTo>
                  <a:pt x="2428875" y="638175"/>
                </a:lnTo>
                <a:lnTo>
                  <a:pt x="0" y="638175"/>
                </a:lnTo>
                <a:lnTo>
                  <a:pt x="0" y="133350"/>
                </a:lnTo>
                <a:cubicBezTo>
                  <a:pt x="0" y="59703"/>
                  <a:pt x="59703" y="0"/>
                  <a:pt x="133350" y="0"/>
                </a:cubicBezTo>
                <a:close/>
              </a:path>
            </a:pathLst>
          </a:cu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733" name="Google Shape;733;p29"/>
          <p:cNvSpPr/>
          <p:nvPr/>
        </p:nvSpPr>
        <p:spPr>
          <a:xfrm>
            <a:off x="1333500" y="3581400"/>
            <a:ext cx="1933575"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75"/>
              <a:buFont typeface="Gabarito"/>
              <a:buNone/>
            </a:pPr>
            <a:r>
              <a:rPr b="1" i="0" lang="en-US" sz="2275" u="none" cap="none" strike="noStrike">
                <a:solidFill>
                  <a:srgbClr val="FFFFFF"/>
                </a:solidFill>
                <a:latin typeface="Gabarito"/>
                <a:ea typeface="Gabarito"/>
                <a:cs typeface="Gabarito"/>
                <a:sym typeface="Gabarito"/>
              </a:rPr>
              <a:t>Method</a:t>
            </a:r>
            <a:endParaRPr b="0" i="0" sz="2275" u="none" cap="none" strike="noStrike">
              <a:solidFill>
                <a:schemeClr val="dk1"/>
              </a:solidFill>
              <a:latin typeface="Calibri"/>
              <a:ea typeface="Calibri"/>
              <a:cs typeface="Calibri"/>
              <a:sym typeface="Calibri"/>
            </a:endParaRPr>
          </a:p>
        </p:txBody>
      </p:sp>
      <p:sp>
        <p:nvSpPr>
          <p:cNvPr id="734" name="Google Shape;734;p29"/>
          <p:cNvSpPr/>
          <p:nvPr/>
        </p:nvSpPr>
        <p:spPr>
          <a:xfrm>
            <a:off x="3476625" y="3429000"/>
            <a:ext cx="4048125" cy="638175"/>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735" name="Google Shape;735;p29"/>
          <p:cNvSpPr/>
          <p:nvPr/>
        </p:nvSpPr>
        <p:spPr>
          <a:xfrm>
            <a:off x="3762375" y="3581400"/>
            <a:ext cx="3598069"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75"/>
              <a:buFont typeface="Gabarito"/>
              <a:buNone/>
            </a:pPr>
            <a:r>
              <a:rPr b="1" i="0" lang="en-US" sz="2275" u="none" cap="none" strike="noStrike">
                <a:solidFill>
                  <a:srgbClr val="FFFFFF"/>
                </a:solidFill>
                <a:latin typeface="Gabarito"/>
                <a:ea typeface="Gabarito"/>
                <a:cs typeface="Gabarito"/>
                <a:sym typeface="Gabarito"/>
              </a:rPr>
              <a:t>How it matches</a:t>
            </a:r>
            <a:endParaRPr b="0" i="0" sz="2275" u="none" cap="none" strike="noStrike">
              <a:solidFill>
                <a:schemeClr val="dk1"/>
              </a:solidFill>
              <a:latin typeface="Calibri"/>
              <a:ea typeface="Calibri"/>
              <a:cs typeface="Calibri"/>
              <a:sym typeface="Calibri"/>
            </a:endParaRPr>
          </a:p>
        </p:txBody>
      </p:sp>
      <p:sp>
        <p:nvSpPr>
          <p:cNvPr id="736" name="Google Shape;736;p29"/>
          <p:cNvSpPr/>
          <p:nvPr/>
        </p:nvSpPr>
        <p:spPr>
          <a:xfrm>
            <a:off x="7524750" y="3429000"/>
            <a:ext cx="4857750" cy="638175"/>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737" name="Google Shape;737;p29"/>
          <p:cNvSpPr/>
          <p:nvPr/>
        </p:nvSpPr>
        <p:spPr>
          <a:xfrm>
            <a:off x="7810500" y="3581400"/>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75"/>
              <a:buFont typeface="Gabarito"/>
              <a:buNone/>
            </a:pPr>
            <a:r>
              <a:rPr b="1" i="0" lang="en-US" sz="2275" u="none" cap="none" strike="noStrike">
                <a:solidFill>
                  <a:srgbClr val="FFFFFF"/>
                </a:solidFill>
                <a:latin typeface="Gabarito"/>
                <a:ea typeface="Gabarito"/>
                <a:cs typeface="Gabarito"/>
                <a:sym typeface="Gabarito"/>
              </a:rPr>
              <a:t>Best for</a:t>
            </a:r>
            <a:endParaRPr b="0" i="0" sz="2275" u="none" cap="none" strike="noStrike">
              <a:solidFill>
                <a:schemeClr val="dk1"/>
              </a:solidFill>
              <a:latin typeface="Calibri"/>
              <a:ea typeface="Calibri"/>
              <a:cs typeface="Calibri"/>
              <a:sym typeface="Calibri"/>
            </a:endParaRPr>
          </a:p>
        </p:txBody>
      </p:sp>
      <p:sp>
        <p:nvSpPr>
          <p:cNvPr id="738" name="Google Shape;738;p29"/>
          <p:cNvSpPr/>
          <p:nvPr/>
        </p:nvSpPr>
        <p:spPr>
          <a:xfrm>
            <a:off x="12382500" y="3429000"/>
            <a:ext cx="4857750" cy="638175"/>
          </a:xfrm>
          <a:custGeom>
            <a:rect b="b" l="l" r="r" t="t"/>
            <a:pathLst>
              <a:path extrusionOk="0" h="638175" w="4857750">
                <a:moveTo>
                  <a:pt x="0" y="0"/>
                </a:moveTo>
                <a:lnTo>
                  <a:pt x="4724400" y="0"/>
                </a:lnTo>
                <a:cubicBezTo>
                  <a:pt x="4759767" y="0"/>
                  <a:pt x="4793685" y="14049"/>
                  <a:pt x="4818693" y="39057"/>
                </a:cubicBezTo>
                <a:cubicBezTo>
                  <a:pt x="4843701" y="64065"/>
                  <a:pt x="4857750" y="97983"/>
                  <a:pt x="4857750" y="133350"/>
                </a:cubicBezTo>
                <a:lnTo>
                  <a:pt x="4857750" y="638175"/>
                </a:lnTo>
                <a:lnTo>
                  <a:pt x="0" y="638175"/>
                </a:lnTo>
                <a:lnTo>
                  <a:pt x="0" y="0"/>
                </a:lnTo>
                <a:close/>
              </a:path>
            </a:pathLst>
          </a:cu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739" name="Google Shape;739;p29"/>
          <p:cNvSpPr/>
          <p:nvPr/>
        </p:nvSpPr>
        <p:spPr>
          <a:xfrm>
            <a:off x="12668250" y="3581400"/>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75"/>
              <a:buFont typeface="Gabarito"/>
              <a:buNone/>
            </a:pPr>
            <a:r>
              <a:rPr b="1" i="0" lang="en-US" sz="2275" u="none" cap="none" strike="noStrike">
                <a:solidFill>
                  <a:srgbClr val="FFFFFF"/>
                </a:solidFill>
                <a:latin typeface="Gabarito"/>
                <a:ea typeface="Gabarito"/>
                <a:cs typeface="Gabarito"/>
                <a:sym typeface="Gabarito"/>
              </a:rPr>
              <a:t>Weakness</a:t>
            </a:r>
            <a:endParaRPr b="0" i="0" sz="2275" u="none" cap="none" strike="noStrike">
              <a:solidFill>
                <a:schemeClr val="dk1"/>
              </a:solidFill>
              <a:latin typeface="Calibri"/>
              <a:ea typeface="Calibri"/>
              <a:cs typeface="Calibri"/>
              <a:sym typeface="Calibri"/>
            </a:endParaRPr>
          </a:p>
        </p:txBody>
      </p:sp>
      <p:sp>
        <p:nvSpPr>
          <p:cNvPr id="740" name="Google Shape;740;p29"/>
          <p:cNvSpPr/>
          <p:nvPr/>
        </p:nvSpPr>
        <p:spPr>
          <a:xfrm>
            <a:off x="1047750" y="4781550"/>
            <a:ext cx="2428875"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41" name="Google Shape;741;p29"/>
          <p:cNvSpPr/>
          <p:nvPr/>
        </p:nvSpPr>
        <p:spPr>
          <a:xfrm>
            <a:off x="1333500" y="4257675"/>
            <a:ext cx="1933575"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274D71"/>
              </a:buClr>
              <a:buSzPts val="2175"/>
              <a:buFont typeface="Gabarito"/>
              <a:buNone/>
            </a:pPr>
            <a:r>
              <a:rPr b="1" i="0" lang="en-US" sz="2675" u="none" cap="none" strike="noStrike">
                <a:solidFill>
                  <a:srgbClr val="274D71"/>
                </a:solidFill>
                <a:latin typeface="Gabarito"/>
                <a:ea typeface="Gabarito"/>
                <a:cs typeface="Gabarito"/>
                <a:sym typeface="Gabarito"/>
              </a:rPr>
              <a:t>Keyword</a:t>
            </a:r>
            <a:endParaRPr b="0" i="0" sz="2675" u="none" cap="none" strike="noStrike">
              <a:solidFill>
                <a:schemeClr val="dk1"/>
              </a:solidFill>
              <a:latin typeface="Calibri"/>
              <a:ea typeface="Calibri"/>
              <a:cs typeface="Calibri"/>
              <a:sym typeface="Calibri"/>
            </a:endParaRPr>
          </a:p>
        </p:txBody>
      </p:sp>
      <p:sp>
        <p:nvSpPr>
          <p:cNvPr id="742" name="Google Shape;742;p29"/>
          <p:cNvSpPr/>
          <p:nvPr/>
        </p:nvSpPr>
        <p:spPr>
          <a:xfrm>
            <a:off x="3476625" y="4781550"/>
            <a:ext cx="4048125"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43" name="Google Shape;743;p29"/>
          <p:cNvSpPr/>
          <p:nvPr/>
        </p:nvSpPr>
        <p:spPr>
          <a:xfrm>
            <a:off x="3762375" y="4257675"/>
            <a:ext cx="3598069"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75"/>
              <a:buFont typeface="Gabarito"/>
              <a:buNone/>
            </a:pPr>
            <a:r>
              <a:rPr b="0" i="0" lang="en-US" sz="2675" u="none" cap="none" strike="noStrike">
                <a:solidFill>
                  <a:srgbClr val="5B5B5B"/>
                </a:solidFill>
                <a:latin typeface="Gabarito"/>
                <a:ea typeface="Gabarito"/>
                <a:cs typeface="Gabarito"/>
                <a:sym typeface="Gabarito"/>
              </a:rPr>
              <a:t>Exact word overlap</a:t>
            </a:r>
            <a:endParaRPr b="0" i="0" sz="2675" u="none" cap="none" strike="noStrike">
              <a:solidFill>
                <a:schemeClr val="dk1"/>
              </a:solidFill>
              <a:latin typeface="Calibri"/>
              <a:ea typeface="Calibri"/>
              <a:cs typeface="Calibri"/>
              <a:sym typeface="Calibri"/>
            </a:endParaRPr>
          </a:p>
        </p:txBody>
      </p:sp>
      <p:sp>
        <p:nvSpPr>
          <p:cNvPr id="744" name="Google Shape;744;p29"/>
          <p:cNvSpPr/>
          <p:nvPr/>
        </p:nvSpPr>
        <p:spPr>
          <a:xfrm>
            <a:off x="7524750" y="4781550"/>
            <a:ext cx="4857750"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45" name="Google Shape;745;p29"/>
          <p:cNvSpPr/>
          <p:nvPr/>
        </p:nvSpPr>
        <p:spPr>
          <a:xfrm>
            <a:off x="7810500" y="4257675"/>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75"/>
              <a:buFont typeface="Gabarito"/>
              <a:buNone/>
            </a:pPr>
            <a:r>
              <a:rPr b="0" i="0" lang="en-US" sz="2675" u="none" cap="none" strike="noStrike">
                <a:solidFill>
                  <a:srgbClr val="5B5B5B"/>
                </a:solidFill>
                <a:latin typeface="Gabarito"/>
                <a:ea typeface="Gabarito"/>
                <a:cs typeface="Gabarito"/>
                <a:sym typeface="Gabarito"/>
              </a:rPr>
              <a:t>Exact terms, codes, names</a:t>
            </a:r>
            <a:endParaRPr b="0" i="0" sz="2675" u="none" cap="none" strike="noStrike">
              <a:solidFill>
                <a:schemeClr val="dk1"/>
              </a:solidFill>
              <a:latin typeface="Calibri"/>
              <a:ea typeface="Calibri"/>
              <a:cs typeface="Calibri"/>
              <a:sym typeface="Calibri"/>
            </a:endParaRPr>
          </a:p>
        </p:txBody>
      </p:sp>
      <p:sp>
        <p:nvSpPr>
          <p:cNvPr id="746" name="Google Shape;746;p29"/>
          <p:cNvSpPr/>
          <p:nvPr/>
        </p:nvSpPr>
        <p:spPr>
          <a:xfrm>
            <a:off x="12382500" y="4781550"/>
            <a:ext cx="4857750"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47" name="Google Shape;747;p29"/>
          <p:cNvSpPr/>
          <p:nvPr/>
        </p:nvSpPr>
        <p:spPr>
          <a:xfrm>
            <a:off x="12668250" y="4257675"/>
            <a:ext cx="5348400" cy="3714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C15F3C"/>
              </a:buClr>
              <a:buSzPts val="2175"/>
              <a:buFont typeface="Gabarito"/>
              <a:buNone/>
            </a:pPr>
            <a:r>
              <a:rPr b="0" i="0" lang="en-US" sz="2675" u="none" cap="none" strike="noStrike">
                <a:solidFill>
                  <a:srgbClr val="C15F3C"/>
                </a:solidFill>
                <a:latin typeface="Gabarito"/>
                <a:ea typeface="Gabarito"/>
                <a:cs typeface="Gabarito"/>
                <a:sym typeface="Gabarito"/>
              </a:rPr>
              <a:t>Misses synonyms / paraphrase</a:t>
            </a:r>
            <a:endParaRPr b="0" i="0" sz="2675" u="none" cap="none" strike="noStrike">
              <a:solidFill>
                <a:schemeClr val="dk1"/>
              </a:solidFill>
              <a:latin typeface="Calibri"/>
              <a:ea typeface="Calibri"/>
              <a:cs typeface="Calibri"/>
              <a:sym typeface="Calibri"/>
            </a:endParaRPr>
          </a:p>
        </p:txBody>
      </p:sp>
      <p:sp>
        <p:nvSpPr>
          <p:cNvPr id="748" name="Google Shape;748;p29"/>
          <p:cNvSpPr/>
          <p:nvPr/>
        </p:nvSpPr>
        <p:spPr>
          <a:xfrm>
            <a:off x="1047750" y="4800600"/>
            <a:ext cx="16192500" cy="733425"/>
          </a:xfrm>
          <a:prstGeom prst="rect">
            <a:avLst/>
          </a:prstGeom>
          <a:solidFill>
            <a:srgbClr val="FAF9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49" name="Google Shape;749;p29"/>
          <p:cNvSpPr/>
          <p:nvPr/>
        </p:nvSpPr>
        <p:spPr>
          <a:xfrm>
            <a:off x="1047750" y="5514975"/>
            <a:ext cx="2428875"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50" name="Google Shape;750;p29"/>
          <p:cNvSpPr/>
          <p:nvPr/>
        </p:nvSpPr>
        <p:spPr>
          <a:xfrm>
            <a:off x="1333500" y="4991100"/>
            <a:ext cx="1933575"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274D71"/>
              </a:buClr>
              <a:buSzPts val="2175"/>
              <a:buFont typeface="Gabarito"/>
              <a:buNone/>
            </a:pPr>
            <a:r>
              <a:rPr b="1" i="0" lang="en-US" sz="2675" u="none" cap="none" strike="noStrike">
                <a:solidFill>
                  <a:srgbClr val="274D71"/>
                </a:solidFill>
                <a:latin typeface="Gabarito"/>
                <a:ea typeface="Gabarito"/>
                <a:cs typeface="Gabarito"/>
                <a:sym typeface="Gabarito"/>
              </a:rPr>
              <a:t>Vector</a:t>
            </a:r>
            <a:endParaRPr b="0" i="0" sz="2675" u="none" cap="none" strike="noStrike">
              <a:solidFill>
                <a:schemeClr val="dk1"/>
              </a:solidFill>
              <a:latin typeface="Calibri"/>
              <a:ea typeface="Calibri"/>
              <a:cs typeface="Calibri"/>
              <a:sym typeface="Calibri"/>
            </a:endParaRPr>
          </a:p>
        </p:txBody>
      </p:sp>
      <p:sp>
        <p:nvSpPr>
          <p:cNvPr id="751" name="Google Shape;751;p29"/>
          <p:cNvSpPr/>
          <p:nvPr/>
        </p:nvSpPr>
        <p:spPr>
          <a:xfrm>
            <a:off x="3476625" y="5514975"/>
            <a:ext cx="4048125"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52" name="Google Shape;752;p29"/>
          <p:cNvSpPr/>
          <p:nvPr/>
        </p:nvSpPr>
        <p:spPr>
          <a:xfrm>
            <a:off x="3762375" y="4991100"/>
            <a:ext cx="3598069"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75"/>
              <a:buFont typeface="Gabarito"/>
              <a:buNone/>
            </a:pPr>
            <a:r>
              <a:rPr b="0" i="0" lang="en-US" sz="2675" u="none" cap="none" strike="noStrike">
                <a:solidFill>
                  <a:srgbClr val="5B5B5B"/>
                </a:solidFill>
                <a:latin typeface="Gabarito"/>
                <a:ea typeface="Gabarito"/>
                <a:cs typeface="Gabarito"/>
                <a:sym typeface="Gabarito"/>
              </a:rPr>
              <a:t>Semantic similarity</a:t>
            </a:r>
            <a:endParaRPr b="0" i="0" sz="2675" u="none" cap="none" strike="noStrike">
              <a:solidFill>
                <a:schemeClr val="dk1"/>
              </a:solidFill>
              <a:latin typeface="Calibri"/>
              <a:ea typeface="Calibri"/>
              <a:cs typeface="Calibri"/>
              <a:sym typeface="Calibri"/>
            </a:endParaRPr>
          </a:p>
        </p:txBody>
      </p:sp>
      <p:sp>
        <p:nvSpPr>
          <p:cNvPr id="753" name="Google Shape;753;p29"/>
          <p:cNvSpPr/>
          <p:nvPr/>
        </p:nvSpPr>
        <p:spPr>
          <a:xfrm>
            <a:off x="7524750" y="5514975"/>
            <a:ext cx="4857750"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54" name="Google Shape;754;p29"/>
          <p:cNvSpPr/>
          <p:nvPr/>
        </p:nvSpPr>
        <p:spPr>
          <a:xfrm>
            <a:off x="7810500" y="4991100"/>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75"/>
              <a:buFont typeface="Gabarito"/>
              <a:buNone/>
            </a:pPr>
            <a:r>
              <a:rPr b="0" i="0" lang="en-US" sz="2675" u="none" cap="none" strike="noStrike">
                <a:solidFill>
                  <a:srgbClr val="5B5B5B"/>
                </a:solidFill>
                <a:latin typeface="Gabarito"/>
                <a:ea typeface="Gabarito"/>
                <a:cs typeface="Gabarito"/>
                <a:sym typeface="Gabarito"/>
              </a:rPr>
              <a:t>Meaning-based queries</a:t>
            </a:r>
            <a:endParaRPr b="0" i="0" sz="2675" u="none" cap="none" strike="noStrike">
              <a:solidFill>
                <a:schemeClr val="dk1"/>
              </a:solidFill>
              <a:latin typeface="Calibri"/>
              <a:ea typeface="Calibri"/>
              <a:cs typeface="Calibri"/>
              <a:sym typeface="Calibri"/>
            </a:endParaRPr>
          </a:p>
        </p:txBody>
      </p:sp>
      <p:sp>
        <p:nvSpPr>
          <p:cNvPr id="755" name="Google Shape;755;p29"/>
          <p:cNvSpPr/>
          <p:nvPr/>
        </p:nvSpPr>
        <p:spPr>
          <a:xfrm>
            <a:off x="12382500" y="5514975"/>
            <a:ext cx="4857750" cy="1905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900" u="none" cap="none" strike="noStrike">
              <a:solidFill>
                <a:srgbClr val="000000"/>
              </a:solidFill>
              <a:latin typeface="Arial"/>
              <a:ea typeface="Arial"/>
              <a:cs typeface="Arial"/>
              <a:sym typeface="Arial"/>
            </a:endParaRPr>
          </a:p>
        </p:txBody>
      </p:sp>
      <p:sp>
        <p:nvSpPr>
          <p:cNvPr id="756" name="Google Shape;756;p29"/>
          <p:cNvSpPr/>
          <p:nvPr/>
        </p:nvSpPr>
        <p:spPr>
          <a:xfrm>
            <a:off x="12668250" y="4991100"/>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C15F3C"/>
              </a:buClr>
              <a:buSzPts val="2175"/>
              <a:buFont typeface="Gabarito"/>
              <a:buNone/>
            </a:pPr>
            <a:r>
              <a:rPr b="0" i="0" lang="en-US" sz="2675" u="none" cap="none" strike="noStrike">
                <a:solidFill>
                  <a:srgbClr val="C15F3C"/>
                </a:solidFill>
                <a:latin typeface="Gabarito"/>
                <a:ea typeface="Gabarito"/>
                <a:cs typeface="Gabarito"/>
                <a:sym typeface="Gabarito"/>
              </a:rPr>
              <a:t>Can miss exact terms</a:t>
            </a:r>
            <a:endParaRPr b="0" i="0" sz="2675" u="none" cap="none" strike="noStrike">
              <a:solidFill>
                <a:schemeClr val="dk1"/>
              </a:solidFill>
              <a:latin typeface="Calibri"/>
              <a:ea typeface="Calibri"/>
              <a:cs typeface="Calibri"/>
              <a:sym typeface="Calibri"/>
            </a:endParaRPr>
          </a:p>
        </p:txBody>
      </p:sp>
      <p:sp>
        <p:nvSpPr>
          <p:cNvPr id="757" name="Google Shape;757;p29"/>
          <p:cNvSpPr/>
          <p:nvPr/>
        </p:nvSpPr>
        <p:spPr>
          <a:xfrm>
            <a:off x="1333500" y="5724525"/>
            <a:ext cx="1933575"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274D71"/>
              </a:buClr>
              <a:buSzPts val="2175"/>
              <a:buFont typeface="Gabarito"/>
              <a:buNone/>
            </a:pPr>
            <a:r>
              <a:rPr b="1" i="0" lang="en-US" sz="2675" u="none" cap="none" strike="noStrike">
                <a:solidFill>
                  <a:srgbClr val="274D71"/>
                </a:solidFill>
                <a:latin typeface="Gabarito"/>
                <a:ea typeface="Gabarito"/>
                <a:cs typeface="Gabarito"/>
                <a:sym typeface="Gabarito"/>
              </a:rPr>
              <a:t>Hybrid</a:t>
            </a:r>
            <a:endParaRPr b="0" i="0" sz="2675" u="none" cap="none" strike="noStrike">
              <a:solidFill>
                <a:schemeClr val="dk1"/>
              </a:solidFill>
              <a:latin typeface="Calibri"/>
              <a:ea typeface="Calibri"/>
              <a:cs typeface="Calibri"/>
              <a:sym typeface="Calibri"/>
            </a:endParaRPr>
          </a:p>
        </p:txBody>
      </p:sp>
      <p:sp>
        <p:nvSpPr>
          <p:cNvPr id="758" name="Google Shape;758;p29"/>
          <p:cNvSpPr/>
          <p:nvPr/>
        </p:nvSpPr>
        <p:spPr>
          <a:xfrm>
            <a:off x="3762375" y="5724525"/>
            <a:ext cx="3598069"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75"/>
              <a:buFont typeface="Gabarito"/>
              <a:buNone/>
            </a:pPr>
            <a:r>
              <a:rPr b="0" i="0" lang="en-US" sz="2675" u="none" cap="none" strike="noStrike">
                <a:solidFill>
                  <a:srgbClr val="5B5B5B"/>
                </a:solidFill>
                <a:latin typeface="Gabarito"/>
                <a:ea typeface="Gabarito"/>
                <a:cs typeface="Gabarito"/>
                <a:sym typeface="Gabarito"/>
              </a:rPr>
              <a:t>Both, merged</a:t>
            </a:r>
            <a:endParaRPr b="0" i="0" sz="2675" u="none" cap="none" strike="noStrike">
              <a:solidFill>
                <a:schemeClr val="dk1"/>
              </a:solidFill>
              <a:latin typeface="Calibri"/>
              <a:ea typeface="Calibri"/>
              <a:cs typeface="Calibri"/>
              <a:sym typeface="Calibri"/>
            </a:endParaRPr>
          </a:p>
        </p:txBody>
      </p:sp>
      <p:sp>
        <p:nvSpPr>
          <p:cNvPr id="759" name="Google Shape;759;p29"/>
          <p:cNvSpPr/>
          <p:nvPr/>
        </p:nvSpPr>
        <p:spPr>
          <a:xfrm>
            <a:off x="7810500" y="5724525"/>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75"/>
              <a:buFont typeface="Gabarito"/>
              <a:buNone/>
            </a:pPr>
            <a:r>
              <a:rPr b="0" i="0" lang="en-US" sz="2675" u="none" cap="none" strike="noStrike">
                <a:solidFill>
                  <a:srgbClr val="5B5B5B"/>
                </a:solidFill>
                <a:latin typeface="Gabarito"/>
                <a:ea typeface="Gabarito"/>
                <a:cs typeface="Gabarito"/>
                <a:sym typeface="Gabarito"/>
              </a:rPr>
              <a:t>Most production systems</a:t>
            </a:r>
            <a:endParaRPr b="0" i="0" sz="2675" u="none" cap="none" strike="noStrike">
              <a:solidFill>
                <a:schemeClr val="dk1"/>
              </a:solidFill>
              <a:latin typeface="Calibri"/>
              <a:ea typeface="Calibri"/>
              <a:cs typeface="Calibri"/>
              <a:sym typeface="Calibri"/>
            </a:endParaRPr>
          </a:p>
        </p:txBody>
      </p:sp>
      <p:sp>
        <p:nvSpPr>
          <p:cNvPr id="760" name="Google Shape;760;p29"/>
          <p:cNvSpPr/>
          <p:nvPr/>
        </p:nvSpPr>
        <p:spPr>
          <a:xfrm>
            <a:off x="12668250" y="5724525"/>
            <a:ext cx="4431983" cy="371475"/>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C15F3C"/>
              </a:buClr>
              <a:buSzPts val="2175"/>
              <a:buFont typeface="Gabarito"/>
              <a:buNone/>
            </a:pPr>
            <a:r>
              <a:rPr b="0" i="0" lang="en-US" sz="2675" u="none" cap="none" strike="noStrike">
                <a:solidFill>
                  <a:srgbClr val="C15F3C"/>
                </a:solidFill>
                <a:latin typeface="Gabarito"/>
                <a:ea typeface="Gabarito"/>
                <a:cs typeface="Gabarito"/>
                <a:sym typeface="Gabarito"/>
              </a:rPr>
              <a:t>More setup, slower</a:t>
            </a:r>
            <a:endParaRPr b="0" i="0" sz="2675" u="none" cap="none" strike="noStrike">
              <a:solidFill>
                <a:schemeClr val="dk1"/>
              </a:solidFill>
              <a:latin typeface="Calibri"/>
              <a:ea typeface="Calibri"/>
              <a:cs typeface="Calibri"/>
              <a:sym typeface="Calibri"/>
            </a:endParaRPr>
          </a:p>
        </p:txBody>
      </p:sp>
      <p:sp>
        <p:nvSpPr>
          <p:cNvPr id="761" name="Google Shape;761;p29"/>
          <p:cNvSpPr/>
          <p:nvPr/>
        </p:nvSpPr>
        <p:spPr>
          <a:xfrm>
            <a:off x="1047750" y="6626087"/>
            <a:ext cx="16192500" cy="1553400"/>
          </a:xfrm>
          <a:prstGeom prst="roundRect">
            <a:avLst>
              <a:gd fmla="val 12698" name="adj"/>
            </a:avLst>
          </a:prstGeom>
          <a:solidFill>
            <a:srgbClr val="035595">
              <a:alpha val="5098"/>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29"/>
          <p:cNvSpPr/>
          <p:nvPr/>
        </p:nvSpPr>
        <p:spPr>
          <a:xfrm>
            <a:off x="1390650" y="6756687"/>
            <a:ext cx="15709500" cy="7050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035595"/>
              </a:buClr>
              <a:buSzPts val="2175"/>
              <a:buFont typeface="Gabarito"/>
              <a:buNone/>
            </a:pPr>
            <a:r>
              <a:rPr b="1" i="0" lang="en-US" sz="2475" u="none" cap="none" strike="noStrike">
                <a:solidFill>
                  <a:srgbClr val="035595"/>
                </a:solidFill>
                <a:latin typeface="Gabarito"/>
                <a:ea typeface="Gabarito"/>
                <a:cs typeface="Gabarito"/>
                <a:sym typeface="Gabarito"/>
              </a:rPr>
              <a:t>Keyword search: </a:t>
            </a:r>
            <a:r>
              <a:rPr b="0" i="0" lang="en-US" sz="2400" u="none" cap="none" strike="noStrike">
                <a:solidFill>
                  <a:srgbClr val="37474F"/>
                </a:solidFill>
                <a:latin typeface="Gabarito"/>
                <a:ea typeface="Gabarito"/>
                <a:cs typeface="Gabarito"/>
                <a:sym typeface="Gabarito"/>
              </a:rPr>
              <a:t>simple and fast, but struggles with synonyms (a query about "puppy" won't match a chunk that only says "dog"). </a:t>
            </a:r>
            <a:r>
              <a:rPr b="1" i="0" lang="en-US" sz="2475" u="none" cap="none" strike="noStrike">
                <a:solidFill>
                  <a:srgbClr val="035595"/>
                </a:solidFill>
                <a:latin typeface="Gabarito"/>
                <a:ea typeface="Gabarito"/>
                <a:cs typeface="Gabarito"/>
                <a:sym typeface="Gabarito"/>
              </a:rPr>
              <a:t>Vector search: </a:t>
            </a:r>
            <a:r>
              <a:rPr b="0" i="0" lang="en-US" sz="2400" u="none" cap="none" strike="noStrike">
                <a:solidFill>
                  <a:srgbClr val="37474F"/>
                </a:solidFill>
                <a:latin typeface="Gabarito"/>
                <a:ea typeface="Gabarito"/>
                <a:cs typeface="Gabarito"/>
                <a:sym typeface="Gabarito"/>
              </a:rPr>
              <a:t>the method our baseline app uses </a:t>
            </a:r>
            <a:r>
              <a:rPr lang="en-US" sz="2400">
                <a:solidFill>
                  <a:srgbClr val="37474F"/>
                </a:solidFill>
                <a:latin typeface="Gabarito"/>
                <a:ea typeface="Gabarito"/>
                <a:cs typeface="Gabarito"/>
                <a:sym typeface="Gabarito"/>
              </a:rPr>
              <a:t>- </a:t>
            </a:r>
            <a:r>
              <a:rPr b="0" i="0" lang="en-US" sz="2400" u="none" cap="none" strike="noStrike">
                <a:solidFill>
                  <a:srgbClr val="37474F"/>
                </a:solidFill>
                <a:latin typeface="Gabarito"/>
                <a:ea typeface="Gabarito"/>
                <a:cs typeface="Gabarito"/>
                <a:sym typeface="Gabarito"/>
              </a:rPr>
              <a:t>strong semantic relationships but can miss exact terms like product codes.</a:t>
            </a:r>
            <a:endParaRPr b="0" i="0" sz="1500" u="none" cap="none" strike="noStrike">
              <a:solidFill>
                <a:schemeClr val="dk1"/>
              </a:solidFill>
              <a:latin typeface="Calibri"/>
              <a:ea typeface="Calibri"/>
              <a:cs typeface="Calibri"/>
              <a:sym typeface="Calibri"/>
            </a:endParaRPr>
          </a:p>
        </p:txBody>
      </p:sp>
      <p:sp>
        <p:nvSpPr>
          <p:cNvPr id="763" name="Google Shape;763;p29"/>
          <p:cNvSpPr/>
          <p:nvPr/>
        </p:nvSpPr>
        <p:spPr>
          <a:xfrm>
            <a:off x="1047750" y="8439150"/>
            <a:ext cx="16192500" cy="1244700"/>
          </a:xfrm>
          <a:prstGeom prst="roundRect">
            <a:avLst>
              <a:gd fmla="val 14035"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29"/>
          <p:cNvSpPr/>
          <p:nvPr/>
        </p:nvSpPr>
        <p:spPr>
          <a:xfrm>
            <a:off x="1390650" y="8667750"/>
            <a:ext cx="15992400" cy="6669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FF9900"/>
              </a:buClr>
              <a:buSzPts val="2100"/>
              <a:buFont typeface="Gabarito"/>
              <a:buNone/>
            </a:pPr>
            <a:r>
              <a:rPr b="1" i="0" lang="en-US" sz="2200" u="none" cap="none" strike="noStrike">
                <a:solidFill>
                  <a:srgbClr val="FF9900"/>
                </a:solidFill>
                <a:latin typeface="Gabarito"/>
                <a:ea typeface="Gabarito"/>
                <a:cs typeface="Gabarito"/>
                <a:sym typeface="Gabarito"/>
              </a:rPr>
              <a:t>Naive RAG (what we're building) </a:t>
            </a:r>
            <a:r>
              <a:rPr b="0" i="0" lang="en-US" sz="2200" u="none" cap="none" strike="noStrike">
                <a:solidFill>
                  <a:srgbClr val="5B5B5B"/>
                </a:solidFill>
                <a:latin typeface="Gabarito"/>
                <a:ea typeface="Gabarito"/>
                <a:cs typeface="Gabarito"/>
                <a:sym typeface="Gabarito"/>
              </a:rPr>
              <a:t>uses vector search alone </a:t>
            </a:r>
            <a:r>
              <a:rPr lang="en-US" sz="2200">
                <a:solidFill>
                  <a:srgbClr val="5B5B5B"/>
                </a:solidFill>
                <a:latin typeface="Gabarito"/>
                <a:ea typeface="Gabarito"/>
                <a:cs typeface="Gabarito"/>
                <a:sym typeface="Gabarito"/>
              </a:rPr>
              <a:t>-</a:t>
            </a:r>
            <a:r>
              <a:rPr b="0" i="0" lang="en-US" sz="2200" u="none" cap="none" strike="noStrike">
                <a:solidFill>
                  <a:srgbClr val="5B5B5B"/>
                </a:solidFill>
                <a:latin typeface="Gabarito"/>
                <a:ea typeface="Gabarito"/>
                <a:cs typeface="Gabarito"/>
                <a:sym typeface="Gabarito"/>
              </a:rPr>
              <a:t> hybrid search is the first upgrade most production teams reach for when vector search starts missing matches.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pic>
        <p:nvPicPr>
          <p:cNvPr descr="preencoded.png" id="770" name="Google Shape;770;g3f776df2723_1_407"/>
          <p:cNvPicPr preferRelativeResize="0"/>
          <p:nvPr/>
        </p:nvPicPr>
        <p:blipFill rotWithShape="1">
          <a:blip r:embed="rId3">
            <a:alphaModFix/>
          </a:blip>
          <a:srcRect b="0" l="0" r="0" t="0"/>
          <a:stretch/>
        </p:blipFill>
        <p:spPr>
          <a:xfrm>
            <a:off x="16202248" y="952351"/>
            <a:ext cx="1066651" cy="1303959"/>
          </a:xfrm>
          <a:prstGeom prst="rect">
            <a:avLst/>
          </a:prstGeom>
          <a:noFill/>
          <a:ln>
            <a:noFill/>
          </a:ln>
        </p:spPr>
      </p:pic>
      <p:sp>
        <p:nvSpPr>
          <p:cNvPr id="771" name="Google Shape;771;g3f776df2723_1_407"/>
          <p:cNvSpPr/>
          <p:nvPr/>
        </p:nvSpPr>
        <p:spPr>
          <a:xfrm>
            <a:off x="1047676" y="666601"/>
            <a:ext cx="17811600"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5</a:t>
            </a:r>
            <a:endParaRPr b="0" i="0" sz="3000" u="none" cap="none" strike="noStrike">
              <a:solidFill>
                <a:schemeClr val="dk1"/>
              </a:solidFill>
              <a:latin typeface="Calibri"/>
              <a:ea typeface="Calibri"/>
              <a:cs typeface="Calibri"/>
              <a:sym typeface="Calibri"/>
            </a:endParaRPr>
          </a:p>
        </p:txBody>
      </p:sp>
      <p:sp>
        <p:nvSpPr>
          <p:cNvPr id="772" name="Google Shape;772;g3f776df2723_1_407"/>
          <p:cNvSpPr/>
          <p:nvPr/>
        </p:nvSpPr>
        <p:spPr>
          <a:xfrm>
            <a:off x="1047676" y="1180951"/>
            <a:ext cx="17811600" cy="10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450"/>
              <a:buFont typeface="Gabarito"/>
              <a:buNone/>
            </a:pPr>
            <a:r>
              <a:rPr b="1" i="0" lang="en-US" sz="6000" u="none" cap="none" strike="noStrike">
                <a:solidFill>
                  <a:srgbClr val="274D71"/>
                </a:solidFill>
                <a:latin typeface="Gabarito"/>
                <a:ea typeface="Gabarito"/>
                <a:cs typeface="Gabarito"/>
                <a:sym typeface="Gabarito"/>
              </a:rPr>
              <a:t>Generation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Building the Final Prompt</a:t>
            </a:r>
            <a:endParaRPr b="0" i="0" sz="6000" u="none" cap="none" strike="noStrike">
              <a:solidFill>
                <a:schemeClr val="dk1"/>
              </a:solidFill>
              <a:latin typeface="Calibri"/>
              <a:ea typeface="Calibri"/>
              <a:cs typeface="Calibri"/>
              <a:sym typeface="Calibri"/>
            </a:endParaRPr>
          </a:p>
        </p:txBody>
      </p:sp>
      <p:sp>
        <p:nvSpPr>
          <p:cNvPr id="773" name="Google Shape;773;g3f776df2723_1_407"/>
          <p:cNvSpPr/>
          <p:nvPr/>
        </p:nvSpPr>
        <p:spPr>
          <a:xfrm>
            <a:off x="1047675" y="2214200"/>
            <a:ext cx="15414000" cy="9378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b="0" i="0" lang="en-US" sz="3000" u="none" cap="none" strike="noStrike">
                <a:solidFill>
                  <a:srgbClr val="212121"/>
                </a:solidFill>
                <a:latin typeface="Gabarito"/>
                <a:ea typeface="Gabarito"/>
                <a:cs typeface="Gabarito"/>
                <a:sym typeface="Gabarito"/>
              </a:rPr>
              <a:t>With the </a:t>
            </a:r>
            <a:r>
              <a:rPr b="1" i="0" lang="en-US" sz="3000" u="none" cap="none" strike="noStrike">
                <a:solidFill>
                  <a:srgbClr val="1E4E79"/>
                </a:solidFill>
                <a:latin typeface="Gabarito"/>
                <a:ea typeface="Gabarito"/>
                <a:cs typeface="Gabarito"/>
                <a:sym typeface="Gabarito"/>
              </a:rPr>
              <a:t>top-k chunks </a:t>
            </a:r>
            <a:r>
              <a:rPr b="0" i="0" lang="en-US" sz="3000" u="none" cap="none" strike="noStrike">
                <a:solidFill>
                  <a:srgbClr val="212121"/>
                </a:solidFill>
                <a:latin typeface="Gabarito"/>
                <a:ea typeface="Gabarito"/>
                <a:cs typeface="Gabarito"/>
                <a:sym typeface="Gabarito"/>
              </a:rPr>
              <a:t>in hand, the system </a:t>
            </a:r>
            <a:r>
              <a:rPr b="1" i="0" lang="en-US" sz="3000" u="none" cap="none" strike="noStrike">
                <a:solidFill>
                  <a:schemeClr val="accent2"/>
                </a:solidFill>
                <a:latin typeface="Gabarito"/>
                <a:ea typeface="Gabarito"/>
                <a:cs typeface="Gabarito"/>
                <a:sym typeface="Gabarito"/>
              </a:rPr>
              <a:t>builds one prompt</a:t>
            </a:r>
            <a:r>
              <a:rPr b="0" i="0" lang="en-US" sz="3000" u="none" cap="none" strike="noStrike">
                <a:solidFill>
                  <a:srgbClr val="212121"/>
                </a:solidFill>
                <a:latin typeface="Gabarito"/>
                <a:ea typeface="Gabarito"/>
                <a:cs typeface="Gabarito"/>
                <a:sym typeface="Gabarito"/>
              </a:rPr>
              <a:t> </a:t>
            </a:r>
            <a:r>
              <a:rPr b="0" i="0" lang="en-US" sz="3000" u="none" cap="none" strike="noStrike">
                <a:solidFill>
                  <a:srgbClr val="212121"/>
                </a:solidFill>
                <a:latin typeface="Gabarito"/>
                <a:ea typeface="Gabarito"/>
                <a:cs typeface="Gabarito"/>
                <a:sym typeface="Gabarito"/>
              </a:rPr>
              <a:t>and hands it to the LLM.</a:t>
            </a:r>
            <a:endParaRPr b="0" i="0" sz="3000" u="none" cap="none" strike="noStrike">
              <a:solidFill>
                <a:srgbClr val="212121"/>
              </a:solidFill>
              <a:latin typeface="Gabarito"/>
              <a:ea typeface="Gabarito"/>
              <a:cs typeface="Gabarito"/>
              <a:sym typeface="Gabarito"/>
            </a:endParaRPr>
          </a:p>
          <a:p>
            <a:pPr indent="0" lvl="0" marL="0" marR="0" rtl="0" algn="l">
              <a:lnSpc>
                <a:spcPct val="112500"/>
              </a:lnSpc>
              <a:spcBef>
                <a:spcPts val="0"/>
              </a:spcBef>
              <a:spcAft>
                <a:spcPts val="0"/>
              </a:spcAft>
              <a:buClr>
                <a:srgbClr val="212121"/>
              </a:buClr>
              <a:buSzPts val="2625"/>
              <a:buFont typeface="Gabarito"/>
              <a:buNone/>
            </a:pPr>
            <a:r>
              <a:rPr b="0" i="0" lang="en-US" sz="3000" u="none" cap="none" strike="noStrike">
                <a:solidFill>
                  <a:srgbClr val="212121"/>
                </a:solidFill>
                <a:latin typeface="Gabarito"/>
                <a:ea typeface="Gabarito"/>
                <a:cs typeface="Gabarito"/>
                <a:sym typeface="Gabarito"/>
              </a:rPr>
              <a:t> Three parts go in; a grounded answer comes out.</a:t>
            </a:r>
            <a:endParaRPr b="0" i="0" sz="3000" u="none" cap="none" strike="noStrike">
              <a:solidFill>
                <a:schemeClr val="dk1"/>
              </a:solidFill>
              <a:latin typeface="Calibri"/>
              <a:ea typeface="Calibri"/>
              <a:cs typeface="Calibri"/>
              <a:sym typeface="Calibri"/>
            </a:endParaRPr>
          </a:p>
        </p:txBody>
      </p:sp>
      <p:sp>
        <p:nvSpPr>
          <p:cNvPr id="774" name="Google Shape;774;g3f776df2723_1_407"/>
          <p:cNvSpPr/>
          <p:nvPr/>
        </p:nvSpPr>
        <p:spPr>
          <a:xfrm>
            <a:off x="1047676" y="3488721"/>
            <a:ext cx="11411100" cy="4955400"/>
          </a:xfrm>
          <a:prstGeom prst="roundRect">
            <a:avLst>
              <a:gd fmla="val 3460" name="adj"/>
            </a:avLst>
          </a:prstGeom>
          <a:solidFill>
            <a:srgbClr val="FAF9F5"/>
          </a:solidFill>
          <a:ln cap="flat" cmpd="sng" w="14275">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g3f776df2723_1_407"/>
          <p:cNvSpPr/>
          <p:nvPr/>
        </p:nvSpPr>
        <p:spPr>
          <a:xfrm>
            <a:off x="1347713" y="3667758"/>
            <a:ext cx="1189200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2325"/>
              <a:buFont typeface="Gabarito"/>
              <a:buNone/>
            </a:pPr>
            <a:r>
              <a:rPr b="1" i="0" lang="en-US" sz="2325" u="none" cap="none" strike="noStrike">
                <a:solidFill>
                  <a:srgbClr val="274D71"/>
                </a:solidFill>
                <a:latin typeface="Gabarito"/>
                <a:ea typeface="Gabarito"/>
                <a:cs typeface="Gabarito"/>
                <a:sym typeface="Gabarito"/>
              </a:rPr>
              <a:t>THE AUGMENTED PROMPT</a:t>
            </a:r>
            <a:endParaRPr b="0" i="0" sz="2325" u="none" cap="none" strike="noStrike">
              <a:solidFill>
                <a:schemeClr val="dk1"/>
              </a:solidFill>
              <a:latin typeface="Calibri"/>
              <a:ea typeface="Calibri"/>
              <a:cs typeface="Calibri"/>
              <a:sym typeface="Calibri"/>
            </a:endParaRPr>
          </a:p>
        </p:txBody>
      </p:sp>
      <p:sp>
        <p:nvSpPr>
          <p:cNvPr id="776" name="Google Shape;776;g3f776df2723_1_407"/>
          <p:cNvSpPr/>
          <p:nvPr/>
        </p:nvSpPr>
        <p:spPr>
          <a:xfrm>
            <a:off x="1347713" y="4245735"/>
            <a:ext cx="10810800" cy="1459200"/>
          </a:xfrm>
          <a:prstGeom prst="roundRect">
            <a:avLst>
              <a:gd fmla="val 7834" name="adj"/>
            </a:avLst>
          </a:prstGeom>
          <a:solidFill>
            <a:srgbClr val="FF9900">
              <a:alpha val="5880"/>
            </a:srgbClr>
          </a:solidFill>
          <a:ln cap="flat" cmpd="sng" w="142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g3f776df2723_1_407"/>
          <p:cNvSpPr/>
          <p:nvPr/>
        </p:nvSpPr>
        <p:spPr>
          <a:xfrm>
            <a:off x="1571402" y="4412274"/>
            <a:ext cx="1140000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97D00"/>
              </a:buClr>
              <a:buSzPts val="2250"/>
              <a:buFont typeface="Gabarito"/>
              <a:buNone/>
            </a:pPr>
            <a:r>
              <a:rPr b="1" i="0" lang="en-US" sz="2250" u="none" cap="none" strike="noStrike">
                <a:solidFill>
                  <a:srgbClr val="D97D00"/>
                </a:solidFill>
                <a:latin typeface="Gabarito"/>
                <a:ea typeface="Gabarito"/>
                <a:cs typeface="Gabarito"/>
                <a:sym typeface="Gabarito"/>
              </a:rPr>
              <a:t>Instruction</a:t>
            </a:r>
            <a:endParaRPr b="0" i="0" sz="2250" u="none" cap="none" strike="noStrike">
              <a:solidFill>
                <a:schemeClr val="dk1"/>
              </a:solidFill>
              <a:latin typeface="Calibri"/>
              <a:ea typeface="Calibri"/>
              <a:cs typeface="Calibri"/>
              <a:sym typeface="Calibri"/>
            </a:endParaRPr>
          </a:p>
        </p:txBody>
      </p:sp>
      <p:sp>
        <p:nvSpPr>
          <p:cNvPr id="778" name="Google Shape;778;g3f776df2723_1_407"/>
          <p:cNvSpPr/>
          <p:nvPr/>
        </p:nvSpPr>
        <p:spPr>
          <a:xfrm>
            <a:off x="1571402" y="4793125"/>
            <a:ext cx="10674600" cy="783300"/>
          </a:xfrm>
          <a:prstGeom prst="rect">
            <a:avLst/>
          </a:prstGeom>
          <a:noFill/>
          <a:ln>
            <a:noFill/>
          </a:ln>
        </p:spPr>
        <p:txBody>
          <a:bodyPr anchorCtr="0" anchor="t" bIns="25400" lIns="25400" spcFirstLastPara="1" rIns="25400" wrap="square" tIns="25400">
            <a:noAutofit/>
          </a:bodyPr>
          <a:lstStyle/>
          <a:p>
            <a:pPr indent="0" lvl="0" marL="0" marR="0" rtl="0" algn="l">
              <a:lnSpc>
                <a:spcPct val="113478"/>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"Answer using only the context below. If it isn't there, say </a:t>
            </a:r>
            <a:r>
              <a:rPr lang="en-US" sz="2175">
                <a:solidFill>
                  <a:srgbClr val="37474F"/>
                </a:solidFill>
                <a:latin typeface="Gabarito"/>
                <a:ea typeface="Gabarito"/>
                <a:cs typeface="Gabarito"/>
                <a:sym typeface="Gabarito"/>
              </a:rPr>
              <a:t>“</a:t>
            </a:r>
            <a:r>
              <a:rPr b="0" i="0" lang="en-US" sz="2175" u="none" cap="none" strike="noStrike">
                <a:solidFill>
                  <a:srgbClr val="37474F"/>
                </a:solidFill>
                <a:latin typeface="Gabarito"/>
                <a:ea typeface="Gabarito"/>
                <a:cs typeface="Gabarito"/>
                <a:sym typeface="Gabarito"/>
              </a:rPr>
              <a:t>you don't have enough information.</a:t>
            </a:r>
            <a:r>
              <a:rPr lang="en-US" sz="2175">
                <a:solidFill>
                  <a:srgbClr val="37474F"/>
                </a:solidFill>
                <a:latin typeface="Gabarito"/>
                <a:ea typeface="Gabarito"/>
                <a:cs typeface="Gabarito"/>
                <a:sym typeface="Gabarito"/>
              </a:rPr>
              <a:t>”</a:t>
            </a:r>
            <a:r>
              <a:rPr b="0" i="0" lang="en-US" sz="2175" u="none" cap="none" strike="noStrike">
                <a:solidFill>
                  <a:srgbClr val="37474F"/>
                </a:solidFill>
                <a:latin typeface="Gabarito"/>
                <a:ea typeface="Gabarito"/>
                <a:cs typeface="Gabarito"/>
                <a:sym typeface="Gabarito"/>
              </a:rPr>
              <a:t>"</a:t>
            </a:r>
            <a:endParaRPr b="0" i="0" sz="2175" u="none" cap="none" strike="noStrike">
              <a:solidFill>
                <a:schemeClr val="dk1"/>
              </a:solidFill>
              <a:latin typeface="Calibri"/>
              <a:ea typeface="Calibri"/>
              <a:cs typeface="Calibri"/>
              <a:sym typeface="Calibri"/>
            </a:endParaRPr>
          </a:p>
        </p:txBody>
      </p:sp>
      <p:sp>
        <p:nvSpPr>
          <p:cNvPr id="779" name="Google Shape;779;g3f776df2723_1_407"/>
          <p:cNvSpPr/>
          <p:nvPr/>
        </p:nvSpPr>
        <p:spPr>
          <a:xfrm>
            <a:off x="1347713" y="5857097"/>
            <a:ext cx="10810800" cy="1086600"/>
          </a:xfrm>
          <a:prstGeom prst="roundRect">
            <a:avLst>
              <a:gd fmla="val 10520" name="adj"/>
            </a:avLst>
          </a:prstGeom>
          <a:solidFill>
            <a:srgbClr val="035595">
              <a:alpha val="5100"/>
            </a:srgbClr>
          </a:solidFill>
          <a:ln cap="flat" cmpd="sng" w="14275">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g3f776df2723_1_407"/>
          <p:cNvSpPr/>
          <p:nvPr/>
        </p:nvSpPr>
        <p:spPr>
          <a:xfrm>
            <a:off x="1571402" y="6023636"/>
            <a:ext cx="1140000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35595"/>
              </a:buClr>
              <a:buSzPts val="2250"/>
              <a:buFont typeface="Gabarito"/>
              <a:buNone/>
            </a:pPr>
            <a:r>
              <a:rPr b="1" i="0" lang="en-US" sz="2250" u="none" cap="none" strike="noStrike">
                <a:solidFill>
                  <a:srgbClr val="035595"/>
                </a:solidFill>
                <a:latin typeface="Gabarito"/>
                <a:ea typeface="Gabarito"/>
                <a:cs typeface="Gabarito"/>
                <a:sym typeface="Gabarito"/>
              </a:rPr>
              <a:t>Context</a:t>
            </a:r>
            <a:endParaRPr b="0" i="0" sz="2250" u="none" cap="none" strike="noStrike">
              <a:solidFill>
                <a:schemeClr val="dk1"/>
              </a:solidFill>
              <a:latin typeface="Calibri"/>
              <a:ea typeface="Calibri"/>
              <a:cs typeface="Calibri"/>
              <a:sym typeface="Calibri"/>
            </a:endParaRPr>
          </a:p>
        </p:txBody>
      </p:sp>
      <p:sp>
        <p:nvSpPr>
          <p:cNvPr id="781" name="Google Shape;781;g3f776df2723_1_407"/>
          <p:cNvSpPr/>
          <p:nvPr/>
        </p:nvSpPr>
        <p:spPr>
          <a:xfrm>
            <a:off x="1571402" y="6404487"/>
            <a:ext cx="11400000" cy="410700"/>
          </a:xfrm>
          <a:prstGeom prst="rect">
            <a:avLst/>
          </a:prstGeom>
          <a:noFill/>
          <a:ln>
            <a:noFill/>
          </a:ln>
        </p:spPr>
        <p:txBody>
          <a:bodyPr anchorCtr="0" anchor="t" bIns="25400" lIns="25400" spcFirstLastPara="1" rIns="25400" wrap="square" tIns="25400">
            <a:noAutofit/>
          </a:bodyPr>
          <a:lstStyle/>
          <a:p>
            <a:pPr indent="0" lvl="0" marL="0" marR="0" rtl="0" algn="l">
              <a:lnSpc>
                <a:spcPct val="113478"/>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The retrieved chunks, joined into one block of text.</a:t>
            </a:r>
            <a:endParaRPr b="0" i="0" sz="2175" u="none" cap="none" strike="noStrike">
              <a:solidFill>
                <a:schemeClr val="dk1"/>
              </a:solidFill>
              <a:latin typeface="Calibri"/>
              <a:ea typeface="Calibri"/>
              <a:cs typeface="Calibri"/>
              <a:sym typeface="Calibri"/>
            </a:endParaRPr>
          </a:p>
        </p:txBody>
      </p:sp>
      <p:sp>
        <p:nvSpPr>
          <p:cNvPr id="782" name="Google Shape;782;g3f776df2723_1_407"/>
          <p:cNvSpPr/>
          <p:nvPr/>
        </p:nvSpPr>
        <p:spPr>
          <a:xfrm>
            <a:off x="1347713" y="7095868"/>
            <a:ext cx="10810800" cy="1086600"/>
          </a:xfrm>
          <a:prstGeom prst="roundRect">
            <a:avLst>
              <a:gd fmla="val 10520" name="adj"/>
            </a:avLst>
          </a:prstGeom>
          <a:solidFill>
            <a:srgbClr val="7A8A5A">
              <a:alpha val="7060"/>
            </a:srgbClr>
          </a:solidFill>
          <a:ln cap="flat" cmpd="sng" w="14275">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g3f776df2723_1_407"/>
          <p:cNvSpPr/>
          <p:nvPr/>
        </p:nvSpPr>
        <p:spPr>
          <a:xfrm>
            <a:off x="1571402" y="7262407"/>
            <a:ext cx="1140000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A33"/>
              </a:buClr>
              <a:buSzPts val="2250"/>
              <a:buFont typeface="Gabarito"/>
              <a:buNone/>
            </a:pPr>
            <a:r>
              <a:rPr b="1" i="0" lang="en-US" sz="2250" u="none" cap="none" strike="noStrike">
                <a:solidFill>
                  <a:srgbClr val="4C5A33"/>
                </a:solidFill>
                <a:latin typeface="Gabarito"/>
                <a:ea typeface="Gabarito"/>
                <a:cs typeface="Gabarito"/>
                <a:sym typeface="Gabarito"/>
              </a:rPr>
              <a:t>Question</a:t>
            </a:r>
            <a:endParaRPr b="0" i="0" sz="2250" u="none" cap="none" strike="noStrike">
              <a:solidFill>
                <a:schemeClr val="dk1"/>
              </a:solidFill>
              <a:latin typeface="Calibri"/>
              <a:ea typeface="Calibri"/>
              <a:cs typeface="Calibri"/>
              <a:sym typeface="Calibri"/>
            </a:endParaRPr>
          </a:p>
        </p:txBody>
      </p:sp>
      <p:sp>
        <p:nvSpPr>
          <p:cNvPr id="784" name="Google Shape;784;g3f776df2723_1_407"/>
          <p:cNvSpPr/>
          <p:nvPr/>
        </p:nvSpPr>
        <p:spPr>
          <a:xfrm>
            <a:off x="1571402" y="7643258"/>
            <a:ext cx="11400000" cy="410700"/>
          </a:xfrm>
          <a:prstGeom prst="rect">
            <a:avLst/>
          </a:prstGeom>
          <a:noFill/>
          <a:ln>
            <a:noFill/>
          </a:ln>
        </p:spPr>
        <p:txBody>
          <a:bodyPr anchorCtr="0" anchor="t" bIns="25400" lIns="25400" spcFirstLastPara="1" rIns="25400" wrap="square" tIns="25400">
            <a:noAutofit/>
          </a:bodyPr>
          <a:lstStyle/>
          <a:p>
            <a:pPr indent="0" lvl="0" marL="0" marR="0" rtl="0" algn="l">
              <a:lnSpc>
                <a:spcPct val="113478"/>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The user's original question, word for word.</a:t>
            </a:r>
            <a:endParaRPr b="0" i="0" sz="2175" u="none" cap="none" strike="noStrike">
              <a:solidFill>
                <a:schemeClr val="dk1"/>
              </a:solidFill>
              <a:latin typeface="Calibri"/>
              <a:ea typeface="Calibri"/>
              <a:cs typeface="Calibri"/>
              <a:sym typeface="Calibri"/>
            </a:endParaRPr>
          </a:p>
        </p:txBody>
      </p:sp>
      <p:sp>
        <p:nvSpPr>
          <p:cNvPr id="785" name="Google Shape;785;g3f776df2723_1_407"/>
          <p:cNvSpPr/>
          <p:nvPr/>
        </p:nvSpPr>
        <p:spPr>
          <a:xfrm>
            <a:off x="12763426" y="4541531"/>
            <a:ext cx="4476600" cy="1171200"/>
          </a:xfrm>
          <a:prstGeom prst="roundRect">
            <a:avLst>
              <a:gd fmla="val 11386" name="adj"/>
            </a:avLst>
          </a:prstGeom>
          <a:solidFill>
            <a:srgbClr val="274D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g3f776df2723_1_407"/>
          <p:cNvSpPr/>
          <p:nvPr/>
        </p:nvSpPr>
        <p:spPr>
          <a:xfrm>
            <a:off x="12811925" y="4750932"/>
            <a:ext cx="4379700" cy="423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2550"/>
              <a:buFont typeface="Gabarito"/>
              <a:buNone/>
            </a:pPr>
            <a:r>
              <a:rPr b="1" i="0" lang="en-US" sz="2550" u="none" cap="none" strike="noStrike">
                <a:solidFill>
                  <a:srgbClr val="FFFFFF"/>
                </a:solidFill>
                <a:latin typeface="Gabarito"/>
                <a:ea typeface="Gabarito"/>
                <a:cs typeface="Gabarito"/>
                <a:sym typeface="Gabarito"/>
              </a:rPr>
              <a:t>LLM</a:t>
            </a:r>
            <a:endParaRPr b="0" i="0" sz="2550" u="none" cap="none" strike="noStrike">
              <a:solidFill>
                <a:schemeClr val="dk1"/>
              </a:solidFill>
              <a:latin typeface="Calibri"/>
              <a:ea typeface="Calibri"/>
              <a:cs typeface="Calibri"/>
              <a:sym typeface="Calibri"/>
            </a:endParaRPr>
          </a:p>
        </p:txBody>
      </p:sp>
      <p:sp>
        <p:nvSpPr>
          <p:cNvPr id="787" name="Google Shape;787;g3f776df2723_1_407"/>
          <p:cNvSpPr/>
          <p:nvPr/>
        </p:nvSpPr>
        <p:spPr>
          <a:xfrm>
            <a:off x="12811925" y="5174646"/>
            <a:ext cx="4379700" cy="366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C9D6E2"/>
              </a:buClr>
              <a:buSzPts val="2100"/>
              <a:buFont typeface="Gabarito"/>
              <a:buNone/>
            </a:pPr>
            <a:r>
              <a:rPr b="0" i="0" lang="en-US" sz="2100" u="none" cap="none" strike="noStrike">
                <a:solidFill>
                  <a:srgbClr val="C9D6E2"/>
                </a:solidFill>
                <a:latin typeface="Gabarito"/>
                <a:ea typeface="Gabarito"/>
                <a:cs typeface="Gabarito"/>
                <a:sym typeface="Gabarito"/>
              </a:rPr>
              <a:t>reads the whole prompt</a:t>
            </a:r>
            <a:endParaRPr b="0" i="0" sz="2100" u="none" cap="none" strike="noStrike">
              <a:solidFill>
                <a:schemeClr val="dk1"/>
              </a:solidFill>
              <a:latin typeface="Calibri"/>
              <a:ea typeface="Calibri"/>
              <a:cs typeface="Calibri"/>
              <a:sym typeface="Calibri"/>
            </a:endParaRPr>
          </a:p>
        </p:txBody>
      </p:sp>
      <p:sp>
        <p:nvSpPr>
          <p:cNvPr id="788" name="Google Shape;788;g3f776df2723_1_407"/>
          <p:cNvSpPr/>
          <p:nvPr/>
        </p:nvSpPr>
        <p:spPr>
          <a:xfrm>
            <a:off x="12539592" y="5992612"/>
            <a:ext cx="4924200" cy="457200"/>
          </a:xfrm>
          <a:prstGeom prst="rect">
            <a:avLst/>
          </a:prstGeom>
          <a:noFill/>
          <a:ln>
            <a:noFill/>
          </a:ln>
        </p:spPr>
        <p:txBody>
          <a:bodyPr anchorCtr="0" anchor="t" bIns="25400" lIns="25400" spcFirstLastPara="1" rIns="25400" wrap="square" tIns="25400">
            <a:noAutofit/>
          </a:bodyPr>
          <a:lstStyle/>
          <a:p>
            <a:pPr indent="0" lvl="0" marL="0" marR="0" rtl="0" algn="ctr">
              <a:lnSpc>
                <a:spcPct val="81481"/>
              </a:lnSpc>
              <a:spcBef>
                <a:spcPts val="0"/>
              </a:spcBef>
              <a:spcAft>
                <a:spcPts val="0"/>
              </a:spcAft>
              <a:buClr>
                <a:srgbClr val="78746A"/>
              </a:buClr>
              <a:buSzPts val="3300"/>
              <a:buFont typeface="Gabarito"/>
              <a:buNone/>
            </a:pPr>
            <a:r>
              <a:rPr b="0" i="0" lang="en-US" sz="3300" u="none" cap="none" strike="noStrike">
                <a:solidFill>
                  <a:srgbClr val="78746A"/>
                </a:solidFill>
                <a:latin typeface="Gabarito"/>
                <a:ea typeface="Gabarito"/>
                <a:cs typeface="Gabarito"/>
                <a:sym typeface="Gabarito"/>
              </a:rPr>
              <a:t>↓</a:t>
            </a:r>
            <a:endParaRPr b="0" i="0" sz="3300" u="none" cap="none" strike="noStrike">
              <a:solidFill>
                <a:schemeClr val="dk1"/>
              </a:solidFill>
              <a:latin typeface="Calibri"/>
              <a:ea typeface="Calibri"/>
              <a:cs typeface="Calibri"/>
              <a:sym typeface="Calibri"/>
            </a:endParaRPr>
          </a:p>
        </p:txBody>
      </p:sp>
      <p:sp>
        <p:nvSpPr>
          <p:cNvPr id="789" name="Google Shape;789;g3f776df2723_1_407"/>
          <p:cNvSpPr/>
          <p:nvPr/>
        </p:nvSpPr>
        <p:spPr>
          <a:xfrm>
            <a:off x="12763426" y="6839810"/>
            <a:ext cx="4476600" cy="1564500"/>
          </a:xfrm>
          <a:prstGeom prst="roundRect">
            <a:avLst>
              <a:gd fmla="val 8524" name="adj"/>
            </a:avLst>
          </a:prstGeom>
          <a:solidFill>
            <a:srgbClr val="7A8A5A">
              <a:alpha val="7060"/>
            </a:srgbClr>
          </a:solidFill>
          <a:ln cap="flat" cmpd="sng" w="14275">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g3f776df2723_1_407"/>
          <p:cNvSpPr/>
          <p:nvPr/>
        </p:nvSpPr>
        <p:spPr>
          <a:xfrm>
            <a:off x="12827641" y="7063499"/>
            <a:ext cx="4348200" cy="423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A33"/>
              </a:buClr>
              <a:buSzPts val="2475"/>
              <a:buFont typeface="Gabarito"/>
              <a:buNone/>
            </a:pPr>
            <a:r>
              <a:rPr b="1" i="0" lang="en-US" sz="2475" u="none" cap="none" strike="noStrike">
                <a:solidFill>
                  <a:srgbClr val="4C5A33"/>
                </a:solidFill>
                <a:latin typeface="Gabarito"/>
                <a:ea typeface="Gabarito"/>
                <a:cs typeface="Gabarito"/>
                <a:sym typeface="Gabarito"/>
              </a:rPr>
              <a:t>Grounded answer</a:t>
            </a:r>
            <a:endParaRPr b="0" i="0" sz="2475" u="none" cap="none" strike="noStrike">
              <a:solidFill>
                <a:schemeClr val="dk1"/>
              </a:solidFill>
              <a:latin typeface="Calibri"/>
              <a:ea typeface="Calibri"/>
              <a:cs typeface="Calibri"/>
              <a:sym typeface="Calibri"/>
            </a:endParaRPr>
          </a:p>
        </p:txBody>
      </p:sp>
      <p:sp>
        <p:nvSpPr>
          <p:cNvPr id="791" name="Google Shape;791;g3f776df2723_1_407"/>
          <p:cNvSpPr/>
          <p:nvPr/>
        </p:nvSpPr>
        <p:spPr>
          <a:xfrm>
            <a:off x="12965994" y="7487212"/>
            <a:ext cx="4071600" cy="731400"/>
          </a:xfrm>
          <a:prstGeom prst="rect">
            <a:avLst/>
          </a:prstGeom>
          <a:noFill/>
          <a:ln>
            <a:noFill/>
          </a:ln>
        </p:spPr>
        <p:txBody>
          <a:bodyPr anchorCtr="0" anchor="t" bIns="25400" lIns="25400" spcFirstLastPara="1" rIns="25400" wrap="square" tIns="25400">
            <a:noAutofit/>
          </a:bodyPr>
          <a:lstStyle/>
          <a:p>
            <a:pPr indent="0" lvl="0" marL="0" marR="0" rtl="0" algn="ctr">
              <a:lnSpc>
                <a:spcPct val="105507"/>
              </a:lnSpc>
              <a:spcBef>
                <a:spcPts val="0"/>
              </a:spcBef>
              <a:spcAft>
                <a:spcPts val="0"/>
              </a:spcAft>
              <a:buClr>
                <a:srgbClr val="37474F"/>
              </a:buClr>
              <a:buSzPts val="2100"/>
              <a:buFont typeface="Gabarito"/>
              <a:buNone/>
            </a:pPr>
            <a:r>
              <a:rPr b="0" i="0" lang="en-US" sz="2100" u="none" cap="none" strike="noStrike">
                <a:solidFill>
                  <a:srgbClr val="37474F"/>
                </a:solidFill>
                <a:latin typeface="Gabarito"/>
                <a:ea typeface="Gabarito"/>
                <a:cs typeface="Gabarito"/>
                <a:sym typeface="Gabarito"/>
              </a:rPr>
              <a:t>built from the context, not from memory</a:t>
            </a:r>
            <a:endParaRPr b="0" i="0" sz="2100" u="none" cap="none" strike="noStrike">
              <a:solidFill>
                <a:schemeClr val="dk1"/>
              </a:solidFill>
              <a:latin typeface="Calibri"/>
              <a:ea typeface="Calibri"/>
              <a:cs typeface="Calibri"/>
              <a:sym typeface="Calibri"/>
            </a:endParaRPr>
          </a:p>
        </p:txBody>
      </p:sp>
      <p:sp>
        <p:nvSpPr>
          <p:cNvPr id="792" name="Google Shape;792;g3f776df2723_1_407"/>
          <p:cNvSpPr/>
          <p:nvPr/>
        </p:nvSpPr>
        <p:spPr>
          <a:xfrm>
            <a:off x="1047676" y="8655382"/>
            <a:ext cx="16192500" cy="1181100"/>
          </a:xfrm>
          <a:prstGeom prst="roundRect">
            <a:avLst>
              <a:gd fmla="val 12905" name="adj"/>
            </a:avLst>
          </a:prstGeom>
          <a:noFill/>
          <a:ln cap="flat" cmpd="sng" w="142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g3f776df2723_1_407"/>
          <p:cNvSpPr/>
          <p:nvPr/>
        </p:nvSpPr>
        <p:spPr>
          <a:xfrm>
            <a:off x="1366775" y="8839475"/>
            <a:ext cx="14618700" cy="809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2475"/>
              <a:buFont typeface="Gabarito"/>
              <a:buNone/>
            </a:pPr>
            <a:r>
              <a:rPr b="1" i="0" lang="en-US" sz="2475" u="none" cap="none" strike="noStrike">
                <a:solidFill>
                  <a:srgbClr val="FF9900"/>
                </a:solidFill>
                <a:latin typeface="Gabarito"/>
                <a:ea typeface="Gabarito"/>
                <a:cs typeface="Gabarito"/>
                <a:sym typeface="Gabarito"/>
              </a:rPr>
              <a:t>Note: </a:t>
            </a:r>
            <a:r>
              <a:rPr b="0" i="0" lang="en-US" sz="2475" u="none" cap="none" strike="noStrike">
                <a:solidFill>
                  <a:srgbClr val="5B5B5B"/>
                </a:solidFill>
                <a:latin typeface="Gabarito"/>
                <a:ea typeface="Gabarito"/>
                <a:cs typeface="Gabarito"/>
                <a:sym typeface="Gabarito"/>
              </a:rPr>
              <a:t>this single string is everything the model sees</a:t>
            </a:r>
            <a:r>
              <a:rPr lang="en-US" sz="2475">
                <a:solidFill>
                  <a:srgbClr val="5B5B5B"/>
                </a:solidFill>
                <a:latin typeface="Gabarito"/>
                <a:ea typeface="Gabarito"/>
                <a:cs typeface="Gabarito"/>
                <a:sym typeface="Gabarito"/>
              </a:rPr>
              <a:t>. I</a:t>
            </a:r>
            <a:r>
              <a:rPr b="0" i="0" lang="en-US" sz="2475" u="none" cap="none" strike="noStrike">
                <a:solidFill>
                  <a:srgbClr val="5B5B5B"/>
                </a:solidFill>
                <a:latin typeface="Gabarito"/>
                <a:ea typeface="Gabarito"/>
                <a:cs typeface="Gabarito"/>
                <a:sym typeface="Gabarito"/>
              </a:rPr>
              <a:t>f a fact is not in the context, the model has no way to know it.</a:t>
            </a:r>
            <a:endParaRPr b="0" i="0" sz="1200" u="none" cap="none" strike="noStrike">
              <a:solidFill>
                <a:schemeClr val="dk1"/>
              </a:solidFill>
              <a:latin typeface="Calibri"/>
              <a:ea typeface="Calibri"/>
              <a:cs typeface="Calibri"/>
              <a:sym typeface="Calibri"/>
            </a:endParaRPr>
          </a:p>
        </p:txBody>
      </p:sp>
      <p:cxnSp>
        <p:nvCxnSpPr>
          <p:cNvPr id="794" name="Google Shape;794;g3f776df2723_1_407"/>
          <p:cNvCxnSpPr>
            <a:stCxn id="775" idx="0"/>
            <a:endCxn id="785" idx="0"/>
          </p:cNvCxnSpPr>
          <p:nvPr/>
        </p:nvCxnSpPr>
        <p:spPr>
          <a:xfrm flipH="1" rot="-5400000">
            <a:off x="10710713" y="250758"/>
            <a:ext cx="873900" cy="7707900"/>
          </a:xfrm>
          <a:prstGeom prst="curvedConnector3">
            <a:avLst>
              <a:gd fmla="val -27249" name="adj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9" name="Shape 799"/>
        <p:cNvGrpSpPr/>
        <p:nvPr/>
      </p:nvGrpSpPr>
      <p:grpSpPr>
        <a:xfrm>
          <a:off x="0" y="0"/>
          <a:ext cx="0" cy="0"/>
          <a:chOff x="0" y="0"/>
          <a:chExt cx="0" cy="0"/>
        </a:xfrm>
      </p:grpSpPr>
      <p:pic>
        <p:nvPicPr>
          <p:cNvPr descr="preencoded.png" id="800" name="Google Shape;800;g3f776df2723_1_436"/>
          <p:cNvPicPr preferRelativeResize="0"/>
          <p:nvPr/>
        </p:nvPicPr>
        <p:blipFill rotWithShape="1">
          <a:blip r:embed="rId3">
            <a:alphaModFix/>
          </a:blip>
          <a:srcRect b="0" l="0" r="0" t="0"/>
          <a:stretch/>
        </p:blipFill>
        <p:spPr>
          <a:xfrm>
            <a:off x="16202248" y="952351"/>
            <a:ext cx="1066651" cy="1303959"/>
          </a:xfrm>
          <a:prstGeom prst="rect">
            <a:avLst/>
          </a:prstGeom>
          <a:noFill/>
          <a:ln>
            <a:noFill/>
          </a:ln>
        </p:spPr>
      </p:pic>
      <p:sp>
        <p:nvSpPr>
          <p:cNvPr id="801" name="Google Shape;801;g3f776df2723_1_436"/>
          <p:cNvSpPr/>
          <p:nvPr/>
        </p:nvSpPr>
        <p:spPr>
          <a:xfrm>
            <a:off x="1047676" y="666601"/>
            <a:ext cx="17811600"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5</a:t>
            </a:r>
            <a:endParaRPr b="0" i="0" sz="3000" u="none" cap="none" strike="noStrike">
              <a:solidFill>
                <a:schemeClr val="dk1"/>
              </a:solidFill>
              <a:latin typeface="Calibri"/>
              <a:ea typeface="Calibri"/>
              <a:cs typeface="Calibri"/>
              <a:sym typeface="Calibri"/>
            </a:endParaRPr>
          </a:p>
        </p:txBody>
      </p:sp>
      <p:sp>
        <p:nvSpPr>
          <p:cNvPr id="802" name="Google Shape;802;g3f776df2723_1_436"/>
          <p:cNvSpPr/>
          <p:nvPr/>
        </p:nvSpPr>
        <p:spPr>
          <a:xfrm>
            <a:off x="1047676" y="1180951"/>
            <a:ext cx="17811600" cy="9669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274D71"/>
              </a:buClr>
              <a:buSzPts val="6450"/>
              <a:buFont typeface="Gabarito"/>
              <a:buNone/>
            </a:pPr>
            <a:r>
              <a:rPr b="1" lang="en-US" sz="6000">
                <a:solidFill>
                  <a:srgbClr val="274D71"/>
                </a:solidFill>
                <a:latin typeface="Gabarito"/>
                <a:ea typeface="Gabarito"/>
                <a:cs typeface="Gabarito"/>
                <a:sym typeface="Gabarito"/>
              </a:rPr>
              <a:t>Generation - Grounded Answer</a:t>
            </a:r>
            <a:endParaRPr sz="6000">
              <a:solidFill>
                <a:schemeClr val="dk1"/>
              </a:solidFill>
              <a:latin typeface="Calibri"/>
              <a:ea typeface="Calibri"/>
              <a:cs typeface="Calibri"/>
              <a:sym typeface="Calibri"/>
            </a:endParaRPr>
          </a:p>
          <a:p>
            <a:pPr indent="0" lvl="0" marL="0" marR="0" rtl="0" algn="l">
              <a:spcBef>
                <a:spcPts val="0"/>
              </a:spcBef>
              <a:spcAft>
                <a:spcPts val="0"/>
              </a:spcAft>
              <a:buClr>
                <a:srgbClr val="274D71"/>
              </a:buClr>
              <a:buSzPts val="6150"/>
              <a:buFont typeface="Gabarito"/>
              <a:buNone/>
            </a:pPr>
            <a:r>
              <a:t/>
            </a:r>
            <a:endParaRPr b="1" sz="6000">
              <a:solidFill>
                <a:srgbClr val="274D71"/>
              </a:solidFill>
              <a:latin typeface="Gabarito"/>
              <a:ea typeface="Gabarito"/>
              <a:cs typeface="Gabarito"/>
              <a:sym typeface="Gabarito"/>
            </a:endParaRPr>
          </a:p>
        </p:txBody>
      </p:sp>
      <p:sp>
        <p:nvSpPr>
          <p:cNvPr id="803" name="Google Shape;803;g3f776df2723_1_436"/>
          <p:cNvSpPr/>
          <p:nvPr/>
        </p:nvSpPr>
        <p:spPr>
          <a:xfrm>
            <a:off x="1047676" y="2381319"/>
            <a:ext cx="16192500" cy="1018800"/>
          </a:xfrm>
          <a:prstGeom prst="roundRect">
            <a:avLst>
              <a:gd fmla="val 13088" name="adj"/>
            </a:avLst>
          </a:prstGeom>
          <a:solidFill>
            <a:srgbClr val="FF9900">
              <a:alpha val="5880"/>
            </a:srgbClr>
          </a:solidFill>
          <a:ln cap="flat" cmpd="sng" w="142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g3f776df2723_1_436"/>
          <p:cNvSpPr/>
          <p:nvPr/>
        </p:nvSpPr>
        <p:spPr>
          <a:xfrm>
            <a:off x="1309613" y="2548007"/>
            <a:ext cx="16154400" cy="723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97D00"/>
              </a:buClr>
              <a:buSzPts val="2250"/>
              <a:buFont typeface="Gabarito"/>
              <a:buNone/>
            </a:pPr>
            <a:r>
              <a:rPr b="1" i="0" lang="en-US" sz="2250" u="none" cap="none" strike="noStrike">
                <a:solidFill>
                  <a:srgbClr val="D97D00"/>
                </a:solidFill>
                <a:latin typeface="Gabarito"/>
                <a:ea typeface="Gabarito"/>
                <a:cs typeface="Gabarito"/>
                <a:sym typeface="Gabarito"/>
              </a:rPr>
              <a:t>Instruction sent with every prompt: </a:t>
            </a:r>
            <a:r>
              <a:rPr b="0" i="1" lang="en-US" sz="2250" u="none" cap="none" strike="noStrike">
                <a:solidFill>
                  <a:srgbClr val="37474F"/>
                </a:solidFill>
                <a:latin typeface="Gabarito"/>
                <a:ea typeface="Gabarito"/>
                <a:cs typeface="Gabarito"/>
                <a:sym typeface="Gabarito"/>
              </a:rPr>
              <a:t>"Answer using only the context below. If the answer isn't in the context, say 'I don't have enough information to answer that.'"</a:t>
            </a:r>
            <a:endParaRPr b="0" i="0" sz="1200" u="none" cap="none" strike="noStrike">
              <a:solidFill>
                <a:schemeClr val="dk1"/>
              </a:solidFill>
              <a:latin typeface="Calibri"/>
              <a:ea typeface="Calibri"/>
              <a:cs typeface="Calibri"/>
              <a:sym typeface="Calibri"/>
            </a:endParaRPr>
          </a:p>
        </p:txBody>
      </p:sp>
      <p:sp>
        <p:nvSpPr>
          <p:cNvPr id="805" name="Google Shape;805;g3f776df2723_1_436"/>
          <p:cNvSpPr/>
          <p:nvPr/>
        </p:nvSpPr>
        <p:spPr>
          <a:xfrm>
            <a:off x="1047676" y="3757842"/>
            <a:ext cx="7943700" cy="5050200"/>
          </a:xfrm>
          <a:prstGeom prst="roundRect">
            <a:avLst>
              <a:gd fmla="val 3018" name="adj"/>
            </a:avLst>
          </a:prstGeom>
          <a:noFill/>
          <a:ln cap="flat" cmpd="sng" w="14275">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g3f776df2723_1_436"/>
          <p:cNvSpPr/>
          <p:nvPr/>
        </p:nvSpPr>
        <p:spPr>
          <a:xfrm>
            <a:off x="1309539" y="3981531"/>
            <a:ext cx="8162100" cy="409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A33"/>
              </a:buClr>
              <a:buSzPts val="2400"/>
              <a:buFont typeface="Gabarito"/>
              <a:buNone/>
            </a:pPr>
            <a:r>
              <a:rPr b="1" i="0" lang="en-US" sz="2400" u="none" cap="none" strike="noStrike">
                <a:solidFill>
                  <a:srgbClr val="4C5A33"/>
                </a:solidFill>
                <a:latin typeface="Gabarito"/>
                <a:ea typeface="Gabarito"/>
                <a:cs typeface="Gabarito"/>
                <a:sym typeface="Gabarito"/>
              </a:rPr>
              <a:t>Case 1 — good retrieval</a:t>
            </a:r>
            <a:endParaRPr b="0" i="0" sz="2400" u="none" cap="none" strike="noStrike">
              <a:solidFill>
                <a:schemeClr val="dk1"/>
              </a:solidFill>
              <a:latin typeface="Calibri"/>
              <a:ea typeface="Calibri"/>
              <a:cs typeface="Calibri"/>
              <a:sym typeface="Calibri"/>
            </a:endParaRPr>
          </a:p>
        </p:txBody>
      </p:sp>
      <p:sp>
        <p:nvSpPr>
          <p:cNvPr id="807" name="Google Shape;807;g3f776df2723_1_436"/>
          <p:cNvSpPr/>
          <p:nvPr/>
        </p:nvSpPr>
        <p:spPr>
          <a:xfrm>
            <a:off x="1309539" y="4448107"/>
            <a:ext cx="7420200" cy="952500"/>
          </a:xfrm>
          <a:prstGeom prst="roundRect">
            <a:avLst>
              <a:gd fmla="val 12002" name="adj"/>
            </a:avLst>
          </a:prstGeom>
          <a:solidFill>
            <a:srgbClr val="035595">
              <a:alpha val="5100"/>
            </a:srgbClr>
          </a:solidFill>
          <a:ln cap="flat" cmpd="sng" w="14275">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g3f776df2723_1_436"/>
          <p:cNvSpPr/>
          <p:nvPr/>
        </p:nvSpPr>
        <p:spPr>
          <a:xfrm>
            <a:off x="1514252" y="4595670"/>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35595"/>
              </a:buClr>
              <a:buSzPts val="2100"/>
              <a:buFont typeface="Gabarito"/>
              <a:buNone/>
            </a:pPr>
            <a:r>
              <a:rPr b="1" i="0" lang="en-US" sz="2100" u="none" cap="none" strike="noStrike">
                <a:solidFill>
                  <a:srgbClr val="035595"/>
                </a:solidFill>
                <a:latin typeface="Gabarito"/>
                <a:ea typeface="Gabarito"/>
                <a:cs typeface="Gabarito"/>
                <a:sym typeface="Gabarito"/>
              </a:rPr>
              <a:t>query</a:t>
            </a:r>
            <a:endParaRPr b="0" i="0" sz="2100" u="none" cap="none" strike="noStrike">
              <a:solidFill>
                <a:schemeClr val="dk1"/>
              </a:solidFill>
              <a:latin typeface="Calibri"/>
              <a:ea typeface="Calibri"/>
              <a:cs typeface="Calibri"/>
              <a:sym typeface="Calibri"/>
            </a:endParaRPr>
          </a:p>
        </p:txBody>
      </p:sp>
      <p:sp>
        <p:nvSpPr>
          <p:cNvPr id="809" name="Google Shape;809;g3f776df2723_1_436"/>
          <p:cNvSpPr/>
          <p:nvPr/>
        </p:nvSpPr>
        <p:spPr>
          <a:xfrm>
            <a:off x="1514252" y="4924283"/>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"What are dogs known for?"</a:t>
            </a:r>
            <a:endParaRPr b="0" i="0" sz="2175" u="none" cap="none" strike="noStrike">
              <a:solidFill>
                <a:schemeClr val="dk1"/>
              </a:solidFill>
              <a:latin typeface="Calibri"/>
              <a:ea typeface="Calibri"/>
              <a:cs typeface="Calibri"/>
              <a:sym typeface="Calibri"/>
            </a:endParaRPr>
          </a:p>
        </p:txBody>
      </p:sp>
      <p:sp>
        <p:nvSpPr>
          <p:cNvPr id="810" name="Google Shape;810;g3f776df2723_1_436"/>
          <p:cNvSpPr/>
          <p:nvPr/>
        </p:nvSpPr>
        <p:spPr>
          <a:xfrm>
            <a:off x="938532" y="5495559"/>
            <a:ext cx="8162100" cy="457200"/>
          </a:xfrm>
          <a:prstGeom prst="rect">
            <a:avLst/>
          </a:prstGeom>
          <a:noFill/>
          <a:ln>
            <a:noFill/>
          </a:ln>
        </p:spPr>
        <p:txBody>
          <a:bodyPr anchorCtr="0" anchor="t" bIns="25400" lIns="25400" spcFirstLastPara="1" rIns="25400" wrap="square" tIns="25400">
            <a:noAutofit/>
          </a:bodyPr>
          <a:lstStyle/>
          <a:p>
            <a:pPr indent="0" lvl="0" marL="0" marR="0" rtl="0" algn="ctr">
              <a:lnSpc>
                <a:spcPct val="81481"/>
              </a:lnSpc>
              <a:spcBef>
                <a:spcPts val="0"/>
              </a:spcBef>
              <a:spcAft>
                <a:spcPts val="0"/>
              </a:spcAft>
              <a:buClr>
                <a:srgbClr val="78746A"/>
              </a:buClr>
              <a:buSzPts val="3300"/>
              <a:buFont typeface="Gabarito"/>
              <a:buNone/>
            </a:pPr>
            <a:r>
              <a:rPr b="0" i="0" lang="en-US" sz="3300" u="none" cap="none" strike="noStrike">
                <a:solidFill>
                  <a:srgbClr val="78746A"/>
                </a:solidFill>
                <a:latin typeface="Gabarito"/>
                <a:ea typeface="Gabarito"/>
                <a:cs typeface="Gabarito"/>
                <a:sym typeface="Gabarito"/>
              </a:rPr>
              <a:t>↓</a:t>
            </a:r>
            <a:endParaRPr b="0" i="0" sz="3300" u="none" cap="none" strike="noStrike">
              <a:solidFill>
                <a:schemeClr val="dk1"/>
              </a:solidFill>
              <a:latin typeface="Calibri"/>
              <a:ea typeface="Calibri"/>
              <a:cs typeface="Calibri"/>
              <a:sym typeface="Calibri"/>
            </a:endParaRPr>
          </a:p>
        </p:txBody>
      </p:sp>
      <p:sp>
        <p:nvSpPr>
          <p:cNvPr id="811" name="Google Shape;811;g3f776df2723_1_436"/>
          <p:cNvSpPr/>
          <p:nvPr/>
        </p:nvSpPr>
        <p:spPr>
          <a:xfrm>
            <a:off x="1309539" y="6009686"/>
            <a:ext cx="7420200" cy="982800"/>
          </a:xfrm>
          <a:prstGeom prst="roundRect">
            <a:avLst>
              <a:gd fmla="val 11631" name="adj"/>
            </a:avLst>
          </a:prstGeom>
          <a:solidFill>
            <a:srgbClr val="B08A3E">
              <a:alpha val="7060"/>
            </a:srgbClr>
          </a:solidFill>
          <a:ln cap="flat" cmpd="sng" w="14275">
            <a:solidFill>
              <a:srgbClr val="B08A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g3f776df2723_1_436"/>
          <p:cNvSpPr/>
          <p:nvPr/>
        </p:nvSpPr>
        <p:spPr>
          <a:xfrm>
            <a:off x="1514252" y="6157249"/>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6A2C"/>
              </a:buClr>
              <a:buSzPts val="2100"/>
              <a:buFont typeface="Gabarito"/>
              <a:buNone/>
            </a:pPr>
            <a:r>
              <a:rPr b="1" i="0" lang="en-US" sz="2100" u="none" cap="none" strike="noStrike">
                <a:solidFill>
                  <a:srgbClr val="8A6A2C"/>
                </a:solidFill>
                <a:latin typeface="Gabarito"/>
                <a:ea typeface="Gabarito"/>
                <a:cs typeface="Gabarito"/>
                <a:sym typeface="Gabarito"/>
              </a:rPr>
              <a:t>chunk retrieved</a:t>
            </a:r>
            <a:endParaRPr b="0" i="0" sz="2100" u="none" cap="none" strike="noStrike">
              <a:solidFill>
                <a:schemeClr val="dk1"/>
              </a:solidFill>
              <a:latin typeface="Calibri"/>
              <a:ea typeface="Calibri"/>
              <a:cs typeface="Calibri"/>
              <a:sym typeface="Calibri"/>
            </a:endParaRPr>
          </a:p>
        </p:txBody>
      </p:sp>
      <p:sp>
        <p:nvSpPr>
          <p:cNvPr id="813" name="Google Shape;813;g3f776df2723_1_436"/>
          <p:cNvSpPr/>
          <p:nvPr/>
        </p:nvSpPr>
        <p:spPr>
          <a:xfrm>
            <a:off x="1514252" y="6485862"/>
            <a:ext cx="7711800" cy="397200"/>
          </a:xfrm>
          <a:prstGeom prst="rect">
            <a:avLst/>
          </a:prstGeom>
          <a:noFill/>
          <a:ln>
            <a:noFill/>
          </a:ln>
        </p:spPr>
        <p:txBody>
          <a:bodyPr anchorCtr="0" anchor="t" bIns="25400" lIns="25400" spcFirstLastPara="1" rIns="25400" wrap="square" tIns="25400">
            <a:noAutofit/>
          </a:bodyPr>
          <a:lstStyle/>
          <a:p>
            <a:pPr indent="0" lvl="0" marL="0" marR="0" rtl="0" algn="l">
              <a:lnSpc>
                <a:spcPct val="109275"/>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"Dogs are loyal animals that have lived with humans…"</a:t>
            </a:r>
            <a:endParaRPr b="0" i="0" sz="2175" u="none" cap="none" strike="noStrike">
              <a:solidFill>
                <a:schemeClr val="dk1"/>
              </a:solidFill>
              <a:latin typeface="Calibri"/>
              <a:ea typeface="Calibri"/>
              <a:cs typeface="Calibri"/>
              <a:sym typeface="Calibri"/>
            </a:endParaRPr>
          </a:p>
        </p:txBody>
      </p:sp>
      <p:sp>
        <p:nvSpPr>
          <p:cNvPr id="814" name="Google Shape;814;g3f776df2723_1_436"/>
          <p:cNvSpPr/>
          <p:nvPr/>
        </p:nvSpPr>
        <p:spPr>
          <a:xfrm>
            <a:off x="938532" y="7087499"/>
            <a:ext cx="8162100" cy="457200"/>
          </a:xfrm>
          <a:prstGeom prst="rect">
            <a:avLst/>
          </a:prstGeom>
          <a:noFill/>
          <a:ln>
            <a:noFill/>
          </a:ln>
        </p:spPr>
        <p:txBody>
          <a:bodyPr anchorCtr="0" anchor="t" bIns="25400" lIns="25400" spcFirstLastPara="1" rIns="25400" wrap="square" tIns="25400">
            <a:noAutofit/>
          </a:bodyPr>
          <a:lstStyle/>
          <a:p>
            <a:pPr indent="0" lvl="0" marL="0" marR="0" rtl="0" algn="ctr">
              <a:lnSpc>
                <a:spcPct val="81481"/>
              </a:lnSpc>
              <a:spcBef>
                <a:spcPts val="0"/>
              </a:spcBef>
              <a:spcAft>
                <a:spcPts val="0"/>
              </a:spcAft>
              <a:buClr>
                <a:srgbClr val="78746A"/>
              </a:buClr>
              <a:buSzPts val="3300"/>
              <a:buFont typeface="Gabarito"/>
              <a:buNone/>
            </a:pPr>
            <a:r>
              <a:rPr b="0" i="0" lang="en-US" sz="3300" u="none" cap="none" strike="noStrike">
                <a:solidFill>
                  <a:srgbClr val="78746A"/>
                </a:solidFill>
                <a:latin typeface="Gabarito"/>
                <a:ea typeface="Gabarito"/>
                <a:cs typeface="Gabarito"/>
                <a:sym typeface="Gabarito"/>
              </a:rPr>
              <a:t>↓</a:t>
            </a:r>
            <a:endParaRPr b="0" i="0" sz="3300" u="none" cap="none" strike="noStrike">
              <a:solidFill>
                <a:schemeClr val="dk1"/>
              </a:solidFill>
              <a:latin typeface="Calibri"/>
              <a:ea typeface="Calibri"/>
              <a:cs typeface="Calibri"/>
              <a:sym typeface="Calibri"/>
            </a:endParaRPr>
          </a:p>
        </p:txBody>
      </p:sp>
      <p:sp>
        <p:nvSpPr>
          <p:cNvPr id="815" name="Google Shape;815;g3f776df2723_1_436"/>
          <p:cNvSpPr/>
          <p:nvPr/>
        </p:nvSpPr>
        <p:spPr>
          <a:xfrm>
            <a:off x="1309539" y="7601626"/>
            <a:ext cx="7420200" cy="982800"/>
          </a:xfrm>
          <a:prstGeom prst="roundRect">
            <a:avLst>
              <a:gd fmla="val 11631" name="adj"/>
            </a:avLst>
          </a:prstGeom>
          <a:solidFill>
            <a:srgbClr val="7A8A5A">
              <a:alpha val="7060"/>
            </a:srgbClr>
          </a:solidFill>
          <a:ln cap="flat" cmpd="sng" w="14275">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g3f776df2723_1_436"/>
          <p:cNvSpPr/>
          <p:nvPr/>
        </p:nvSpPr>
        <p:spPr>
          <a:xfrm>
            <a:off x="1514252" y="7749189"/>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A33"/>
              </a:buClr>
              <a:buSzPts val="2175"/>
              <a:buFont typeface="Gabarito"/>
              <a:buNone/>
            </a:pPr>
            <a:r>
              <a:rPr b="1" i="0" lang="en-US" sz="2175" u="none" cap="none" strike="noStrike">
                <a:solidFill>
                  <a:srgbClr val="4C5A33"/>
                </a:solidFill>
                <a:latin typeface="Gabarito"/>
                <a:ea typeface="Gabarito"/>
                <a:cs typeface="Gabarito"/>
                <a:sym typeface="Gabarito"/>
              </a:rPr>
              <a:t>grounded answer</a:t>
            </a:r>
            <a:endParaRPr b="0" i="0" sz="2175" u="none" cap="none" strike="noStrike">
              <a:solidFill>
                <a:schemeClr val="dk1"/>
              </a:solidFill>
              <a:latin typeface="Calibri"/>
              <a:ea typeface="Calibri"/>
              <a:cs typeface="Calibri"/>
              <a:sym typeface="Calibri"/>
            </a:endParaRPr>
          </a:p>
        </p:txBody>
      </p:sp>
      <p:sp>
        <p:nvSpPr>
          <p:cNvPr id="817" name="Google Shape;817;g3f776df2723_1_436"/>
          <p:cNvSpPr/>
          <p:nvPr/>
        </p:nvSpPr>
        <p:spPr>
          <a:xfrm>
            <a:off x="1514252" y="8077802"/>
            <a:ext cx="7711800" cy="397200"/>
          </a:xfrm>
          <a:prstGeom prst="rect">
            <a:avLst/>
          </a:prstGeom>
          <a:noFill/>
          <a:ln>
            <a:noFill/>
          </a:ln>
        </p:spPr>
        <p:txBody>
          <a:bodyPr anchorCtr="0" anchor="t" bIns="25400" lIns="25400" spcFirstLastPara="1" rIns="25400" wrap="square" tIns="25400">
            <a:noAutofit/>
          </a:bodyPr>
          <a:lstStyle/>
          <a:p>
            <a:pPr indent="0" lvl="0" marL="0" marR="0" rtl="0" algn="l">
              <a:lnSpc>
                <a:spcPct val="109275"/>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"Dogs are known for loyalty and companionship…"</a:t>
            </a:r>
            <a:endParaRPr b="0" i="0" sz="2175" u="none" cap="none" strike="noStrike">
              <a:solidFill>
                <a:schemeClr val="dk1"/>
              </a:solidFill>
              <a:latin typeface="Calibri"/>
              <a:ea typeface="Calibri"/>
              <a:cs typeface="Calibri"/>
              <a:sym typeface="Calibri"/>
            </a:endParaRPr>
          </a:p>
        </p:txBody>
      </p:sp>
      <p:sp>
        <p:nvSpPr>
          <p:cNvPr id="818" name="Google Shape;818;g3f776df2723_1_436"/>
          <p:cNvSpPr/>
          <p:nvPr/>
        </p:nvSpPr>
        <p:spPr>
          <a:xfrm>
            <a:off x="9296251" y="3757842"/>
            <a:ext cx="7943700" cy="5050200"/>
          </a:xfrm>
          <a:prstGeom prst="roundRect">
            <a:avLst>
              <a:gd fmla="val 3018" name="adj"/>
            </a:avLst>
          </a:prstGeom>
          <a:noFill/>
          <a:ln cap="flat" cmpd="sng" w="14275">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g3f776df2723_1_436"/>
          <p:cNvSpPr/>
          <p:nvPr/>
        </p:nvSpPr>
        <p:spPr>
          <a:xfrm>
            <a:off x="9558114" y="3981531"/>
            <a:ext cx="8162100" cy="409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15F3C"/>
              </a:buClr>
              <a:buSzPts val="2400"/>
              <a:buFont typeface="Gabarito"/>
              <a:buNone/>
            </a:pPr>
            <a:r>
              <a:rPr b="1" i="0" lang="en-US" sz="2400" u="none" cap="none" strike="noStrike">
                <a:solidFill>
                  <a:srgbClr val="C15F3C"/>
                </a:solidFill>
                <a:latin typeface="Gabarito"/>
                <a:ea typeface="Gabarito"/>
                <a:cs typeface="Gabarito"/>
                <a:sym typeface="Gabarito"/>
              </a:rPr>
              <a:t>Case 2 — weak or empty retrieval</a:t>
            </a:r>
            <a:endParaRPr b="0" i="0" sz="2400" u="none" cap="none" strike="noStrike">
              <a:solidFill>
                <a:schemeClr val="dk1"/>
              </a:solidFill>
              <a:latin typeface="Calibri"/>
              <a:ea typeface="Calibri"/>
              <a:cs typeface="Calibri"/>
              <a:sym typeface="Calibri"/>
            </a:endParaRPr>
          </a:p>
        </p:txBody>
      </p:sp>
      <p:sp>
        <p:nvSpPr>
          <p:cNvPr id="820" name="Google Shape;820;g3f776df2723_1_436"/>
          <p:cNvSpPr/>
          <p:nvPr/>
        </p:nvSpPr>
        <p:spPr>
          <a:xfrm>
            <a:off x="9558114" y="4448107"/>
            <a:ext cx="7420200" cy="952500"/>
          </a:xfrm>
          <a:prstGeom prst="roundRect">
            <a:avLst>
              <a:gd fmla="val 12002" name="adj"/>
            </a:avLst>
          </a:prstGeom>
          <a:solidFill>
            <a:srgbClr val="035595">
              <a:alpha val="5100"/>
            </a:srgbClr>
          </a:solidFill>
          <a:ln cap="flat" cmpd="sng" w="14275">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g3f776df2723_1_436"/>
          <p:cNvSpPr/>
          <p:nvPr/>
        </p:nvSpPr>
        <p:spPr>
          <a:xfrm>
            <a:off x="9762827" y="4595670"/>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35595"/>
              </a:buClr>
              <a:buSzPts val="2100"/>
              <a:buFont typeface="Gabarito"/>
              <a:buNone/>
            </a:pPr>
            <a:r>
              <a:rPr b="1" i="0" lang="en-US" sz="2100" u="none" cap="none" strike="noStrike">
                <a:solidFill>
                  <a:srgbClr val="035595"/>
                </a:solidFill>
                <a:latin typeface="Gabarito"/>
                <a:ea typeface="Gabarito"/>
                <a:cs typeface="Gabarito"/>
                <a:sym typeface="Gabarito"/>
              </a:rPr>
              <a:t>query</a:t>
            </a:r>
            <a:endParaRPr b="0" i="0" sz="2100" u="none" cap="none" strike="noStrike">
              <a:solidFill>
                <a:schemeClr val="dk1"/>
              </a:solidFill>
              <a:latin typeface="Calibri"/>
              <a:ea typeface="Calibri"/>
              <a:cs typeface="Calibri"/>
              <a:sym typeface="Calibri"/>
            </a:endParaRPr>
          </a:p>
        </p:txBody>
      </p:sp>
      <p:sp>
        <p:nvSpPr>
          <p:cNvPr id="822" name="Google Shape;822;g3f776df2723_1_436"/>
          <p:cNvSpPr/>
          <p:nvPr/>
        </p:nvSpPr>
        <p:spPr>
          <a:xfrm>
            <a:off x="9762827" y="4924283"/>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"What is the capital of Mars?"</a:t>
            </a:r>
            <a:endParaRPr b="0" i="0" sz="2175" u="none" cap="none" strike="noStrike">
              <a:solidFill>
                <a:schemeClr val="dk1"/>
              </a:solidFill>
              <a:latin typeface="Calibri"/>
              <a:ea typeface="Calibri"/>
              <a:cs typeface="Calibri"/>
              <a:sym typeface="Calibri"/>
            </a:endParaRPr>
          </a:p>
        </p:txBody>
      </p:sp>
      <p:sp>
        <p:nvSpPr>
          <p:cNvPr id="823" name="Google Shape;823;g3f776df2723_1_436"/>
          <p:cNvSpPr/>
          <p:nvPr/>
        </p:nvSpPr>
        <p:spPr>
          <a:xfrm>
            <a:off x="9187108" y="5495559"/>
            <a:ext cx="8162100" cy="457200"/>
          </a:xfrm>
          <a:prstGeom prst="rect">
            <a:avLst/>
          </a:prstGeom>
          <a:noFill/>
          <a:ln>
            <a:noFill/>
          </a:ln>
        </p:spPr>
        <p:txBody>
          <a:bodyPr anchorCtr="0" anchor="t" bIns="25400" lIns="25400" spcFirstLastPara="1" rIns="25400" wrap="square" tIns="25400">
            <a:noAutofit/>
          </a:bodyPr>
          <a:lstStyle/>
          <a:p>
            <a:pPr indent="0" lvl="0" marL="0" marR="0" rtl="0" algn="ctr">
              <a:lnSpc>
                <a:spcPct val="81481"/>
              </a:lnSpc>
              <a:spcBef>
                <a:spcPts val="0"/>
              </a:spcBef>
              <a:spcAft>
                <a:spcPts val="0"/>
              </a:spcAft>
              <a:buClr>
                <a:srgbClr val="78746A"/>
              </a:buClr>
              <a:buSzPts val="3300"/>
              <a:buFont typeface="Gabarito"/>
              <a:buNone/>
            </a:pPr>
            <a:r>
              <a:rPr b="0" i="0" lang="en-US" sz="3300" u="none" cap="none" strike="noStrike">
                <a:solidFill>
                  <a:srgbClr val="78746A"/>
                </a:solidFill>
                <a:latin typeface="Gabarito"/>
                <a:ea typeface="Gabarito"/>
                <a:cs typeface="Gabarito"/>
                <a:sym typeface="Gabarito"/>
              </a:rPr>
              <a:t>↓</a:t>
            </a:r>
            <a:endParaRPr b="0" i="0" sz="3300" u="none" cap="none" strike="noStrike">
              <a:solidFill>
                <a:schemeClr val="dk1"/>
              </a:solidFill>
              <a:latin typeface="Calibri"/>
              <a:ea typeface="Calibri"/>
              <a:cs typeface="Calibri"/>
              <a:sym typeface="Calibri"/>
            </a:endParaRPr>
          </a:p>
        </p:txBody>
      </p:sp>
      <p:sp>
        <p:nvSpPr>
          <p:cNvPr id="824" name="Google Shape;824;g3f776df2723_1_436"/>
          <p:cNvSpPr/>
          <p:nvPr/>
        </p:nvSpPr>
        <p:spPr>
          <a:xfrm>
            <a:off x="9558114" y="6009686"/>
            <a:ext cx="7420200" cy="982800"/>
          </a:xfrm>
          <a:prstGeom prst="roundRect">
            <a:avLst>
              <a:gd fmla="val 11631" name="adj"/>
            </a:avLst>
          </a:prstGeom>
          <a:solidFill>
            <a:srgbClr val="C15F3C">
              <a:alpha val="5100"/>
            </a:srgbClr>
          </a:solidFill>
          <a:ln cap="flat" cmpd="sng" w="14275">
            <a:solidFill>
              <a:srgbClr val="C15F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g3f776df2723_1_436"/>
          <p:cNvSpPr/>
          <p:nvPr/>
        </p:nvSpPr>
        <p:spPr>
          <a:xfrm>
            <a:off x="9762827" y="6157249"/>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15F3C"/>
              </a:buClr>
              <a:buSzPts val="2100"/>
              <a:buFont typeface="Gabarito"/>
              <a:buNone/>
            </a:pPr>
            <a:r>
              <a:rPr b="1" i="0" lang="en-US" sz="2100" u="none" cap="none" strike="noStrike">
                <a:solidFill>
                  <a:srgbClr val="C15F3C"/>
                </a:solidFill>
                <a:latin typeface="Gabarito"/>
                <a:ea typeface="Gabarito"/>
                <a:cs typeface="Gabarito"/>
                <a:sym typeface="Gabarito"/>
              </a:rPr>
              <a:t>no relevant chunks</a:t>
            </a:r>
            <a:endParaRPr b="0" i="0" sz="2100" u="none" cap="none" strike="noStrike">
              <a:solidFill>
                <a:schemeClr val="dk1"/>
              </a:solidFill>
              <a:latin typeface="Calibri"/>
              <a:ea typeface="Calibri"/>
              <a:cs typeface="Calibri"/>
              <a:sym typeface="Calibri"/>
            </a:endParaRPr>
          </a:p>
        </p:txBody>
      </p:sp>
      <p:sp>
        <p:nvSpPr>
          <p:cNvPr id="826" name="Google Shape;826;g3f776df2723_1_436"/>
          <p:cNvSpPr/>
          <p:nvPr/>
        </p:nvSpPr>
        <p:spPr>
          <a:xfrm>
            <a:off x="9762827" y="6485862"/>
            <a:ext cx="7711800" cy="397200"/>
          </a:xfrm>
          <a:prstGeom prst="rect">
            <a:avLst/>
          </a:prstGeom>
          <a:noFill/>
          <a:ln>
            <a:noFill/>
          </a:ln>
        </p:spPr>
        <p:txBody>
          <a:bodyPr anchorCtr="0" anchor="t" bIns="25400" lIns="25400" spcFirstLastPara="1" rIns="25400" wrap="square" tIns="25400">
            <a:noAutofit/>
          </a:bodyPr>
          <a:lstStyle/>
          <a:p>
            <a:pPr indent="0" lvl="0" marL="0" marR="0" rtl="0" algn="l">
              <a:lnSpc>
                <a:spcPct val="109275"/>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nothing in the vector database matches</a:t>
            </a:r>
            <a:endParaRPr b="0" i="0" sz="2175" u="none" cap="none" strike="noStrike">
              <a:solidFill>
                <a:schemeClr val="dk1"/>
              </a:solidFill>
              <a:latin typeface="Calibri"/>
              <a:ea typeface="Calibri"/>
              <a:cs typeface="Calibri"/>
              <a:sym typeface="Calibri"/>
            </a:endParaRPr>
          </a:p>
        </p:txBody>
      </p:sp>
      <p:sp>
        <p:nvSpPr>
          <p:cNvPr id="827" name="Google Shape;827;g3f776df2723_1_436"/>
          <p:cNvSpPr/>
          <p:nvPr/>
        </p:nvSpPr>
        <p:spPr>
          <a:xfrm>
            <a:off x="9187108" y="7087499"/>
            <a:ext cx="8162100" cy="457200"/>
          </a:xfrm>
          <a:prstGeom prst="rect">
            <a:avLst/>
          </a:prstGeom>
          <a:noFill/>
          <a:ln>
            <a:noFill/>
          </a:ln>
        </p:spPr>
        <p:txBody>
          <a:bodyPr anchorCtr="0" anchor="t" bIns="25400" lIns="25400" spcFirstLastPara="1" rIns="25400" wrap="square" tIns="25400">
            <a:noAutofit/>
          </a:bodyPr>
          <a:lstStyle/>
          <a:p>
            <a:pPr indent="0" lvl="0" marL="0" marR="0" rtl="0" algn="ctr">
              <a:lnSpc>
                <a:spcPct val="81481"/>
              </a:lnSpc>
              <a:spcBef>
                <a:spcPts val="0"/>
              </a:spcBef>
              <a:spcAft>
                <a:spcPts val="0"/>
              </a:spcAft>
              <a:buClr>
                <a:srgbClr val="78746A"/>
              </a:buClr>
              <a:buSzPts val="3300"/>
              <a:buFont typeface="Gabarito"/>
              <a:buNone/>
            </a:pPr>
            <a:r>
              <a:rPr b="0" i="0" lang="en-US" sz="3300" u="none" cap="none" strike="noStrike">
                <a:solidFill>
                  <a:srgbClr val="78746A"/>
                </a:solidFill>
                <a:latin typeface="Gabarito"/>
                <a:ea typeface="Gabarito"/>
                <a:cs typeface="Gabarito"/>
                <a:sym typeface="Gabarito"/>
              </a:rPr>
              <a:t>↓</a:t>
            </a:r>
            <a:endParaRPr b="0" i="0" sz="3300" u="none" cap="none" strike="noStrike">
              <a:solidFill>
                <a:schemeClr val="dk1"/>
              </a:solidFill>
              <a:latin typeface="Calibri"/>
              <a:ea typeface="Calibri"/>
              <a:cs typeface="Calibri"/>
              <a:sym typeface="Calibri"/>
            </a:endParaRPr>
          </a:p>
        </p:txBody>
      </p:sp>
      <p:sp>
        <p:nvSpPr>
          <p:cNvPr id="828" name="Google Shape;828;g3f776df2723_1_436"/>
          <p:cNvSpPr/>
          <p:nvPr/>
        </p:nvSpPr>
        <p:spPr>
          <a:xfrm>
            <a:off x="9558114" y="7601626"/>
            <a:ext cx="7420200" cy="982800"/>
          </a:xfrm>
          <a:prstGeom prst="roundRect">
            <a:avLst>
              <a:gd fmla="val 11631" name="adj"/>
            </a:avLst>
          </a:prstGeom>
          <a:solidFill>
            <a:srgbClr val="FF9900">
              <a:alpha val="7060"/>
            </a:srgbClr>
          </a:solidFill>
          <a:ln cap="flat" cmpd="sng" w="142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g3f776df2723_1_436"/>
          <p:cNvSpPr/>
          <p:nvPr/>
        </p:nvSpPr>
        <p:spPr>
          <a:xfrm>
            <a:off x="9762827" y="7749189"/>
            <a:ext cx="7711800" cy="366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97D00"/>
              </a:buClr>
              <a:buSzPts val="2175"/>
              <a:buFont typeface="Gabarito"/>
              <a:buNone/>
            </a:pPr>
            <a:r>
              <a:rPr b="1" i="0" lang="en-US" sz="2175" u="none" cap="none" strike="noStrike">
                <a:solidFill>
                  <a:srgbClr val="D97D00"/>
                </a:solidFill>
                <a:latin typeface="Gabarito"/>
                <a:ea typeface="Gabarito"/>
                <a:cs typeface="Gabarito"/>
                <a:sym typeface="Gabarito"/>
              </a:rPr>
              <a:t>honest non-answer</a:t>
            </a:r>
            <a:endParaRPr b="0" i="0" sz="2175" u="none" cap="none" strike="noStrike">
              <a:solidFill>
                <a:schemeClr val="dk1"/>
              </a:solidFill>
              <a:latin typeface="Calibri"/>
              <a:ea typeface="Calibri"/>
              <a:cs typeface="Calibri"/>
              <a:sym typeface="Calibri"/>
            </a:endParaRPr>
          </a:p>
        </p:txBody>
      </p:sp>
      <p:sp>
        <p:nvSpPr>
          <p:cNvPr id="830" name="Google Shape;830;g3f776df2723_1_436"/>
          <p:cNvSpPr/>
          <p:nvPr/>
        </p:nvSpPr>
        <p:spPr>
          <a:xfrm>
            <a:off x="9762827" y="8077802"/>
            <a:ext cx="7711800" cy="397200"/>
          </a:xfrm>
          <a:prstGeom prst="rect">
            <a:avLst/>
          </a:prstGeom>
          <a:noFill/>
          <a:ln>
            <a:noFill/>
          </a:ln>
        </p:spPr>
        <p:txBody>
          <a:bodyPr anchorCtr="0" anchor="t" bIns="25400" lIns="25400" spcFirstLastPara="1" rIns="25400" wrap="square" tIns="25400">
            <a:noAutofit/>
          </a:bodyPr>
          <a:lstStyle/>
          <a:p>
            <a:pPr indent="0" lvl="0" marL="0" marR="0" rtl="0" algn="l">
              <a:lnSpc>
                <a:spcPct val="109275"/>
              </a:lnSpc>
              <a:spcBef>
                <a:spcPts val="0"/>
              </a:spcBef>
              <a:spcAft>
                <a:spcPts val="0"/>
              </a:spcAft>
              <a:buClr>
                <a:srgbClr val="37474F"/>
              </a:buClr>
              <a:buSzPts val="2175"/>
              <a:buFont typeface="Gabarito"/>
              <a:buNone/>
            </a:pPr>
            <a:r>
              <a:rPr b="0" i="0" lang="en-US" sz="2175" u="none" cap="none" strike="noStrike">
                <a:solidFill>
                  <a:srgbClr val="37474F"/>
                </a:solidFill>
                <a:latin typeface="Gabarito"/>
                <a:ea typeface="Gabarito"/>
                <a:cs typeface="Gabarito"/>
                <a:sym typeface="Gabarito"/>
              </a:rPr>
              <a:t>"I don't have enough information to answer that."</a:t>
            </a:r>
            <a:endParaRPr b="0" i="0" sz="2175" u="none" cap="none" strike="noStrike">
              <a:solidFill>
                <a:schemeClr val="dk1"/>
              </a:solidFill>
              <a:latin typeface="Calibri"/>
              <a:ea typeface="Calibri"/>
              <a:cs typeface="Calibri"/>
              <a:sym typeface="Calibri"/>
            </a:endParaRPr>
          </a:p>
        </p:txBody>
      </p:sp>
      <p:sp>
        <p:nvSpPr>
          <p:cNvPr id="831" name="Google Shape;831;g3f776df2723_1_436"/>
          <p:cNvSpPr/>
          <p:nvPr/>
        </p:nvSpPr>
        <p:spPr>
          <a:xfrm>
            <a:off x="1047676" y="8998453"/>
            <a:ext cx="16192500" cy="743100"/>
          </a:xfrm>
          <a:prstGeom prst="roundRect">
            <a:avLst>
              <a:gd fmla="val 20513" name="adj"/>
            </a:avLst>
          </a:prstGeom>
          <a:noFill/>
          <a:ln cap="flat" cmpd="sng" w="14275">
            <a:solidFill>
              <a:srgbClr val="C15F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g3f776df2723_1_436"/>
          <p:cNvSpPr/>
          <p:nvPr/>
        </p:nvSpPr>
        <p:spPr>
          <a:xfrm>
            <a:off x="1347713" y="9184190"/>
            <a:ext cx="16078200" cy="409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15F3C"/>
              </a:buClr>
              <a:buSzPts val="2400"/>
              <a:buFont typeface="Gabarito"/>
              <a:buNone/>
            </a:pPr>
            <a:r>
              <a:rPr b="1" i="0" lang="en-US" sz="2400" u="none" cap="none" strike="noStrike">
                <a:solidFill>
                  <a:srgbClr val="C15F3C"/>
                </a:solidFill>
                <a:latin typeface="Gabarito"/>
                <a:ea typeface="Gabarito"/>
                <a:cs typeface="Gabarito"/>
                <a:sym typeface="Gabarito"/>
              </a:rPr>
              <a:t>No match, no guess: </a:t>
            </a:r>
            <a:r>
              <a:rPr b="0" i="0" lang="en-US" sz="2400" u="none" cap="none" strike="noStrike">
                <a:solidFill>
                  <a:srgbClr val="5B5B5B"/>
                </a:solidFill>
                <a:latin typeface="Gabarito"/>
                <a:ea typeface="Gabarito"/>
                <a:cs typeface="Gabarito"/>
                <a:sym typeface="Gabarito"/>
              </a:rPr>
              <a:t>Case 2 is the system working correctly — saying so beats inventing an answer from memory.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7" name="Shape 837"/>
        <p:cNvGrpSpPr/>
        <p:nvPr/>
      </p:nvGrpSpPr>
      <p:grpSpPr>
        <a:xfrm>
          <a:off x="0" y="0"/>
          <a:ext cx="0" cy="0"/>
          <a:chOff x="0" y="0"/>
          <a:chExt cx="0" cy="0"/>
        </a:xfrm>
      </p:grpSpPr>
      <p:pic>
        <p:nvPicPr>
          <p:cNvPr descr="preencoded.png" id="838" name="Google Shape;838;g3f776df2723_1_473"/>
          <p:cNvPicPr preferRelativeResize="0"/>
          <p:nvPr/>
        </p:nvPicPr>
        <p:blipFill rotWithShape="1">
          <a:blip r:embed="rId3">
            <a:alphaModFix/>
          </a:blip>
          <a:srcRect b="0" l="0" r="0" t="0"/>
          <a:stretch/>
        </p:blipFill>
        <p:spPr>
          <a:xfrm>
            <a:off x="16202248" y="952351"/>
            <a:ext cx="1066651" cy="1303959"/>
          </a:xfrm>
          <a:prstGeom prst="rect">
            <a:avLst/>
          </a:prstGeom>
          <a:noFill/>
          <a:ln>
            <a:noFill/>
          </a:ln>
        </p:spPr>
      </p:pic>
      <p:sp>
        <p:nvSpPr>
          <p:cNvPr id="839" name="Google Shape;839;g3f776df2723_1_473"/>
          <p:cNvSpPr/>
          <p:nvPr/>
        </p:nvSpPr>
        <p:spPr>
          <a:xfrm>
            <a:off x="1047676" y="666601"/>
            <a:ext cx="17811600"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5</a:t>
            </a:r>
            <a:endParaRPr b="0" i="0" sz="3000" u="none" cap="none" strike="noStrike">
              <a:solidFill>
                <a:schemeClr val="dk1"/>
              </a:solidFill>
              <a:latin typeface="Calibri"/>
              <a:ea typeface="Calibri"/>
              <a:cs typeface="Calibri"/>
              <a:sym typeface="Calibri"/>
            </a:endParaRPr>
          </a:p>
        </p:txBody>
      </p:sp>
      <p:sp>
        <p:nvSpPr>
          <p:cNvPr id="840" name="Google Shape;840;g3f776df2723_1_473"/>
          <p:cNvSpPr/>
          <p:nvPr/>
        </p:nvSpPr>
        <p:spPr>
          <a:xfrm>
            <a:off x="1047676" y="1180951"/>
            <a:ext cx="17811600" cy="10953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274D71"/>
              </a:buClr>
              <a:buSzPts val="6450"/>
              <a:buFont typeface="Gabarito"/>
              <a:buNone/>
            </a:pPr>
            <a:r>
              <a:rPr b="1" lang="en-US" sz="6000">
                <a:solidFill>
                  <a:srgbClr val="274D71"/>
                </a:solidFill>
                <a:latin typeface="Gabarito"/>
                <a:ea typeface="Gabarito"/>
                <a:cs typeface="Gabarito"/>
                <a:sym typeface="Gabarito"/>
              </a:rPr>
              <a:t>Generation - Grounded Answer</a:t>
            </a:r>
            <a:endParaRPr sz="6000">
              <a:solidFill>
                <a:schemeClr val="dk1"/>
              </a:solidFill>
              <a:latin typeface="Calibri"/>
              <a:ea typeface="Calibri"/>
              <a:cs typeface="Calibri"/>
              <a:sym typeface="Calibri"/>
            </a:endParaRPr>
          </a:p>
          <a:p>
            <a:pPr indent="0" lvl="0" marL="0" rtl="0" algn="l">
              <a:spcBef>
                <a:spcPts val="0"/>
              </a:spcBef>
              <a:spcAft>
                <a:spcPts val="0"/>
              </a:spcAft>
              <a:buClr>
                <a:srgbClr val="274D71"/>
              </a:buClr>
              <a:buSzPts val="6150"/>
              <a:buFont typeface="Gabarito"/>
              <a:buNone/>
            </a:pPr>
            <a:r>
              <a:t/>
            </a:r>
            <a:endParaRPr b="1" sz="6000">
              <a:solidFill>
                <a:srgbClr val="274D71"/>
              </a:solidFill>
              <a:latin typeface="Gabarito"/>
              <a:ea typeface="Gabarito"/>
              <a:cs typeface="Gabarito"/>
              <a:sym typeface="Gabarito"/>
            </a:endParaRPr>
          </a:p>
          <a:p>
            <a:pPr indent="0" lvl="0" marL="0" marR="0" rtl="0" algn="l">
              <a:spcBef>
                <a:spcPts val="0"/>
              </a:spcBef>
              <a:spcAft>
                <a:spcPts val="0"/>
              </a:spcAft>
              <a:buClr>
                <a:srgbClr val="274D71"/>
              </a:buClr>
              <a:buSzPts val="6900"/>
              <a:buFont typeface="Gabarito"/>
              <a:buNone/>
            </a:pPr>
            <a:r>
              <a:t/>
            </a:r>
            <a:endParaRPr b="1" sz="6900">
              <a:solidFill>
                <a:srgbClr val="274D71"/>
              </a:solidFill>
              <a:latin typeface="Gabarito"/>
              <a:ea typeface="Gabarito"/>
              <a:cs typeface="Gabarito"/>
              <a:sym typeface="Gabarito"/>
            </a:endParaRPr>
          </a:p>
        </p:txBody>
      </p:sp>
      <p:sp>
        <p:nvSpPr>
          <p:cNvPr id="841" name="Google Shape;841;g3f776df2723_1_473"/>
          <p:cNvSpPr/>
          <p:nvPr/>
        </p:nvSpPr>
        <p:spPr>
          <a:xfrm>
            <a:off x="1047676" y="2256302"/>
            <a:ext cx="17811600" cy="4878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b="0" i="0" lang="en-US" sz="2625" u="none" cap="none" strike="noStrike">
                <a:solidFill>
                  <a:srgbClr val="212121"/>
                </a:solidFill>
                <a:latin typeface="Gabarito"/>
                <a:ea typeface="Gabarito"/>
                <a:cs typeface="Gabarito"/>
                <a:sym typeface="Gabarito"/>
              </a:rPr>
              <a:t>Two things separate a RAG answer from a plain chatbot answer.</a:t>
            </a:r>
            <a:endParaRPr b="0" i="0" sz="2625" u="none" cap="none" strike="noStrike">
              <a:solidFill>
                <a:schemeClr val="dk1"/>
              </a:solidFill>
              <a:latin typeface="Calibri"/>
              <a:ea typeface="Calibri"/>
              <a:cs typeface="Calibri"/>
              <a:sym typeface="Calibri"/>
            </a:endParaRPr>
          </a:p>
        </p:txBody>
      </p:sp>
      <p:sp>
        <p:nvSpPr>
          <p:cNvPr id="842" name="Google Shape;842;g3f776df2723_1_473"/>
          <p:cNvSpPr/>
          <p:nvPr/>
        </p:nvSpPr>
        <p:spPr>
          <a:xfrm>
            <a:off x="1047675" y="3068900"/>
            <a:ext cx="7962900" cy="3779400"/>
          </a:xfrm>
          <a:prstGeom prst="roundRect">
            <a:avLst>
              <a:gd fmla="val 4946" name="adj"/>
            </a:avLst>
          </a:prstGeom>
          <a:solidFill>
            <a:srgbClr val="035595">
              <a:alpha val="3920"/>
            </a:srgbClr>
          </a:solidFill>
          <a:ln cap="flat" cmpd="sng" w="14275">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g3f776df2723_1_473"/>
          <p:cNvSpPr/>
          <p:nvPr/>
        </p:nvSpPr>
        <p:spPr>
          <a:xfrm>
            <a:off x="1423849" y="3406900"/>
            <a:ext cx="7334700" cy="572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35595"/>
              </a:buClr>
              <a:buSzPts val="3000"/>
              <a:buFont typeface="Gabarito"/>
              <a:buNone/>
            </a:pPr>
            <a:r>
              <a:rPr b="1" i="0" lang="en-US" sz="3400" u="none" cap="none" strike="noStrike">
                <a:solidFill>
                  <a:srgbClr val="035595"/>
                </a:solidFill>
                <a:latin typeface="Gabarito"/>
                <a:ea typeface="Gabarito"/>
                <a:cs typeface="Gabarito"/>
                <a:sym typeface="Gabarito"/>
              </a:rPr>
              <a:t>Grounded, not </a:t>
            </a:r>
            <a:r>
              <a:rPr b="1" lang="en-US" sz="3400">
                <a:solidFill>
                  <a:srgbClr val="035595"/>
                </a:solidFill>
                <a:latin typeface="Gabarito"/>
                <a:ea typeface="Gabarito"/>
                <a:cs typeface="Gabarito"/>
                <a:sym typeface="Gabarito"/>
              </a:rPr>
              <a:t>from fact it trained on</a:t>
            </a:r>
            <a:endParaRPr b="0" i="0" sz="3400" u="none" cap="none" strike="noStrike">
              <a:solidFill>
                <a:schemeClr val="dk1"/>
              </a:solidFill>
              <a:latin typeface="Calibri"/>
              <a:ea typeface="Calibri"/>
              <a:cs typeface="Calibri"/>
              <a:sym typeface="Calibri"/>
            </a:endParaRPr>
          </a:p>
        </p:txBody>
      </p:sp>
      <p:sp>
        <p:nvSpPr>
          <p:cNvPr id="844" name="Google Shape;844;g3f776df2723_1_473"/>
          <p:cNvSpPr/>
          <p:nvPr/>
        </p:nvSpPr>
        <p:spPr>
          <a:xfrm>
            <a:off x="1423850" y="4204440"/>
            <a:ext cx="7252200" cy="2238300"/>
          </a:xfrm>
          <a:prstGeom prst="rect">
            <a:avLst/>
          </a:prstGeom>
          <a:noFill/>
          <a:ln>
            <a:noFill/>
          </a:ln>
        </p:spPr>
        <p:txBody>
          <a:bodyPr anchorCtr="0" anchor="t" bIns="25400" lIns="25400" spcFirstLastPara="1" rIns="25400" wrap="square" tIns="25400">
            <a:noAutofit/>
          </a:bodyPr>
          <a:lstStyle/>
          <a:p>
            <a:pPr indent="0" lvl="0" marL="0" marR="0" rtl="0" algn="l">
              <a:lnSpc>
                <a:spcPct val="114074"/>
              </a:lnSpc>
              <a:spcBef>
                <a:spcPts val="0"/>
              </a:spcBef>
              <a:spcAft>
                <a:spcPts val="0"/>
              </a:spcAft>
              <a:buClr>
                <a:srgbClr val="37474F"/>
              </a:buClr>
              <a:buSzPts val="2475"/>
              <a:buFont typeface="Gabarito"/>
              <a:buNone/>
            </a:pPr>
            <a:r>
              <a:rPr b="0" i="0" lang="en-US" sz="2475" u="none" cap="none" strike="noStrike">
                <a:solidFill>
                  <a:srgbClr val="37474F"/>
                </a:solidFill>
                <a:latin typeface="Gabarito"/>
                <a:ea typeface="Gabarito"/>
                <a:cs typeface="Gabarito"/>
                <a:sym typeface="Gabarito"/>
              </a:rPr>
              <a:t>The answer is built from the retrieved text sitting right in front of the model — not from facts it memorized during training. That is what makes RAG answers more accurate and easier to keep up to date: you update the documents, not the model.</a:t>
            </a:r>
            <a:endParaRPr b="0" i="0" sz="2475" u="none" cap="none" strike="noStrike">
              <a:solidFill>
                <a:schemeClr val="dk1"/>
              </a:solidFill>
              <a:latin typeface="Calibri"/>
              <a:ea typeface="Calibri"/>
              <a:cs typeface="Calibri"/>
              <a:sym typeface="Calibri"/>
            </a:endParaRPr>
          </a:p>
        </p:txBody>
      </p:sp>
      <p:sp>
        <p:nvSpPr>
          <p:cNvPr id="845" name="Google Shape;845;g3f776df2723_1_473"/>
          <p:cNvSpPr/>
          <p:nvPr/>
        </p:nvSpPr>
        <p:spPr>
          <a:xfrm>
            <a:off x="9277050" y="3068900"/>
            <a:ext cx="7962900" cy="3779400"/>
          </a:xfrm>
          <a:prstGeom prst="roundRect">
            <a:avLst>
              <a:gd fmla="val 4946" name="adj"/>
            </a:avLst>
          </a:prstGeom>
          <a:solidFill>
            <a:srgbClr val="7A8A5A">
              <a:alpha val="5880"/>
            </a:srgbClr>
          </a:solidFill>
          <a:ln cap="flat" cmpd="sng" w="14275">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g3f776df2723_1_473"/>
          <p:cNvSpPr/>
          <p:nvPr/>
        </p:nvSpPr>
        <p:spPr>
          <a:xfrm>
            <a:off x="9653215" y="3406899"/>
            <a:ext cx="7931700"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A33"/>
              </a:buClr>
              <a:buSzPts val="3000"/>
              <a:buFont typeface="Gabarito"/>
              <a:buNone/>
            </a:pPr>
            <a:r>
              <a:rPr b="1" i="0" lang="en-US" sz="3600" u="none" cap="none" strike="noStrike">
                <a:solidFill>
                  <a:srgbClr val="4C5A33"/>
                </a:solidFill>
                <a:latin typeface="Gabarito"/>
                <a:ea typeface="Gabarito"/>
                <a:cs typeface="Gabarito"/>
                <a:sym typeface="Gabarito"/>
              </a:rPr>
              <a:t>Streaming output</a:t>
            </a:r>
            <a:endParaRPr b="0" i="0" sz="3600" u="none" cap="none" strike="noStrike">
              <a:solidFill>
                <a:schemeClr val="dk1"/>
              </a:solidFill>
              <a:latin typeface="Calibri"/>
              <a:ea typeface="Calibri"/>
              <a:cs typeface="Calibri"/>
              <a:sym typeface="Calibri"/>
            </a:endParaRPr>
          </a:p>
        </p:txBody>
      </p:sp>
      <p:sp>
        <p:nvSpPr>
          <p:cNvPr id="847" name="Google Shape;847;g3f776df2723_1_473"/>
          <p:cNvSpPr/>
          <p:nvPr/>
        </p:nvSpPr>
        <p:spPr>
          <a:xfrm>
            <a:off x="9653224" y="4204440"/>
            <a:ext cx="7015500" cy="2238300"/>
          </a:xfrm>
          <a:prstGeom prst="rect">
            <a:avLst/>
          </a:prstGeom>
          <a:noFill/>
          <a:ln>
            <a:noFill/>
          </a:ln>
        </p:spPr>
        <p:txBody>
          <a:bodyPr anchorCtr="0" anchor="t" bIns="25400" lIns="25400" spcFirstLastPara="1" rIns="25400" wrap="square" tIns="25400">
            <a:noAutofit/>
          </a:bodyPr>
          <a:lstStyle/>
          <a:p>
            <a:pPr indent="0" lvl="0" marL="0" marR="0" rtl="0" algn="l">
              <a:lnSpc>
                <a:spcPct val="114074"/>
              </a:lnSpc>
              <a:spcBef>
                <a:spcPts val="0"/>
              </a:spcBef>
              <a:spcAft>
                <a:spcPts val="0"/>
              </a:spcAft>
              <a:buClr>
                <a:srgbClr val="37474F"/>
              </a:buClr>
              <a:buSzPts val="2475"/>
              <a:buFont typeface="Gabarito"/>
              <a:buNone/>
            </a:pPr>
            <a:r>
              <a:rPr b="0" i="0" lang="en-US" sz="2475" u="none" cap="none" strike="noStrike">
                <a:solidFill>
                  <a:srgbClr val="37474F"/>
                </a:solidFill>
                <a:latin typeface="Gabarito"/>
                <a:ea typeface="Gabarito"/>
                <a:cs typeface="Gabarito"/>
                <a:sym typeface="Gabarito"/>
              </a:rPr>
              <a:t>Most RAG interfaces — including our baseline CLI — print the answer token by token as it is generated, instead of waiting for the whole response. The wait feels shorter and you can stop a bad answer early.</a:t>
            </a:r>
            <a:endParaRPr b="0" i="0" sz="2475" u="none" cap="none" strike="noStrike">
              <a:solidFill>
                <a:schemeClr val="dk1"/>
              </a:solidFill>
              <a:latin typeface="Calibri"/>
              <a:ea typeface="Calibri"/>
              <a:cs typeface="Calibri"/>
              <a:sym typeface="Calibri"/>
            </a:endParaRPr>
          </a:p>
        </p:txBody>
      </p:sp>
      <p:sp>
        <p:nvSpPr>
          <p:cNvPr id="848" name="Google Shape;848;g3f776df2723_1_473"/>
          <p:cNvSpPr/>
          <p:nvPr/>
        </p:nvSpPr>
        <p:spPr>
          <a:xfrm>
            <a:off x="1047675" y="7119273"/>
            <a:ext cx="16192500" cy="1432500"/>
          </a:xfrm>
          <a:prstGeom prst="roundRect">
            <a:avLst>
              <a:gd fmla="val 12503" name="adj"/>
            </a:avLst>
          </a:prstGeom>
          <a:noFill/>
          <a:ln cap="flat" cmpd="sng" w="142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g3f776df2723_1_473"/>
          <p:cNvSpPr/>
          <p:nvPr/>
        </p:nvSpPr>
        <p:spPr>
          <a:xfrm>
            <a:off x="1385824" y="7430822"/>
            <a:ext cx="15282900" cy="809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2550"/>
              <a:buFont typeface="Gabarito"/>
              <a:buNone/>
            </a:pPr>
            <a:r>
              <a:rPr b="1" i="0" lang="en-US" sz="2550" u="none" cap="none" strike="noStrike">
                <a:solidFill>
                  <a:srgbClr val="FF9900"/>
                </a:solidFill>
                <a:latin typeface="Gabarito"/>
                <a:ea typeface="Gabarito"/>
                <a:cs typeface="Gabarito"/>
                <a:sym typeface="Gabarito"/>
              </a:rPr>
              <a:t>Why it matters: </a:t>
            </a:r>
            <a:r>
              <a:rPr b="0" i="0" lang="en-US" sz="2550" u="none" cap="none" strike="noStrike">
                <a:solidFill>
                  <a:srgbClr val="5B5B5B"/>
                </a:solidFill>
                <a:latin typeface="Gabarito"/>
                <a:ea typeface="Gabarito"/>
                <a:cs typeface="Gabarito"/>
                <a:sym typeface="Gabarito"/>
              </a:rPr>
              <a:t>this is the payoff of every earlier stage — ingestion, chunking, embedding, and retrieval all exist to get the right text in front of the LLM at exactly this moment.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4" name="Shape 854"/>
        <p:cNvGrpSpPr/>
        <p:nvPr/>
      </p:nvGrpSpPr>
      <p:grpSpPr>
        <a:xfrm>
          <a:off x="0" y="0"/>
          <a:ext cx="0" cy="0"/>
          <a:chOff x="0" y="0"/>
          <a:chExt cx="0" cy="0"/>
        </a:xfrm>
      </p:grpSpPr>
      <p:pic>
        <p:nvPicPr>
          <p:cNvPr descr="preencoded.png" id="855" name="Google Shape;855;g3f776df2723_1_489"/>
          <p:cNvPicPr preferRelativeResize="0"/>
          <p:nvPr/>
        </p:nvPicPr>
        <p:blipFill rotWithShape="1">
          <a:blip r:embed="rId3">
            <a:alphaModFix/>
          </a:blip>
          <a:srcRect b="0" l="0" r="0" t="0"/>
          <a:stretch/>
        </p:blipFill>
        <p:spPr>
          <a:xfrm>
            <a:off x="16202248" y="952351"/>
            <a:ext cx="1066651" cy="1303959"/>
          </a:xfrm>
          <a:prstGeom prst="rect">
            <a:avLst/>
          </a:prstGeom>
          <a:noFill/>
          <a:ln>
            <a:noFill/>
          </a:ln>
        </p:spPr>
      </p:pic>
      <p:sp>
        <p:nvSpPr>
          <p:cNvPr id="856" name="Google Shape;856;g3f776df2723_1_489"/>
          <p:cNvSpPr/>
          <p:nvPr/>
        </p:nvSpPr>
        <p:spPr>
          <a:xfrm>
            <a:off x="1047676" y="666601"/>
            <a:ext cx="17811600"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Stage 5</a:t>
            </a:r>
            <a:endParaRPr b="0" i="0" sz="3000" u="none" cap="none" strike="noStrike">
              <a:solidFill>
                <a:schemeClr val="dk1"/>
              </a:solidFill>
              <a:latin typeface="Calibri"/>
              <a:ea typeface="Calibri"/>
              <a:cs typeface="Calibri"/>
              <a:sym typeface="Calibri"/>
            </a:endParaRPr>
          </a:p>
        </p:txBody>
      </p:sp>
      <p:sp>
        <p:nvSpPr>
          <p:cNvPr id="857" name="Google Shape;857;g3f776df2723_1_489"/>
          <p:cNvSpPr/>
          <p:nvPr/>
        </p:nvSpPr>
        <p:spPr>
          <a:xfrm>
            <a:off x="1047676" y="1180951"/>
            <a:ext cx="17811600" cy="10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Code Demo </a:t>
            </a:r>
            <a:r>
              <a:rPr b="1" lang="en-US" sz="6000">
                <a:solidFill>
                  <a:srgbClr val="274D71"/>
                </a:solidFill>
                <a:latin typeface="Gabarito"/>
                <a:ea typeface="Gabarito"/>
                <a:cs typeface="Gabarito"/>
                <a:sym typeface="Gabarito"/>
              </a:rPr>
              <a:t>- </a:t>
            </a:r>
            <a:r>
              <a:rPr b="1" i="0" lang="en-US" sz="6000" u="none" cap="none" strike="noStrike">
                <a:solidFill>
                  <a:srgbClr val="274D71"/>
                </a:solidFill>
                <a:latin typeface="Gabarito"/>
                <a:ea typeface="Gabarito"/>
                <a:cs typeface="Gabarito"/>
                <a:sym typeface="Gabarito"/>
              </a:rPr>
              <a:t>generation.py</a:t>
            </a:r>
            <a:endParaRPr b="0" i="0" sz="6000" u="none" cap="none" strike="noStrike">
              <a:solidFill>
                <a:schemeClr val="dk1"/>
              </a:solidFill>
              <a:latin typeface="Calibri"/>
              <a:ea typeface="Calibri"/>
              <a:cs typeface="Calibri"/>
              <a:sym typeface="Calibri"/>
            </a:endParaRPr>
          </a:p>
        </p:txBody>
      </p:sp>
      <p:sp>
        <p:nvSpPr>
          <p:cNvPr id="858" name="Google Shape;858;g3f776df2723_1_489"/>
          <p:cNvSpPr/>
          <p:nvPr/>
        </p:nvSpPr>
        <p:spPr>
          <a:xfrm>
            <a:off x="1047676" y="2532185"/>
            <a:ext cx="9525000" cy="7272000"/>
          </a:xfrm>
          <a:prstGeom prst="roundRect">
            <a:avLst>
              <a:gd fmla="val 2096"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g3f776df2723_1_489"/>
          <p:cNvSpPr/>
          <p:nvPr/>
        </p:nvSpPr>
        <p:spPr>
          <a:xfrm>
            <a:off x="1047676" y="2532185"/>
            <a:ext cx="9525000" cy="623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g3f776df2723_1_489"/>
          <p:cNvSpPr/>
          <p:nvPr/>
        </p:nvSpPr>
        <p:spPr>
          <a:xfrm>
            <a:off x="1295251" y="2777305"/>
            <a:ext cx="133200" cy="1332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g3f776df2723_1_489"/>
          <p:cNvSpPr/>
          <p:nvPr/>
        </p:nvSpPr>
        <p:spPr>
          <a:xfrm>
            <a:off x="1523628" y="2777305"/>
            <a:ext cx="133200" cy="1332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g3f776df2723_1_489"/>
          <p:cNvSpPr/>
          <p:nvPr/>
        </p:nvSpPr>
        <p:spPr>
          <a:xfrm>
            <a:off x="1752005" y="2777305"/>
            <a:ext cx="133200" cy="1332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g3f776df2723_1_489"/>
          <p:cNvSpPr/>
          <p:nvPr/>
        </p:nvSpPr>
        <p:spPr>
          <a:xfrm>
            <a:off x="2113657" y="2665460"/>
            <a:ext cx="8270100" cy="39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2100"/>
              <a:buFont typeface="JetBrains Mono"/>
              <a:buNone/>
            </a:pPr>
            <a:r>
              <a:rPr b="0" i="0" lang="en-US" sz="2100" u="none" cap="none" strike="noStrike">
                <a:solidFill>
                  <a:srgbClr val="9AA0A6"/>
                </a:solidFill>
                <a:latin typeface="JetBrains Mono"/>
                <a:ea typeface="JetBrains Mono"/>
                <a:cs typeface="JetBrains Mono"/>
                <a:sym typeface="JetBrains Mono"/>
              </a:rPr>
              <a:t>generation.py — the instruction and the builder</a:t>
            </a:r>
            <a:endParaRPr b="0" i="0" sz="2100" u="none" cap="none" strike="noStrike">
              <a:solidFill>
                <a:schemeClr val="dk1"/>
              </a:solidFill>
              <a:latin typeface="Calibri"/>
              <a:ea typeface="Calibri"/>
              <a:cs typeface="Calibri"/>
              <a:sym typeface="Calibri"/>
            </a:endParaRPr>
          </a:p>
        </p:txBody>
      </p:sp>
      <p:sp>
        <p:nvSpPr>
          <p:cNvPr id="864" name="Google Shape;864;g3f776df2723_1_489"/>
          <p:cNvSpPr/>
          <p:nvPr/>
        </p:nvSpPr>
        <p:spPr>
          <a:xfrm>
            <a:off x="1333425" y="3365333"/>
            <a:ext cx="9144000" cy="54816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E8EAED"/>
              </a:buClr>
              <a:buSzPts val="2100"/>
              <a:buFont typeface="JetBrains Mono"/>
              <a:buNone/>
            </a:pPr>
            <a:r>
              <a:rPr b="0" i="0" lang="en-US" sz="2100" u="none" cap="none" strike="noStrike">
                <a:solidFill>
                  <a:srgbClr val="E8EAED"/>
                </a:solidFill>
                <a:latin typeface="JetBrains Mono"/>
                <a:ea typeface="JetBrains Mono"/>
                <a:cs typeface="JetBrains Mono"/>
                <a:sym typeface="JetBrains Mono"/>
              </a:rPr>
              <a:t>INSTRUCTION = (</a:t>
            </a:r>
            <a:endParaRPr b="0" i="0" sz="2100" u="none" cap="none" strike="noStrike">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A8D08D"/>
              </a:buClr>
              <a:buSzPts val="2100"/>
              <a:buFont typeface="JetBrains Mono"/>
              <a:buNone/>
            </a:pPr>
            <a:r>
              <a:rPr lang="en-US" sz="2100">
                <a:solidFill>
                  <a:srgbClr val="A8D08D"/>
                </a:solidFill>
                <a:latin typeface="JetBrains Mono"/>
                <a:ea typeface="JetBrains Mono"/>
                <a:cs typeface="JetBrains Mono"/>
                <a:sym typeface="JetBrains Mono"/>
              </a:rPr>
              <a:t>"Answer using only the context below. "</a:t>
            </a:r>
            <a:endParaRPr sz="2100">
              <a:solidFill>
                <a:srgbClr val="A8D08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A8D08D"/>
              </a:buClr>
              <a:buSzPts val="2100"/>
              <a:buFont typeface="JetBrains Mono"/>
              <a:buNone/>
            </a:pPr>
            <a:r>
              <a:rPr lang="en-US" sz="2100">
                <a:solidFill>
                  <a:srgbClr val="A8D08D"/>
                </a:solidFill>
                <a:latin typeface="JetBrains Mono"/>
                <a:ea typeface="JetBrains Mono"/>
                <a:cs typeface="JetBrains Mono"/>
                <a:sym typeface="JetBrains Mono"/>
              </a:rPr>
              <a:t>"If the answer isn't in the context, say "</a:t>
            </a:r>
            <a:endParaRPr sz="2100">
              <a:solidFill>
                <a:srgbClr val="A8D08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A8D08D"/>
              </a:buClr>
              <a:buSzPts val="2100"/>
              <a:buFont typeface="JetBrains Mono"/>
              <a:buNone/>
            </a:pPr>
            <a:r>
              <a:rPr lang="en-US" sz="2100">
                <a:solidFill>
                  <a:srgbClr val="A8D08D"/>
                </a:solidFill>
                <a:latin typeface="JetBrains Mono"/>
                <a:ea typeface="JetBrains Mono"/>
                <a:cs typeface="JetBrains Mono"/>
                <a:sym typeface="JetBrains Mono"/>
              </a:rPr>
              <a:t>"'I don't have enough information.'"</a:t>
            </a:r>
            <a:endParaRPr sz="21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C792EA"/>
              </a:buClr>
              <a:buSzPts val="2100"/>
              <a:buFont typeface="JetBrains Mono"/>
              <a:buNone/>
            </a:pPr>
            <a:r>
              <a:rPr lang="en-US" sz="2100">
                <a:solidFill>
                  <a:srgbClr val="C792EA"/>
                </a:solidFill>
                <a:latin typeface="JetBrains Mono"/>
                <a:ea typeface="JetBrains Mono"/>
                <a:cs typeface="JetBrains Mono"/>
                <a:sym typeface="JetBrains Mono"/>
              </a:rPr>
              <a:t>def </a:t>
            </a:r>
            <a:r>
              <a:rPr lang="en-US" sz="2100">
                <a:solidFill>
                  <a:srgbClr val="E8EAED"/>
                </a:solidFill>
                <a:latin typeface="JetBrains Mono"/>
                <a:ea typeface="JetBrains Mono"/>
                <a:cs typeface="JetBrains Mono"/>
                <a:sym typeface="JetBrains Mono"/>
              </a:rPr>
              <a:t>build_prompt(query: str, chunks: list[str]) -&gt; str:</a:t>
            </a:r>
            <a:endParaRPr sz="210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C792EA"/>
              </a:buClr>
              <a:buSzPts val="2100"/>
              <a:buFont typeface="JetBrains Mono"/>
              <a:buNone/>
            </a:pPr>
            <a:r>
              <a:rPr lang="en-US" sz="2100">
                <a:solidFill>
                  <a:srgbClr val="C792EA"/>
                </a:solidFill>
                <a:latin typeface="JetBrains Mono"/>
                <a:ea typeface="JetBrains Mono"/>
                <a:cs typeface="JetBrains Mono"/>
                <a:sym typeface="JetBrains Mono"/>
              </a:rPr>
              <a:t>if not </a:t>
            </a:r>
            <a:r>
              <a:rPr lang="en-US" sz="2100">
                <a:solidFill>
                  <a:srgbClr val="E8EAED"/>
                </a:solidFill>
                <a:latin typeface="JetBrains Mono"/>
                <a:ea typeface="JetBrains Mono"/>
                <a:cs typeface="JetBrains Mono"/>
                <a:sym typeface="JetBrains Mono"/>
              </a:rPr>
              <a:t>chunks:</a:t>
            </a:r>
            <a:endParaRPr sz="2100">
              <a:solidFill>
                <a:srgbClr val="E8EAED"/>
              </a:solidFill>
              <a:latin typeface="JetBrains Mono"/>
              <a:ea typeface="JetBrains Mono"/>
              <a:cs typeface="JetBrains Mono"/>
              <a:sym typeface="JetBrains Mono"/>
            </a:endParaRPr>
          </a:p>
          <a:p>
            <a:pPr indent="457200" lvl="0" marL="45720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context =</a:t>
            </a:r>
            <a:r>
              <a:rPr lang="en-US" sz="2100">
                <a:solidFill>
                  <a:srgbClr val="A8D08D"/>
                </a:solidFill>
                <a:latin typeface="JetBrains Mono"/>
                <a:ea typeface="JetBrains Mono"/>
                <a:cs typeface="JetBrains Mono"/>
                <a:sym typeface="JetBrains Mono"/>
              </a:rPr>
              <a:t>"(no relevant chunks found)"</a:t>
            </a:r>
            <a:endParaRPr sz="2100">
              <a:solidFill>
                <a:srgbClr val="A8D08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C792EA"/>
              </a:buClr>
              <a:buSzPts val="2100"/>
              <a:buFont typeface="JetBrains Mono"/>
              <a:buNone/>
            </a:pPr>
            <a:r>
              <a:rPr lang="en-US" sz="2100">
                <a:solidFill>
                  <a:srgbClr val="C792EA"/>
                </a:solidFill>
                <a:latin typeface="JetBrains Mono"/>
                <a:ea typeface="JetBrains Mono"/>
                <a:cs typeface="JetBrains Mono"/>
                <a:sym typeface="JetBrains Mono"/>
              </a:rPr>
              <a:t>else</a:t>
            </a: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context =</a:t>
            </a:r>
            <a:r>
              <a:rPr lang="en-US" sz="2100">
                <a:solidFill>
                  <a:srgbClr val="A8D08D"/>
                </a:solidFill>
                <a:latin typeface="JetBrains Mono"/>
                <a:ea typeface="JetBrains Mono"/>
                <a:cs typeface="JetBrains Mono"/>
                <a:sym typeface="JetBrains Mono"/>
              </a:rPr>
              <a:t>"\n"</a:t>
            </a:r>
            <a:r>
              <a:rPr lang="en-US" sz="2100">
                <a:solidFill>
                  <a:srgbClr val="E8EAED"/>
                </a:solidFill>
                <a:latin typeface="JetBrains Mono"/>
                <a:ea typeface="JetBrains Mono"/>
                <a:cs typeface="JetBrains Mono"/>
                <a:sym typeface="JetBrains Mono"/>
              </a:rPr>
              <a:t>.join(f</a:t>
            </a:r>
            <a:r>
              <a:rPr lang="en-US" sz="2100">
                <a:solidFill>
                  <a:srgbClr val="A8D08D"/>
                </a:solidFill>
                <a:latin typeface="JetBrains Mono"/>
                <a:ea typeface="JetBrains Mono"/>
                <a:cs typeface="JetBrains Mono"/>
                <a:sym typeface="JetBrains Mono"/>
              </a:rPr>
              <a:t>"- {c}" </a:t>
            </a:r>
            <a:r>
              <a:rPr lang="en-US" sz="2100">
                <a:solidFill>
                  <a:srgbClr val="C792EA"/>
                </a:solidFill>
                <a:latin typeface="JetBrains Mono"/>
                <a:ea typeface="JetBrains Mono"/>
                <a:cs typeface="JetBrains Mono"/>
                <a:sym typeface="JetBrains Mono"/>
              </a:rPr>
              <a:t>for</a:t>
            </a:r>
            <a:r>
              <a:rPr lang="en-US" sz="2100">
                <a:solidFill>
                  <a:srgbClr val="E8EAED"/>
                </a:solidFill>
                <a:latin typeface="JetBrains Mono"/>
                <a:ea typeface="JetBrains Mono"/>
                <a:cs typeface="JetBrains Mono"/>
                <a:sym typeface="JetBrains Mono"/>
              </a:rPr>
              <a:t>c</a:t>
            </a:r>
            <a:r>
              <a:rPr lang="en-US" sz="2100">
                <a:solidFill>
                  <a:srgbClr val="C792EA"/>
                </a:solidFill>
                <a:latin typeface="JetBrains Mono"/>
                <a:ea typeface="JetBrains Mono"/>
                <a:cs typeface="JetBrains Mono"/>
                <a:sym typeface="JetBrains Mono"/>
              </a:rPr>
              <a:t>in</a:t>
            </a:r>
            <a:r>
              <a:rPr lang="en-US" sz="2100">
                <a:solidFill>
                  <a:srgbClr val="E8EAED"/>
                </a:solidFill>
                <a:latin typeface="JetBrains Mono"/>
                <a:ea typeface="JetBrains Mono"/>
                <a:cs typeface="JetBrains Mono"/>
                <a:sym typeface="JetBrains Mono"/>
              </a:rPr>
              <a:t>chunks)</a:t>
            </a:r>
            <a:endParaRPr sz="210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C792EA"/>
              </a:buClr>
              <a:buSzPts val="2100"/>
              <a:buFont typeface="JetBrains Mono"/>
              <a:buNone/>
            </a:pPr>
            <a:r>
              <a:rPr lang="en-US" sz="2100">
                <a:solidFill>
                  <a:srgbClr val="C792EA"/>
                </a:solidFill>
                <a:latin typeface="JetBrains Mono"/>
                <a:ea typeface="JetBrains Mono"/>
                <a:cs typeface="JetBrains Mono"/>
                <a:sym typeface="JetBrains Mono"/>
              </a:rPr>
              <a:t>return</a:t>
            </a: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f</a:t>
            </a:r>
            <a:r>
              <a:rPr lang="en-US" sz="2100">
                <a:solidFill>
                  <a:srgbClr val="A8D08D"/>
                </a:solidFill>
                <a:latin typeface="JetBrains Mono"/>
                <a:ea typeface="JetBrains Mono"/>
                <a:cs typeface="JetBrains Mono"/>
                <a:sym typeface="JetBrains Mono"/>
              </a:rPr>
              <a:t>"{INSTRUCTION}\n\n"</a:t>
            </a:r>
            <a:endParaRPr sz="2100">
              <a:solidFill>
                <a:srgbClr val="A8D08D"/>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f</a:t>
            </a:r>
            <a:r>
              <a:rPr lang="en-US" sz="2100">
                <a:solidFill>
                  <a:srgbClr val="A8D08D"/>
                </a:solidFill>
                <a:latin typeface="JetBrains Mono"/>
                <a:ea typeface="JetBrains Mono"/>
                <a:cs typeface="JetBrains Mono"/>
                <a:sym typeface="JetBrains Mono"/>
              </a:rPr>
              <a:t>"Context:\n{context}\n\n"</a:t>
            </a:r>
            <a:endParaRPr sz="2100">
              <a:solidFill>
                <a:srgbClr val="A8D08D"/>
              </a:solidFill>
              <a:latin typeface="JetBrains Mono"/>
              <a:ea typeface="JetBrains Mono"/>
              <a:cs typeface="JetBrains Mono"/>
              <a:sym typeface="JetBrains Mono"/>
            </a:endParaRPr>
          </a:p>
          <a:p>
            <a:pPr indent="0" lvl="0" marL="91440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f</a:t>
            </a:r>
            <a:r>
              <a:rPr lang="en-US" sz="2100">
                <a:solidFill>
                  <a:srgbClr val="A8D08D"/>
                </a:solidFill>
                <a:latin typeface="JetBrains Mono"/>
                <a:ea typeface="JetBrains Mono"/>
                <a:cs typeface="JetBrains Mono"/>
                <a:sym typeface="JetBrains Mono"/>
              </a:rPr>
              <a:t>"Question: {query}"</a:t>
            </a:r>
            <a:endParaRPr sz="21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a:t>
            </a:r>
            <a:endParaRPr sz="2100">
              <a:solidFill>
                <a:srgbClr val="A8D08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C792EA"/>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C792EA"/>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C792EA"/>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C792EA"/>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A8D08D"/>
              </a:buClr>
              <a:buSzPts val="2100"/>
              <a:buFont typeface="JetBrains Mono"/>
              <a:buNone/>
            </a:pPr>
            <a:r>
              <a:t/>
            </a:r>
            <a:endParaRPr sz="21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A8D08D"/>
              </a:buClr>
              <a:buSzPts val="2100"/>
              <a:buFont typeface="JetBrains Mono"/>
              <a:buNone/>
            </a:pPr>
            <a:r>
              <a:t/>
            </a:r>
            <a:endParaRPr sz="21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A8D08D"/>
              </a:buClr>
              <a:buSzPts val="2100"/>
              <a:buFont typeface="JetBrains Mono"/>
              <a:buNone/>
            </a:pPr>
            <a:r>
              <a:t/>
            </a:r>
            <a:endParaRPr sz="2100">
              <a:solidFill>
                <a:srgbClr val="A8D08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p:txBody>
      </p:sp>
      <p:sp>
        <p:nvSpPr>
          <p:cNvPr id="865" name="Google Shape;865;g3f776df2723_1_489"/>
          <p:cNvSpPr/>
          <p:nvPr/>
        </p:nvSpPr>
        <p:spPr>
          <a:xfrm>
            <a:off x="10801125" y="2532182"/>
            <a:ext cx="6438900" cy="3447600"/>
          </a:xfrm>
          <a:prstGeom prst="roundRect">
            <a:avLst>
              <a:gd fmla="val 5137"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g3f776df2723_1_489"/>
          <p:cNvSpPr/>
          <p:nvPr/>
        </p:nvSpPr>
        <p:spPr>
          <a:xfrm>
            <a:off x="10801127" y="2532185"/>
            <a:ext cx="6438900" cy="5859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g3f776df2723_1_489"/>
          <p:cNvSpPr/>
          <p:nvPr/>
        </p:nvSpPr>
        <p:spPr>
          <a:xfrm>
            <a:off x="11010677" y="2646485"/>
            <a:ext cx="6213000" cy="39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A3C57F"/>
              </a:buClr>
              <a:buSzPts val="2100"/>
              <a:buFont typeface="JetBrains Mono"/>
              <a:buNone/>
            </a:pPr>
            <a:r>
              <a:rPr b="0" i="0" lang="en-US" sz="2100" u="none" cap="none" strike="noStrike">
                <a:solidFill>
                  <a:srgbClr val="A3C57F"/>
                </a:solidFill>
                <a:latin typeface="JetBrains Mono"/>
                <a:ea typeface="JetBrains Mono"/>
                <a:cs typeface="JetBrains Mono"/>
                <a:sym typeface="JetBrains Mono"/>
              </a:rPr>
              <a:t>try it — a chunk was retrieved</a:t>
            </a:r>
            <a:endParaRPr b="0" i="0" sz="2100" u="none" cap="none" strike="noStrike">
              <a:solidFill>
                <a:schemeClr val="dk1"/>
              </a:solidFill>
              <a:latin typeface="Calibri"/>
              <a:ea typeface="Calibri"/>
              <a:cs typeface="Calibri"/>
              <a:sym typeface="Calibri"/>
            </a:endParaRPr>
          </a:p>
        </p:txBody>
      </p:sp>
      <p:sp>
        <p:nvSpPr>
          <p:cNvPr id="868" name="Google Shape;868;g3f776df2723_1_489"/>
          <p:cNvSpPr/>
          <p:nvPr/>
        </p:nvSpPr>
        <p:spPr>
          <a:xfrm>
            <a:off x="11010525" y="3308447"/>
            <a:ext cx="6622200" cy="21813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rgbClr val="E8EAED"/>
                </a:solidFill>
                <a:latin typeface="JetBrains Mono"/>
                <a:ea typeface="JetBrains Mono"/>
                <a:cs typeface="JetBrains Mono"/>
                <a:sym typeface="JetBrains Mono"/>
              </a:rPr>
              <a:t>prompt1 = build_prompt(</a:t>
            </a:r>
            <a:endParaRPr b="0" i="0" sz="2100" u="none" cap="none" strike="noStrike">
              <a:solidFill>
                <a:srgbClr val="E8EAED"/>
              </a:solidFill>
              <a:latin typeface="JetBrains Mono"/>
              <a:ea typeface="JetBrains Mono"/>
              <a:cs typeface="JetBrains Mono"/>
              <a:sym typeface="JetBrains Mono"/>
            </a:endParaRPr>
          </a:p>
          <a:p>
            <a:pPr indent="0" lvl="0" marL="457200" rtl="0" algn="l">
              <a:lnSpc>
                <a:spcPct val="150000"/>
              </a:lnSpc>
              <a:spcBef>
                <a:spcPts val="0"/>
              </a:spcBef>
              <a:spcAft>
                <a:spcPts val="0"/>
              </a:spcAft>
              <a:buClr>
                <a:srgbClr val="A8D08D"/>
              </a:buClr>
              <a:buSzPts val="2100"/>
              <a:buFont typeface="JetBrains Mono"/>
              <a:buNone/>
            </a:pPr>
            <a:r>
              <a:rPr lang="en-US" sz="2100">
                <a:solidFill>
                  <a:srgbClr val="A8D08D"/>
                </a:solidFill>
                <a:latin typeface="JetBrains Mono"/>
                <a:ea typeface="JetBrains Mono"/>
                <a:cs typeface="JetBrains Mono"/>
                <a:sym typeface="JetBrains Mono"/>
              </a:rPr>
              <a:t>"What are dogs known for?"</a:t>
            </a: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457200" lvl="0" marL="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a:t>
            </a:r>
            <a:r>
              <a:rPr lang="en-US" sz="2100">
                <a:solidFill>
                  <a:srgbClr val="A8D08D"/>
                </a:solidFill>
                <a:latin typeface="JetBrains Mono"/>
                <a:ea typeface="JetBrains Mono"/>
                <a:cs typeface="JetBrains Mono"/>
                <a:sym typeface="JetBrains Mono"/>
              </a:rPr>
              <a:t>"Dogs are loyal animals…"</a:t>
            </a: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print(prompt1)</a:t>
            </a:r>
            <a:endParaRPr sz="2100">
              <a:solidFill>
                <a:schemeClr val="dk1"/>
              </a:solidFill>
              <a:latin typeface="Calibri"/>
              <a:ea typeface="Calibri"/>
              <a:cs typeface="Calibri"/>
              <a:sym typeface="Calibri"/>
            </a:endParaRPr>
          </a:p>
          <a:p>
            <a:pPr indent="0" lvl="0" marL="0" rtl="0" algn="l">
              <a:lnSpc>
                <a:spcPct val="150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457200" rtl="0" algn="l">
              <a:lnSpc>
                <a:spcPct val="150000"/>
              </a:lnSpc>
              <a:spcBef>
                <a:spcPts val="0"/>
              </a:spcBef>
              <a:spcAft>
                <a:spcPts val="0"/>
              </a:spcAft>
              <a:buClr>
                <a:srgbClr val="A8D08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p:txBody>
      </p:sp>
      <p:sp>
        <p:nvSpPr>
          <p:cNvPr id="869" name="Google Shape;869;g3f776df2723_1_489"/>
          <p:cNvSpPr/>
          <p:nvPr/>
        </p:nvSpPr>
        <p:spPr>
          <a:xfrm>
            <a:off x="10801125" y="6177085"/>
            <a:ext cx="6438900" cy="3627000"/>
          </a:xfrm>
          <a:prstGeom prst="roundRect">
            <a:avLst>
              <a:gd fmla="val 5137"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g3f776df2723_1_489"/>
          <p:cNvSpPr/>
          <p:nvPr/>
        </p:nvSpPr>
        <p:spPr>
          <a:xfrm>
            <a:off x="10801127" y="6177074"/>
            <a:ext cx="6438900" cy="5859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g3f776df2723_1_489"/>
          <p:cNvSpPr/>
          <p:nvPr/>
        </p:nvSpPr>
        <p:spPr>
          <a:xfrm>
            <a:off x="11010677" y="6291374"/>
            <a:ext cx="6213000" cy="395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9A178"/>
              </a:buClr>
              <a:buSzPts val="2100"/>
              <a:buFont typeface="JetBrains Mono"/>
              <a:buNone/>
            </a:pPr>
            <a:r>
              <a:rPr b="0" i="0" lang="en-US" sz="2100" u="none" cap="none" strike="noStrike">
                <a:solidFill>
                  <a:srgbClr val="E9A178"/>
                </a:solidFill>
                <a:latin typeface="JetBrains Mono"/>
                <a:ea typeface="JetBrains Mono"/>
                <a:cs typeface="JetBrains Mono"/>
                <a:sym typeface="JetBrains Mono"/>
              </a:rPr>
              <a:t>try it — nothing retrieved</a:t>
            </a:r>
            <a:endParaRPr b="0" i="0" sz="2100" u="none" cap="none" strike="noStrike">
              <a:solidFill>
                <a:schemeClr val="dk1"/>
              </a:solidFill>
              <a:latin typeface="Calibri"/>
              <a:ea typeface="Calibri"/>
              <a:cs typeface="Calibri"/>
              <a:sym typeface="Calibri"/>
            </a:endParaRPr>
          </a:p>
        </p:txBody>
      </p:sp>
      <p:sp>
        <p:nvSpPr>
          <p:cNvPr id="872" name="Google Shape;872;g3f776df2723_1_489"/>
          <p:cNvSpPr/>
          <p:nvPr/>
        </p:nvSpPr>
        <p:spPr>
          <a:xfrm>
            <a:off x="11010525" y="6953264"/>
            <a:ext cx="6622200" cy="25278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E8EAED"/>
              </a:buClr>
              <a:buSzPts val="2100"/>
              <a:buFont typeface="JetBrains Mono"/>
              <a:buNone/>
            </a:pPr>
            <a:r>
              <a:rPr b="0" i="0" lang="en-US" sz="2100" u="none" cap="none" strike="noStrike">
                <a:solidFill>
                  <a:srgbClr val="E8EAED"/>
                </a:solidFill>
                <a:latin typeface="JetBrains Mono"/>
                <a:ea typeface="JetBrains Mono"/>
                <a:cs typeface="JetBrains Mono"/>
                <a:sym typeface="JetBrains Mono"/>
              </a:rPr>
              <a:t>prompt2 = build_prompt(</a:t>
            </a:r>
            <a:endParaRPr b="0" i="0" sz="2100" u="none" cap="none" strike="noStrike">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	</a:t>
            </a:r>
            <a:r>
              <a:rPr lang="en-US" sz="2100">
                <a:solidFill>
                  <a:srgbClr val="A8D08D"/>
                </a:solidFill>
                <a:latin typeface="JetBrains Mono"/>
                <a:ea typeface="JetBrains Mono"/>
                <a:cs typeface="JetBrains Mono"/>
                <a:sym typeface="JetBrains Mono"/>
              </a:rPr>
              <a:t>"What is the capital of Mars?"</a:t>
            </a: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	[]</a:t>
            </a:r>
            <a:endParaRPr sz="21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a:t>
            </a:r>
            <a:endParaRPr sz="21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2100"/>
              <a:buFont typeface="JetBrains Mono"/>
              <a:buNone/>
            </a:pPr>
            <a:r>
              <a:rPr lang="en-US" sz="2100">
                <a:solidFill>
                  <a:srgbClr val="E8EAED"/>
                </a:solidFill>
                <a:latin typeface="JetBrains Mono"/>
                <a:ea typeface="JetBrains Mono"/>
                <a:cs typeface="JetBrains Mono"/>
                <a:sym typeface="JetBrains Mono"/>
              </a:rPr>
              <a:t>print(prompt2)</a:t>
            </a:r>
            <a:endParaRPr sz="2100">
              <a:solidFill>
                <a:schemeClr val="dk1"/>
              </a:solidFill>
              <a:latin typeface="Calibri"/>
              <a:ea typeface="Calibri"/>
              <a:cs typeface="Calibri"/>
              <a:sym typeface="Calibri"/>
            </a:endParaRPr>
          </a:p>
          <a:p>
            <a:pPr indent="0" lvl="0" marL="0" rtl="0" algn="l">
              <a:lnSpc>
                <a:spcPct val="150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E8EAED"/>
              </a:buClr>
              <a:buSzPts val="2100"/>
              <a:buFont typeface="JetBrains Mono"/>
              <a:buNone/>
            </a:pPr>
            <a:r>
              <a:t/>
            </a:r>
            <a:endParaRPr sz="2100">
              <a:solidFill>
                <a:srgbClr val="E8EAED"/>
              </a:solidFill>
              <a:latin typeface="JetBrains Mono"/>
              <a:ea typeface="JetBrains Mono"/>
              <a:cs typeface="JetBrains Mono"/>
              <a:sym typeface="JetBrains Mon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7" name="Shape 877"/>
        <p:cNvGrpSpPr/>
        <p:nvPr/>
      </p:nvGrpSpPr>
      <p:grpSpPr>
        <a:xfrm>
          <a:off x="0" y="0"/>
          <a:ext cx="0" cy="0"/>
          <a:chOff x="0" y="0"/>
          <a:chExt cx="0" cy="0"/>
        </a:xfrm>
      </p:grpSpPr>
      <p:sp>
        <p:nvSpPr>
          <p:cNvPr id="878" name="Google Shape;878;p32"/>
          <p:cNvSpPr/>
          <p:nvPr/>
        </p:nvSpPr>
        <p:spPr>
          <a:xfrm>
            <a:off x="15686633" y="666750"/>
            <a:ext cx="1708978" cy="1476375"/>
          </a:xfrm>
          <a:prstGeom prst="rect">
            <a:avLst/>
          </a:prstGeom>
          <a:noFill/>
          <a:ln>
            <a:noFill/>
          </a:ln>
        </p:spPr>
        <p:txBody>
          <a:bodyPr anchorCtr="0" anchor="t" bIns="25400" lIns="25400" spcFirstLastPara="1" rIns="25400" wrap="square" tIns="25400">
            <a:noAutofit/>
          </a:bodyPr>
          <a:lstStyle/>
          <a:p>
            <a:pPr indent="0" lvl="0" marL="0" marR="0" rtl="0" algn="l">
              <a:lnSpc>
                <a:spcPct val="83425"/>
              </a:lnSpc>
              <a:spcBef>
                <a:spcPts val="0"/>
              </a:spcBef>
              <a:spcAft>
                <a:spcPts val="0"/>
              </a:spcAft>
              <a:buClr>
                <a:srgbClr val="FF9900"/>
              </a:buClr>
              <a:buSzPts val="11325"/>
              <a:buFont typeface="Gabarito"/>
              <a:buNone/>
            </a:pPr>
            <a:r>
              <a:rPr b="1" i="0" lang="en-US" sz="11325" u="none" cap="none" strike="noStrike">
                <a:solidFill>
                  <a:srgbClr val="FF9900"/>
                </a:solidFill>
                <a:latin typeface="Gabarito"/>
                <a:ea typeface="Gabarito"/>
                <a:cs typeface="Gabarito"/>
                <a:sym typeface="Gabarito"/>
              </a:rPr>
              <a:t>03</a:t>
            </a:r>
            <a:endParaRPr b="0" i="0" sz="11325" u="none" cap="none" strike="noStrike">
              <a:solidFill>
                <a:schemeClr val="dk1"/>
              </a:solidFill>
              <a:latin typeface="Calibri"/>
              <a:ea typeface="Calibri"/>
              <a:cs typeface="Calibri"/>
              <a:sym typeface="Calibri"/>
            </a:endParaRPr>
          </a:p>
        </p:txBody>
      </p:sp>
      <p:sp>
        <p:nvSpPr>
          <p:cNvPr id="879" name="Google Shape;879;p32"/>
          <p:cNvSpPr/>
          <p:nvPr/>
        </p:nvSpPr>
        <p:spPr>
          <a:xfrm>
            <a:off x="1266825" y="2857500"/>
            <a:ext cx="1905000" cy="1905000"/>
          </a:xfrm>
          <a:prstGeom prst="ellipse">
            <a:avLst/>
          </a:prstGeom>
          <a:solidFill>
            <a:srgbClr val="7A8A5A">
              <a:alpha val="1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80" name="Google Shape;880;p32"/>
          <p:cNvPicPr preferRelativeResize="0"/>
          <p:nvPr/>
        </p:nvPicPr>
        <p:blipFill rotWithShape="1">
          <a:blip r:embed="rId3">
            <a:alphaModFix/>
          </a:blip>
          <a:srcRect b="0" l="0" r="0" t="0"/>
          <a:stretch/>
        </p:blipFill>
        <p:spPr>
          <a:xfrm>
            <a:off x="1743075" y="3333750"/>
            <a:ext cx="952500" cy="952500"/>
          </a:xfrm>
          <a:prstGeom prst="rect">
            <a:avLst/>
          </a:prstGeom>
          <a:noFill/>
          <a:ln>
            <a:noFill/>
          </a:ln>
        </p:spPr>
      </p:pic>
      <p:sp>
        <p:nvSpPr>
          <p:cNvPr id="881" name="Google Shape;881;p32"/>
          <p:cNvSpPr/>
          <p:nvPr/>
        </p:nvSpPr>
        <p:spPr>
          <a:xfrm>
            <a:off x="1266825" y="5334000"/>
            <a:ext cx="14668500" cy="1012924"/>
          </a:xfrm>
          <a:prstGeom prst="rect">
            <a:avLst/>
          </a:prstGeom>
          <a:noFill/>
          <a:ln>
            <a:noFill/>
          </a:ln>
        </p:spPr>
        <p:txBody>
          <a:bodyPr anchorCtr="0" anchor="t" bIns="25400" lIns="25400" spcFirstLastPara="1" rIns="25400" wrap="square" tIns="25400">
            <a:noAutofit/>
          </a:bodyPr>
          <a:lstStyle/>
          <a:p>
            <a:pPr indent="0" lvl="0" marL="0" marR="0" rtl="0" algn="l">
              <a:lnSpc>
                <a:spcPct val="95654"/>
              </a:lnSpc>
              <a:spcBef>
                <a:spcPts val="0"/>
              </a:spcBef>
              <a:spcAft>
                <a:spcPts val="0"/>
              </a:spcAft>
              <a:buClr>
                <a:srgbClr val="274D71"/>
              </a:buClr>
              <a:buSzPts val="6675"/>
              <a:buFont typeface="Gabarito"/>
              <a:buNone/>
            </a:pPr>
            <a:r>
              <a:rPr b="1" i="0" lang="en-US" sz="6675" u="none" cap="none" strike="noStrike">
                <a:solidFill>
                  <a:srgbClr val="274D71"/>
                </a:solidFill>
                <a:latin typeface="Gabarito"/>
                <a:ea typeface="Gabarito"/>
                <a:cs typeface="Gabarito"/>
                <a:sym typeface="Gabarito"/>
              </a:rPr>
              <a:t>Local Embedding Models</a:t>
            </a:r>
            <a:endParaRPr b="0" i="0" sz="6675" u="none" cap="none" strike="noStrike">
              <a:solidFill>
                <a:schemeClr val="dk1"/>
              </a:solidFill>
              <a:latin typeface="Calibri"/>
              <a:ea typeface="Calibri"/>
              <a:cs typeface="Calibri"/>
              <a:sym typeface="Calibri"/>
            </a:endParaRPr>
          </a:p>
        </p:txBody>
      </p:sp>
      <p:sp>
        <p:nvSpPr>
          <p:cNvPr id="882" name="Google Shape;882;p32"/>
          <p:cNvSpPr/>
          <p:nvPr/>
        </p:nvSpPr>
        <p:spPr>
          <a:xfrm>
            <a:off x="1266825" y="6563856"/>
            <a:ext cx="15697200" cy="1276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4050"/>
              <a:buFont typeface="Gabarito"/>
              <a:buNone/>
            </a:pPr>
            <a:r>
              <a:rPr b="0" i="0" lang="en-US" sz="4050" u="none" cap="none" strike="noStrike">
                <a:solidFill>
                  <a:srgbClr val="78746A"/>
                </a:solidFill>
                <a:latin typeface="Gabarito"/>
                <a:ea typeface="Gabarito"/>
                <a:cs typeface="Gabarito"/>
                <a:sym typeface="Gabarito"/>
              </a:rPr>
              <a:t>Choosing a model that turns text into meaning, and runs on your own hardware.</a:t>
            </a:r>
            <a:endParaRPr b="0" i="0" sz="4050" u="none" cap="none" strike="noStrike">
              <a:solidFill>
                <a:schemeClr val="dk1"/>
              </a:solidFill>
              <a:latin typeface="Calibri"/>
              <a:ea typeface="Calibri"/>
              <a:cs typeface="Calibri"/>
              <a:sym typeface="Calibri"/>
            </a:endParaRPr>
          </a:p>
        </p:txBody>
      </p:sp>
      <p:sp>
        <p:nvSpPr>
          <p:cNvPr id="883" name="Google Shape;883;p32"/>
          <p:cNvSpPr/>
          <p:nvPr/>
        </p:nvSpPr>
        <p:spPr>
          <a:xfrm>
            <a:off x="1266825" y="9086850"/>
            <a:ext cx="990600" cy="9525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8" name="Shape 888"/>
        <p:cNvGrpSpPr/>
        <p:nvPr/>
      </p:nvGrpSpPr>
      <p:grpSpPr>
        <a:xfrm>
          <a:off x="0" y="0"/>
          <a:ext cx="0" cy="0"/>
          <a:chOff x="0" y="0"/>
          <a:chExt cx="0" cy="0"/>
        </a:xfrm>
      </p:grpSpPr>
      <p:pic>
        <p:nvPicPr>
          <p:cNvPr descr="preencoded.png" id="889" name="Google Shape;889;p33"/>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890" name="Google Shape;890;p33"/>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Selection</a:t>
            </a:r>
            <a:endParaRPr b="0" i="0" sz="3000" u="none" cap="none" strike="noStrike">
              <a:solidFill>
                <a:schemeClr val="dk1"/>
              </a:solidFill>
              <a:latin typeface="Calibri"/>
              <a:ea typeface="Calibri"/>
              <a:cs typeface="Calibri"/>
              <a:sym typeface="Calibri"/>
            </a:endParaRPr>
          </a:p>
        </p:txBody>
      </p:sp>
      <p:sp>
        <p:nvSpPr>
          <p:cNvPr id="891" name="Google Shape;891;p33"/>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Choosing a Model to Run Locally</a:t>
            </a:r>
            <a:endParaRPr b="0" i="0" sz="6000" u="none" cap="none" strike="noStrike">
              <a:solidFill>
                <a:schemeClr val="dk1"/>
              </a:solidFill>
              <a:latin typeface="Calibri"/>
              <a:ea typeface="Calibri"/>
              <a:cs typeface="Calibri"/>
              <a:sym typeface="Calibri"/>
            </a:endParaRPr>
          </a:p>
        </p:txBody>
      </p:sp>
      <p:sp>
        <p:nvSpPr>
          <p:cNvPr id="892" name="Google Shape;892;p33"/>
          <p:cNvSpPr/>
          <p:nvPr/>
        </p:nvSpPr>
        <p:spPr>
          <a:xfrm>
            <a:off x="1047751" y="2322872"/>
            <a:ext cx="13963650"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Several open-source embedding models can run locally through tools like Ollama </a:t>
            </a:r>
            <a:r>
              <a:rPr lang="en-US" sz="3000">
                <a:solidFill>
                  <a:srgbClr val="212121"/>
                </a:solidFill>
                <a:latin typeface="Gabarito"/>
                <a:ea typeface="Gabarito"/>
                <a:cs typeface="Gabarito"/>
                <a:sym typeface="Gabarito"/>
              </a:rPr>
              <a:t>- </a:t>
            </a:r>
            <a:r>
              <a:rPr b="0" i="0" lang="en-US" sz="3000" u="none" cap="none" strike="noStrike">
                <a:solidFill>
                  <a:srgbClr val="212121"/>
                </a:solidFill>
                <a:latin typeface="Gabarito"/>
                <a:ea typeface="Gabarito"/>
                <a:cs typeface="Gabarito"/>
                <a:sym typeface="Gabarito"/>
              </a:rPr>
              <a:t>no API key, no per-query cost, and your documents never leave your machine.</a:t>
            </a:r>
            <a:endParaRPr b="0" i="0" sz="3000" u="none" cap="none" strike="noStrike">
              <a:solidFill>
                <a:schemeClr val="dk1"/>
              </a:solidFill>
              <a:latin typeface="Calibri"/>
              <a:ea typeface="Calibri"/>
              <a:cs typeface="Calibri"/>
              <a:sym typeface="Calibri"/>
            </a:endParaRPr>
          </a:p>
        </p:txBody>
      </p:sp>
      <p:sp>
        <p:nvSpPr>
          <p:cNvPr id="893" name="Google Shape;893;p33"/>
          <p:cNvSpPr/>
          <p:nvPr/>
        </p:nvSpPr>
        <p:spPr>
          <a:xfrm>
            <a:off x="1047750" y="3690550"/>
            <a:ext cx="5244900" cy="2832600"/>
          </a:xfrm>
          <a:prstGeom prst="roundRect">
            <a:avLst>
              <a:gd fmla="val 5145"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33"/>
          <p:cNvSpPr/>
          <p:nvPr/>
        </p:nvSpPr>
        <p:spPr>
          <a:xfrm>
            <a:off x="1333500" y="3938194"/>
            <a:ext cx="5140851"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550"/>
              <a:buFont typeface="Gabarito"/>
              <a:buNone/>
            </a:pPr>
            <a:r>
              <a:rPr b="1" i="0" lang="en-US" sz="2800" u="none" cap="none" strike="noStrike">
                <a:solidFill>
                  <a:srgbClr val="035595"/>
                </a:solidFill>
                <a:latin typeface="Gabarito"/>
                <a:ea typeface="Gabarito"/>
                <a:cs typeface="Gabarito"/>
                <a:sym typeface="Gabarito"/>
              </a:rPr>
              <a:t>Lightweight &amp; fast</a:t>
            </a:r>
            <a:endParaRPr b="0" i="0" sz="2800" u="none" cap="none" strike="noStrike">
              <a:solidFill>
                <a:schemeClr val="dk1"/>
              </a:solidFill>
              <a:latin typeface="Calibri"/>
              <a:ea typeface="Calibri"/>
              <a:cs typeface="Calibri"/>
              <a:sym typeface="Calibri"/>
            </a:endParaRPr>
          </a:p>
        </p:txBody>
      </p:sp>
      <p:sp>
        <p:nvSpPr>
          <p:cNvPr id="895" name="Google Shape;895;p33"/>
          <p:cNvSpPr/>
          <p:nvPr/>
        </p:nvSpPr>
        <p:spPr>
          <a:xfrm>
            <a:off x="1333500" y="4484749"/>
            <a:ext cx="4813706" cy="16383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Smaller models run on ordinary hardware with no GPU required, ideal for prototyping — the tradeoff is somewhat lower retrieval accuracy.</a:t>
            </a:r>
            <a:endParaRPr b="0" i="0" sz="2250" u="none" cap="none" strike="noStrike">
              <a:solidFill>
                <a:schemeClr val="dk1"/>
              </a:solidFill>
              <a:latin typeface="Calibri"/>
              <a:ea typeface="Calibri"/>
              <a:cs typeface="Calibri"/>
              <a:sym typeface="Calibri"/>
            </a:endParaRPr>
          </a:p>
        </p:txBody>
      </p:sp>
      <p:sp>
        <p:nvSpPr>
          <p:cNvPr id="896" name="Google Shape;896;p33"/>
          <p:cNvSpPr/>
          <p:nvPr/>
        </p:nvSpPr>
        <p:spPr>
          <a:xfrm>
            <a:off x="6521350" y="3690549"/>
            <a:ext cx="5245200" cy="2832600"/>
          </a:xfrm>
          <a:prstGeom prst="roundRect">
            <a:avLst>
              <a:gd fmla="val 5145"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33"/>
          <p:cNvSpPr/>
          <p:nvPr/>
        </p:nvSpPr>
        <p:spPr>
          <a:xfrm>
            <a:off x="6807101" y="3938194"/>
            <a:ext cx="5141015"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550"/>
              <a:buFont typeface="Gabarito"/>
              <a:buNone/>
            </a:pPr>
            <a:r>
              <a:rPr b="1" i="0" lang="en-US" sz="2800" u="none" cap="none" strike="noStrike">
                <a:solidFill>
                  <a:srgbClr val="D97D00"/>
                </a:solidFill>
                <a:latin typeface="Gabarito"/>
                <a:ea typeface="Gabarito"/>
                <a:cs typeface="Gabarito"/>
                <a:sym typeface="Gabarito"/>
              </a:rPr>
              <a:t>Balanced, general-purpose</a:t>
            </a:r>
            <a:endParaRPr b="0" i="0" sz="2800" u="none" cap="none" strike="noStrike">
              <a:solidFill>
                <a:schemeClr val="dk1"/>
              </a:solidFill>
              <a:latin typeface="Calibri"/>
              <a:ea typeface="Calibri"/>
              <a:cs typeface="Calibri"/>
              <a:sym typeface="Calibri"/>
            </a:endParaRPr>
          </a:p>
        </p:txBody>
      </p:sp>
      <p:sp>
        <p:nvSpPr>
          <p:cNvPr id="898" name="Google Shape;898;p33"/>
          <p:cNvSpPr/>
          <p:nvPr/>
        </p:nvSpPr>
        <p:spPr>
          <a:xfrm>
            <a:off x="6807101" y="4484749"/>
            <a:ext cx="4813859" cy="16383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Mid-size models offer noticeably better retrieval quality for a modest increase in memory use and speed — a good default for most projects.</a:t>
            </a:r>
            <a:endParaRPr b="0" i="0" sz="2250" u="none" cap="none" strike="noStrike">
              <a:solidFill>
                <a:schemeClr val="dk1"/>
              </a:solidFill>
              <a:latin typeface="Calibri"/>
              <a:ea typeface="Calibri"/>
              <a:cs typeface="Calibri"/>
              <a:sym typeface="Calibri"/>
            </a:endParaRPr>
          </a:p>
        </p:txBody>
      </p:sp>
      <p:sp>
        <p:nvSpPr>
          <p:cNvPr id="899" name="Google Shape;899;p33"/>
          <p:cNvSpPr/>
          <p:nvPr/>
        </p:nvSpPr>
        <p:spPr>
          <a:xfrm>
            <a:off x="11995100" y="3690549"/>
            <a:ext cx="5245200" cy="2832600"/>
          </a:xfrm>
          <a:prstGeom prst="roundRect">
            <a:avLst>
              <a:gd fmla="val 5145" name="adj"/>
            </a:avLst>
          </a:prstGeom>
          <a:solidFill>
            <a:srgbClr val="7A8A5A">
              <a:alpha val="5882"/>
            </a:srgbClr>
          </a:solidFill>
          <a:ln cap="flat" cmpd="sng" w="19050">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33"/>
          <p:cNvSpPr/>
          <p:nvPr/>
        </p:nvSpPr>
        <p:spPr>
          <a:xfrm>
            <a:off x="12280850" y="3938194"/>
            <a:ext cx="5141015"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550"/>
              <a:buFont typeface="Gabarito"/>
              <a:buNone/>
            </a:pPr>
            <a:r>
              <a:rPr b="1" i="0" lang="en-US" sz="2800" u="none" cap="none" strike="noStrike">
                <a:solidFill>
                  <a:srgbClr val="4C5A33"/>
                </a:solidFill>
                <a:latin typeface="Gabarito"/>
                <a:ea typeface="Gabarito"/>
                <a:cs typeface="Gabarito"/>
                <a:sym typeface="Gabarito"/>
              </a:rPr>
              <a:t>Specialized (multilingual)</a:t>
            </a:r>
            <a:endParaRPr b="0" i="0" sz="2800" u="none" cap="none" strike="noStrike">
              <a:solidFill>
                <a:schemeClr val="dk1"/>
              </a:solidFill>
              <a:latin typeface="Calibri"/>
              <a:ea typeface="Calibri"/>
              <a:cs typeface="Calibri"/>
              <a:sym typeface="Calibri"/>
            </a:endParaRPr>
          </a:p>
        </p:txBody>
      </p:sp>
      <p:sp>
        <p:nvSpPr>
          <p:cNvPr id="901" name="Google Shape;901;p33"/>
          <p:cNvSpPr/>
          <p:nvPr/>
        </p:nvSpPr>
        <p:spPr>
          <a:xfrm>
            <a:off x="12280850" y="4484749"/>
            <a:ext cx="4813859" cy="203835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Some models are purpose-built for multilingual or mixed-language retrieval — matters if your documents span more than one language.</a:t>
            </a:r>
            <a:endParaRPr b="0" i="0" sz="2250" u="none" cap="none" strike="noStrike">
              <a:solidFill>
                <a:schemeClr val="dk1"/>
              </a:solidFill>
              <a:latin typeface="Calibri"/>
              <a:ea typeface="Calibri"/>
              <a:cs typeface="Calibri"/>
              <a:sym typeface="Calibri"/>
            </a:endParaRPr>
          </a:p>
        </p:txBody>
      </p:sp>
      <p:sp>
        <p:nvSpPr>
          <p:cNvPr id="902" name="Google Shape;902;p33"/>
          <p:cNvSpPr/>
          <p:nvPr/>
        </p:nvSpPr>
        <p:spPr>
          <a:xfrm>
            <a:off x="1047750" y="6927025"/>
            <a:ext cx="8171100" cy="2371800"/>
          </a:xfrm>
          <a:prstGeom prst="roundRect">
            <a:avLst>
              <a:gd fmla="val 6426"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33"/>
          <p:cNvSpPr/>
          <p:nvPr/>
        </p:nvSpPr>
        <p:spPr>
          <a:xfrm>
            <a:off x="1257300" y="7212766"/>
            <a:ext cx="1352700" cy="523800"/>
          </a:xfrm>
          <a:prstGeom prst="roundRect">
            <a:avLst>
              <a:gd fmla="val 14545" name="adj"/>
            </a:avLst>
          </a:prstGeom>
          <a:noFill/>
          <a:ln cap="flat" cmpd="sng" w="19050">
            <a:solidFill>
              <a:srgbClr val="F0B4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33"/>
          <p:cNvSpPr/>
          <p:nvPr/>
        </p:nvSpPr>
        <p:spPr>
          <a:xfrm>
            <a:off x="1371600" y="7308016"/>
            <a:ext cx="1124100" cy="3714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8EAED"/>
              </a:buClr>
              <a:buSzPts val="2175"/>
              <a:buFont typeface="Gabarito"/>
              <a:buNone/>
            </a:pPr>
            <a:r>
              <a:rPr b="0" i="0" lang="en-US" sz="2175" u="none" cap="none" strike="noStrike">
                <a:solidFill>
                  <a:srgbClr val="E8EAED"/>
                </a:solidFill>
                <a:latin typeface="Gabarito"/>
                <a:ea typeface="Gabarito"/>
                <a:cs typeface="Gabarito"/>
                <a:sym typeface="Gabarito"/>
              </a:rPr>
              <a:t>Object 1</a:t>
            </a:r>
            <a:endParaRPr b="0" i="0" sz="2175" u="none" cap="none" strike="noStrike">
              <a:solidFill>
                <a:schemeClr val="dk1"/>
              </a:solidFill>
              <a:latin typeface="Calibri"/>
              <a:ea typeface="Calibri"/>
              <a:cs typeface="Calibri"/>
              <a:sym typeface="Calibri"/>
            </a:endParaRPr>
          </a:p>
        </p:txBody>
      </p:sp>
      <p:sp>
        <p:nvSpPr>
          <p:cNvPr id="905" name="Google Shape;905;p33"/>
          <p:cNvSpPr/>
          <p:nvPr/>
        </p:nvSpPr>
        <p:spPr>
          <a:xfrm>
            <a:off x="1257300" y="7850941"/>
            <a:ext cx="1352700" cy="523800"/>
          </a:xfrm>
          <a:prstGeom prst="roundRect">
            <a:avLst>
              <a:gd fmla="val 14545" name="adj"/>
            </a:avLst>
          </a:prstGeom>
          <a:noFill/>
          <a:ln cap="flat" cmpd="sng" w="19050">
            <a:solidFill>
              <a:srgbClr val="F0B4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33"/>
          <p:cNvSpPr/>
          <p:nvPr/>
        </p:nvSpPr>
        <p:spPr>
          <a:xfrm>
            <a:off x="1371600" y="7946191"/>
            <a:ext cx="1124100" cy="3714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8EAED"/>
              </a:buClr>
              <a:buSzPts val="2175"/>
              <a:buFont typeface="Gabarito"/>
              <a:buNone/>
            </a:pPr>
            <a:r>
              <a:rPr b="0" i="0" lang="en-US" sz="2175" u="none" cap="none" strike="noStrike">
                <a:solidFill>
                  <a:srgbClr val="E8EAED"/>
                </a:solidFill>
                <a:latin typeface="Gabarito"/>
                <a:ea typeface="Gabarito"/>
                <a:cs typeface="Gabarito"/>
                <a:sym typeface="Gabarito"/>
              </a:rPr>
              <a:t>Object 2</a:t>
            </a:r>
            <a:endParaRPr b="0" i="0" sz="2175" u="none" cap="none" strike="noStrike">
              <a:solidFill>
                <a:schemeClr val="dk1"/>
              </a:solidFill>
              <a:latin typeface="Calibri"/>
              <a:ea typeface="Calibri"/>
              <a:cs typeface="Calibri"/>
              <a:sym typeface="Calibri"/>
            </a:endParaRPr>
          </a:p>
        </p:txBody>
      </p:sp>
      <p:sp>
        <p:nvSpPr>
          <p:cNvPr id="907" name="Google Shape;907;p33"/>
          <p:cNvSpPr/>
          <p:nvPr/>
        </p:nvSpPr>
        <p:spPr>
          <a:xfrm>
            <a:off x="1257300" y="8489116"/>
            <a:ext cx="1352700" cy="523800"/>
          </a:xfrm>
          <a:prstGeom prst="roundRect">
            <a:avLst>
              <a:gd fmla="val 14545" name="adj"/>
            </a:avLst>
          </a:prstGeom>
          <a:noFill/>
          <a:ln cap="flat" cmpd="sng" w="19050">
            <a:solidFill>
              <a:srgbClr val="F0B4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33"/>
          <p:cNvSpPr/>
          <p:nvPr/>
        </p:nvSpPr>
        <p:spPr>
          <a:xfrm>
            <a:off x="1371600" y="8584366"/>
            <a:ext cx="1124100" cy="3714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8EAED"/>
              </a:buClr>
              <a:buSzPts val="2175"/>
              <a:buFont typeface="Gabarito"/>
              <a:buNone/>
            </a:pPr>
            <a:r>
              <a:rPr b="0" i="0" lang="en-US" sz="2175" u="none" cap="none" strike="noStrike">
                <a:solidFill>
                  <a:srgbClr val="E8EAED"/>
                </a:solidFill>
                <a:latin typeface="Gabarito"/>
                <a:ea typeface="Gabarito"/>
                <a:cs typeface="Gabarito"/>
                <a:sym typeface="Gabarito"/>
              </a:rPr>
              <a:t>Object 3</a:t>
            </a:r>
            <a:endParaRPr b="0" i="0" sz="2175" u="none" cap="none" strike="noStrike">
              <a:solidFill>
                <a:schemeClr val="dk1"/>
              </a:solidFill>
              <a:latin typeface="Calibri"/>
              <a:ea typeface="Calibri"/>
              <a:cs typeface="Calibri"/>
              <a:sym typeface="Calibri"/>
            </a:endParaRPr>
          </a:p>
        </p:txBody>
      </p:sp>
      <p:pic>
        <p:nvPicPr>
          <p:cNvPr descr="preencoded.png" id="909" name="Google Shape;909;p33"/>
          <p:cNvPicPr preferRelativeResize="0"/>
          <p:nvPr/>
        </p:nvPicPr>
        <p:blipFill rotWithShape="1">
          <a:blip r:embed="rId4">
            <a:alphaModFix/>
          </a:blip>
          <a:srcRect b="0" l="0" r="0" t="0"/>
          <a:stretch/>
        </p:blipFill>
        <p:spPr>
          <a:xfrm>
            <a:off x="2743200" y="7893803"/>
            <a:ext cx="418356" cy="438150"/>
          </a:xfrm>
          <a:prstGeom prst="rect">
            <a:avLst/>
          </a:prstGeom>
          <a:noFill/>
          <a:ln>
            <a:noFill/>
          </a:ln>
        </p:spPr>
      </p:pic>
      <p:sp>
        <p:nvSpPr>
          <p:cNvPr id="910" name="Google Shape;910;p33"/>
          <p:cNvSpPr/>
          <p:nvPr/>
        </p:nvSpPr>
        <p:spPr>
          <a:xfrm>
            <a:off x="3294906" y="7569953"/>
            <a:ext cx="1757100" cy="1086000"/>
          </a:xfrm>
          <a:prstGeom prst="roundRect">
            <a:avLst>
              <a:gd fmla="val 8772" name="adj"/>
            </a:avLst>
          </a:prstGeom>
          <a:noFill/>
          <a:ln cap="flat" cmpd="sng" w="19050">
            <a:solidFill>
              <a:srgbClr val="F0B4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33"/>
          <p:cNvSpPr/>
          <p:nvPr/>
        </p:nvSpPr>
        <p:spPr>
          <a:xfrm>
            <a:off x="3447306" y="7779503"/>
            <a:ext cx="1452300" cy="7050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F0B45C"/>
              </a:buClr>
              <a:buSzPts val="2175"/>
              <a:buFont typeface="Gabarito"/>
              <a:buNone/>
            </a:pPr>
            <a:r>
              <a:rPr b="1" i="0" lang="en-US" sz="2175" u="none" cap="none" strike="noStrike">
                <a:solidFill>
                  <a:srgbClr val="F0B45C"/>
                </a:solidFill>
                <a:latin typeface="Gabarito"/>
                <a:ea typeface="Gabarito"/>
                <a:cs typeface="Gabarito"/>
                <a:sym typeface="Gabarito"/>
              </a:rPr>
              <a:t>Embedding Model</a:t>
            </a:r>
            <a:endParaRPr b="0" i="0" sz="2175" u="none" cap="none" strike="noStrike">
              <a:solidFill>
                <a:schemeClr val="dk1"/>
              </a:solidFill>
              <a:latin typeface="Calibri"/>
              <a:ea typeface="Calibri"/>
              <a:cs typeface="Calibri"/>
              <a:sym typeface="Calibri"/>
            </a:endParaRPr>
          </a:p>
        </p:txBody>
      </p:sp>
      <p:pic>
        <p:nvPicPr>
          <p:cNvPr descr="preencoded.png" id="912" name="Google Shape;912;p33"/>
          <p:cNvPicPr preferRelativeResize="0"/>
          <p:nvPr/>
        </p:nvPicPr>
        <p:blipFill rotWithShape="1">
          <a:blip r:embed="rId4">
            <a:alphaModFix/>
          </a:blip>
          <a:srcRect b="0" l="0" r="0" t="0"/>
          <a:stretch/>
        </p:blipFill>
        <p:spPr>
          <a:xfrm>
            <a:off x="5185321" y="7893803"/>
            <a:ext cx="418356" cy="438150"/>
          </a:xfrm>
          <a:prstGeom prst="rect">
            <a:avLst/>
          </a:prstGeom>
          <a:noFill/>
          <a:ln>
            <a:noFill/>
          </a:ln>
        </p:spPr>
      </p:pic>
      <p:sp>
        <p:nvSpPr>
          <p:cNvPr id="913" name="Google Shape;913;p33"/>
          <p:cNvSpPr/>
          <p:nvPr/>
        </p:nvSpPr>
        <p:spPr>
          <a:xfrm>
            <a:off x="5737025" y="7405768"/>
            <a:ext cx="3307500" cy="1414200"/>
          </a:xfrm>
          <a:prstGeom prst="rect">
            <a:avLst/>
          </a:prstGeom>
          <a:noFill/>
          <a:ln>
            <a:noFill/>
          </a:ln>
        </p:spPr>
        <p:txBody>
          <a:bodyPr anchorCtr="0" anchor="t" bIns="25400" lIns="25400" spcFirstLastPara="1" rIns="25400" wrap="square" tIns="25400">
            <a:noAutofit/>
          </a:bodyPr>
          <a:lstStyle/>
          <a:p>
            <a:pPr indent="0" lvl="0" marL="0" rtl="0" algn="l">
              <a:lnSpc>
                <a:spcPct val="150000"/>
              </a:lnSpc>
              <a:spcBef>
                <a:spcPts val="0"/>
              </a:spcBef>
              <a:spcAft>
                <a:spcPts val="0"/>
              </a:spcAft>
              <a:buClr>
                <a:srgbClr val="F0B45C"/>
              </a:buClr>
              <a:buSzPts val="2175"/>
              <a:buFont typeface="JetBrains Mono"/>
              <a:buNone/>
            </a:pPr>
            <a:r>
              <a:rPr lang="en-US" sz="2175">
                <a:solidFill>
                  <a:srgbClr val="F0B45C"/>
                </a:solidFill>
                <a:latin typeface="JetBrains Mono"/>
                <a:ea typeface="JetBrains Mono"/>
                <a:cs typeface="JetBrains Mono"/>
                <a:sym typeface="JetBrains Mono"/>
              </a:rPr>
              <a:t>[0.21, -0.32, ...]</a:t>
            </a:r>
            <a:endParaRPr sz="2175">
              <a:solidFill>
                <a:srgbClr val="F0B45C"/>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F0B45C"/>
              </a:buClr>
              <a:buSzPts val="2175"/>
              <a:buFont typeface="JetBrains Mono"/>
              <a:buNone/>
            </a:pPr>
            <a:r>
              <a:rPr b="0" i="0" lang="en-US" sz="2175" u="none" cap="none" strike="noStrike">
                <a:solidFill>
                  <a:srgbClr val="F0B45C"/>
                </a:solidFill>
                <a:latin typeface="JetBrains Mono"/>
                <a:ea typeface="JetBrains Mono"/>
                <a:cs typeface="JetBrains Mono"/>
                <a:sym typeface="JetBrains Mono"/>
              </a:rPr>
              <a:t>[0.79, -0.14, ...]</a:t>
            </a:r>
            <a:endParaRPr b="0" i="0" sz="2175" u="none" cap="none" strike="noStrike">
              <a:solidFill>
                <a:srgbClr val="F0B45C"/>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F0B45C"/>
              </a:buClr>
              <a:buSzPts val="2175"/>
              <a:buFont typeface="JetBrains Mono"/>
              <a:buNone/>
            </a:pPr>
            <a:r>
              <a:rPr lang="en-US" sz="2175">
                <a:solidFill>
                  <a:srgbClr val="F0B45C"/>
                </a:solidFill>
                <a:latin typeface="JetBrains Mono"/>
                <a:ea typeface="JetBrains Mono"/>
                <a:cs typeface="JetBrains Mono"/>
                <a:sym typeface="JetBrains Mono"/>
              </a:rPr>
              <a:t>[-0.94, -0.42, ...]</a:t>
            </a:r>
            <a:endParaRPr sz="2175">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0B45C"/>
              </a:buClr>
              <a:buSzPts val="2175"/>
              <a:buFont typeface="JetBrains Mono"/>
              <a:buNone/>
            </a:pPr>
            <a:r>
              <a:t/>
            </a:r>
            <a:endParaRPr sz="2175">
              <a:solidFill>
                <a:srgbClr val="F0B45C"/>
              </a:solidFill>
              <a:latin typeface="JetBrains Mono"/>
              <a:ea typeface="JetBrains Mono"/>
              <a:cs typeface="JetBrains Mono"/>
              <a:sym typeface="JetBrains Mono"/>
            </a:endParaRPr>
          </a:p>
        </p:txBody>
      </p:sp>
      <p:sp>
        <p:nvSpPr>
          <p:cNvPr id="914" name="Google Shape;914;p33"/>
          <p:cNvSpPr/>
          <p:nvPr/>
        </p:nvSpPr>
        <p:spPr>
          <a:xfrm>
            <a:off x="5737025" y="8227175"/>
            <a:ext cx="3307500" cy="7809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0B45C"/>
              </a:buClr>
              <a:buSzPts val="2175"/>
              <a:buFont typeface="JetBrains Mono"/>
              <a:buNone/>
            </a:pPr>
            <a:r>
              <a:t/>
            </a:r>
            <a:endParaRPr b="0" i="0" sz="2175" u="none" cap="none" strike="noStrike">
              <a:solidFill>
                <a:schemeClr val="dk1"/>
              </a:solidFill>
              <a:latin typeface="Calibri"/>
              <a:ea typeface="Calibri"/>
              <a:cs typeface="Calibri"/>
              <a:sym typeface="Calibri"/>
            </a:endParaRPr>
          </a:p>
        </p:txBody>
      </p:sp>
      <p:sp>
        <p:nvSpPr>
          <p:cNvPr id="915" name="Google Shape;915;p33"/>
          <p:cNvSpPr/>
          <p:nvPr/>
        </p:nvSpPr>
        <p:spPr>
          <a:xfrm>
            <a:off x="9434275" y="6927025"/>
            <a:ext cx="7806000" cy="2371800"/>
          </a:xfrm>
          <a:prstGeom prst="roundRect">
            <a:avLst>
              <a:gd fmla="val 6970"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33"/>
          <p:cNvSpPr/>
          <p:nvPr/>
        </p:nvSpPr>
        <p:spPr>
          <a:xfrm>
            <a:off x="9729565" y="7193716"/>
            <a:ext cx="7244700" cy="1691400"/>
          </a:xfrm>
          <a:prstGeom prst="rect">
            <a:avLst/>
          </a:prstGeom>
          <a:noFill/>
          <a:ln>
            <a:noFill/>
          </a:ln>
        </p:spPr>
        <p:txBody>
          <a:bodyPr anchorCtr="0" anchor="t" bIns="25400" lIns="25400" spcFirstLastPara="1" rIns="25400" wrap="square" tIns="25400">
            <a:noAutofit/>
          </a:bodyPr>
          <a:lstStyle/>
          <a:p>
            <a:pPr indent="0" lvl="1" marL="0" marR="0" rtl="0" algn="l">
              <a:lnSpc>
                <a:spcPct val="100000"/>
              </a:lnSpc>
              <a:spcBef>
                <a:spcPts val="0"/>
              </a:spcBef>
              <a:spcAft>
                <a:spcPts val="0"/>
              </a:spcAft>
              <a:buNone/>
            </a:pPr>
            <a:r>
              <a:rPr b="1" i="0" lang="en-US" sz="2400" u="none" cap="none" strike="noStrike">
                <a:solidFill>
                  <a:srgbClr val="274D71"/>
                </a:solidFill>
                <a:latin typeface="Gabarito"/>
                <a:ea typeface="Gabarito"/>
                <a:cs typeface="Gabarito"/>
                <a:sym typeface="Gabarito"/>
              </a:rPr>
              <a:t>Keynote: </a:t>
            </a:r>
            <a:endParaRPr/>
          </a:p>
          <a:p>
            <a:pPr indent="0" lvl="1" marL="0" marR="0" rtl="0" algn="l">
              <a:lnSpc>
                <a:spcPct val="100000"/>
              </a:lnSpc>
              <a:spcBef>
                <a:spcPts val="0"/>
              </a:spcBef>
              <a:spcAft>
                <a:spcPts val="0"/>
              </a:spcAft>
              <a:buNone/>
            </a:pPr>
            <a:r>
              <a:rPr b="0" i="0" lang="en-US" sz="2325" u="none" cap="none" strike="noStrike">
                <a:solidFill>
                  <a:srgbClr val="5B5B5B"/>
                </a:solidFill>
                <a:latin typeface="Gabarito"/>
                <a:ea typeface="Gabarito"/>
                <a:cs typeface="Gabarito"/>
                <a:sym typeface="Gabarito"/>
              </a:rPr>
              <a:t>there is no single "best" embedding model — only the best one for your documents, your language mix, and your hardware. Test a couple of options against your own content.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1" name="Shape 921"/>
        <p:cNvGrpSpPr/>
        <p:nvPr/>
      </p:nvGrpSpPr>
      <p:grpSpPr>
        <a:xfrm>
          <a:off x="0" y="0"/>
          <a:ext cx="0" cy="0"/>
          <a:chOff x="0" y="0"/>
          <a:chExt cx="0" cy="0"/>
        </a:xfrm>
      </p:grpSpPr>
      <p:pic>
        <p:nvPicPr>
          <p:cNvPr descr="preencoded.png" id="922" name="Google Shape;922;p34"/>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923" name="Google Shape;923;p34"/>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lang="en-US" sz="3000">
                <a:solidFill>
                  <a:srgbClr val="FF9900"/>
                </a:solidFill>
                <a:latin typeface="Gabarito"/>
                <a:ea typeface="Gabarito"/>
                <a:cs typeface="Gabarito"/>
                <a:sym typeface="Gabarito"/>
              </a:rPr>
              <a:t>Comparison</a:t>
            </a:r>
            <a:endParaRPr b="0" i="0" sz="3000" u="none" cap="none" strike="noStrike">
              <a:solidFill>
                <a:schemeClr val="dk1"/>
              </a:solidFill>
              <a:latin typeface="Calibri"/>
              <a:ea typeface="Calibri"/>
              <a:cs typeface="Calibri"/>
              <a:sym typeface="Calibri"/>
            </a:endParaRPr>
          </a:p>
        </p:txBody>
      </p:sp>
      <p:sp>
        <p:nvSpPr>
          <p:cNvPr id="924" name="Google Shape;924;p34"/>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Embedding Model Comparison</a:t>
            </a:r>
            <a:endParaRPr b="0" i="0" sz="6000" u="none" cap="none" strike="noStrike">
              <a:solidFill>
                <a:schemeClr val="dk1"/>
              </a:solidFill>
              <a:latin typeface="Calibri"/>
              <a:ea typeface="Calibri"/>
              <a:cs typeface="Calibri"/>
              <a:sym typeface="Calibri"/>
            </a:endParaRPr>
          </a:p>
        </p:txBody>
      </p:sp>
      <p:sp>
        <p:nvSpPr>
          <p:cNvPr id="925" name="Google Shape;925;p34"/>
          <p:cNvSpPr/>
          <p:nvPr/>
        </p:nvSpPr>
        <p:spPr>
          <a:xfrm>
            <a:off x="1047750" y="2762250"/>
            <a:ext cx="3148757" cy="619125"/>
          </a:xfrm>
          <a:custGeom>
            <a:rect b="b" l="l" r="r" t="t"/>
            <a:pathLst>
              <a:path extrusionOk="0" h="619125" w="3148757">
                <a:moveTo>
                  <a:pt x="133350" y="0"/>
                </a:moveTo>
                <a:lnTo>
                  <a:pt x="3148757" y="0"/>
                </a:lnTo>
                <a:lnTo>
                  <a:pt x="3148757" y="619125"/>
                </a:lnTo>
                <a:lnTo>
                  <a:pt x="0" y="619125"/>
                </a:lnTo>
                <a:lnTo>
                  <a:pt x="0" y="133350"/>
                </a:lnTo>
                <a:cubicBezTo>
                  <a:pt x="0" y="59703"/>
                  <a:pt x="59703" y="0"/>
                  <a:pt x="133350" y="0"/>
                </a:cubicBezTo>
                <a:close/>
              </a:path>
            </a:pathLst>
          </a:cu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26" name="Google Shape;926;p34"/>
          <p:cNvSpPr/>
          <p:nvPr/>
        </p:nvSpPr>
        <p:spPr>
          <a:xfrm>
            <a:off x="1276350" y="2914650"/>
            <a:ext cx="2786100" cy="3525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00"/>
              <a:buFont typeface="Gabarito"/>
              <a:buNone/>
            </a:pPr>
            <a:r>
              <a:rPr b="1" i="0" lang="en-US" sz="2200" u="none" cap="none" strike="noStrike">
                <a:solidFill>
                  <a:srgbClr val="FFFFFF"/>
                </a:solidFill>
                <a:latin typeface="Gabarito"/>
                <a:ea typeface="Gabarito"/>
                <a:cs typeface="Gabarito"/>
                <a:sym typeface="Gabarito"/>
              </a:rPr>
              <a:t>Model</a:t>
            </a:r>
            <a:endParaRPr b="0" i="0" sz="2200" u="none" cap="none" strike="noStrike">
              <a:solidFill>
                <a:schemeClr val="dk1"/>
              </a:solidFill>
              <a:latin typeface="Calibri"/>
              <a:ea typeface="Calibri"/>
              <a:cs typeface="Calibri"/>
              <a:sym typeface="Calibri"/>
            </a:endParaRPr>
          </a:p>
        </p:txBody>
      </p:sp>
      <p:sp>
        <p:nvSpPr>
          <p:cNvPr id="927" name="Google Shape;927;p34"/>
          <p:cNvSpPr/>
          <p:nvPr/>
        </p:nvSpPr>
        <p:spPr>
          <a:xfrm>
            <a:off x="4196507" y="2762250"/>
            <a:ext cx="1769400" cy="619200"/>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28" name="Google Shape;928;p34"/>
          <p:cNvSpPr/>
          <p:nvPr/>
        </p:nvSpPr>
        <p:spPr>
          <a:xfrm>
            <a:off x="4425107" y="2914650"/>
            <a:ext cx="1388400" cy="3525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00"/>
              <a:buFont typeface="Gabarito"/>
              <a:buNone/>
            </a:pPr>
            <a:r>
              <a:rPr b="1" i="0" lang="en-US" sz="2200" u="none" cap="none" strike="noStrike">
                <a:solidFill>
                  <a:srgbClr val="FFFFFF"/>
                </a:solidFill>
                <a:latin typeface="Gabarito"/>
                <a:ea typeface="Gabarito"/>
                <a:cs typeface="Gabarito"/>
                <a:sym typeface="Gabarito"/>
              </a:rPr>
              <a:t>Dimension</a:t>
            </a:r>
            <a:endParaRPr b="0" i="0" sz="2200" u="none" cap="none" strike="noStrike">
              <a:solidFill>
                <a:schemeClr val="dk1"/>
              </a:solidFill>
              <a:latin typeface="Calibri"/>
              <a:ea typeface="Calibri"/>
              <a:cs typeface="Calibri"/>
              <a:sym typeface="Calibri"/>
            </a:endParaRPr>
          </a:p>
        </p:txBody>
      </p:sp>
      <p:sp>
        <p:nvSpPr>
          <p:cNvPr id="929" name="Google Shape;929;p34"/>
          <p:cNvSpPr/>
          <p:nvPr/>
        </p:nvSpPr>
        <p:spPr>
          <a:xfrm>
            <a:off x="5965775" y="2762250"/>
            <a:ext cx="4858500" cy="619200"/>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30" name="Google Shape;930;p34"/>
          <p:cNvSpPr/>
          <p:nvPr/>
        </p:nvSpPr>
        <p:spPr>
          <a:xfrm>
            <a:off x="6194375" y="2914650"/>
            <a:ext cx="4547100" cy="3525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00"/>
              <a:buFont typeface="Gabarito"/>
              <a:buNone/>
            </a:pPr>
            <a:r>
              <a:rPr b="1" i="0" lang="en-US" sz="2200" u="none" cap="none" strike="noStrike">
                <a:solidFill>
                  <a:srgbClr val="FFFFFF"/>
                </a:solidFill>
                <a:latin typeface="Gabarito"/>
                <a:ea typeface="Gabarito"/>
                <a:cs typeface="Gabarito"/>
                <a:sym typeface="Gabarito"/>
              </a:rPr>
              <a:t>Max Sequence Length</a:t>
            </a:r>
            <a:endParaRPr b="0" i="0" sz="2200" u="none" cap="none" strike="noStrike">
              <a:solidFill>
                <a:schemeClr val="dk1"/>
              </a:solidFill>
              <a:latin typeface="Calibri"/>
              <a:ea typeface="Calibri"/>
              <a:cs typeface="Calibri"/>
              <a:sym typeface="Calibri"/>
            </a:endParaRPr>
          </a:p>
        </p:txBody>
      </p:sp>
      <p:sp>
        <p:nvSpPr>
          <p:cNvPr id="931" name="Google Shape;931;p34"/>
          <p:cNvSpPr/>
          <p:nvPr/>
        </p:nvSpPr>
        <p:spPr>
          <a:xfrm>
            <a:off x="10824418" y="2762250"/>
            <a:ext cx="1861200" cy="619200"/>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32" name="Google Shape;932;p34"/>
          <p:cNvSpPr/>
          <p:nvPr/>
        </p:nvSpPr>
        <p:spPr>
          <a:xfrm>
            <a:off x="11053018" y="2914650"/>
            <a:ext cx="1480200" cy="3525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00"/>
              <a:buFont typeface="Gabarito"/>
              <a:buNone/>
            </a:pPr>
            <a:r>
              <a:rPr b="1" i="0" lang="en-US" sz="2200" u="none" cap="none" strike="noStrike">
                <a:solidFill>
                  <a:srgbClr val="FFFFFF"/>
                </a:solidFill>
                <a:latin typeface="Gabarito"/>
                <a:ea typeface="Gabarito"/>
                <a:cs typeface="Gabarito"/>
                <a:sym typeface="Gabarito"/>
              </a:rPr>
              <a:t>Parameters</a:t>
            </a:r>
            <a:endParaRPr b="0" i="0" sz="2200" u="none" cap="none" strike="noStrike">
              <a:solidFill>
                <a:schemeClr val="dk1"/>
              </a:solidFill>
              <a:latin typeface="Calibri"/>
              <a:ea typeface="Calibri"/>
              <a:cs typeface="Calibri"/>
              <a:sym typeface="Calibri"/>
            </a:endParaRPr>
          </a:p>
        </p:txBody>
      </p:sp>
      <p:sp>
        <p:nvSpPr>
          <p:cNvPr id="933" name="Google Shape;933;p34"/>
          <p:cNvSpPr/>
          <p:nvPr/>
        </p:nvSpPr>
        <p:spPr>
          <a:xfrm>
            <a:off x="12685663" y="2762250"/>
            <a:ext cx="1824600" cy="619200"/>
          </a:xfrm>
          <a:prstGeom prst="rect">
            <a:avLst/>
          </a:pr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34" name="Google Shape;934;p34"/>
          <p:cNvSpPr/>
          <p:nvPr/>
        </p:nvSpPr>
        <p:spPr>
          <a:xfrm>
            <a:off x="12914263" y="2914650"/>
            <a:ext cx="1443600" cy="3525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00"/>
              <a:buFont typeface="Gabarito"/>
              <a:buNone/>
            </a:pPr>
            <a:r>
              <a:rPr b="1" i="0" lang="en-US" sz="2200" u="none" cap="none" strike="noStrike">
                <a:solidFill>
                  <a:srgbClr val="FFFFFF"/>
                </a:solidFill>
                <a:latin typeface="Gabarito"/>
                <a:ea typeface="Gabarito"/>
                <a:cs typeface="Gabarito"/>
                <a:sym typeface="Gabarito"/>
              </a:rPr>
              <a:t>License</a:t>
            </a:r>
            <a:endParaRPr b="0" i="0" sz="2200" u="none" cap="none" strike="noStrike">
              <a:solidFill>
                <a:schemeClr val="dk1"/>
              </a:solidFill>
              <a:latin typeface="Calibri"/>
              <a:ea typeface="Calibri"/>
              <a:cs typeface="Calibri"/>
              <a:sym typeface="Calibri"/>
            </a:endParaRPr>
          </a:p>
        </p:txBody>
      </p:sp>
      <p:sp>
        <p:nvSpPr>
          <p:cNvPr id="935" name="Google Shape;935;p34"/>
          <p:cNvSpPr/>
          <p:nvPr/>
        </p:nvSpPr>
        <p:spPr>
          <a:xfrm>
            <a:off x="14510296" y="2762250"/>
            <a:ext cx="2729954" cy="619125"/>
          </a:xfrm>
          <a:custGeom>
            <a:rect b="b" l="l" r="r" t="t"/>
            <a:pathLst>
              <a:path extrusionOk="0" h="619125" w="2729954">
                <a:moveTo>
                  <a:pt x="0" y="0"/>
                </a:moveTo>
                <a:lnTo>
                  <a:pt x="2596604" y="0"/>
                </a:lnTo>
                <a:cubicBezTo>
                  <a:pt x="2631971" y="0"/>
                  <a:pt x="2665889" y="14049"/>
                  <a:pt x="2690897" y="39057"/>
                </a:cubicBezTo>
                <a:cubicBezTo>
                  <a:pt x="2715905" y="64065"/>
                  <a:pt x="2729954" y="97983"/>
                  <a:pt x="2729954" y="133350"/>
                </a:cubicBezTo>
                <a:lnTo>
                  <a:pt x="2729954" y="619125"/>
                </a:lnTo>
                <a:lnTo>
                  <a:pt x="0" y="619125"/>
                </a:lnTo>
                <a:lnTo>
                  <a:pt x="0" y="0"/>
                </a:lnTo>
                <a:close/>
              </a:path>
            </a:pathLst>
          </a:custGeom>
          <a:solidFill>
            <a:srgbClr val="274D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36" name="Google Shape;936;p34"/>
          <p:cNvSpPr/>
          <p:nvPr/>
        </p:nvSpPr>
        <p:spPr>
          <a:xfrm>
            <a:off x="14738896" y="2914650"/>
            <a:ext cx="2354700" cy="3525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FFFFFF"/>
              </a:buClr>
              <a:buSzPts val="2100"/>
              <a:buFont typeface="Gabarito"/>
              <a:buNone/>
            </a:pPr>
            <a:r>
              <a:rPr b="1" i="0" lang="en-US" sz="2200" u="none" cap="none" strike="noStrike">
                <a:solidFill>
                  <a:srgbClr val="FFFFFF"/>
                </a:solidFill>
                <a:latin typeface="Gabarito"/>
                <a:ea typeface="Gabarito"/>
                <a:cs typeface="Gabarito"/>
                <a:sym typeface="Gabarito"/>
              </a:rPr>
              <a:t>Language Support</a:t>
            </a:r>
            <a:endParaRPr b="0" i="0" sz="2200" u="none" cap="none" strike="noStrike">
              <a:solidFill>
                <a:schemeClr val="dk1"/>
              </a:solidFill>
              <a:latin typeface="Calibri"/>
              <a:ea typeface="Calibri"/>
              <a:cs typeface="Calibri"/>
              <a:sym typeface="Calibri"/>
            </a:endParaRPr>
          </a:p>
        </p:txBody>
      </p:sp>
      <p:sp>
        <p:nvSpPr>
          <p:cNvPr id="937" name="Google Shape;937;p34"/>
          <p:cNvSpPr/>
          <p:nvPr/>
        </p:nvSpPr>
        <p:spPr>
          <a:xfrm>
            <a:off x="1047750" y="4114800"/>
            <a:ext cx="31488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38" name="Google Shape;938;p34"/>
          <p:cNvSpPr/>
          <p:nvPr/>
        </p:nvSpPr>
        <p:spPr>
          <a:xfrm>
            <a:off x="1276350" y="3571875"/>
            <a:ext cx="27861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035595"/>
              </a:buClr>
              <a:buSzPts val="2100"/>
              <a:buFont typeface="JetBrains Mono"/>
              <a:buNone/>
            </a:pPr>
            <a:r>
              <a:rPr b="1" i="0" lang="en-US" sz="2200" u="none" cap="none" strike="noStrike">
                <a:solidFill>
                  <a:srgbClr val="035595"/>
                </a:solidFill>
                <a:latin typeface="JetBrains Mono"/>
                <a:ea typeface="JetBrains Mono"/>
                <a:cs typeface="JetBrains Mono"/>
                <a:sym typeface="JetBrains Mono"/>
              </a:rPr>
              <a:t>nomic-embed-text</a:t>
            </a:r>
            <a:endParaRPr b="0" i="0" sz="2200" u="none" cap="none" strike="noStrike">
              <a:solidFill>
                <a:schemeClr val="dk1"/>
              </a:solidFill>
              <a:latin typeface="Calibri"/>
              <a:ea typeface="Calibri"/>
              <a:cs typeface="Calibri"/>
              <a:sym typeface="Calibri"/>
            </a:endParaRPr>
          </a:p>
        </p:txBody>
      </p:sp>
      <p:sp>
        <p:nvSpPr>
          <p:cNvPr id="939" name="Google Shape;939;p34"/>
          <p:cNvSpPr/>
          <p:nvPr/>
        </p:nvSpPr>
        <p:spPr>
          <a:xfrm>
            <a:off x="4196507" y="4114800"/>
            <a:ext cx="17694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40" name="Google Shape;940;p34"/>
          <p:cNvSpPr/>
          <p:nvPr/>
        </p:nvSpPr>
        <p:spPr>
          <a:xfrm>
            <a:off x="4425107" y="3571875"/>
            <a:ext cx="13884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768</a:t>
            </a:r>
            <a:endParaRPr b="0" i="0" sz="2200" u="none" cap="none" strike="noStrike">
              <a:solidFill>
                <a:schemeClr val="dk1"/>
              </a:solidFill>
              <a:latin typeface="Calibri"/>
              <a:ea typeface="Calibri"/>
              <a:cs typeface="Calibri"/>
              <a:sym typeface="Calibri"/>
            </a:endParaRPr>
          </a:p>
        </p:txBody>
      </p:sp>
      <p:sp>
        <p:nvSpPr>
          <p:cNvPr id="941" name="Google Shape;941;p34"/>
          <p:cNvSpPr/>
          <p:nvPr/>
        </p:nvSpPr>
        <p:spPr>
          <a:xfrm>
            <a:off x="5965775" y="4114800"/>
            <a:ext cx="48585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42" name="Google Shape;942;p34"/>
          <p:cNvSpPr/>
          <p:nvPr/>
        </p:nvSpPr>
        <p:spPr>
          <a:xfrm>
            <a:off x="6194375" y="3571875"/>
            <a:ext cx="45471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8192 (2048 by default via Ollama)</a:t>
            </a:r>
            <a:endParaRPr b="0" i="0" sz="2200" u="none" cap="none" strike="noStrike">
              <a:solidFill>
                <a:schemeClr val="dk1"/>
              </a:solidFill>
              <a:latin typeface="Calibri"/>
              <a:ea typeface="Calibri"/>
              <a:cs typeface="Calibri"/>
              <a:sym typeface="Calibri"/>
            </a:endParaRPr>
          </a:p>
        </p:txBody>
      </p:sp>
      <p:sp>
        <p:nvSpPr>
          <p:cNvPr id="943" name="Google Shape;943;p34"/>
          <p:cNvSpPr/>
          <p:nvPr/>
        </p:nvSpPr>
        <p:spPr>
          <a:xfrm>
            <a:off x="10824418" y="4114800"/>
            <a:ext cx="18612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44" name="Google Shape;944;p34"/>
          <p:cNvSpPr/>
          <p:nvPr/>
        </p:nvSpPr>
        <p:spPr>
          <a:xfrm>
            <a:off x="11053018" y="3571875"/>
            <a:ext cx="14802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137M</a:t>
            </a:r>
            <a:endParaRPr b="0" i="0" sz="2200" u="none" cap="none" strike="noStrike">
              <a:solidFill>
                <a:schemeClr val="dk1"/>
              </a:solidFill>
              <a:latin typeface="Calibri"/>
              <a:ea typeface="Calibri"/>
              <a:cs typeface="Calibri"/>
              <a:sym typeface="Calibri"/>
            </a:endParaRPr>
          </a:p>
        </p:txBody>
      </p:sp>
      <p:sp>
        <p:nvSpPr>
          <p:cNvPr id="945" name="Google Shape;945;p34"/>
          <p:cNvSpPr/>
          <p:nvPr/>
        </p:nvSpPr>
        <p:spPr>
          <a:xfrm>
            <a:off x="12685663" y="4114800"/>
            <a:ext cx="18246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46" name="Google Shape;946;p34"/>
          <p:cNvSpPr/>
          <p:nvPr/>
        </p:nvSpPr>
        <p:spPr>
          <a:xfrm>
            <a:off x="12914263" y="3571875"/>
            <a:ext cx="14436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Apache 2.0</a:t>
            </a:r>
            <a:endParaRPr b="0" i="0" sz="2200" u="none" cap="none" strike="noStrike">
              <a:solidFill>
                <a:schemeClr val="dk1"/>
              </a:solidFill>
              <a:latin typeface="Calibri"/>
              <a:ea typeface="Calibri"/>
              <a:cs typeface="Calibri"/>
              <a:sym typeface="Calibri"/>
            </a:endParaRPr>
          </a:p>
        </p:txBody>
      </p:sp>
      <p:sp>
        <p:nvSpPr>
          <p:cNvPr id="947" name="Google Shape;947;p34"/>
          <p:cNvSpPr/>
          <p:nvPr/>
        </p:nvSpPr>
        <p:spPr>
          <a:xfrm>
            <a:off x="14510296" y="4114800"/>
            <a:ext cx="27300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48" name="Google Shape;948;p34"/>
          <p:cNvSpPr/>
          <p:nvPr/>
        </p:nvSpPr>
        <p:spPr>
          <a:xfrm>
            <a:off x="14738896" y="3571875"/>
            <a:ext cx="23547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English</a:t>
            </a:r>
            <a:endParaRPr b="0" i="0" sz="2200" u="none" cap="none" strike="noStrike">
              <a:solidFill>
                <a:schemeClr val="dk1"/>
              </a:solidFill>
              <a:latin typeface="Calibri"/>
              <a:ea typeface="Calibri"/>
              <a:cs typeface="Calibri"/>
              <a:sym typeface="Calibri"/>
            </a:endParaRPr>
          </a:p>
        </p:txBody>
      </p:sp>
      <p:sp>
        <p:nvSpPr>
          <p:cNvPr id="949" name="Google Shape;949;p34"/>
          <p:cNvSpPr/>
          <p:nvPr/>
        </p:nvSpPr>
        <p:spPr>
          <a:xfrm>
            <a:off x="1047750" y="4133850"/>
            <a:ext cx="16192500" cy="752400"/>
          </a:xfrm>
          <a:prstGeom prst="rect">
            <a:avLst/>
          </a:prstGeom>
          <a:solidFill>
            <a:srgbClr val="FAF9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50" name="Google Shape;950;p34"/>
          <p:cNvSpPr/>
          <p:nvPr/>
        </p:nvSpPr>
        <p:spPr>
          <a:xfrm>
            <a:off x="1047750" y="4867275"/>
            <a:ext cx="31488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51" name="Google Shape;951;p34"/>
          <p:cNvSpPr/>
          <p:nvPr/>
        </p:nvSpPr>
        <p:spPr>
          <a:xfrm>
            <a:off x="1276350" y="4324350"/>
            <a:ext cx="27861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D97D00"/>
              </a:buClr>
              <a:buSzPts val="2100"/>
              <a:buFont typeface="JetBrains Mono"/>
              <a:buNone/>
            </a:pPr>
            <a:r>
              <a:rPr b="1" i="0" lang="en-US" sz="2200" u="none" cap="none" strike="noStrike">
                <a:solidFill>
                  <a:srgbClr val="D97D00"/>
                </a:solidFill>
                <a:latin typeface="JetBrains Mono"/>
                <a:ea typeface="JetBrains Mono"/>
                <a:cs typeface="JetBrains Mono"/>
                <a:sym typeface="JetBrains Mono"/>
              </a:rPr>
              <a:t>BGE-M3</a:t>
            </a:r>
            <a:endParaRPr b="0" i="0" sz="2200" u="none" cap="none" strike="noStrike">
              <a:solidFill>
                <a:schemeClr val="dk1"/>
              </a:solidFill>
              <a:latin typeface="Calibri"/>
              <a:ea typeface="Calibri"/>
              <a:cs typeface="Calibri"/>
              <a:sym typeface="Calibri"/>
            </a:endParaRPr>
          </a:p>
        </p:txBody>
      </p:sp>
      <p:sp>
        <p:nvSpPr>
          <p:cNvPr id="952" name="Google Shape;952;p34"/>
          <p:cNvSpPr/>
          <p:nvPr/>
        </p:nvSpPr>
        <p:spPr>
          <a:xfrm>
            <a:off x="4196507" y="4867275"/>
            <a:ext cx="17694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53" name="Google Shape;953;p34"/>
          <p:cNvSpPr/>
          <p:nvPr/>
        </p:nvSpPr>
        <p:spPr>
          <a:xfrm>
            <a:off x="4425107" y="4324350"/>
            <a:ext cx="13884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1024</a:t>
            </a:r>
            <a:endParaRPr b="0" i="0" sz="2200" u="none" cap="none" strike="noStrike">
              <a:solidFill>
                <a:schemeClr val="dk1"/>
              </a:solidFill>
              <a:latin typeface="Calibri"/>
              <a:ea typeface="Calibri"/>
              <a:cs typeface="Calibri"/>
              <a:sym typeface="Calibri"/>
            </a:endParaRPr>
          </a:p>
        </p:txBody>
      </p:sp>
      <p:sp>
        <p:nvSpPr>
          <p:cNvPr id="954" name="Google Shape;954;p34"/>
          <p:cNvSpPr/>
          <p:nvPr/>
        </p:nvSpPr>
        <p:spPr>
          <a:xfrm>
            <a:off x="5965775" y="4867275"/>
            <a:ext cx="48585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55" name="Google Shape;955;p34"/>
          <p:cNvSpPr/>
          <p:nvPr/>
        </p:nvSpPr>
        <p:spPr>
          <a:xfrm>
            <a:off x="6194375" y="4324350"/>
            <a:ext cx="45471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8192</a:t>
            </a:r>
            <a:endParaRPr b="0" i="0" sz="2200" u="none" cap="none" strike="noStrike">
              <a:solidFill>
                <a:schemeClr val="dk1"/>
              </a:solidFill>
              <a:latin typeface="Calibri"/>
              <a:ea typeface="Calibri"/>
              <a:cs typeface="Calibri"/>
              <a:sym typeface="Calibri"/>
            </a:endParaRPr>
          </a:p>
        </p:txBody>
      </p:sp>
      <p:sp>
        <p:nvSpPr>
          <p:cNvPr id="956" name="Google Shape;956;p34"/>
          <p:cNvSpPr/>
          <p:nvPr/>
        </p:nvSpPr>
        <p:spPr>
          <a:xfrm>
            <a:off x="10824418" y="4867275"/>
            <a:ext cx="18612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57" name="Google Shape;957;p34"/>
          <p:cNvSpPr/>
          <p:nvPr/>
        </p:nvSpPr>
        <p:spPr>
          <a:xfrm>
            <a:off x="11053018" y="4324350"/>
            <a:ext cx="14802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568M</a:t>
            </a:r>
            <a:endParaRPr b="0" i="0" sz="2200" u="none" cap="none" strike="noStrike">
              <a:solidFill>
                <a:schemeClr val="dk1"/>
              </a:solidFill>
              <a:latin typeface="Calibri"/>
              <a:ea typeface="Calibri"/>
              <a:cs typeface="Calibri"/>
              <a:sym typeface="Calibri"/>
            </a:endParaRPr>
          </a:p>
        </p:txBody>
      </p:sp>
      <p:sp>
        <p:nvSpPr>
          <p:cNvPr id="958" name="Google Shape;958;p34"/>
          <p:cNvSpPr/>
          <p:nvPr/>
        </p:nvSpPr>
        <p:spPr>
          <a:xfrm>
            <a:off x="12685663" y="4867275"/>
            <a:ext cx="18246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59" name="Google Shape;959;p34"/>
          <p:cNvSpPr/>
          <p:nvPr/>
        </p:nvSpPr>
        <p:spPr>
          <a:xfrm>
            <a:off x="12914263" y="4324350"/>
            <a:ext cx="14436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MIT</a:t>
            </a:r>
            <a:endParaRPr b="0" i="0" sz="2200" u="none" cap="none" strike="noStrike">
              <a:solidFill>
                <a:schemeClr val="dk1"/>
              </a:solidFill>
              <a:latin typeface="Calibri"/>
              <a:ea typeface="Calibri"/>
              <a:cs typeface="Calibri"/>
              <a:sym typeface="Calibri"/>
            </a:endParaRPr>
          </a:p>
        </p:txBody>
      </p:sp>
      <p:sp>
        <p:nvSpPr>
          <p:cNvPr id="960" name="Google Shape;960;p34"/>
          <p:cNvSpPr/>
          <p:nvPr/>
        </p:nvSpPr>
        <p:spPr>
          <a:xfrm>
            <a:off x="14510296" y="4867275"/>
            <a:ext cx="27300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961" name="Google Shape;961;p34"/>
          <p:cNvSpPr/>
          <p:nvPr/>
        </p:nvSpPr>
        <p:spPr>
          <a:xfrm>
            <a:off x="14738896" y="4324350"/>
            <a:ext cx="23547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100+ languages</a:t>
            </a:r>
            <a:endParaRPr b="0" i="0" sz="2200" u="none" cap="none" strike="noStrike">
              <a:solidFill>
                <a:schemeClr val="dk1"/>
              </a:solidFill>
              <a:latin typeface="Calibri"/>
              <a:ea typeface="Calibri"/>
              <a:cs typeface="Calibri"/>
              <a:sym typeface="Calibri"/>
            </a:endParaRPr>
          </a:p>
        </p:txBody>
      </p:sp>
      <p:sp>
        <p:nvSpPr>
          <p:cNvPr id="962" name="Google Shape;962;p34"/>
          <p:cNvSpPr/>
          <p:nvPr/>
        </p:nvSpPr>
        <p:spPr>
          <a:xfrm>
            <a:off x="1276350" y="5076825"/>
            <a:ext cx="27861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4C5A33"/>
              </a:buClr>
              <a:buSzPts val="2100"/>
              <a:buFont typeface="JetBrains Mono"/>
              <a:buNone/>
            </a:pPr>
            <a:r>
              <a:rPr b="1" i="0" lang="en-US" sz="2200" u="none" cap="none" strike="noStrike">
                <a:solidFill>
                  <a:srgbClr val="4C5A33"/>
                </a:solidFill>
                <a:latin typeface="JetBrains Mono"/>
                <a:ea typeface="JetBrains Mono"/>
                <a:cs typeface="JetBrains Mono"/>
                <a:sym typeface="JetBrains Mono"/>
              </a:rPr>
              <a:t>all-MiniLM-L6-v2</a:t>
            </a:r>
            <a:endParaRPr b="0" i="0" sz="2200" u="none" cap="none" strike="noStrike">
              <a:solidFill>
                <a:schemeClr val="dk1"/>
              </a:solidFill>
              <a:latin typeface="Calibri"/>
              <a:ea typeface="Calibri"/>
              <a:cs typeface="Calibri"/>
              <a:sym typeface="Calibri"/>
            </a:endParaRPr>
          </a:p>
        </p:txBody>
      </p:sp>
      <p:sp>
        <p:nvSpPr>
          <p:cNvPr id="963" name="Google Shape;963;p34"/>
          <p:cNvSpPr/>
          <p:nvPr/>
        </p:nvSpPr>
        <p:spPr>
          <a:xfrm>
            <a:off x="4425107" y="5076825"/>
            <a:ext cx="13884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384</a:t>
            </a:r>
            <a:endParaRPr b="0" i="0" sz="2200" u="none" cap="none" strike="noStrike">
              <a:solidFill>
                <a:schemeClr val="dk1"/>
              </a:solidFill>
              <a:latin typeface="Calibri"/>
              <a:ea typeface="Calibri"/>
              <a:cs typeface="Calibri"/>
              <a:sym typeface="Calibri"/>
            </a:endParaRPr>
          </a:p>
        </p:txBody>
      </p:sp>
      <p:sp>
        <p:nvSpPr>
          <p:cNvPr id="964" name="Google Shape;964;p34"/>
          <p:cNvSpPr/>
          <p:nvPr/>
        </p:nvSpPr>
        <p:spPr>
          <a:xfrm>
            <a:off x="6194375" y="5076825"/>
            <a:ext cx="45471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256word pieces (default truncation)</a:t>
            </a:r>
            <a:endParaRPr b="0" i="0" sz="2200" u="none" cap="none" strike="noStrike">
              <a:solidFill>
                <a:schemeClr val="dk1"/>
              </a:solidFill>
              <a:latin typeface="Calibri"/>
              <a:ea typeface="Calibri"/>
              <a:cs typeface="Calibri"/>
              <a:sym typeface="Calibri"/>
            </a:endParaRPr>
          </a:p>
        </p:txBody>
      </p:sp>
      <p:sp>
        <p:nvSpPr>
          <p:cNvPr id="965" name="Google Shape;965;p34"/>
          <p:cNvSpPr/>
          <p:nvPr/>
        </p:nvSpPr>
        <p:spPr>
          <a:xfrm>
            <a:off x="11053018" y="5076825"/>
            <a:ext cx="14802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~22M</a:t>
            </a:r>
            <a:endParaRPr b="0" i="0" sz="2200" u="none" cap="none" strike="noStrike">
              <a:solidFill>
                <a:schemeClr val="dk1"/>
              </a:solidFill>
              <a:latin typeface="Calibri"/>
              <a:ea typeface="Calibri"/>
              <a:cs typeface="Calibri"/>
              <a:sym typeface="Calibri"/>
            </a:endParaRPr>
          </a:p>
        </p:txBody>
      </p:sp>
      <p:sp>
        <p:nvSpPr>
          <p:cNvPr id="966" name="Google Shape;966;p34"/>
          <p:cNvSpPr/>
          <p:nvPr/>
        </p:nvSpPr>
        <p:spPr>
          <a:xfrm>
            <a:off x="12914263" y="5076825"/>
            <a:ext cx="14436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Apache 2.0</a:t>
            </a:r>
            <a:endParaRPr b="0" i="0" sz="2200" u="none" cap="none" strike="noStrike">
              <a:solidFill>
                <a:schemeClr val="dk1"/>
              </a:solidFill>
              <a:latin typeface="Calibri"/>
              <a:ea typeface="Calibri"/>
              <a:cs typeface="Calibri"/>
              <a:sym typeface="Calibri"/>
            </a:endParaRPr>
          </a:p>
        </p:txBody>
      </p:sp>
      <p:sp>
        <p:nvSpPr>
          <p:cNvPr id="967" name="Google Shape;967;p34"/>
          <p:cNvSpPr/>
          <p:nvPr/>
        </p:nvSpPr>
        <p:spPr>
          <a:xfrm>
            <a:off x="14738896" y="5076825"/>
            <a:ext cx="2354700" cy="390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5B5B5B"/>
              </a:buClr>
              <a:buSzPts val="2100"/>
              <a:buFont typeface="Gabarito"/>
              <a:buNone/>
            </a:pPr>
            <a:r>
              <a:rPr b="0" i="0" lang="en-US" sz="2200" u="none" cap="none" strike="noStrike">
                <a:solidFill>
                  <a:srgbClr val="5B5B5B"/>
                </a:solidFill>
                <a:latin typeface="Gabarito"/>
                <a:ea typeface="Gabarito"/>
                <a:cs typeface="Gabarito"/>
                <a:sym typeface="Gabarito"/>
              </a:rPr>
              <a:t>English (primarily)</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2" name="Shape 972"/>
        <p:cNvGrpSpPr/>
        <p:nvPr/>
      </p:nvGrpSpPr>
      <p:grpSpPr>
        <a:xfrm>
          <a:off x="0" y="0"/>
          <a:ext cx="0" cy="0"/>
          <a:chOff x="0" y="0"/>
          <a:chExt cx="0" cy="0"/>
        </a:xfrm>
      </p:grpSpPr>
      <p:sp>
        <p:nvSpPr>
          <p:cNvPr id="973" name="Google Shape;973;g3f7884f567b_0_50"/>
          <p:cNvSpPr/>
          <p:nvPr/>
        </p:nvSpPr>
        <p:spPr>
          <a:xfrm>
            <a:off x="1047750" y="7870224"/>
            <a:ext cx="16192500" cy="1604700"/>
          </a:xfrm>
          <a:prstGeom prst="roundRect">
            <a:avLst>
              <a:gd fmla="val 9357"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3f7884f567b_0_50"/>
          <p:cNvSpPr/>
          <p:nvPr/>
        </p:nvSpPr>
        <p:spPr>
          <a:xfrm>
            <a:off x="1047750" y="4541724"/>
            <a:ext cx="16192500" cy="3128400"/>
          </a:xfrm>
          <a:prstGeom prst="roundRect">
            <a:avLst>
              <a:gd fmla="val 2525"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g3f7884f567b_0_50"/>
          <p:cNvSpPr/>
          <p:nvPr/>
        </p:nvSpPr>
        <p:spPr>
          <a:xfrm>
            <a:off x="1047750" y="4541724"/>
            <a:ext cx="16192500" cy="482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g3f7884f567b_0_50"/>
          <p:cNvSpPr/>
          <p:nvPr/>
        </p:nvSpPr>
        <p:spPr>
          <a:xfrm>
            <a:off x="900112" y="4636970"/>
            <a:ext cx="10137900" cy="330300"/>
          </a:xfrm>
          <a:prstGeom prst="rect">
            <a:avLst/>
          </a:prstGeom>
          <a:noFill/>
          <a:ln>
            <a:noFill/>
          </a:ln>
        </p:spPr>
        <p:txBody>
          <a:bodyPr anchorCtr="0" anchor="t" bIns="25400" lIns="25400" spcFirstLastPara="1" rIns="25400" wrap="square" tIns="25400">
            <a:noAutofit/>
          </a:bodyPr>
          <a:lstStyle/>
          <a:p>
            <a:pPr indent="0" lvl="0" marL="457200" marR="0" rtl="0" algn="l">
              <a:spcBef>
                <a:spcPts val="0"/>
              </a:spcBef>
              <a:spcAft>
                <a:spcPts val="0"/>
              </a:spcAft>
              <a:buClr>
                <a:srgbClr val="E8EAED"/>
              </a:buClr>
              <a:buSzPts val="1800"/>
              <a:buFont typeface="JetBrains Mono"/>
              <a:buNone/>
            </a:pPr>
            <a:r>
              <a:rPr lang="en-US" sz="1800">
                <a:solidFill>
                  <a:srgbClr val="9AA0A6"/>
                </a:solidFill>
                <a:latin typeface="JetBrains Mono"/>
                <a:ea typeface="JetBrains Mono"/>
                <a:cs typeface="JetBrains Mono"/>
                <a:sym typeface="JetBrains Mono"/>
              </a:rPr>
              <a:t>Terminal</a:t>
            </a:r>
            <a:endParaRPr b="0" i="0" sz="1800" u="none" cap="none" strike="noStrike">
              <a:solidFill>
                <a:schemeClr val="dk1"/>
              </a:solidFill>
              <a:latin typeface="Calibri"/>
              <a:ea typeface="Calibri"/>
              <a:cs typeface="Calibri"/>
              <a:sym typeface="Calibri"/>
            </a:endParaRPr>
          </a:p>
        </p:txBody>
      </p:sp>
      <p:pic>
        <p:nvPicPr>
          <p:cNvPr descr="preencoded.png" id="977" name="Google Shape;977;g3f7884f567b_0_50"/>
          <p:cNvPicPr preferRelativeResize="0"/>
          <p:nvPr/>
        </p:nvPicPr>
        <p:blipFill rotWithShape="1">
          <a:blip r:embed="rId3">
            <a:alphaModFix/>
          </a:blip>
          <a:srcRect b="0" l="0" r="0" t="0"/>
          <a:stretch/>
        </p:blipFill>
        <p:spPr>
          <a:xfrm>
            <a:off x="16202025" y="952500"/>
            <a:ext cx="1066800" cy="1304130"/>
          </a:xfrm>
          <a:prstGeom prst="rect">
            <a:avLst/>
          </a:prstGeom>
          <a:noFill/>
          <a:ln>
            <a:noFill/>
          </a:ln>
        </p:spPr>
      </p:pic>
      <p:sp>
        <p:nvSpPr>
          <p:cNvPr id="978" name="Google Shape;978;g3f7884f567b_0_50"/>
          <p:cNvSpPr/>
          <p:nvPr/>
        </p:nvSpPr>
        <p:spPr>
          <a:xfrm>
            <a:off x="1047750" y="666750"/>
            <a:ext cx="17811900" cy="469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2850"/>
              <a:buFont typeface="Gabarito"/>
              <a:buNone/>
            </a:pPr>
            <a:r>
              <a:rPr b="1" i="0" lang="en-US" sz="3000" u="none" cap="none" strike="noStrike">
                <a:solidFill>
                  <a:srgbClr val="FF9900"/>
                </a:solidFill>
                <a:latin typeface="Gabarito"/>
                <a:ea typeface="Gabarito"/>
                <a:cs typeface="Gabarito"/>
                <a:sym typeface="Gabarito"/>
              </a:rPr>
              <a:t>Local Models</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979" name="Google Shape;979;g3f7884f567b_0_50"/>
          <p:cNvSpPr/>
          <p:nvPr/>
        </p:nvSpPr>
        <p:spPr>
          <a:xfrm>
            <a:off x="1047750" y="1136650"/>
            <a:ext cx="17811900" cy="1028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450"/>
              <a:buFont typeface="Gabarito"/>
              <a:buNone/>
            </a:pPr>
            <a:r>
              <a:rPr b="1" i="0" lang="en-US" sz="6000" u="none" cap="none" strike="noStrike">
                <a:solidFill>
                  <a:srgbClr val="274D71"/>
                </a:solidFill>
                <a:latin typeface="Gabarito"/>
                <a:ea typeface="Gabarito"/>
                <a:cs typeface="Gabarito"/>
                <a:sym typeface="Gabarito"/>
              </a:rPr>
              <a:t>Code Demo — Embedding Text Locally</a:t>
            </a:r>
            <a:endParaRPr b="0" i="0" sz="6000" u="none" cap="none" strike="noStrike">
              <a:solidFill>
                <a:schemeClr val="dk1"/>
              </a:solidFill>
              <a:latin typeface="Calibri"/>
              <a:ea typeface="Calibri"/>
              <a:cs typeface="Calibri"/>
              <a:sym typeface="Calibri"/>
            </a:endParaRPr>
          </a:p>
        </p:txBody>
      </p:sp>
      <p:sp>
        <p:nvSpPr>
          <p:cNvPr id="980" name="Google Shape;980;g3f7884f567b_0_50"/>
          <p:cNvSpPr/>
          <p:nvPr/>
        </p:nvSpPr>
        <p:spPr>
          <a:xfrm>
            <a:off x="1047750" y="2256625"/>
            <a:ext cx="15879900" cy="2250900"/>
          </a:xfrm>
          <a:prstGeom prst="rect">
            <a:avLst/>
          </a:prstGeom>
          <a:noFill/>
          <a:ln>
            <a:noFill/>
          </a:ln>
        </p:spPr>
        <p:txBody>
          <a:bodyPr anchorCtr="0" anchor="t" bIns="25400" lIns="25400" spcFirstLastPara="1" rIns="25400" wrap="square" tIns="25400">
            <a:noAutofit/>
          </a:bodyPr>
          <a:lstStyle/>
          <a:p>
            <a:pPr indent="0" lvl="0" marL="0" marR="0" rtl="0" algn="l">
              <a:lnSpc>
                <a:spcPct val="109200"/>
              </a:lnSpc>
              <a:spcBef>
                <a:spcPts val="0"/>
              </a:spcBef>
              <a:spcAft>
                <a:spcPts val="0"/>
              </a:spcAft>
              <a:buClr>
                <a:srgbClr val="212121"/>
              </a:buClr>
              <a:buSzPts val="2100"/>
              <a:buFont typeface="Gabarito"/>
              <a:buNone/>
            </a:pPr>
            <a:r>
              <a:rPr lang="en-US" sz="3000">
                <a:solidFill>
                  <a:srgbClr val="212121"/>
                </a:solidFill>
                <a:latin typeface="Gabarito"/>
                <a:ea typeface="Gabarito"/>
                <a:cs typeface="Gabarito"/>
                <a:sym typeface="Gabarito"/>
              </a:rPr>
              <a:t>In this demo, we use Ollama and the </a:t>
            </a:r>
            <a:r>
              <a:rPr b="1" lang="en-US" sz="3000">
                <a:solidFill>
                  <a:schemeClr val="accent2"/>
                </a:solidFill>
                <a:latin typeface="Gabarito"/>
                <a:ea typeface="Gabarito"/>
                <a:cs typeface="Gabarito"/>
                <a:sym typeface="Gabarito"/>
              </a:rPr>
              <a:t>nomic-embed-text model</a:t>
            </a:r>
            <a:r>
              <a:rPr lang="en-US" sz="3000">
                <a:solidFill>
                  <a:srgbClr val="212121"/>
                </a:solidFill>
                <a:latin typeface="Gabarito"/>
                <a:ea typeface="Gabarito"/>
                <a:cs typeface="Gabarito"/>
                <a:sym typeface="Gabarito"/>
              </a:rPr>
              <a:t> to convert a sentence into a numerical vector. This is the same embedding process used later in RAG for storing and searching text by meaning.</a:t>
            </a:r>
            <a:r>
              <a:rPr lang="en-US" sz="3000">
                <a:solidFill>
                  <a:srgbClr val="1E4E79"/>
                </a:solidFill>
                <a:latin typeface="Gabarito"/>
                <a:ea typeface="Gabarito"/>
                <a:cs typeface="Gabarito"/>
                <a:sym typeface="Gabarito"/>
              </a:rPr>
              <a:t> </a:t>
            </a:r>
            <a:r>
              <a:rPr b="1" lang="en-US" sz="3000">
                <a:solidFill>
                  <a:srgbClr val="1E4E79"/>
                </a:solidFill>
                <a:latin typeface="Gabarito"/>
                <a:ea typeface="Gabarito"/>
                <a:cs typeface="Gabarito"/>
                <a:sym typeface="Gabarito"/>
              </a:rPr>
              <a:t>Three steps:</a:t>
            </a:r>
            <a:r>
              <a:rPr b="1" lang="en-US" sz="3000">
                <a:solidFill>
                  <a:srgbClr val="212121"/>
                </a:solidFill>
                <a:latin typeface="Gabarito"/>
                <a:ea typeface="Gabarito"/>
                <a:cs typeface="Gabarito"/>
                <a:sym typeface="Gabarito"/>
              </a:rPr>
              <a:t> </a:t>
            </a:r>
            <a:r>
              <a:rPr lang="en-US" sz="3000">
                <a:solidFill>
                  <a:srgbClr val="212121"/>
                </a:solidFill>
                <a:latin typeface="Gabarito"/>
                <a:ea typeface="Gabarito"/>
                <a:cs typeface="Gabarito"/>
                <a:sym typeface="Gabarito"/>
              </a:rPr>
              <a:t>Pull the embedding model, write a simple Python script, and convert text into a numerical vector locally.  </a:t>
            </a:r>
            <a:endParaRPr sz="3000">
              <a:solidFill>
                <a:srgbClr val="212121"/>
              </a:solidFill>
              <a:latin typeface="Gabarito"/>
              <a:ea typeface="Gabarito"/>
              <a:cs typeface="Gabarito"/>
              <a:sym typeface="Gabarito"/>
            </a:endParaRPr>
          </a:p>
        </p:txBody>
      </p:sp>
      <p:sp>
        <p:nvSpPr>
          <p:cNvPr id="981" name="Google Shape;981;g3f7884f567b_0_50"/>
          <p:cNvSpPr/>
          <p:nvPr/>
        </p:nvSpPr>
        <p:spPr>
          <a:xfrm>
            <a:off x="1333500" y="5176749"/>
            <a:ext cx="9194100" cy="2207400"/>
          </a:xfrm>
          <a:prstGeom prst="rect">
            <a:avLst/>
          </a:prstGeom>
          <a:noFill/>
          <a:ln>
            <a:noFill/>
          </a:ln>
        </p:spPr>
        <p:txBody>
          <a:bodyPr anchorCtr="0" anchor="t" bIns="25400" lIns="25400" spcFirstLastPara="1" rIns="25400" wrap="square" tIns="25400">
            <a:noAutofit/>
          </a:bodyPr>
          <a:lstStyle/>
          <a:p>
            <a:pPr indent="0" lvl="0" marL="0" rtl="0" algn="l">
              <a:lnSpc>
                <a:spcPct val="150000"/>
              </a:lnSpc>
              <a:spcBef>
                <a:spcPts val="0"/>
              </a:spcBef>
              <a:spcAft>
                <a:spcPts val="0"/>
              </a:spcAft>
              <a:buClr>
                <a:srgbClr val="6E7D4C"/>
              </a:buClr>
              <a:buSzPts val="1800"/>
              <a:buFont typeface="JetBrains Mono"/>
              <a:buNone/>
            </a:pPr>
            <a:r>
              <a:rPr lang="en-US" sz="2000">
                <a:solidFill>
                  <a:srgbClr val="A3C57F"/>
                </a:solidFill>
                <a:latin typeface="JetBrains Mono"/>
                <a:ea typeface="JetBrains Mono"/>
                <a:cs typeface="JetBrains Mono"/>
                <a:sym typeface="JetBrains Mono"/>
              </a:rPr>
              <a:t>$</a:t>
            </a:r>
            <a:r>
              <a:rPr lang="en-US" sz="2000">
                <a:solidFill>
                  <a:srgbClr val="E8EAED"/>
                </a:solidFill>
                <a:latin typeface="JetBrains Mono"/>
                <a:ea typeface="JetBrains Mono"/>
                <a:cs typeface="JetBrains Mono"/>
                <a:sym typeface="JetBrains Mono"/>
              </a:rPr>
              <a:t>ollama pull </a:t>
            </a:r>
            <a:r>
              <a:rPr b="1" lang="en-US" sz="2000">
                <a:solidFill>
                  <a:schemeClr val="accent2"/>
                </a:solidFill>
                <a:latin typeface="JetBrains Mono"/>
                <a:ea typeface="JetBrains Mono"/>
                <a:cs typeface="JetBrains Mono"/>
                <a:sym typeface="JetBrains Mono"/>
              </a:rPr>
              <a:t>nomic-embed-text:latest</a:t>
            </a:r>
            <a:endParaRPr b="1" sz="2000">
              <a:solidFill>
                <a:schemeClr val="accent2"/>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9AA0A6"/>
              </a:buClr>
              <a:buSzPts val="1800"/>
              <a:buFont typeface="JetBrains Mono"/>
              <a:buNone/>
            </a:pPr>
            <a:r>
              <a:rPr lang="en-US" sz="2000">
                <a:solidFill>
                  <a:srgbClr val="9AA0A6"/>
                </a:solidFill>
                <a:latin typeface="JetBrains Mono"/>
                <a:ea typeface="JetBrains Mono"/>
                <a:cs typeface="JetBrains Mono"/>
                <a:sym typeface="JetBrains Mono"/>
              </a:rPr>
              <a:t>pulling manifest → 970aa74c0a90 (274 MB)</a:t>
            </a:r>
            <a:endParaRPr sz="2000">
              <a:solidFill>
                <a:schemeClr val="dk1"/>
              </a:solidFill>
              <a:latin typeface="Calibri"/>
              <a:ea typeface="Calibri"/>
              <a:cs typeface="Calibri"/>
              <a:sym typeface="Calibri"/>
            </a:endParaRPr>
          </a:p>
          <a:p>
            <a:pPr indent="0" lvl="0" marL="0" rtl="0" algn="l">
              <a:lnSpc>
                <a:spcPct val="150000"/>
              </a:lnSpc>
              <a:spcBef>
                <a:spcPts val="0"/>
              </a:spcBef>
              <a:spcAft>
                <a:spcPts val="0"/>
              </a:spcAft>
              <a:buClr>
                <a:srgbClr val="9AA0A6"/>
              </a:buClr>
              <a:buSzPts val="1800"/>
              <a:buFont typeface="JetBrains Mono"/>
              <a:buNone/>
            </a:pPr>
            <a:r>
              <a:rPr lang="en-US" sz="2000">
                <a:solidFill>
                  <a:srgbClr val="9AA0A6"/>
                </a:solidFill>
                <a:latin typeface="JetBrains Mono"/>
                <a:ea typeface="JetBrains Mono"/>
                <a:cs typeface="JetBrains Mono"/>
                <a:sym typeface="JetBrains Mono"/>
              </a:rPr>
              <a:t>verifying digest → success</a:t>
            </a:r>
            <a:endParaRPr sz="20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0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rPr lang="en-US" sz="2000">
                <a:solidFill>
                  <a:srgbClr val="A3C57F"/>
                </a:solidFill>
                <a:latin typeface="JetBrains Mono"/>
                <a:ea typeface="JetBrains Mono"/>
                <a:cs typeface="JetBrains Mono"/>
                <a:sym typeface="JetBrains Mono"/>
              </a:rPr>
              <a:t>$</a:t>
            </a:r>
            <a:r>
              <a:rPr lang="en-US" sz="2000">
                <a:solidFill>
                  <a:srgbClr val="E8EAED"/>
                </a:solidFill>
                <a:latin typeface="JetBrains Mono"/>
                <a:ea typeface="JetBrains Mono"/>
                <a:cs typeface="JetBrains Mono"/>
                <a:sym typeface="JetBrains Mono"/>
              </a:rPr>
              <a:t>nano </a:t>
            </a:r>
            <a:r>
              <a:rPr b="1" lang="en-US" sz="2000">
                <a:solidFill>
                  <a:schemeClr val="accent2"/>
                </a:solidFill>
                <a:latin typeface="JetBrains Mono"/>
                <a:ea typeface="JetBrains Mono"/>
                <a:cs typeface="JetBrains Mono"/>
                <a:sym typeface="JetBrains Mono"/>
              </a:rPr>
              <a:t>embed.py</a:t>
            </a:r>
            <a:endParaRPr b="1" sz="2000">
              <a:solidFill>
                <a:schemeClr val="accent2"/>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 </a:t>
            </a:r>
            <a:endParaRPr sz="20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1800"/>
              <a:buFont typeface="JetBrains Mono"/>
              <a:buNone/>
            </a:pPr>
            <a:r>
              <a:t/>
            </a:r>
            <a:endParaRPr sz="20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0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0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0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C792EA"/>
              </a:buClr>
              <a:buSzPts val="1800"/>
              <a:buFont typeface="JetBrains Mono"/>
              <a:buNone/>
            </a:pPr>
            <a:r>
              <a:t/>
            </a:r>
            <a:endParaRPr sz="2000">
              <a:solidFill>
                <a:srgbClr val="C792EA"/>
              </a:solidFill>
              <a:latin typeface="JetBrains Mono"/>
              <a:ea typeface="JetBrains Mono"/>
              <a:cs typeface="JetBrains Mono"/>
              <a:sym typeface="JetBrains Mono"/>
            </a:endParaRPr>
          </a:p>
        </p:txBody>
      </p:sp>
      <p:sp>
        <p:nvSpPr>
          <p:cNvPr id="982" name="Google Shape;982;g3f7884f567b_0_50"/>
          <p:cNvSpPr/>
          <p:nvPr/>
        </p:nvSpPr>
        <p:spPr>
          <a:xfrm>
            <a:off x="1390650" y="8098824"/>
            <a:ext cx="15537000" cy="12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550"/>
              <a:buFont typeface="Gabarito"/>
              <a:buNone/>
            </a:pPr>
            <a:r>
              <a:rPr b="1" lang="en-US" sz="2200">
                <a:solidFill>
                  <a:srgbClr val="FF9900"/>
                </a:solidFill>
                <a:latin typeface="Gabarito"/>
                <a:ea typeface="Gabarito"/>
                <a:cs typeface="Gabarito"/>
                <a:sym typeface="Gabarito"/>
              </a:rPr>
              <a:t>K</a:t>
            </a:r>
            <a:r>
              <a:rPr b="1" lang="en-US" sz="2200">
                <a:solidFill>
                  <a:schemeClr val="accent2"/>
                </a:solidFill>
                <a:latin typeface="Gabarito"/>
                <a:ea typeface="Gabarito"/>
                <a:cs typeface="Gabarito"/>
                <a:sym typeface="Gabarito"/>
              </a:rPr>
              <a:t>eynote: </a:t>
            </a:r>
            <a:r>
              <a:rPr b="1" lang="en-US" sz="2200">
                <a:solidFill>
                  <a:srgbClr val="1E4E79"/>
                </a:solidFill>
                <a:latin typeface="Gabarito"/>
                <a:ea typeface="Gabarito"/>
                <a:cs typeface="Gabarito"/>
                <a:sym typeface="Gabarito"/>
              </a:rPr>
              <a:t>Use the same embedding model for both your documents and user queries.</a:t>
            </a:r>
            <a:r>
              <a:rPr lang="en-US" sz="2200">
                <a:solidFill>
                  <a:srgbClr val="5B5B5B"/>
                </a:solidFill>
                <a:latin typeface="Gabarito"/>
                <a:ea typeface="Gabarito"/>
                <a:cs typeface="Gabarito"/>
                <a:sym typeface="Gabarito"/>
              </a:rPr>
              <a:t> If you embed your documents with </a:t>
            </a:r>
            <a:r>
              <a:rPr b="1" lang="en-US" sz="2200">
                <a:solidFill>
                  <a:schemeClr val="accent2"/>
                </a:solidFill>
                <a:latin typeface="Gabarito"/>
                <a:ea typeface="Gabarito"/>
                <a:cs typeface="Gabarito"/>
                <a:sym typeface="Gabarito"/>
              </a:rPr>
              <a:t>nomic-embed-text</a:t>
            </a:r>
            <a:r>
              <a:rPr lang="en-US" sz="2200">
                <a:solidFill>
                  <a:srgbClr val="5B5B5B"/>
                </a:solidFill>
                <a:latin typeface="Gabarito"/>
                <a:ea typeface="Gabarito"/>
                <a:cs typeface="Gabarito"/>
                <a:sym typeface="Gabarito"/>
              </a:rPr>
              <a:t>, you should also use </a:t>
            </a:r>
            <a:r>
              <a:rPr b="1" lang="en-US" sz="2200">
                <a:solidFill>
                  <a:schemeClr val="accent2"/>
                </a:solidFill>
                <a:latin typeface="Gabarito"/>
                <a:ea typeface="Gabarito"/>
                <a:cs typeface="Gabarito"/>
                <a:sym typeface="Gabarito"/>
              </a:rPr>
              <a:t>nomic-embed-text </a:t>
            </a:r>
            <a:r>
              <a:rPr lang="en-US" sz="2200">
                <a:solidFill>
                  <a:srgbClr val="5B5B5B"/>
                </a:solidFill>
                <a:latin typeface="Gabarito"/>
                <a:ea typeface="Gabarito"/>
                <a:cs typeface="Gabarito"/>
                <a:sym typeface="Gabarito"/>
              </a:rPr>
              <a:t>to embed the user's query so both vectors can be compared correctly. Using a different model can produce incompatible vectors, so similarity search may not work correctly. </a:t>
            </a:r>
            <a:endParaRPr sz="2200">
              <a:solidFill>
                <a:srgbClr val="5B5B5B"/>
              </a:solidFill>
              <a:latin typeface="Gabarito"/>
              <a:ea typeface="Gabarito"/>
              <a:cs typeface="Gabarito"/>
              <a:sym typeface="Gabarito"/>
            </a:endParaRPr>
          </a:p>
          <a:p>
            <a:pPr indent="0" lvl="0" marL="0" marR="0" rtl="0" algn="l">
              <a:lnSpc>
                <a:spcPct val="100000"/>
              </a:lnSpc>
              <a:spcBef>
                <a:spcPts val="0"/>
              </a:spcBef>
              <a:spcAft>
                <a:spcPts val="0"/>
              </a:spcAft>
              <a:buClr>
                <a:srgbClr val="FF9900"/>
              </a:buClr>
              <a:buSzPts val="2550"/>
              <a:buFont typeface="Gabarito"/>
              <a:buNone/>
            </a:pPr>
            <a:r>
              <a:t/>
            </a:r>
            <a:endParaRPr sz="2200">
              <a:solidFill>
                <a:srgbClr val="5B5B5B"/>
              </a:solidFill>
              <a:latin typeface="Gabarito"/>
              <a:ea typeface="Gabarito"/>
              <a:cs typeface="Gabarito"/>
              <a:sym typeface="Gabari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7" name="Shape 987"/>
        <p:cNvGrpSpPr/>
        <p:nvPr/>
      </p:nvGrpSpPr>
      <p:grpSpPr>
        <a:xfrm>
          <a:off x="0" y="0"/>
          <a:ext cx="0" cy="0"/>
          <a:chOff x="0" y="0"/>
          <a:chExt cx="0" cy="0"/>
        </a:xfrm>
      </p:grpSpPr>
      <p:sp>
        <p:nvSpPr>
          <p:cNvPr id="988" name="Google Shape;988;g3f7884f567b_0_92"/>
          <p:cNvSpPr/>
          <p:nvPr/>
        </p:nvSpPr>
        <p:spPr>
          <a:xfrm>
            <a:off x="1047750" y="2885571"/>
            <a:ext cx="16192500" cy="7001700"/>
          </a:xfrm>
          <a:prstGeom prst="roundRect">
            <a:avLst>
              <a:gd fmla="val 2525"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g3f7884f567b_0_92"/>
          <p:cNvSpPr/>
          <p:nvPr/>
        </p:nvSpPr>
        <p:spPr>
          <a:xfrm>
            <a:off x="1047750" y="2885571"/>
            <a:ext cx="16192500" cy="482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g3f7884f567b_0_92"/>
          <p:cNvSpPr/>
          <p:nvPr/>
        </p:nvSpPr>
        <p:spPr>
          <a:xfrm>
            <a:off x="900093" y="2980821"/>
            <a:ext cx="16340100" cy="3303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E8EAED"/>
              </a:buClr>
              <a:buSzPts val="1800"/>
              <a:buFont typeface="JetBrains Mono"/>
              <a:buNone/>
            </a:pPr>
            <a:r>
              <a:rPr b="0" i="0" lang="en-US" sz="1800" u="none" cap="none" strike="noStrike">
                <a:solidFill>
                  <a:srgbClr val="E8EAED"/>
                </a:solidFill>
                <a:latin typeface="JetBrains Mono"/>
                <a:ea typeface="JetBrains Mono"/>
                <a:cs typeface="JetBrains Mono"/>
                <a:sym typeface="JetBrains Mono"/>
              </a:rPr>
              <a:t>GNU nano 7.2 embed.py</a:t>
            </a:r>
            <a:endParaRPr b="0" i="0" sz="1800" u="none" cap="none" strike="noStrike">
              <a:solidFill>
                <a:schemeClr val="dk1"/>
              </a:solidFill>
              <a:latin typeface="Calibri"/>
              <a:ea typeface="Calibri"/>
              <a:cs typeface="Calibri"/>
              <a:sym typeface="Calibri"/>
            </a:endParaRPr>
          </a:p>
        </p:txBody>
      </p:sp>
      <p:pic>
        <p:nvPicPr>
          <p:cNvPr descr="preencoded.png" id="991" name="Google Shape;991;g3f7884f567b_0_92"/>
          <p:cNvPicPr preferRelativeResize="0"/>
          <p:nvPr/>
        </p:nvPicPr>
        <p:blipFill rotWithShape="1">
          <a:blip r:embed="rId3">
            <a:alphaModFix/>
          </a:blip>
          <a:srcRect b="0" l="0" r="0" t="0"/>
          <a:stretch/>
        </p:blipFill>
        <p:spPr>
          <a:xfrm>
            <a:off x="16202025" y="952500"/>
            <a:ext cx="1066800" cy="1304130"/>
          </a:xfrm>
          <a:prstGeom prst="rect">
            <a:avLst/>
          </a:prstGeom>
          <a:noFill/>
          <a:ln>
            <a:noFill/>
          </a:ln>
        </p:spPr>
      </p:pic>
      <p:sp>
        <p:nvSpPr>
          <p:cNvPr id="992" name="Google Shape;992;g3f7884f567b_0_92"/>
          <p:cNvSpPr/>
          <p:nvPr/>
        </p:nvSpPr>
        <p:spPr>
          <a:xfrm>
            <a:off x="1047750" y="666750"/>
            <a:ext cx="17811900" cy="469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2850"/>
              <a:buFont typeface="Gabarito"/>
              <a:buNone/>
            </a:pPr>
            <a:r>
              <a:rPr b="1" i="0" lang="en-US" sz="3000" u="none" cap="none" strike="noStrike">
                <a:solidFill>
                  <a:srgbClr val="FF9900"/>
                </a:solidFill>
                <a:latin typeface="Gabarito"/>
                <a:ea typeface="Gabarito"/>
                <a:cs typeface="Gabarito"/>
                <a:sym typeface="Gabarito"/>
              </a:rPr>
              <a:t>Local Models</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993" name="Google Shape;993;g3f7884f567b_0_92"/>
          <p:cNvSpPr/>
          <p:nvPr/>
        </p:nvSpPr>
        <p:spPr>
          <a:xfrm>
            <a:off x="1047750" y="1136650"/>
            <a:ext cx="17811900" cy="1028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450"/>
              <a:buFont typeface="Gabarito"/>
              <a:buNone/>
            </a:pPr>
            <a:r>
              <a:rPr b="1" i="0" lang="en-US" sz="6000" u="none" cap="none" strike="noStrike">
                <a:solidFill>
                  <a:srgbClr val="274D71"/>
                </a:solidFill>
                <a:latin typeface="Gabarito"/>
                <a:ea typeface="Gabarito"/>
                <a:cs typeface="Gabarito"/>
                <a:sym typeface="Gabarito"/>
              </a:rPr>
              <a:t>Code Demo — Embedding Text Locally</a:t>
            </a:r>
            <a:endParaRPr b="0" i="0" sz="6000" u="none" cap="none" strike="noStrike">
              <a:solidFill>
                <a:schemeClr val="dk1"/>
              </a:solidFill>
              <a:latin typeface="Calibri"/>
              <a:ea typeface="Calibri"/>
              <a:cs typeface="Calibri"/>
              <a:sym typeface="Calibri"/>
            </a:endParaRPr>
          </a:p>
        </p:txBody>
      </p:sp>
      <p:sp>
        <p:nvSpPr>
          <p:cNvPr id="994" name="Google Shape;994;g3f7884f567b_0_92"/>
          <p:cNvSpPr/>
          <p:nvPr/>
        </p:nvSpPr>
        <p:spPr>
          <a:xfrm>
            <a:off x="1047750" y="2198933"/>
            <a:ext cx="17811900" cy="384900"/>
          </a:xfrm>
          <a:prstGeom prst="rect">
            <a:avLst/>
          </a:prstGeom>
          <a:noFill/>
          <a:ln>
            <a:noFill/>
          </a:ln>
        </p:spPr>
        <p:txBody>
          <a:bodyPr anchorCtr="0" anchor="t" bIns="25400" lIns="25400" spcFirstLastPara="1" rIns="25400" wrap="square" tIns="25400">
            <a:noAutofit/>
          </a:bodyPr>
          <a:lstStyle/>
          <a:p>
            <a:pPr indent="0" lvl="0" marL="0" marR="0" rtl="0" algn="l">
              <a:lnSpc>
                <a:spcPct val="109200"/>
              </a:lnSpc>
              <a:spcBef>
                <a:spcPts val="0"/>
              </a:spcBef>
              <a:spcAft>
                <a:spcPts val="0"/>
              </a:spcAft>
              <a:buClr>
                <a:srgbClr val="212121"/>
              </a:buClr>
              <a:buSzPts val="2100"/>
              <a:buFont typeface="Gabarito"/>
              <a:buNone/>
            </a:pPr>
            <a:r>
              <a:rPr lang="en-US" sz="3000">
                <a:solidFill>
                  <a:srgbClr val="212121"/>
                </a:solidFill>
                <a:latin typeface="Gabarito"/>
                <a:ea typeface="Gabarito"/>
                <a:cs typeface="Gabarito"/>
                <a:sym typeface="Gabarito"/>
              </a:rPr>
              <a:t>Write the simple python script: </a:t>
            </a:r>
            <a:r>
              <a:rPr b="1" lang="en-US" sz="3000">
                <a:solidFill>
                  <a:schemeClr val="accent2"/>
                </a:solidFill>
                <a:latin typeface="Gabarito"/>
                <a:ea typeface="Gabarito"/>
                <a:cs typeface="Gabarito"/>
                <a:sym typeface="Gabarito"/>
              </a:rPr>
              <a:t>embed.py</a:t>
            </a:r>
            <a:endParaRPr b="1" i="0" sz="3000" u="none" cap="none" strike="noStrike">
              <a:solidFill>
                <a:schemeClr val="accent2"/>
              </a:solidFill>
              <a:latin typeface="Calibri"/>
              <a:ea typeface="Calibri"/>
              <a:cs typeface="Calibri"/>
              <a:sym typeface="Calibri"/>
            </a:endParaRPr>
          </a:p>
        </p:txBody>
      </p:sp>
      <p:sp>
        <p:nvSpPr>
          <p:cNvPr id="995" name="Google Shape;995;g3f7884f567b_0_92"/>
          <p:cNvSpPr/>
          <p:nvPr/>
        </p:nvSpPr>
        <p:spPr>
          <a:xfrm>
            <a:off x="1333500" y="3520596"/>
            <a:ext cx="15460500" cy="60492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C792EA"/>
              </a:buClr>
              <a:buSzPts val="1800"/>
              <a:buFont typeface="JetBrains Mono"/>
              <a:buNone/>
            </a:pPr>
            <a:r>
              <a:rPr b="0" i="0" lang="en-US" sz="2000" u="none" cap="none" strike="noStrike">
                <a:solidFill>
                  <a:srgbClr val="C792EA"/>
                </a:solidFill>
                <a:latin typeface="JetBrains Mono"/>
                <a:ea typeface="JetBrains Mono"/>
                <a:cs typeface="JetBrains Mono"/>
                <a:sym typeface="JetBrains Mono"/>
              </a:rPr>
              <a:t>import </a:t>
            </a:r>
            <a:r>
              <a:rPr b="0" i="0" lang="en-US" sz="2000" u="none" cap="none" strike="noStrike">
                <a:solidFill>
                  <a:srgbClr val="E8EAED"/>
                </a:solidFill>
                <a:latin typeface="JetBrains Mono"/>
                <a:ea typeface="JetBrains Mono"/>
                <a:cs typeface="JetBrains Mono"/>
                <a:sym typeface="JetBrains Mono"/>
              </a:rPr>
              <a:t>ollama</a:t>
            </a:r>
            <a:endParaRPr b="0" i="0" sz="2000" u="none" cap="none" strike="noStrike">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C792EA"/>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rPr lang="en-US" sz="1800">
                <a:solidFill>
                  <a:srgbClr val="9AA0A6"/>
                </a:solidFill>
                <a:latin typeface="JetBrains Mono"/>
                <a:ea typeface="JetBrains Mono"/>
                <a:cs typeface="JetBrains Mono"/>
                <a:sym typeface="JetBrains Mono"/>
              </a:rPr>
              <a:t># Text that we want to convert into an embedding vector</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text = </a:t>
            </a:r>
            <a:r>
              <a:rPr lang="en-US" sz="2000">
                <a:solidFill>
                  <a:srgbClr val="A8D08D"/>
                </a:solidFill>
                <a:latin typeface="JetBrains Mono"/>
                <a:ea typeface="JetBrains Mono"/>
                <a:cs typeface="JetBrains Mono"/>
                <a:sym typeface="JetBrains Mono"/>
              </a:rPr>
              <a:t>"An embedding model converts text into numerical vectors that capture semantic meaning."</a:t>
            </a:r>
            <a:endParaRPr sz="20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rPr lang="en-US" sz="1800">
                <a:solidFill>
                  <a:srgbClr val="9AA0A6"/>
                </a:solidFill>
                <a:latin typeface="JetBrains Mono"/>
                <a:ea typeface="JetBrains Mono"/>
                <a:cs typeface="JetBrains Mono"/>
                <a:sym typeface="JetBrains Mono"/>
              </a:rPr>
              <a:t># Generate the embedding</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response = ollama.embed(</a:t>
            </a:r>
            <a:endParaRPr sz="200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model=</a:t>
            </a:r>
            <a:r>
              <a:rPr lang="en-US" sz="2000">
                <a:solidFill>
                  <a:srgbClr val="A8D08D"/>
                </a:solidFill>
                <a:latin typeface="JetBrains Mono"/>
                <a:ea typeface="JetBrains Mono"/>
                <a:cs typeface="JetBrains Mono"/>
                <a:sym typeface="JetBrains Mono"/>
              </a:rPr>
              <a:t>"nomic-embed-text:latest"</a:t>
            </a:r>
            <a:r>
              <a:rPr lang="en-US" sz="2000">
                <a:solidFill>
                  <a:srgbClr val="E8EAED"/>
                </a:solidFill>
                <a:latin typeface="JetBrains Mono"/>
                <a:ea typeface="JetBrains Mono"/>
                <a:cs typeface="JetBrains Mono"/>
                <a:sym typeface="JetBrains Mono"/>
              </a:rPr>
              <a:t>,</a:t>
            </a:r>
            <a:endParaRPr sz="200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input=text</a:t>
            </a:r>
            <a:endParaRPr sz="20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rPr lang="en-US" sz="1800">
                <a:solidFill>
                  <a:srgbClr val="9AA0A6"/>
                </a:solidFill>
                <a:latin typeface="JetBrains Mono"/>
                <a:ea typeface="JetBrains Mono"/>
                <a:cs typeface="JetBrains Mono"/>
                <a:sym typeface="JetBrains Mono"/>
              </a:rPr>
              <a:t># Extract the vector</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vector = response[</a:t>
            </a:r>
            <a:r>
              <a:rPr lang="en-US" sz="2000">
                <a:solidFill>
                  <a:srgbClr val="A8D08D"/>
                </a:solidFill>
                <a:latin typeface="JetBrains Mono"/>
                <a:ea typeface="JetBrains Mono"/>
                <a:cs typeface="JetBrains Mono"/>
                <a:sym typeface="JetBrains Mono"/>
              </a:rPr>
              <a:t>"embeddings"</a:t>
            </a:r>
            <a:r>
              <a:rPr lang="en-US" sz="2000">
                <a:solidFill>
                  <a:srgbClr val="E8EAED"/>
                </a:solidFill>
                <a:latin typeface="JetBrains Mono"/>
                <a:ea typeface="JetBrains Mono"/>
                <a:cs typeface="JetBrains Mono"/>
                <a:sym typeface="JetBrains Mono"/>
              </a:rPr>
              <a:t>][</a:t>
            </a:r>
            <a:r>
              <a:rPr lang="en-US" sz="2000">
                <a:solidFill>
                  <a:srgbClr val="F0B45C"/>
                </a:solidFill>
                <a:latin typeface="JetBrains Mono"/>
                <a:ea typeface="JetBrains Mono"/>
                <a:cs typeface="JetBrains Mono"/>
                <a:sym typeface="JetBrains Mono"/>
              </a:rPr>
              <a:t>0</a:t>
            </a:r>
            <a:r>
              <a:rPr lang="en-US" sz="2000">
                <a:solidFill>
                  <a:srgbClr val="E8EAED"/>
                </a:solidFill>
                <a:latin typeface="JetBrains Mono"/>
                <a:ea typeface="JetBrains Mono"/>
                <a:cs typeface="JetBrains Mono"/>
                <a:sym typeface="JetBrains Mono"/>
              </a:rPr>
              <a:t>]</a:t>
            </a:r>
            <a:endParaRPr sz="20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rPr lang="en-US" sz="1800">
                <a:solidFill>
                  <a:srgbClr val="9AA0A6"/>
                </a:solidFill>
                <a:latin typeface="JetBrains Mono"/>
                <a:ea typeface="JetBrains Mono"/>
                <a:cs typeface="JetBrains Mono"/>
                <a:sym typeface="JetBrains Mono"/>
              </a:rPr>
              <a:t># Show the vector dimension</a:t>
            </a:r>
            <a:endParaRPr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print(</a:t>
            </a:r>
            <a:r>
              <a:rPr lang="en-US" sz="2000">
                <a:solidFill>
                  <a:srgbClr val="A8D08D"/>
                </a:solidFill>
                <a:latin typeface="JetBrains Mono"/>
                <a:ea typeface="JetBrains Mono"/>
                <a:cs typeface="JetBrains Mono"/>
                <a:sym typeface="JetBrains Mono"/>
              </a:rPr>
              <a:t>"Vector dimension:"</a:t>
            </a:r>
            <a:r>
              <a:rPr lang="en-US" sz="2000">
                <a:solidFill>
                  <a:srgbClr val="E8EAED"/>
                </a:solidFill>
                <a:latin typeface="JetBrains Mono"/>
                <a:ea typeface="JetBrains Mono"/>
                <a:cs typeface="JetBrains Mono"/>
                <a:sym typeface="JetBrains Mono"/>
              </a:rPr>
              <a:t>, len(vector))</a:t>
            </a:r>
            <a:endParaRPr sz="20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rPr lang="en-US" sz="1800">
                <a:solidFill>
                  <a:srgbClr val="9AA0A6"/>
                </a:solidFill>
                <a:latin typeface="JetBrains Mono"/>
                <a:ea typeface="JetBrains Mono"/>
                <a:cs typeface="JetBrains Mono"/>
                <a:sym typeface="JetBrains Mono"/>
              </a:rPr>
              <a:t># Show the first 5 values</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rPr lang="en-US" sz="2000">
                <a:solidFill>
                  <a:srgbClr val="E8EAED"/>
                </a:solidFill>
                <a:latin typeface="JetBrains Mono"/>
                <a:ea typeface="JetBrains Mono"/>
                <a:cs typeface="JetBrains Mono"/>
                <a:sym typeface="JetBrains Mono"/>
              </a:rPr>
              <a:t>print(</a:t>
            </a:r>
            <a:r>
              <a:rPr lang="en-US" sz="2000">
                <a:solidFill>
                  <a:srgbClr val="A8D08D"/>
                </a:solidFill>
                <a:latin typeface="JetBrains Mono"/>
                <a:ea typeface="JetBrains Mono"/>
                <a:cs typeface="JetBrains Mono"/>
                <a:sym typeface="JetBrains Mono"/>
              </a:rPr>
              <a:t>"First 5 values:"</a:t>
            </a:r>
            <a:r>
              <a:rPr lang="en-US" sz="2000">
                <a:solidFill>
                  <a:srgbClr val="E8EAED"/>
                </a:solidFill>
                <a:latin typeface="JetBrains Mono"/>
                <a:ea typeface="JetBrains Mono"/>
                <a:cs typeface="JetBrains Mono"/>
                <a:sym typeface="JetBrains Mono"/>
              </a:rPr>
              <a:t>, vector[:</a:t>
            </a:r>
            <a:r>
              <a:rPr lang="en-US" sz="2000">
                <a:solidFill>
                  <a:srgbClr val="F0B45C"/>
                </a:solidFill>
                <a:latin typeface="JetBrains Mono"/>
                <a:ea typeface="JetBrains Mono"/>
                <a:cs typeface="JetBrains Mono"/>
                <a:sym typeface="JetBrains Mono"/>
              </a:rPr>
              <a:t>5</a:t>
            </a:r>
            <a:r>
              <a:rPr lang="en-US" sz="2000">
                <a:solidFill>
                  <a:srgbClr val="E8EAED"/>
                </a:solidFill>
                <a:latin typeface="JetBrains Mono"/>
                <a:ea typeface="JetBrains Mono"/>
                <a:cs typeface="JetBrains Mono"/>
                <a:sym typeface="JetBrains Mono"/>
              </a:rPr>
              <a:t>])</a:t>
            </a:r>
            <a:endParaRPr sz="2000">
              <a:solidFill>
                <a:schemeClr val="dk1"/>
              </a:solidFill>
              <a:latin typeface="Calibri"/>
              <a:ea typeface="Calibri"/>
              <a:cs typeface="Calibri"/>
              <a:sym typeface="Calibri"/>
            </a:endParaRPr>
          </a:p>
          <a:p>
            <a:pPr indent="0" lvl="0" marL="0" rtl="0" algn="l">
              <a:lnSpc>
                <a:spcPct val="115000"/>
              </a:lnSpc>
              <a:spcBef>
                <a:spcPts val="0"/>
              </a:spcBef>
              <a:spcAft>
                <a:spcPts val="0"/>
              </a:spcAft>
              <a:buClr>
                <a:srgbClr val="9AA0A6"/>
              </a:buClr>
              <a:buSzPts val="1800"/>
              <a:buFont typeface="JetBrains Mono"/>
              <a:buNone/>
            </a:pPr>
            <a:r>
              <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t/>
            </a:r>
            <a:endParaRPr sz="180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1800"/>
              <a:buFont typeface="JetBrains Mono"/>
              <a:buNone/>
            </a:pPr>
            <a:r>
              <a:t/>
            </a:r>
            <a:endParaRPr sz="1800">
              <a:solidFill>
                <a:srgbClr val="A8D08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1800"/>
              <a:buFont typeface="JetBrains Mono"/>
              <a:buNone/>
            </a:pPr>
            <a:r>
              <a:t/>
            </a:r>
            <a:endParaRPr sz="1800">
              <a:solidFill>
                <a:srgbClr val="9AA0A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C792EA"/>
              </a:buClr>
              <a:buSzPts val="1800"/>
              <a:buFont typeface="JetBrains Mono"/>
              <a:buNone/>
            </a:pPr>
            <a:r>
              <a:t/>
            </a:r>
            <a:endParaRPr sz="1800">
              <a:solidFill>
                <a:srgbClr val="E8EAED"/>
              </a:solidFill>
              <a:latin typeface="JetBrains Mono"/>
              <a:ea typeface="JetBrains Mono"/>
              <a:cs typeface="JetBrains Mono"/>
              <a:sym typeface="JetBrains Mon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pic>
        <p:nvPicPr>
          <p:cNvPr descr="preencoded.png" id="1001" name="Google Shape;1001;g3f7884f567b_0_122"/>
          <p:cNvPicPr preferRelativeResize="0"/>
          <p:nvPr/>
        </p:nvPicPr>
        <p:blipFill rotWithShape="1">
          <a:blip r:embed="rId3">
            <a:alphaModFix/>
          </a:blip>
          <a:srcRect b="0" l="0" r="0" t="0"/>
          <a:stretch/>
        </p:blipFill>
        <p:spPr>
          <a:xfrm>
            <a:off x="16202025" y="952500"/>
            <a:ext cx="1066800" cy="1304130"/>
          </a:xfrm>
          <a:prstGeom prst="rect">
            <a:avLst/>
          </a:prstGeom>
          <a:noFill/>
          <a:ln>
            <a:noFill/>
          </a:ln>
        </p:spPr>
      </p:pic>
      <p:sp>
        <p:nvSpPr>
          <p:cNvPr id="1002" name="Google Shape;1002;g3f7884f567b_0_122"/>
          <p:cNvSpPr/>
          <p:nvPr/>
        </p:nvSpPr>
        <p:spPr>
          <a:xfrm>
            <a:off x="1047750" y="666750"/>
            <a:ext cx="17811900" cy="469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2850"/>
              <a:buFont typeface="Gabarito"/>
              <a:buNone/>
            </a:pPr>
            <a:r>
              <a:rPr b="1" i="0" lang="en-US" sz="3000" u="none" cap="none" strike="noStrike">
                <a:solidFill>
                  <a:srgbClr val="FF9900"/>
                </a:solidFill>
                <a:latin typeface="Gabarito"/>
                <a:ea typeface="Gabarito"/>
                <a:cs typeface="Gabarito"/>
                <a:sym typeface="Gabarito"/>
              </a:rPr>
              <a:t>Local Models</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1003" name="Google Shape;1003;g3f7884f567b_0_122"/>
          <p:cNvSpPr/>
          <p:nvPr/>
        </p:nvSpPr>
        <p:spPr>
          <a:xfrm>
            <a:off x="1047750" y="1136650"/>
            <a:ext cx="17811900" cy="1028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450"/>
              <a:buFont typeface="Gabarito"/>
              <a:buNone/>
            </a:pPr>
            <a:r>
              <a:rPr b="1" i="0" lang="en-US" sz="6000" u="none" cap="none" strike="noStrike">
                <a:solidFill>
                  <a:srgbClr val="274D71"/>
                </a:solidFill>
                <a:latin typeface="Gabarito"/>
                <a:ea typeface="Gabarito"/>
                <a:cs typeface="Gabarito"/>
                <a:sym typeface="Gabarito"/>
              </a:rPr>
              <a:t>Code Demo — Embedding Text Locally</a:t>
            </a:r>
            <a:endParaRPr b="0" i="0" sz="6000" u="none" cap="none" strike="noStrike">
              <a:solidFill>
                <a:schemeClr val="dk1"/>
              </a:solidFill>
              <a:latin typeface="Calibri"/>
              <a:ea typeface="Calibri"/>
              <a:cs typeface="Calibri"/>
              <a:sym typeface="Calibri"/>
            </a:endParaRPr>
          </a:p>
        </p:txBody>
      </p:sp>
      <p:sp>
        <p:nvSpPr>
          <p:cNvPr id="1004" name="Google Shape;1004;g3f7884f567b_0_122"/>
          <p:cNvSpPr/>
          <p:nvPr/>
        </p:nvSpPr>
        <p:spPr>
          <a:xfrm>
            <a:off x="1047750" y="2256625"/>
            <a:ext cx="17811900" cy="384900"/>
          </a:xfrm>
          <a:prstGeom prst="rect">
            <a:avLst/>
          </a:prstGeom>
          <a:noFill/>
          <a:ln>
            <a:noFill/>
          </a:ln>
        </p:spPr>
        <p:txBody>
          <a:bodyPr anchorCtr="0" anchor="t" bIns="25400" lIns="25400" spcFirstLastPara="1" rIns="25400" wrap="square" tIns="25400">
            <a:noAutofit/>
          </a:bodyPr>
          <a:lstStyle/>
          <a:p>
            <a:pPr indent="0" lvl="0" marL="0" marR="0" rtl="0" algn="l">
              <a:lnSpc>
                <a:spcPct val="109200"/>
              </a:lnSpc>
              <a:spcBef>
                <a:spcPts val="0"/>
              </a:spcBef>
              <a:spcAft>
                <a:spcPts val="0"/>
              </a:spcAft>
              <a:buClr>
                <a:srgbClr val="212121"/>
              </a:buClr>
              <a:buSzPts val="2100"/>
              <a:buFont typeface="Gabarito"/>
              <a:buNone/>
            </a:pPr>
            <a:r>
              <a:rPr lang="en-US" sz="3000">
                <a:solidFill>
                  <a:srgbClr val="212121"/>
                </a:solidFill>
                <a:latin typeface="Gabarito"/>
                <a:ea typeface="Gabarito"/>
                <a:cs typeface="Gabarito"/>
                <a:sym typeface="Gabarito"/>
              </a:rPr>
              <a:t>Runs the Python script. </a:t>
            </a:r>
            <a:endParaRPr b="0" i="0" sz="3000" u="none" cap="none" strike="noStrike">
              <a:solidFill>
                <a:schemeClr val="dk1"/>
              </a:solidFill>
              <a:latin typeface="Calibri"/>
              <a:ea typeface="Calibri"/>
              <a:cs typeface="Calibri"/>
              <a:sym typeface="Calibri"/>
            </a:endParaRPr>
          </a:p>
        </p:txBody>
      </p:sp>
      <p:sp>
        <p:nvSpPr>
          <p:cNvPr id="1005" name="Google Shape;1005;g3f7884f567b_0_122"/>
          <p:cNvSpPr/>
          <p:nvPr/>
        </p:nvSpPr>
        <p:spPr>
          <a:xfrm>
            <a:off x="1047750" y="3024001"/>
            <a:ext cx="16192500" cy="2606700"/>
          </a:xfrm>
          <a:prstGeom prst="roundRect">
            <a:avLst>
              <a:gd fmla="val 2525"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g3f7884f567b_0_122"/>
          <p:cNvSpPr/>
          <p:nvPr/>
        </p:nvSpPr>
        <p:spPr>
          <a:xfrm>
            <a:off x="1047750" y="3024001"/>
            <a:ext cx="16192500" cy="482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g3f7884f567b_0_122"/>
          <p:cNvSpPr/>
          <p:nvPr/>
        </p:nvSpPr>
        <p:spPr>
          <a:xfrm>
            <a:off x="900112" y="3119247"/>
            <a:ext cx="10137900" cy="330300"/>
          </a:xfrm>
          <a:prstGeom prst="rect">
            <a:avLst/>
          </a:prstGeom>
          <a:noFill/>
          <a:ln>
            <a:noFill/>
          </a:ln>
        </p:spPr>
        <p:txBody>
          <a:bodyPr anchorCtr="0" anchor="t" bIns="25400" lIns="25400" spcFirstLastPara="1" rIns="25400" wrap="square" tIns="25400">
            <a:noAutofit/>
          </a:bodyPr>
          <a:lstStyle/>
          <a:p>
            <a:pPr indent="0" lvl="0" marL="457200" marR="0" rtl="0" algn="l">
              <a:spcBef>
                <a:spcPts val="0"/>
              </a:spcBef>
              <a:spcAft>
                <a:spcPts val="0"/>
              </a:spcAft>
              <a:buClr>
                <a:srgbClr val="E8EAED"/>
              </a:buClr>
              <a:buSzPts val="1800"/>
              <a:buFont typeface="JetBrains Mono"/>
              <a:buNone/>
            </a:pPr>
            <a:r>
              <a:rPr lang="en-US" sz="1800">
                <a:solidFill>
                  <a:srgbClr val="9AA0A6"/>
                </a:solidFill>
                <a:latin typeface="JetBrains Mono"/>
                <a:ea typeface="JetBrains Mono"/>
                <a:cs typeface="JetBrains Mono"/>
                <a:sym typeface="JetBrains Mono"/>
              </a:rPr>
              <a:t>Terminal</a:t>
            </a:r>
            <a:endParaRPr b="0" i="0" sz="1800" u="none" cap="none" strike="noStrike">
              <a:solidFill>
                <a:schemeClr val="dk1"/>
              </a:solidFill>
              <a:latin typeface="Calibri"/>
              <a:ea typeface="Calibri"/>
              <a:cs typeface="Calibri"/>
              <a:sym typeface="Calibri"/>
            </a:endParaRPr>
          </a:p>
        </p:txBody>
      </p:sp>
      <p:sp>
        <p:nvSpPr>
          <p:cNvPr id="1008" name="Google Shape;1008;g3f7884f567b_0_122"/>
          <p:cNvSpPr/>
          <p:nvPr/>
        </p:nvSpPr>
        <p:spPr>
          <a:xfrm>
            <a:off x="1371900" y="3659026"/>
            <a:ext cx="15544200" cy="16875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6E7D4C"/>
              </a:buClr>
              <a:buSzPts val="1800"/>
              <a:buFont typeface="JetBrains Mono"/>
              <a:buNone/>
            </a:pPr>
            <a:r>
              <a:rPr lang="en-US" sz="2400">
                <a:solidFill>
                  <a:srgbClr val="A3C57F"/>
                </a:solidFill>
                <a:latin typeface="JetBrains Mono"/>
                <a:ea typeface="JetBrains Mono"/>
                <a:cs typeface="JetBrains Mono"/>
                <a:sym typeface="JetBrains Mono"/>
              </a:rPr>
              <a:t>$</a:t>
            </a:r>
            <a:r>
              <a:rPr lang="en-US" sz="2400">
                <a:solidFill>
                  <a:srgbClr val="E8EAED"/>
                </a:solidFill>
                <a:latin typeface="JetBrains Mono"/>
                <a:ea typeface="JetBrains Mono"/>
                <a:cs typeface="JetBrains Mono"/>
                <a:sym typeface="JetBrains Mono"/>
              </a:rPr>
              <a:t>python embed.py</a:t>
            </a:r>
            <a:endParaRPr sz="24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6E7D4C"/>
              </a:buClr>
              <a:buSzPts val="1800"/>
              <a:buFont typeface="JetBrains Mono"/>
              <a:buNone/>
            </a:pPr>
            <a:r>
              <a:rPr lang="en-US" sz="2400">
                <a:solidFill>
                  <a:srgbClr val="E8EAED"/>
                </a:solidFill>
                <a:latin typeface="JetBrains Mono"/>
                <a:ea typeface="JetBrains Mono"/>
                <a:cs typeface="JetBrains Mono"/>
                <a:sym typeface="JetBrains Mono"/>
              </a:rPr>
              <a:t>Vector dimension: </a:t>
            </a:r>
            <a:r>
              <a:rPr lang="en-US" sz="2400">
                <a:solidFill>
                  <a:schemeClr val="accent2"/>
                </a:solidFill>
                <a:latin typeface="JetBrains Mono"/>
                <a:ea typeface="JetBrains Mono"/>
                <a:cs typeface="JetBrains Mono"/>
                <a:sym typeface="JetBrains Mono"/>
              </a:rPr>
              <a:t>768</a:t>
            </a:r>
            <a:endParaRPr sz="2400">
              <a:solidFill>
                <a:schemeClr val="accent2"/>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6E7D4C"/>
              </a:buClr>
              <a:buSzPts val="1800"/>
              <a:buFont typeface="JetBrains Mono"/>
              <a:buNone/>
            </a:pPr>
            <a:r>
              <a:rPr lang="en-US" sz="2400">
                <a:solidFill>
                  <a:srgbClr val="E8EAED"/>
                </a:solidFill>
                <a:latin typeface="JetBrains Mono"/>
                <a:ea typeface="JetBrains Mono"/>
                <a:cs typeface="JetBrains Mono"/>
                <a:sym typeface="JetBrains Mono"/>
              </a:rPr>
              <a:t>First 5 values: [</a:t>
            </a:r>
            <a:r>
              <a:rPr b="1" lang="en-US" sz="2400">
                <a:solidFill>
                  <a:srgbClr val="A3C57F"/>
                </a:solidFill>
                <a:latin typeface="JetBrains Mono"/>
                <a:ea typeface="JetBrains Mono"/>
                <a:cs typeface="JetBrains Mono"/>
                <a:sym typeface="JetBrains Mono"/>
              </a:rPr>
              <a:t>-0.008506611</a:t>
            </a:r>
            <a:r>
              <a:rPr lang="en-US" sz="2400">
                <a:solidFill>
                  <a:srgbClr val="E8EAED"/>
                </a:solidFill>
                <a:latin typeface="JetBrains Mono"/>
                <a:ea typeface="JetBrains Mono"/>
                <a:cs typeface="JetBrains Mono"/>
                <a:sym typeface="JetBrains Mono"/>
              </a:rPr>
              <a:t>, </a:t>
            </a:r>
            <a:r>
              <a:rPr b="1" lang="en-US" sz="2400">
                <a:solidFill>
                  <a:srgbClr val="A3C57F"/>
                </a:solidFill>
                <a:latin typeface="JetBrains Mono"/>
                <a:ea typeface="JetBrains Mono"/>
                <a:cs typeface="JetBrains Mono"/>
                <a:sym typeface="JetBrains Mono"/>
              </a:rPr>
              <a:t>0.035194483</a:t>
            </a:r>
            <a:r>
              <a:rPr lang="en-US" sz="2400">
                <a:solidFill>
                  <a:srgbClr val="E8EAED"/>
                </a:solidFill>
                <a:latin typeface="JetBrains Mono"/>
                <a:ea typeface="JetBrains Mono"/>
                <a:cs typeface="JetBrains Mono"/>
                <a:sym typeface="JetBrains Mono"/>
              </a:rPr>
              <a:t>, </a:t>
            </a:r>
            <a:r>
              <a:rPr b="1" lang="en-US" sz="2400">
                <a:solidFill>
                  <a:srgbClr val="A3C57F"/>
                </a:solidFill>
                <a:latin typeface="JetBrains Mono"/>
                <a:ea typeface="JetBrains Mono"/>
                <a:cs typeface="JetBrains Mono"/>
                <a:sym typeface="JetBrains Mono"/>
              </a:rPr>
              <a:t>-0.15673032</a:t>
            </a:r>
            <a:r>
              <a:rPr lang="en-US" sz="2400">
                <a:solidFill>
                  <a:srgbClr val="E8EAED"/>
                </a:solidFill>
                <a:latin typeface="JetBrains Mono"/>
                <a:ea typeface="JetBrains Mono"/>
                <a:cs typeface="JetBrains Mono"/>
                <a:sym typeface="JetBrains Mono"/>
              </a:rPr>
              <a:t>, </a:t>
            </a:r>
            <a:r>
              <a:rPr b="1" lang="en-US" sz="2400">
                <a:solidFill>
                  <a:srgbClr val="A3C57F"/>
                </a:solidFill>
                <a:latin typeface="JetBrains Mono"/>
                <a:ea typeface="JetBrains Mono"/>
                <a:cs typeface="JetBrains Mono"/>
                <a:sym typeface="JetBrains Mono"/>
              </a:rPr>
              <a:t>-0.09258528</a:t>
            </a:r>
            <a:r>
              <a:rPr lang="en-US" sz="2400">
                <a:solidFill>
                  <a:srgbClr val="E8EAED"/>
                </a:solidFill>
                <a:latin typeface="JetBrains Mono"/>
                <a:ea typeface="JetBrains Mono"/>
                <a:cs typeface="JetBrains Mono"/>
                <a:sym typeface="JetBrains Mono"/>
              </a:rPr>
              <a:t>, </a:t>
            </a:r>
            <a:r>
              <a:rPr b="1" lang="en-US" sz="2400">
                <a:solidFill>
                  <a:srgbClr val="A3C57F"/>
                </a:solidFill>
                <a:latin typeface="JetBrains Mono"/>
                <a:ea typeface="JetBrains Mono"/>
                <a:cs typeface="JetBrains Mono"/>
                <a:sym typeface="JetBrains Mono"/>
              </a:rPr>
              <a:t>0.068800375</a:t>
            </a:r>
            <a:r>
              <a:rPr lang="en-US" sz="2400">
                <a:solidFill>
                  <a:srgbClr val="E8EAED"/>
                </a:solidFill>
                <a:latin typeface="JetBrains Mono"/>
                <a:ea typeface="JetBrains Mono"/>
                <a:cs typeface="JetBrains Mono"/>
                <a:sym typeface="JetBrains Mono"/>
              </a:rPr>
              <a:t>]</a:t>
            </a:r>
            <a:endParaRPr sz="24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1800"/>
              <a:buFont typeface="JetBrains Mono"/>
              <a:buNone/>
            </a:pPr>
            <a:r>
              <a:rPr lang="en-US" sz="2400">
                <a:solidFill>
                  <a:srgbClr val="E8EAED"/>
                </a:solidFill>
                <a:latin typeface="JetBrains Mono"/>
                <a:ea typeface="JetBrains Mono"/>
                <a:cs typeface="JetBrains Mono"/>
                <a:sym typeface="JetBrains Mono"/>
              </a:rPr>
              <a:t>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E8EAED"/>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1800"/>
              <a:buFont typeface="JetBrains Mono"/>
              <a:buNone/>
            </a:pPr>
            <a:r>
              <a:t/>
            </a:r>
            <a:endParaRPr sz="2400">
              <a:solidFill>
                <a:srgbClr val="E8EAED"/>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C792EA"/>
              </a:buClr>
              <a:buSzPts val="1800"/>
              <a:buFont typeface="JetBrains Mono"/>
              <a:buNone/>
            </a:pPr>
            <a:r>
              <a:t/>
            </a:r>
            <a:endParaRPr sz="2400">
              <a:solidFill>
                <a:srgbClr val="C792EA"/>
              </a:solidFill>
              <a:latin typeface="JetBrains Mono"/>
              <a:ea typeface="JetBrains Mono"/>
              <a:cs typeface="JetBrains Mono"/>
              <a:sym typeface="JetBrains Mono"/>
            </a:endParaRPr>
          </a:p>
        </p:txBody>
      </p:sp>
      <p:sp>
        <p:nvSpPr>
          <p:cNvPr id="1009" name="Google Shape;1009;g3f7884f567b_0_122"/>
          <p:cNvSpPr txBox="1"/>
          <p:nvPr/>
        </p:nvSpPr>
        <p:spPr>
          <a:xfrm>
            <a:off x="1047750" y="5831226"/>
            <a:ext cx="16192500" cy="31677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9200"/>
              </a:lnSpc>
              <a:spcBef>
                <a:spcPts val="0"/>
              </a:spcBef>
              <a:spcAft>
                <a:spcPts val="0"/>
              </a:spcAft>
              <a:buClr>
                <a:schemeClr val="dk1"/>
              </a:buClr>
              <a:buSzPts val="3000"/>
              <a:buFont typeface="Gabarito"/>
              <a:buChar char="●"/>
            </a:pPr>
            <a:r>
              <a:rPr b="1" lang="en-US" sz="3000">
                <a:solidFill>
                  <a:srgbClr val="1E4E79"/>
                </a:solidFill>
                <a:latin typeface="Gabarito"/>
                <a:ea typeface="Gabarito"/>
                <a:cs typeface="Gabarito"/>
                <a:sym typeface="Gabarito"/>
              </a:rPr>
              <a:t>Vector dimension: 768</a:t>
            </a:r>
            <a:r>
              <a:rPr b="1" lang="en-US" sz="3000">
                <a:solidFill>
                  <a:srgbClr val="4C5A33"/>
                </a:solidFill>
                <a:latin typeface="Gabarito"/>
                <a:ea typeface="Gabarito"/>
                <a:cs typeface="Gabarito"/>
                <a:sym typeface="Gabarito"/>
              </a:rPr>
              <a:t> </a:t>
            </a:r>
            <a:endParaRPr b="1" sz="3000">
              <a:solidFill>
                <a:srgbClr val="4C5A33"/>
              </a:solidFill>
              <a:latin typeface="Gabarito"/>
              <a:ea typeface="Gabarito"/>
              <a:cs typeface="Gabarito"/>
              <a:sym typeface="Gabarito"/>
            </a:endParaRPr>
          </a:p>
          <a:p>
            <a:pPr indent="0" lvl="0" marL="457200" marR="0" rtl="0" algn="l">
              <a:lnSpc>
                <a:spcPct val="109200"/>
              </a:lnSpc>
              <a:spcBef>
                <a:spcPts val="0"/>
              </a:spcBef>
              <a:spcAft>
                <a:spcPts val="0"/>
              </a:spcAft>
              <a:buNone/>
            </a:pPr>
            <a:r>
              <a:rPr lang="en-US" sz="3000">
                <a:solidFill>
                  <a:srgbClr val="212121"/>
                </a:solidFill>
                <a:latin typeface="Gabarito"/>
                <a:ea typeface="Gabarito"/>
                <a:cs typeface="Gabarito"/>
                <a:sym typeface="Gabarito"/>
              </a:rPr>
              <a:t>The embedding model converted the input text into a vector containing </a:t>
            </a:r>
            <a:r>
              <a:rPr b="1" lang="en-US" sz="3000">
                <a:solidFill>
                  <a:schemeClr val="accent2"/>
                </a:solidFill>
                <a:latin typeface="Gabarito"/>
                <a:ea typeface="Gabarito"/>
                <a:cs typeface="Gabarito"/>
                <a:sym typeface="Gabarito"/>
              </a:rPr>
              <a:t>768 numerical values</a:t>
            </a:r>
            <a:r>
              <a:rPr lang="en-US" sz="3000">
                <a:solidFill>
                  <a:srgbClr val="212121"/>
                </a:solidFill>
                <a:latin typeface="Gabarito"/>
                <a:ea typeface="Gabarito"/>
                <a:cs typeface="Gabarito"/>
                <a:sym typeface="Gabarito"/>
              </a:rPr>
              <a:t>.</a:t>
            </a:r>
            <a:endParaRPr sz="3000">
              <a:solidFill>
                <a:srgbClr val="212121"/>
              </a:solidFill>
              <a:latin typeface="Gabarito"/>
              <a:ea typeface="Gabarito"/>
              <a:cs typeface="Gabarito"/>
              <a:sym typeface="Gabarito"/>
            </a:endParaRPr>
          </a:p>
          <a:p>
            <a:pPr indent="-419100" lvl="0" marL="457200" marR="0" rtl="0" algn="l">
              <a:lnSpc>
                <a:spcPct val="109200"/>
              </a:lnSpc>
              <a:spcBef>
                <a:spcPts val="0"/>
              </a:spcBef>
              <a:spcAft>
                <a:spcPts val="0"/>
              </a:spcAft>
              <a:buClr>
                <a:schemeClr val="dk1"/>
              </a:buClr>
              <a:buSzPts val="3000"/>
              <a:buFont typeface="Gabarito"/>
              <a:buChar char="●"/>
            </a:pPr>
            <a:r>
              <a:rPr b="1" lang="en-US" sz="3000">
                <a:solidFill>
                  <a:srgbClr val="1E4E79"/>
                </a:solidFill>
                <a:latin typeface="Gabarito"/>
                <a:ea typeface="Gabarito"/>
                <a:cs typeface="Gabarito"/>
                <a:sym typeface="Gabarito"/>
              </a:rPr>
              <a:t>First 5 values: [...]</a:t>
            </a:r>
            <a:endParaRPr b="1" sz="3000">
              <a:solidFill>
                <a:srgbClr val="1E4E79"/>
              </a:solidFill>
              <a:latin typeface="Gabarito"/>
              <a:ea typeface="Gabarito"/>
              <a:cs typeface="Gabarito"/>
              <a:sym typeface="Gabarito"/>
            </a:endParaRPr>
          </a:p>
          <a:p>
            <a:pPr indent="0" lvl="0" marL="457200" marR="0" rtl="0" algn="l">
              <a:lnSpc>
                <a:spcPct val="109200"/>
              </a:lnSpc>
              <a:spcBef>
                <a:spcPts val="0"/>
              </a:spcBef>
              <a:spcAft>
                <a:spcPts val="0"/>
              </a:spcAft>
              <a:buNone/>
            </a:pPr>
            <a:r>
              <a:rPr lang="en-US" sz="3000">
                <a:solidFill>
                  <a:srgbClr val="212121"/>
                </a:solidFill>
                <a:latin typeface="Gabarito"/>
                <a:ea typeface="Gabarito"/>
                <a:cs typeface="Gabarito"/>
                <a:sym typeface="Gabarito"/>
              </a:rPr>
              <a:t>These are the first 5 numbers from the </a:t>
            </a:r>
            <a:r>
              <a:rPr b="1" lang="en-US" sz="3000">
                <a:solidFill>
                  <a:srgbClr val="188038"/>
                </a:solidFill>
                <a:latin typeface="Gabarito"/>
                <a:ea typeface="Gabarito"/>
                <a:cs typeface="Gabarito"/>
                <a:sym typeface="Gabarito"/>
              </a:rPr>
              <a:t>768-dimensional vector</a:t>
            </a:r>
            <a:r>
              <a:rPr lang="en-US" sz="3000">
                <a:solidFill>
                  <a:srgbClr val="212121"/>
                </a:solidFill>
                <a:latin typeface="Gabarito"/>
                <a:ea typeface="Gabarito"/>
                <a:cs typeface="Gabarito"/>
                <a:sym typeface="Gabarito"/>
              </a:rPr>
              <a:t>. </a:t>
            </a:r>
            <a:endParaRPr sz="3000">
              <a:solidFill>
                <a:srgbClr val="212121"/>
              </a:solidFill>
              <a:latin typeface="Gabarito"/>
              <a:ea typeface="Gabarito"/>
              <a:cs typeface="Gabarito"/>
              <a:sym typeface="Gabarito"/>
            </a:endParaRPr>
          </a:p>
          <a:p>
            <a:pPr indent="0" lvl="0" marL="457200" marR="0" rtl="0" algn="l">
              <a:lnSpc>
                <a:spcPct val="109200"/>
              </a:lnSpc>
              <a:spcBef>
                <a:spcPts val="0"/>
              </a:spcBef>
              <a:spcAft>
                <a:spcPts val="0"/>
              </a:spcAft>
              <a:buNone/>
            </a:pPr>
            <a:r>
              <a:rPr lang="en-US" sz="3000">
                <a:solidFill>
                  <a:srgbClr val="212121"/>
                </a:solidFill>
                <a:latin typeface="Gabarito"/>
                <a:ea typeface="Gabarito"/>
                <a:cs typeface="Gabarito"/>
                <a:sym typeface="Gabarito"/>
              </a:rPr>
              <a:t>Each number is one coordinate representing part of the text's semantic information.</a:t>
            </a:r>
            <a:endParaRPr sz="3000">
              <a:solidFill>
                <a:srgbClr val="212121"/>
              </a:solidFill>
              <a:latin typeface="Gabarito"/>
              <a:ea typeface="Gabarito"/>
              <a:cs typeface="Gabarito"/>
              <a:sym typeface="Gabari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4" name="Shape 1014"/>
        <p:cNvGrpSpPr/>
        <p:nvPr/>
      </p:nvGrpSpPr>
      <p:grpSpPr>
        <a:xfrm>
          <a:off x="0" y="0"/>
          <a:ext cx="0" cy="0"/>
          <a:chOff x="0" y="0"/>
          <a:chExt cx="0" cy="0"/>
        </a:xfrm>
      </p:grpSpPr>
      <p:sp>
        <p:nvSpPr>
          <p:cNvPr id="1015" name="Google Shape;1015;p35"/>
          <p:cNvSpPr/>
          <p:nvPr/>
        </p:nvSpPr>
        <p:spPr>
          <a:xfrm>
            <a:off x="15590490" y="666750"/>
            <a:ext cx="1814736" cy="1476375"/>
          </a:xfrm>
          <a:prstGeom prst="rect">
            <a:avLst/>
          </a:prstGeom>
          <a:noFill/>
          <a:ln>
            <a:noFill/>
          </a:ln>
        </p:spPr>
        <p:txBody>
          <a:bodyPr anchorCtr="0" anchor="t" bIns="25400" lIns="25400" spcFirstLastPara="1" rIns="25400" wrap="square" tIns="25400">
            <a:noAutofit/>
          </a:bodyPr>
          <a:lstStyle/>
          <a:p>
            <a:pPr indent="0" lvl="0" marL="0" marR="0" rtl="0" algn="l">
              <a:lnSpc>
                <a:spcPct val="83425"/>
              </a:lnSpc>
              <a:spcBef>
                <a:spcPts val="0"/>
              </a:spcBef>
              <a:spcAft>
                <a:spcPts val="0"/>
              </a:spcAft>
              <a:buClr>
                <a:srgbClr val="FF9900"/>
              </a:buClr>
              <a:buSzPts val="11325"/>
              <a:buFont typeface="Gabarito"/>
              <a:buNone/>
            </a:pPr>
            <a:r>
              <a:rPr b="1" i="0" lang="en-US" sz="11325" u="none" cap="none" strike="noStrike">
                <a:solidFill>
                  <a:srgbClr val="FF9900"/>
                </a:solidFill>
                <a:latin typeface="Gabarito"/>
                <a:ea typeface="Gabarito"/>
                <a:cs typeface="Gabarito"/>
                <a:sym typeface="Gabarito"/>
              </a:rPr>
              <a:t>04</a:t>
            </a:r>
            <a:endParaRPr b="0" i="0" sz="11325" u="none" cap="none" strike="noStrike">
              <a:solidFill>
                <a:schemeClr val="dk1"/>
              </a:solidFill>
              <a:latin typeface="Calibri"/>
              <a:ea typeface="Calibri"/>
              <a:cs typeface="Calibri"/>
              <a:sym typeface="Calibri"/>
            </a:endParaRPr>
          </a:p>
        </p:txBody>
      </p:sp>
      <p:sp>
        <p:nvSpPr>
          <p:cNvPr id="1016" name="Google Shape;1016;p35"/>
          <p:cNvSpPr/>
          <p:nvPr/>
        </p:nvSpPr>
        <p:spPr>
          <a:xfrm>
            <a:off x="1266825" y="2857500"/>
            <a:ext cx="1905000" cy="1905000"/>
          </a:xfrm>
          <a:prstGeom prst="ellipse">
            <a:avLst/>
          </a:prstGeom>
          <a:solidFill>
            <a:srgbClr val="B08A3E">
              <a:alpha val="1490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7" name="Google Shape;1017;p35"/>
          <p:cNvPicPr preferRelativeResize="0"/>
          <p:nvPr/>
        </p:nvPicPr>
        <p:blipFill rotWithShape="1">
          <a:blip r:embed="rId3">
            <a:alphaModFix/>
          </a:blip>
          <a:srcRect b="0" l="0" r="0" t="0"/>
          <a:stretch/>
        </p:blipFill>
        <p:spPr>
          <a:xfrm>
            <a:off x="1743075" y="3333750"/>
            <a:ext cx="952500" cy="952500"/>
          </a:xfrm>
          <a:prstGeom prst="rect">
            <a:avLst/>
          </a:prstGeom>
          <a:noFill/>
          <a:ln>
            <a:noFill/>
          </a:ln>
        </p:spPr>
      </p:pic>
      <p:sp>
        <p:nvSpPr>
          <p:cNvPr id="1018" name="Google Shape;1018;p35"/>
          <p:cNvSpPr/>
          <p:nvPr/>
        </p:nvSpPr>
        <p:spPr>
          <a:xfrm>
            <a:off x="1266825" y="5334000"/>
            <a:ext cx="14668500" cy="1012924"/>
          </a:xfrm>
          <a:prstGeom prst="rect">
            <a:avLst/>
          </a:prstGeom>
          <a:noFill/>
          <a:ln>
            <a:noFill/>
          </a:ln>
        </p:spPr>
        <p:txBody>
          <a:bodyPr anchorCtr="0" anchor="t" bIns="25400" lIns="25400" spcFirstLastPara="1" rIns="25400" wrap="square" tIns="25400">
            <a:noAutofit/>
          </a:bodyPr>
          <a:lstStyle/>
          <a:p>
            <a:pPr indent="0" lvl="0" marL="0" marR="0" rtl="0" algn="l">
              <a:lnSpc>
                <a:spcPct val="95654"/>
              </a:lnSpc>
              <a:spcBef>
                <a:spcPts val="0"/>
              </a:spcBef>
              <a:spcAft>
                <a:spcPts val="0"/>
              </a:spcAft>
              <a:buClr>
                <a:srgbClr val="274D71"/>
              </a:buClr>
              <a:buSzPts val="6675"/>
              <a:buFont typeface="Gabarito"/>
              <a:buNone/>
            </a:pPr>
            <a:r>
              <a:rPr b="1" i="0" lang="en-US" sz="6675" u="none" cap="none" strike="noStrike">
                <a:solidFill>
                  <a:srgbClr val="274D71"/>
                </a:solidFill>
                <a:latin typeface="Gabarito"/>
                <a:ea typeface="Gabarito"/>
                <a:cs typeface="Gabarito"/>
                <a:sym typeface="Gabarito"/>
              </a:rPr>
              <a:t>Vector Database Setup</a:t>
            </a:r>
            <a:endParaRPr b="0" i="0" sz="6675" u="none" cap="none" strike="noStrike">
              <a:solidFill>
                <a:schemeClr val="dk1"/>
              </a:solidFill>
              <a:latin typeface="Calibri"/>
              <a:ea typeface="Calibri"/>
              <a:cs typeface="Calibri"/>
              <a:sym typeface="Calibri"/>
            </a:endParaRPr>
          </a:p>
        </p:txBody>
      </p:sp>
      <p:sp>
        <p:nvSpPr>
          <p:cNvPr id="1019" name="Google Shape;1019;p35"/>
          <p:cNvSpPr/>
          <p:nvPr/>
        </p:nvSpPr>
        <p:spPr>
          <a:xfrm>
            <a:off x="1266825" y="6346924"/>
            <a:ext cx="15697200" cy="1276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4050"/>
              <a:buFont typeface="Gabarito"/>
              <a:buNone/>
            </a:pPr>
            <a:r>
              <a:rPr b="0" i="0" lang="en-US" sz="4050" u="none" cap="none" strike="noStrike">
                <a:solidFill>
                  <a:srgbClr val="78746A"/>
                </a:solidFill>
                <a:latin typeface="Gabarito"/>
                <a:ea typeface="Gabarito"/>
                <a:cs typeface="Gabarito"/>
                <a:sym typeface="Gabarito"/>
              </a:rPr>
              <a:t>Where millions of embeddings live, and how fast they can be searched.</a:t>
            </a:r>
            <a:endParaRPr b="0" i="0" sz="4050" u="none" cap="none" strike="noStrike">
              <a:solidFill>
                <a:schemeClr val="dk1"/>
              </a:solidFill>
              <a:latin typeface="Calibri"/>
              <a:ea typeface="Calibri"/>
              <a:cs typeface="Calibri"/>
              <a:sym typeface="Calibri"/>
            </a:endParaRPr>
          </a:p>
        </p:txBody>
      </p:sp>
      <p:sp>
        <p:nvSpPr>
          <p:cNvPr id="1020" name="Google Shape;1020;p35"/>
          <p:cNvSpPr/>
          <p:nvPr/>
        </p:nvSpPr>
        <p:spPr>
          <a:xfrm>
            <a:off x="1266825" y="9086850"/>
            <a:ext cx="990600" cy="9525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5" name="Shape 1025"/>
        <p:cNvGrpSpPr/>
        <p:nvPr/>
      </p:nvGrpSpPr>
      <p:grpSpPr>
        <a:xfrm>
          <a:off x="0" y="0"/>
          <a:ext cx="0" cy="0"/>
          <a:chOff x="0" y="0"/>
          <a:chExt cx="0" cy="0"/>
        </a:xfrm>
      </p:grpSpPr>
      <p:pic>
        <p:nvPicPr>
          <p:cNvPr descr="preencoded.png" id="1026" name="Google Shape;1026;p36"/>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027" name="Google Shape;1027;p36"/>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Setup</a:t>
            </a:r>
            <a:endParaRPr b="0" i="0" sz="3000" u="none" cap="none" strike="noStrike">
              <a:solidFill>
                <a:schemeClr val="dk1"/>
              </a:solidFill>
              <a:latin typeface="Calibri"/>
              <a:ea typeface="Calibri"/>
              <a:cs typeface="Calibri"/>
              <a:sym typeface="Calibri"/>
            </a:endParaRPr>
          </a:p>
        </p:txBody>
      </p:sp>
      <p:sp>
        <p:nvSpPr>
          <p:cNvPr id="1028" name="Google Shape;1028;p36"/>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Choosing Where to Store Your Vectors</a:t>
            </a:r>
            <a:endParaRPr b="0" i="0" sz="6000" u="none" cap="none" strike="noStrike">
              <a:solidFill>
                <a:schemeClr val="dk1"/>
              </a:solidFill>
              <a:latin typeface="Calibri"/>
              <a:ea typeface="Calibri"/>
              <a:cs typeface="Calibri"/>
              <a:sym typeface="Calibri"/>
            </a:endParaRPr>
          </a:p>
        </p:txBody>
      </p:sp>
      <p:sp>
        <p:nvSpPr>
          <p:cNvPr id="1029" name="Google Shape;1029;p36"/>
          <p:cNvSpPr/>
          <p:nvPr/>
        </p:nvSpPr>
        <p:spPr>
          <a:xfrm>
            <a:off x="1047750" y="2256681"/>
            <a:ext cx="14453507"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2700" u="none" cap="none" strike="noStrike">
                <a:solidFill>
                  <a:srgbClr val="212121"/>
                </a:solidFill>
                <a:latin typeface="Gabarito"/>
                <a:ea typeface="Gabarito"/>
                <a:cs typeface="Gabarito"/>
                <a:sym typeface="Gabarito"/>
              </a:rPr>
              <a:t>A </a:t>
            </a:r>
            <a:r>
              <a:rPr b="1" i="0" lang="en-US" sz="2700" u="none" cap="none" strike="noStrike">
                <a:solidFill>
                  <a:srgbClr val="1E4E79"/>
                </a:solidFill>
                <a:latin typeface="Gabarito"/>
                <a:ea typeface="Gabarito"/>
                <a:cs typeface="Gabarito"/>
                <a:sym typeface="Gabarito"/>
              </a:rPr>
              <a:t>vector database</a:t>
            </a:r>
            <a:r>
              <a:rPr b="0" i="0" lang="en-US" sz="2700" u="none" cap="none" strike="noStrike">
                <a:solidFill>
                  <a:srgbClr val="212121"/>
                </a:solidFill>
                <a:latin typeface="Gabarito"/>
                <a:ea typeface="Gabarito"/>
                <a:cs typeface="Gabarito"/>
                <a:sym typeface="Gabarito"/>
              </a:rPr>
              <a:t> stores millions of embeddings and makes similarity search fast</a:t>
            </a:r>
            <a:r>
              <a:rPr lang="en-US" sz="2700">
                <a:solidFill>
                  <a:srgbClr val="212121"/>
                </a:solidFill>
                <a:latin typeface="Gabarito"/>
                <a:ea typeface="Gabarito"/>
                <a:cs typeface="Gabarito"/>
                <a:sym typeface="Gabarito"/>
              </a:rPr>
              <a:t> -</a:t>
            </a:r>
            <a:r>
              <a:rPr b="0" i="0" lang="en-US" sz="2700" u="none" cap="none" strike="noStrike">
                <a:solidFill>
                  <a:srgbClr val="212121"/>
                </a:solidFill>
                <a:latin typeface="Gabarito"/>
                <a:ea typeface="Gabarito"/>
                <a:cs typeface="Gabarito"/>
                <a:sym typeface="Gabarito"/>
              </a:rPr>
              <a:t> here are the three most common choices for a local RAG project.</a:t>
            </a:r>
            <a:endParaRPr b="0" i="0" sz="2700" u="none" cap="none" strike="noStrike">
              <a:solidFill>
                <a:schemeClr val="dk1"/>
              </a:solidFill>
              <a:latin typeface="Calibri"/>
              <a:ea typeface="Calibri"/>
              <a:cs typeface="Calibri"/>
              <a:sym typeface="Calibri"/>
            </a:endParaRPr>
          </a:p>
        </p:txBody>
      </p:sp>
      <p:sp>
        <p:nvSpPr>
          <p:cNvPr id="1030" name="Google Shape;1030;p36"/>
          <p:cNvSpPr/>
          <p:nvPr/>
        </p:nvSpPr>
        <p:spPr>
          <a:xfrm>
            <a:off x="1047750" y="3468703"/>
            <a:ext cx="5244900" cy="4044600"/>
          </a:xfrm>
          <a:prstGeom prst="roundRect">
            <a:avLst>
              <a:gd fmla="val 5145" name="adj"/>
            </a:avLst>
          </a:prstGeom>
          <a:solidFill>
            <a:srgbClr val="D0D8E0">
              <a:alpha val="14120"/>
            </a:srgbClr>
          </a:solidFill>
          <a:ln cap="flat" cmpd="sng" w="19050">
            <a:solidFill>
              <a:srgbClr val="1E4E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36"/>
          <p:cNvSpPr/>
          <p:nvPr/>
        </p:nvSpPr>
        <p:spPr>
          <a:xfrm>
            <a:off x="1333500" y="4574618"/>
            <a:ext cx="51408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4C5A33"/>
              </a:buClr>
              <a:buSzPts val="2550"/>
              <a:buFont typeface="Gabarito"/>
              <a:buNone/>
            </a:pPr>
            <a:r>
              <a:rPr b="1" i="0" lang="en-US" sz="3200" u="none" cap="none" strike="noStrike">
                <a:solidFill>
                  <a:srgbClr val="1E4E79"/>
                </a:solidFill>
                <a:latin typeface="Gabarito"/>
                <a:ea typeface="Gabarito"/>
                <a:cs typeface="Gabarito"/>
                <a:sym typeface="Gabarito"/>
              </a:rPr>
              <a:t>ChromaDB</a:t>
            </a:r>
            <a:endParaRPr b="0" i="0" sz="3200" u="none" cap="none" strike="noStrike">
              <a:solidFill>
                <a:srgbClr val="1E4E79"/>
              </a:solidFill>
              <a:latin typeface="Calibri"/>
              <a:ea typeface="Calibri"/>
              <a:cs typeface="Calibri"/>
              <a:sym typeface="Calibri"/>
            </a:endParaRPr>
          </a:p>
        </p:txBody>
      </p:sp>
      <p:sp>
        <p:nvSpPr>
          <p:cNvPr id="1032" name="Google Shape;1032;p36"/>
          <p:cNvSpPr/>
          <p:nvPr/>
        </p:nvSpPr>
        <p:spPr>
          <a:xfrm>
            <a:off x="1333500" y="5157455"/>
            <a:ext cx="4813800" cy="20385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No server, no Docker, no schema setup — runs in-process for the fastest path to a working demo. Best for prototypes and small projects (up to ~1 million vectors).</a:t>
            </a:r>
            <a:endParaRPr b="0" i="0" sz="2250" u="none" cap="none" strike="noStrike">
              <a:solidFill>
                <a:schemeClr val="dk1"/>
              </a:solidFill>
              <a:latin typeface="Calibri"/>
              <a:ea typeface="Calibri"/>
              <a:cs typeface="Calibri"/>
              <a:sym typeface="Calibri"/>
            </a:endParaRPr>
          </a:p>
        </p:txBody>
      </p:sp>
      <p:sp>
        <p:nvSpPr>
          <p:cNvPr id="1033" name="Google Shape;1033;p36"/>
          <p:cNvSpPr/>
          <p:nvPr/>
        </p:nvSpPr>
        <p:spPr>
          <a:xfrm>
            <a:off x="6521351" y="3468703"/>
            <a:ext cx="5245200" cy="4044600"/>
          </a:xfrm>
          <a:prstGeom prst="roundRect">
            <a:avLst>
              <a:gd fmla="val 5145" name="adj"/>
            </a:avLst>
          </a:prstGeom>
          <a:solidFill>
            <a:srgbClr val="C15F3C">
              <a:alpha val="3922"/>
            </a:srgbClr>
          </a:solidFill>
          <a:ln cap="flat" cmpd="sng" w="19050">
            <a:solidFill>
              <a:srgbClr val="9E0D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36"/>
          <p:cNvSpPr/>
          <p:nvPr/>
        </p:nvSpPr>
        <p:spPr>
          <a:xfrm>
            <a:off x="6807101" y="4574618"/>
            <a:ext cx="51411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C15F3C"/>
              </a:buClr>
              <a:buSzPts val="2550"/>
              <a:buFont typeface="Gabarito"/>
              <a:buNone/>
            </a:pPr>
            <a:r>
              <a:rPr b="1" i="0" lang="en-US" sz="3200" u="none" cap="none" strike="noStrike">
                <a:solidFill>
                  <a:srgbClr val="9E0D38"/>
                </a:solidFill>
                <a:latin typeface="Gabarito"/>
                <a:ea typeface="Gabarito"/>
                <a:cs typeface="Gabarito"/>
                <a:sym typeface="Gabarito"/>
              </a:rPr>
              <a:t>Qdrant</a:t>
            </a:r>
            <a:endParaRPr b="0" i="0" sz="3200" u="none" cap="none" strike="noStrike">
              <a:solidFill>
                <a:srgbClr val="9E0D38"/>
              </a:solidFill>
              <a:latin typeface="Calibri"/>
              <a:ea typeface="Calibri"/>
              <a:cs typeface="Calibri"/>
              <a:sym typeface="Calibri"/>
            </a:endParaRPr>
          </a:p>
        </p:txBody>
      </p:sp>
      <p:sp>
        <p:nvSpPr>
          <p:cNvPr id="1035" name="Google Shape;1035;p36"/>
          <p:cNvSpPr/>
          <p:nvPr/>
        </p:nvSpPr>
        <p:spPr>
          <a:xfrm>
            <a:off x="6807101" y="5157455"/>
            <a:ext cx="4813800" cy="20385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Built for speed and precise filtering at larger scale, but requires running a separate server — the right choice once a project outgrows prototype size.</a:t>
            </a:r>
            <a:endParaRPr b="0" i="0" sz="2250" u="none" cap="none" strike="noStrike">
              <a:solidFill>
                <a:schemeClr val="dk1"/>
              </a:solidFill>
              <a:latin typeface="Calibri"/>
              <a:ea typeface="Calibri"/>
              <a:cs typeface="Calibri"/>
              <a:sym typeface="Calibri"/>
            </a:endParaRPr>
          </a:p>
        </p:txBody>
      </p:sp>
      <p:sp>
        <p:nvSpPr>
          <p:cNvPr id="1036" name="Google Shape;1036;p36"/>
          <p:cNvSpPr/>
          <p:nvPr/>
        </p:nvSpPr>
        <p:spPr>
          <a:xfrm>
            <a:off x="11995100" y="3468703"/>
            <a:ext cx="5245200" cy="4044600"/>
          </a:xfrm>
          <a:prstGeom prst="roundRect">
            <a:avLst>
              <a:gd fmla="val 5145"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36"/>
          <p:cNvSpPr/>
          <p:nvPr/>
        </p:nvSpPr>
        <p:spPr>
          <a:xfrm>
            <a:off x="12280850" y="4574618"/>
            <a:ext cx="5141100" cy="4287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550"/>
              <a:buFont typeface="Gabarito"/>
              <a:buNone/>
            </a:pPr>
            <a:r>
              <a:rPr b="1" i="0" lang="en-US" sz="3200" u="none" cap="none" strike="noStrike">
                <a:solidFill>
                  <a:srgbClr val="035595"/>
                </a:solidFill>
                <a:latin typeface="Gabarito"/>
                <a:ea typeface="Gabarito"/>
                <a:cs typeface="Gabarito"/>
                <a:sym typeface="Gabarito"/>
              </a:rPr>
              <a:t>Pgvector</a:t>
            </a:r>
            <a:endParaRPr b="0" i="0" sz="3200" u="none" cap="none" strike="noStrike">
              <a:solidFill>
                <a:schemeClr val="dk1"/>
              </a:solidFill>
              <a:latin typeface="Calibri"/>
              <a:ea typeface="Calibri"/>
              <a:cs typeface="Calibri"/>
              <a:sym typeface="Calibri"/>
            </a:endParaRPr>
          </a:p>
        </p:txBody>
      </p:sp>
      <p:sp>
        <p:nvSpPr>
          <p:cNvPr id="1038" name="Google Shape;1038;p36"/>
          <p:cNvSpPr/>
          <p:nvPr/>
        </p:nvSpPr>
        <p:spPr>
          <a:xfrm>
            <a:off x="12280850" y="5157455"/>
            <a:ext cx="4813800" cy="2038500"/>
          </a:xfrm>
          <a:prstGeom prst="rect">
            <a:avLst/>
          </a:prstGeom>
          <a:noFill/>
          <a:ln>
            <a:noFill/>
          </a:ln>
        </p:spPr>
        <p:txBody>
          <a:bodyPr anchorCtr="0" anchor="t" bIns="25400" lIns="25400" spcFirstLastPara="1" rIns="25400" wrap="square" tIns="25400">
            <a:noAutofit/>
          </a:bodyPr>
          <a:lstStyle/>
          <a:p>
            <a:pPr indent="0" lvl="0" marL="0" marR="0" rtl="0" algn="l">
              <a:lnSpc>
                <a:spcPct val="116667"/>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Adds vector search directly into an existing PostgreSQL database — no new infrastructure needed. Best when a project already runs on Postgres.</a:t>
            </a:r>
            <a:endParaRPr b="0" i="0" sz="2250" u="none" cap="none" strike="noStrike">
              <a:solidFill>
                <a:schemeClr val="dk1"/>
              </a:solidFill>
              <a:latin typeface="Calibri"/>
              <a:ea typeface="Calibri"/>
              <a:cs typeface="Calibri"/>
              <a:sym typeface="Calibri"/>
            </a:endParaRPr>
          </a:p>
        </p:txBody>
      </p:sp>
      <p:sp>
        <p:nvSpPr>
          <p:cNvPr id="1039" name="Google Shape;1039;p36"/>
          <p:cNvSpPr/>
          <p:nvPr/>
        </p:nvSpPr>
        <p:spPr>
          <a:xfrm>
            <a:off x="1047750" y="7872087"/>
            <a:ext cx="16192500" cy="1628700"/>
          </a:xfrm>
          <a:prstGeom prst="roundRect">
            <a:avLst>
              <a:gd fmla="val 9357"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36"/>
          <p:cNvSpPr/>
          <p:nvPr/>
        </p:nvSpPr>
        <p:spPr>
          <a:xfrm>
            <a:off x="1390650" y="8100687"/>
            <a:ext cx="15315300" cy="12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550"/>
              <a:buFont typeface="Gabarito"/>
              <a:buNone/>
            </a:pPr>
            <a:r>
              <a:rPr b="1" i="0" lang="en-US" sz="2550" u="none" cap="none" strike="noStrike">
                <a:solidFill>
                  <a:srgbClr val="FF9900"/>
                </a:solidFill>
                <a:latin typeface="Gabarito"/>
                <a:ea typeface="Gabarito"/>
                <a:cs typeface="Gabarito"/>
                <a:sym typeface="Gabarito"/>
              </a:rPr>
              <a:t>Why it matters: </a:t>
            </a:r>
            <a:r>
              <a:rPr b="0" i="0" lang="en-US" sz="2550" u="none" cap="none" strike="noStrike">
                <a:solidFill>
                  <a:srgbClr val="5B5B5B"/>
                </a:solidFill>
                <a:latin typeface="Gabarito"/>
                <a:ea typeface="Gabarito"/>
                <a:cs typeface="Gabarito"/>
                <a:sym typeface="Gabarito"/>
              </a:rPr>
              <a:t>the right database depends on scale and existing infrastructure, not raw performance alone </a:t>
            </a:r>
            <a:r>
              <a:rPr lang="en-US" sz="2550">
                <a:solidFill>
                  <a:srgbClr val="5B5B5B"/>
                </a:solidFill>
                <a:latin typeface="Gabarito"/>
                <a:ea typeface="Gabarito"/>
                <a:cs typeface="Gabarito"/>
                <a:sym typeface="Gabarito"/>
              </a:rPr>
              <a:t>- </a:t>
            </a:r>
            <a:r>
              <a:rPr b="0" i="0" lang="en-US" sz="2550" u="none" cap="none" strike="noStrike">
                <a:solidFill>
                  <a:srgbClr val="5B5B5B"/>
                </a:solidFill>
                <a:latin typeface="Gabarito"/>
                <a:ea typeface="Gabarito"/>
                <a:cs typeface="Gabarito"/>
                <a:sym typeface="Gabarito"/>
              </a:rPr>
              <a:t> our baseline app uses </a:t>
            </a:r>
            <a:r>
              <a:rPr b="1" i="0" lang="en-US" sz="2550" u="none" cap="none" strike="noStrike">
                <a:solidFill>
                  <a:srgbClr val="1E4E79"/>
                </a:solidFill>
                <a:latin typeface="Gabarito"/>
                <a:ea typeface="Gabarito"/>
                <a:cs typeface="Gabarito"/>
                <a:sym typeface="Gabarito"/>
              </a:rPr>
              <a:t>ChromaDB </a:t>
            </a:r>
            <a:r>
              <a:rPr b="0" i="0" lang="en-US" sz="2550" u="none" cap="none" strike="noStrike">
                <a:solidFill>
                  <a:srgbClr val="5B5B5B"/>
                </a:solidFill>
                <a:latin typeface="Gabarito"/>
                <a:ea typeface="Gabarito"/>
                <a:cs typeface="Gabarito"/>
                <a:sym typeface="Gabarito"/>
              </a:rPr>
              <a:t>because it lets us focus on learning the pipeline, not managing a database server.</a:t>
            </a:r>
            <a:endParaRPr b="0" i="0" sz="1200" u="none" cap="none" strike="noStrike">
              <a:solidFill>
                <a:schemeClr val="dk1"/>
              </a:solidFill>
              <a:latin typeface="Calibri"/>
              <a:ea typeface="Calibri"/>
              <a:cs typeface="Calibri"/>
              <a:sym typeface="Calibri"/>
            </a:endParaRPr>
          </a:p>
        </p:txBody>
      </p:sp>
      <p:pic>
        <p:nvPicPr>
          <p:cNvPr id="1041" name="Google Shape;1041;p36"/>
          <p:cNvPicPr preferRelativeResize="0"/>
          <p:nvPr/>
        </p:nvPicPr>
        <p:blipFill>
          <a:blip r:embed="rId4">
            <a:alphaModFix/>
          </a:blip>
          <a:stretch>
            <a:fillRect/>
          </a:stretch>
        </p:blipFill>
        <p:spPr>
          <a:xfrm>
            <a:off x="10363099" y="3827006"/>
            <a:ext cx="940708" cy="1085850"/>
          </a:xfrm>
          <a:prstGeom prst="rect">
            <a:avLst/>
          </a:prstGeom>
          <a:noFill/>
          <a:ln>
            <a:noFill/>
          </a:ln>
        </p:spPr>
      </p:pic>
      <p:pic>
        <p:nvPicPr>
          <p:cNvPr id="1042" name="Google Shape;1042;p36"/>
          <p:cNvPicPr preferRelativeResize="0"/>
          <p:nvPr/>
        </p:nvPicPr>
        <p:blipFill>
          <a:blip r:embed="rId5">
            <a:alphaModFix/>
          </a:blip>
          <a:stretch>
            <a:fillRect/>
          </a:stretch>
        </p:blipFill>
        <p:spPr>
          <a:xfrm>
            <a:off x="15760575" y="3845407"/>
            <a:ext cx="1157900" cy="1157900"/>
          </a:xfrm>
          <a:prstGeom prst="rect">
            <a:avLst/>
          </a:prstGeom>
          <a:noFill/>
          <a:ln>
            <a:noFill/>
          </a:ln>
        </p:spPr>
      </p:pic>
      <p:pic>
        <p:nvPicPr>
          <p:cNvPr id="1043" name="Google Shape;1043;p36"/>
          <p:cNvPicPr preferRelativeResize="0"/>
          <p:nvPr/>
        </p:nvPicPr>
        <p:blipFill>
          <a:blip r:embed="rId6">
            <a:alphaModFix/>
          </a:blip>
          <a:stretch>
            <a:fillRect/>
          </a:stretch>
        </p:blipFill>
        <p:spPr>
          <a:xfrm>
            <a:off x="4413567" y="3827007"/>
            <a:ext cx="1492759" cy="9638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8" name="Shape 1048"/>
        <p:cNvGrpSpPr/>
        <p:nvPr/>
      </p:nvGrpSpPr>
      <p:grpSpPr>
        <a:xfrm>
          <a:off x="0" y="0"/>
          <a:ext cx="0" cy="0"/>
          <a:chOff x="0" y="0"/>
          <a:chExt cx="0" cy="0"/>
        </a:xfrm>
      </p:grpSpPr>
      <p:pic>
        <p:nvPicPr>
          <p:cNvPr descr="preencoded.png" id="1049" name="Google Shape;1049;p37"/>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050" name="Google Shape;1050;p37"/>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Setup</a:t>
            </a:r>
            <a:endParaRPr b="0" i="0" sz="3000" u="none" cap="none" strike="noStrike">
              <a:solidFill>
                <a:schemeClr val="dk1"/>
              </a:solidFill>
              <a:latin typeface="Calibri"/>
              <a:ea typeface="Calibri"/>
              <a:cs typeface="Calibri"/>
              <a:sym typeface="Calibri"/>
            </a:endParaRPr>
          </a:p>
        </p:txBody>
      </p:sp>
      <p:sp>
        <p:nvSpPr>
          <p:cNvPr id="1051" name="Google Shape;1051;p37"/>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i="0" lang="en-US" sz="6000" u="none" cap="none" strike="noStrike">
                <a:solidFill>
                  <a:srgbClr val="274D71"/>
                </a:solidFill>
                <a:latin typeface="Gabarito"/>
                <a:ea typeface="Gabarito"/>
                <a:cs typeface="Gabarito"/>
                <a:sym typeface="Gabarito"/>
              </a:rPr>
              <a:t>Choosing Where to Store Your Vectors</a:t>
            </a:r>
            <a:endParaRPr b="0" i="0" sz="6000" u="none" cap="none" strike="noStrike">
              <a:solidFill>
                <a:schemeClr val="dk1"/>
              </a:solidFill>
              <a:latin typeface="Calibri"/>
              <a:ea typeface="Calibri"/>
              <a:cs typeface="Calibri"/>
              <a:sym typeface="Calibri"/>
            </a:endParaRPr>
          </a:p>
        </p:txBody>
      </p:sp>
      <p:sp>
        <p:nvSpPr>
          <p:cNvPr id="1052" name="Google Shape;1052;p37"/>
          <p:cNvSpPr/>
          <p:nvPr/>
        </p:nvSpPr>
        <p:spPr>
          <a:xfrm>
            <a:off x="1047750" y="2244888"/>
            <a:ext cx="14584135" cy="1318171"/>
          </a:xfrm>
          <a:prstGeom prst="rect">
            <a:avLst/>
          </a:prstGeom>
          <a:noFill/>
          <a:ln>
            <a:noFill/>
          </a:ln>
        </p:spPr>
        <p:txBody>
          <a:bodyPr anchorCtr="0" anchor="t" bIns="25400" lIns="25400" spcFirstLastPara="1" rIns="25400" wrap="square" tIns="25400">
            <a:noAutofit/>
          </a:bodyPr>
          <a:lstStyle/>
          <a:p>
            <a:pPr indent="0" lvl="0" marL="0" marR="0" rtl="0" algn="l">
              <a:lnSpc>
                <a:spcPct val="117895"/>
              </a:lnSpc>
              <a:spcBef>
                <a:spcPts val="0"/>
              </a:spcBef>
              <a:spcAft>
                <a:spcPts val="0"/>
              </a:spcAft>
              <a:buClr>
                <a:srgbClr val="5B5B5B"/>
              </a:buClr>
              <a:buSzPts val="2400"/>
              <a:buFont typeface="Gabarito"/>
              <a:buNone/>
            </a:pPr>
            <a:r>
              <a:rPr b="0" i="0" lang="en-US" sz="3000" u="none" cap="none" strike="noStrike">
                <a:solidFill>
                  <a:srgbClr val="5B5B5B"/>
                </a:solidFill>
                <a:latin typeface="Gabarito"/>
                <a:ea typeface="Gabarito"/>
                <a:cs typeface="Gabarito"/>
                <a:sym typeface="Gabarito"/>
              </a:rPr>
              <a:t>Up and to the right costs more to run. Start bottom-left and only move when scale forces you to.</a:t>
            </a:r>
            <a:endParaRPr b="0" i="0" sz="3000" u="none" cap="none" strike="noStrike">
              <a:solidFill>
                <a:schemeClr val="dk1"/>
              </a:solidFill>
              <a:latin typeface="Calibri"/>
              <a:ea typeface="Calibri"/>
              <a:cs typeface="Calibri"/>
              <a:sym typeface="Calibri"/>
            </a:endParaRPr>
          </a:p>
        </p:txBody>
      </p:sp>
      <p:pic>
        <p:nvPicPr>
          <p:cNvPr id="1053" name="Google Shape;1053;p37"/>
          <p:cNvPicPr preferRelativeResize="0"/>
          <p:nvPr/>
        </p:nvPicPr>
        <p:blipFill rotWithShape="1">
          <a:blip r:embed="rId4">
            <a:alphaModFix/>
          </a:blip>
          <a:srcRect b="0" l="0" r="0" t="0"/>
          <a:stretch/>
        </p:blipFill>
        <p:spPr>
          <a:xfrm>
            <a:off x="3837214" y="3563059"/>
            <a:ext cx="10613572" cy="535100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8" name="Shape 1058"/>
        <p:cNvGrpSpPr/>
        <p:nvPr/>
      </p:nvGrpSpPr>
      <p:grpSpPr>
        <a:xfrm>
          <a:off x="0" y="0"/>
          <a:ext cx="0" cy="0"/>
          <a:chOff x="0" y="0"/>
          <a:chExt cx="0" cy="0"/>
        </a:xfrm>
      </p:grpSpPr>
      <p:pic>
        <p:nvPicPr>
          <p:cNvPr descr="preencoded.png" id="1059" name="Google Shape;1059;g3f776df2723_1_221"/>
          <p:cNvPicPr preferRelativeResize="0"/>
          <p:nvPr/>
        </p:nvPicPr>
        <p:blipFill rotWithShape="1">
          <a:blip r:embed="rId3">
            <a:alphaModFix/>
          </a:blip>
          <a:srcRect b="0" l="0" r="0" t="0"/>
          <a:stretch/>
        </p:blipFill>
        <p:spPr>
          <a:xfrm>
            <a:off x="16202092" y="952500"/>
            <a:ext cx="1066768" cy="1304066"/>
          </a:xfrm>
          <a:prstGeom prst="rect">
            <a:avLst/>
          </a:prstGeom>
          <a:noFill/>
          <a:ln>
            <a:noFill/>
          </a:ln>
        </p:spPr>
      </p:pic>
      <p:sp>
        <p:nvSpPr>
          <p:cNvPr id="1060" name="Google Shape;1060;g3f776df2723_1_221"/>
          <p:cNvSpPr/>
          <p:nvPr/>
        </p:nvSpPr>
        <p:spPr>
          <a:xfrm>
            <a:off x="1047750" y="666750"/>
            <a:ext cx="17811900" cy="493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Setup</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1061" name="Google Shape;1061;g3f776df2723_1_221"/>
          <p:cNvSpPr/>
          <p:nvPr/>
        </p:nvSpPr>
        <p:spPr>
          <a:xfrm>
            <a:off x="1047750" y="1178884"/>
            <a:ext cx="17811900" cy="109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900"/>
              <a:buFont typeface="Gabarito"/>
              <a:buNone/>
            </a:pPr>
            <a:r>
              <a:rPr b="1" lang="en-US" sz="6000">
                <a:solidFill>
                  <a:srgbClr val="274D71"/>
                </a:solidFill>
                <a:latin typeface="Gabarito"/>
                <a:ea typeface="Gabarito"/>
                <a:cs typeface="Gabarito"/>
                <a:sym typeface="Gabarito"/>
              </a:rPr>
              <a:t>ChromaDB Setup</a:t>
            </a:r>
            <a:endParaRPr b="0" i="0" sz="6000" u="none" cap="none" strike="noStrike">
              <a:solidFill>
                <a:schemeClr val="dk1"/>
              </a:solidFill>
              <a:latin typeface="Calibri"/>
              <a:ea typeface="Calibri"/>
              <a:cs typeface="Calibri"/>
              <a:sym typeface="Calibri"/>
            </a:endParaRPr>
          </a:p>
        </p:txBody>
      </p:sp>
      <p:sp>
        <p:nvSpPr>
          <p:cNvPr id="1062" name="Google Shape;1062;g3f776df2723_1_221"/>
          <p:cNvSpPr/>
          <p:nvPr/>
        </p:nvSpPr>
        <p:spPr>
          <a:xfrm>
            <a:off x="1047750" y="2294306"/>
            <a:ext cx="17811900" cy="501000"/>
          </a:xfrm>
          <a:prstGeom prst="rect">
            <a:avLst/>
          </a:prstGeom>
          <a:noFill/>
          <a:ln>
            <a:noFill/>
          </a:ln>
        </p:spPr>
        <p:txBody>
          <a:bodyPr anchorCtr="0" anchor="t" bIns="25400" lIns="25400" spcFirstLastPara="1" rIns="25400" wrap="square" tIns="25400">
            <a:noAutofit/>
          </a:bodyPr>
          <a:lstStyle/>
          <a:p>
            <a:pPr indent="0" lvl="0" marL="0" marR="0" rtl="0" algn="l">
              <a:lnSpc>
                <a:spcPct val="115105"/>
              </a:lnSpc>
              <a:spcBef>
                <a:spcPts val="0"/>
              </a:spcBef>
              <a:spcAft>
                <a:spcPts val="0"/>
              </a:spcAft>
              <a:buClr>
                <a:srgbClr val="212121"/>
              </a:buClr>
              <a:buSzPts val="2700"/>
              <a:buFont typeface="Gabarito"/>
              <a:buNone/>
            </a:pPr>
            <a:r>
              <a:rPr b="1" i="0" lang="en-US" sz="3000" u="none" cap="none" strike="noStrike">
                <a:solidFill>
                  <a:srgbClr val="212121"/>
                </a:solidFill>
                <a:latin typeface="Gabarito"/>
                <a:ea typeface="Gabarito"/>
                <a:cs typeface="Gabarito"/>
                <a:sym typeface="Gabarito"/>
              </a:rPr>
              <a:t>ChromaDB </a:t>
            </a:r>
            <a:r>
              <a:rPr lang="en-US" sz="3000">
                <a:solidFill>
                  <a:srgbClr val="212121"/>
                </a:solidFill>
                <a:latin typeface="Gabarito"/>
                <a:ea typeface="Gabarito"/>
                <a:cs typeface="Gabarito"/>
                <a:sym typeface="Gabarito"/>
              </a:rPr>
              <a:t>can run locally </a:t>
            </a:r>
            <a:r>
              <a:rPr b="0" i="0" lang="en-US" sz="3000" u="none" cap="none" strike="noStrike">
                <a:solidFill>
                  <a:srgbClr val="212121"/>
                </a:solidFill>
                <a:latin typeface="Gabarito"/>
                <a:ea typeface="Gabarito"/>
                <a:cs typeface="Gabarito"/>
                <a:sym typeface="Gabarito"/>
              </a:rPr>
              <a:t>on your own computer. Get these </a:t>
            </a:r>
            <a:r>
              <a:rPr lang="en-US" sz="3000">
                <a:solidFill>
                  <a:srgbClr val="212121"/>
                </a:solidFill>
                <a:latin typeface="Gabarito"/>
                <a:ea typeface="Gabarito"/>
                <a:cs typeface="Gabarito"/>
                <a:sym typeface="Gabarito"/>
              </a:rPr>
              <a:t>3 </a:t>
            </a:r>
            <a:r>
              <a:rPr b="0" i="0" lang="en-US" sz="3000" u="none" cap="none" strike="noStrike">
                <a:solidFill>
                  <a:srgbClr val="212121"/>
                </a:solidFill>
                <a:latin typeface="Gabarito"/>
                <a:ea typeface="Gabarito"/>
                <a:cs typeface="Gabarito"/>
                <a:sym typeface="Gabarito"/>
              </a:rPr>
              <a:t>things ready</a:t>
            </a:r>
            <a:r>
              <a:rPr lang="en-US" sz="3000">
                <a:solidFill>
                  <a:srgbClr val="212121"/>
                </a:solidFill>
                <a:latin typeface="Gabarito"/>
                <a:ea typeface="Gabarito"/>
                <a:cs typeface="Gabarito"/>
                <a:sym typeface="Gabarito"/>
              </a:rPr>
              <a:t> and </a:t>
            </a:r>
            <a:r>
              <a:rPr b="0" i="0" lang="en-US" sz="3000" u="none" cap="none" strike="noStrike">
                <a:solidFill>
                  <a:srgbClr val="212121"/>
                </a:solidFill>
                <a:latin typeface="Gabarito"/>
                <a:ea typeface="Gabarito"/>
                <a:cs typeface="Gabarito"/>
                <a:sym typeface="Gabarito"/>
              </a:rPr>
              <a:t>run the commands</a:t>
            </a:r>
            <a:r>
              <a:rPr lang="en-US" sz="3000">
                <a:solidFill>
                  <a:srgbClr val="212121"/>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1063" name="Google Shape;1063;g3f776df2723_1_221"/>
          <p:cNvSpPr/>
          <p:nvPr/>
        </p:nvSpPr>
        <p:spPr>
          <a:xfrm>
            <a:off x="1047750" y="3057396"/>
            <a:ext cx="5244900" cy="2156400"/>
          </a:xfrm>
          <a:prstGeom prst="roundRect">
            <a:avLst>
              <a:gd fmla="val 7067" name="adj"/>
            </a:avLst>
          </a:prstGeom>
          <a:solidFill>
            <a:srgbClr val="7A8A5A">
              <a:alpha val="5880"/>
            </a:srgbClr>
          </a:solidFill>
          <a:ln cap="flat" cmpd="sng" w="10575">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g3f776df2723_1_221"/>
          <p:cNvSpPr/>
          <p:nvPr/>
        </p:nvSpPr>
        <p:spPr>
          <a:xfrm>
            <a:off x="1324901" y="3296513"/>
            <a:ext cx="5159700" cy="42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A33"/>
              </a:buClr>
              <a:buSzPts val="2550"/>
              <a:buFont typeface="Gabarito"/>
              <a:buNone/>
            </a:pPr>
            <a:r>
              <a:rPr b="1" i="0" lang="en-US" sz="2600" u="none" cap="none" strike="noStrike">
                <a:solidFill>
                  <a:srgbClr val="4C5A33"/>
                </a:solidFill>
                <a:latin typeface="Gabarito"/>
                <a:ea typeface="Gabarito"/>
                <a:cs typeface="Gabarito"/>
                <a:sym typeface="Gabarito"/>
              </a:rPr>
              <a:t>1 · Python</a:t>
            </a:r>
            <a:endParaRPr b="0" i="0" sz="2600" u="none" cap="none" strike="noStrike">
              <a:solidFill>
                <a:schemeClr val="dk1"/>
              </a:solidFill>
              <a:latin typeface="Calibri"/>
              <a:ea typeface="Calibri"/>
              <a:cs typeface="Calibri"/>
              <a:sym typeface="Calibri"/>
            </a:endParaRPr>
          </a:p>
        </p:txBody>
      </p:sp>
      <p:sp>
        <p:nvSpPr>
          <p:cNvPr id="1065" name="Google Shape;1065;g3f776df2723_1_221"/>
          <p:cNvSpPr/>
          <p:nvPr/>
        </p:nvSpPr>
        <p:spPr>
          <a:xfrm>
            <a:off x="1324901" y="3764164"/>
            <a:ext cx="4831500" cy="1248600"/>
          </a:xfrm>
          <a:prstGeom prst="rect">
            <a:avLst/>
          </a:prstGeom>
          <a:noFill/>
          <a:ln>
            <a:noFill/>
          </a:ln>
        </p:spPr>
        <p:txBody>
          <a:bodyPr anchorCtr="0" anchor="t" bIns="25400" lIns="25400" spcFirstLastPara="1" rIns="25400" wrap="square" tIns="25400">
            <a:noAutofit/>
          </a:bodyPr>
          <a:lstStyle/>
          <a:p>
            <a:pPr indent="0" lvl="0" marL="0" marR="0" rtl="0" algn="l">
              <a:lnSpc>
                <a:spcPct val="118125"/>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Python already installed. Type </a:t>
            </a:r>
            <a:r>
              <a:rPr b="0" i="0" lang="en-US" sz="2250" u="none" cap="none" strike="noStrike">
                <a:solidFill>
                  <a:srgbClr val="37474F"/>
                </a:solidFill>
                <a:latin typeface="JetBrains Mono"/>
                <a:ea typeface="JetBrains Mono"/>
                <a:cs typeface="JetBrains Mono"/>
                <a:sym typeface="JetBrains Mono"/>
              </a:rPr>
              <a:t>python --version </a:t>
            </a:r>
            <a:r>
              <a:rPr b="0" i="0" lang="en-US" sz="2250" u="none" cap="none" strike="noStrike">
                <a:solidFill>
                  <a:srgbClr val="37474F"/>
                </a:solidFill>
                <a:latin typeface="Gabarito"/>
                <a:ea typeface="Gabarito"/>
                <a:cs typeface="Gabarito"/>
                <a:sym typeface="Gabarito"/>
              </a:rPr>
              <a:t>in a terminal to check.</a:t>
            </a:r>
            <a:endParaRPr b="0" i="0" sz="2250" u="none" cap="none" strike="noStrike">
              <a:solidFill>
                <a:schemeClr val="dk1"/>
              </a:solidFill>
              <a:latin typeface="Calibri"/>
              <a:ea typeface="Calibri"/>
              <a:cs typeface="Calibri"/>
              <a:sym typeface="Calibri"/>
            </a:endParaRPr>
          </a:p>
        </p:txBody>
      </p:sp>
      <p:sp>
        <p:nvSpPr>
          <p:cNvPr id="1066" name="Google Shape;1066;g3f776df2723_1_221"/>
          <p:cNvSpPr/>
          <p:nvPr/>
        </p:nvSpPr>
        <p:spPr>
          <a:xfrm>
            <a:off x="6521318" y="3057396"/>
            <a:ext cx="5245200" cy="2156400"/>
          </a:xfrm>
          <a:prstGeom prst="roundRect">
            <a:avLst>
              <a:gd fmla="val 7067" name="adj"/>
            </a:avLst>
          </a:prstGeom>
          <a:solidFill>
            <a:srgbClr val="035595">
              <a:alpha val="3920"/>
            </a:srgbClr>
          </a:solidFill>
          <a:ln cap="flat" cmpd="sng" w="10575">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g3f776df2723_1_221"/>
          <p:cNvSpPr/>
          <p:nvPr/>
        </p:nvSpPr>
        <p:spPr>
          <a:xfrm>
            <a:off x="6798469" y="3296513"/>
            <a:ext cx="5160000" cy="42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35595"/>
              </a:buClr>
              <a:buSzPts val="2550"/>
              <a:buFont typeface="Gabarito"/>
              <a:buNone/>
            </a:pPr>
            <a:r>
              <a:rPr b="1" i="0" lang="en-US" sz="2600" u="none" cap="none" strike="noStrike">
                <a:solidFill>
                  <a:srgbClr val="035595"/>
                </a:solidFill>
                <a:latin typeface="Gabarito"/>
                <a:ea typeface="Gabarito"/>
                <a:cs typeface="Gabarito"/>
                <a:sym typeface="Gabarito"/>
              </a:rPr>
              <a:t>2 · A project folder</a:t>
            </a:r>
            <a:endParaRPr b="0" i="0" sz="2600" u="none" cap="none" strike="noStrike">
              <a:solidFill>
                <a:schemeClr val="dk1"/>
              </a:solidFill>
              <a:latin typeface="Calibri"/>
              <a:ea typeface="Calibri"/>
              <a:cs typeface="Calibri"/>
              <a:sym typeface="Calibri"/>
            </a:endParaRPr>
          </a:p>
        </p:txBody>
      </p:sp>
      <p:sp>
        <p:nvSpPr>
          <p:cNvPr id="1068" name="Google Shape;1068;g3f776df2723_1_221"/>
          <p:cNvSpPr/>
          <p:nvPr/>
        </p:nvSpPr>
        <p:spPr>
          <a:xfrm>
            <a:off x="6798469" y="3764164"/>
            <a:ext cx="4831500" cy="838200"/>
          </a:xfrm>
          <a:prstGeom prst="rect">
            <a:avLst/>
          </a:prstGeom>
          <a:noFill/>
          <a:ln>
            <a:noFill/>
          </a:ln>
        </p:spPr>
        <p:txBody>
          <a:bodyPr anchorCtr="0" anchor="t" bIns="25400" lIns="25400" spcFirstLastPara="1" rIns="25400" wrap="square" tIns="25400">
            <a:noAutofit/>
          </a:bodyPr>
          <a:lstStyle/>
          <a:p>
            <a:pPr indent="0" lvl="0" marL="0" marR="0" rtl="0" algn="l">
              <a:lnSpc>
                <a:spcPct val="118125"/>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An empty folder to work in, so all your files stay in one place.</a:t>
            </a:r>
            <a:endParaRPr b="0" i="0" sz="2250" u="none" cap="none" strike="noStrike">
              <a:solidFill>
                <a:schemeClr val="dk1"/>
              </a:solidFill>
              <a:latin typeface="Calibri"/>
              <a:ea typeface="Calibri"/>
              <a:cs typeface="Calibri"/>
              <a:sym typeface="Calibri"/>
            </a:endParaRPr>
          </a:p>
        </p:txBody>
      </p:sp>
      <p:sp>
        <p:nvSpPr>
          <p:cNvPr id="1069" name="Google Shape;1069;g3f776df2723_1_221"/>
          <p:cNvSpPr/>
          <p:nvPr/>
        </p:nvSpPr>
        <p:spPr>
          <a:xfrm>
            <a:off x="11995052" y="3057396"/>
            <a:ext cx="5244900" cy="2156400"/>
          </a:xfrm>
          <a:prstGeom prst="roundRect">
            <a:avLst>
              <a:gd fmla="val 7067" name="adj"/>
            </a:avLst>
          </a:prstGeom>
          <a:solidFill>
            <a:srgbClr val="FF9900">
              <a:alpha val="3920"/>
            </a:srgbClr>
          </a:solidFill>
          <a:ln cap="flat" cmpd="sng" w="10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g3f776df2723_1_221"/>
          <p:cNvSpPr/>
          <p:nvPr/>
        </p:nvSpPr>
        <p:spPr>
          <a:xfrm>
            <a:off x="12272202" y="3296513"/>
            <a:ext cx="5159700" cy="42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97D00"/>
              </a:buClr>
              <a:buSzPts val="2550"/>
              <a:buFont typeface="Gabarito"/>
              <a:buNone/>
            </a:pPr>
            <a:r>
              <a:rPr b="1" i="0" lang="en-US" sz="2600" u="none" cap="none" strike="noStrike">
                <a:solidFill>
                  <a:srgbClr val="D97D00"/>
                </a:solidFill>
                <a:latin typeface="Gabarito"/>
                <a:ea typeface="Gabarito"/>
                <a:cs typeface="Gabarito"/>
                <a:sym typeface="Gabarito"/>
              </a:rPr>
              <a:t>3 · A virtual environment</a:t>
            </a:r>
            <a:endParaRPr b="0" i="0" sz="2600" u="none" cap="none" strike="noStrike">
              <a:solidFill>
                <a:schemeClr val="dk1"/>
              </a:solidFill>
              <a:latin typeface="Calibri"/>
              <a:ea typeface="Calibri"/>
              <a:cs typeface="Calibri"/>
              <a:sym typeface="Calibri"/>
            </a:endParaRPr>
          </a:p>
        </p:txBody>
      </p:sp>
      <p:sp>
        <p:nvSpPr>
          <p:cNvPr id="1071" name="Google Shape;1071;g3f776df2723_1_221"/>
          <p:cNvSpPr/>
          <p:nvPr/>
        </p:nvSpPr>
        <p:spPr>
          <a:xfrm>
            <a:off x="12272202" y="3764164"/>
            <a:ext cx="4831500" cy="1238100"/>
          </a:xfrm>
          <a:prstGeom prst="rect">
            <a:avLst/>
          </a:prstGeom>
          <a:noFill/>
          <a:ln>
            <a:noFill/>
          </a:ln>
        </p:spPr>
        <p:txBody>
          <a:bodyPr anchorCtr="0" anchor="t" bIns="25400" lIns="25400" spcFirstLastPara="1" rIns="25400" wrap="square" tIns="25400">
            <a:noAutofit/>
          </a:bodyPr>
          <a:lstStyle/>
          <a:p>
            <a:pPr indent="0" lvl="0" marL="0" marR="0" rtl="0" algn="l">
              <a:lnSpc>
                <a:spcPct val="118125"/>
              </a:lnSpc>
              <a:spcBef>
                <a:spcPts val="0"/>
              </a:spcBef>
              <a:spcAft>
                <a:spcPts val="0"/>
              </a:spcAft>
              <a:buClr>
                <a:srgbClr val="37474F"/>
              </a:buClr>
              <a:buSzPts val="2250"/>
              <a:buFont typeface="Gabarito"/>
              <a:buNone/>
            </a:pPr>
            <a:r>
              <a:rPr b="0" i="0" lang="en-US" sz="2250" u="none" cap="none" strike="noStrike">
                <a:solidFill>
                  <a:srgbClr val="37474F"/>
                </a:solidFill>
                <a:latin typeface="Gabarito"/>
                <a:ea typeface="Gabarito"/>
                <a:cs typeface="Gabarito"/>
                <a:sym typeface="Gabarito"/>
              </a:rPr>
              <a:t>A private Python space for this project, so installing Chroma cannot affect your other projects.</a:t>
            </a:r>
            <a:endParaRPr b="0" i="0" sz="2250" u="none" cap="none" strike="noStrike">
              <a:solidFill>
                <a:schemeClr val="dk1"/>
              </a:solidFill>
              <a:latin typeface="Calibri"/>
              <a:ea typeface="Calibri"/>
              <a:cs typeface="Calibri"/>
              <a:sym typeface="Calibri"/>
            </a:endParaRPr>
          </a:p>
        </p:txBody>
      </p:sp>
      <p:sp>
        <p:nvSpPr>
          <p:cNvPr id="1072" name="Google Shape;1072;g3f776df2723_1_221"/>
          <p:cNvSpPr/>
          <p:nvPr/>
        </p:nvSpPr>
        <p:spPr>
          <a:xfrm>
            <a:off x="1047750" y="5486850"/>
            <a:ext cx="16192500" cy="4068900"/>
          </a:xfrm>
          <a:prstGeom prst="roundRect">
            <a:avLst>
              <a:gd fmla="val 4491"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g3f776df2723_1_221"/>
          <p:cNvSpPr/>
          <p:nvPr/>
        </p:nvSpPr>
        <p:spPr>
          <a:xfrm>
            <a:off x="1047750" y="5486841"/>
            <a:ext cx="16192500" cy="647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g3f776df2723_1_221"/>
          <p:cNvSpPr/>
          <p:nvPr/>
        </p:nvSpPr>
        <p:spPr>
          <a:xfrm>
            <a:off x="1295301" y="5743982"/>
            <a:ext cx="133200" cy="1332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g3f776df2723_1_221"/>
          <p:cNvSpPr/>
          <p:nvPr/>
        </p:nvSpPr>
        <p:spPr>
          <a:xfrm>
            <a:off x="1523835" y="5743982"/>
            <a:ext cx="133200" cy="1332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g3f776df2723_1_221"/>
          <p:cNvSpPr/>
          <p:nvPr/>
        </p:nvSpPr>
        <p:spPr>
          <a:xfrm>
            <a:off x="1752369" y="5743982"/>
            <a:ext cx="133200" cy="1332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g3f776df2723_1_221"/>
          <p:cNvSpPr/>
          <p:nvPr/>
        </p:nvSpPr>
        <p:spPr>
          <a:xfrm>
            <a:off x="2114186" y="5620125"/>
            <a:ext cx="9241200" cy="41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2250"/>
              <a:buFont typeface="JetBrains Mono"/>
              <a:buNone/>
            </a:pPr>
            <a:r>
              <a:rPr b="0" i="0" lang="en-US" sz="2250" u="none" cap="none" strike="noStrike">
                <a:solidFill>
                  <a:srgbClr val="9AA0A6"/>
                </a:solidFill>
                <a:latin typeface="JetBrains Mono"/>
                <a:ea typeface="JetBrains Mono"/>
                <a:cs typeface="JetBrains Mono"/>
                <a:sym typeface="JetBrains Mono"/>
              </a:rPr>
              <a:t>Terminal </a:t>
            </a:r>
            <a:r>
              <a:rPr lang="en-US" sz="2250">
                <a:solidFill>
                  <a:srgbClr val="9AA0A6"/>
                </a:solidFill>
                <a:latin typeface="JetBrains Mono"/>
                <a:ea typeface="JetBrains Mono"/>
                <a:cs typeface="JetBrains Mono"/>
                <a:sym typeface="JetBrains Mono"/>
              </a:rPr>
              <a:t> </a:t>
            </a:r>
            <a:endParaRPr b="0" i="0" sz="2250" u="none" cap="none" strike="noStrike">
              <a:solidFill>
                <a:schemeClr val="dk1"/>
              </a:solidFill>
              <a:latin typeface="Calibri"/>
              <a:ea typeface="Calibri"/>
              <a:cs typeface="Calibri"/>
              <a:sym typeface="Calibri"/>
            </a:endParaRPr>
          </a:p>
        </p:txBody>
      </p:sp>
      <p:sp>
        <p:nvSpPr>
          <p:cNvPr id="1078" name="Google Shape;1078;g3f776df2723_1_221"/>
          <p:cNvSpPr/>
          <p:nvPr/>
        </p:nvSpPr>
        <p:spPr>
          <a:xfrm>
            <a:off x="1428750" y="6362942"/>
            <a:ext cx="16973700" cy="4959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6E7D4C"/>
              </a:buClr>
              <a:buSzPts val="2325"/>
              <a:buFont typeface="JetBrains Mono"/>
              <a:buNone/>
            </a:pPr>
            <a:r>
              <a:rPr b="0" i="0" lang="en-US" sz="2325" u="none" cap="none" strike="noStrike">
                <a:solidFill>
                  <a:srgbClr val="6E7D4C"/>
                </a:solidFill>
                <a:latin typeface="JetBrains Mono"/>
                <a:ea typeface="JetBrains Mono"/>
                <a:cs typeface="JetBrains Mono"/>
                <a:sym typeface="JetBrains Mono"/>
              </a:rPr>
              <a:t>$</a:t>
            </a:r>
            <a:r>
              <a:rPr b="0" i="0" lang="en-US" sz="2325" u="none" cap="none" strike="noStrike">
                <a:solidFill>
                  <a:srgbClr val="E8EAED"/>
                </a:solidFill>
                <a:latin typeface="JetBrains Mono"/>
                <a:ea typeface="JetBrains Mono"/>
                <a:cs typeface="JetBrains Mono"/>
                <a:sym typeface="JetBrains Mono"/>
              </a:rPr>
              <a:t>mkdir chroma-demo &amp;&amp; cd chroma-demo		</a:t>
            </a:r>
            <a:r>
              <a:rPr b="0" i="0" lang="en-US" sz="2325" u="none" cap="none" strike="noStrike">
                <a:solidFill>
                  <a:srgbClr val="9AA0A6"/>
                </a:solidFill>
                <a:latin typeface="JetBrains Mono"/>
                <a:ea typeface="JetBrains Mono"/>
                <a:cs typeface="JetBrains Mono"/>
                <a:sym typeface="JetBrains Mono"/>
              </a:rPr>
              <a:t># create the folder and enter it</a:t>
            </a:r>
            <a:endParaRPr b="0" i="0" sz="2325" u="none" cap="none" strike="noStrike">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2325"/>
              <a:buFont typeface="JetBrains Mono"/>
              <a:buNone/>
            </a:pPr>
            <a:r>
              <a:rPr lang="en-US" sz="2325">
                <a:solidFill>
                  <a:srgbClr val="6E7D4C"/>
                </a:solidFill>
                <a:latin typeface="JetBrains Mono"/>
                <a:ea typeface="JetBrains Mono"/>
                <a:cs typeface="JetBrains Mono"/>
                <a:sym typeface="JetBrains Mono"/>
              </a:rPr>
              <a:t>$</a:t>
            </a:r>
            <a:r>
              <a:rPr lang="en-US" sz="2325">
                <a:solidFill>
                  <a:srgbClr val="E8EAED"/>
                </a:solidFill>
                <a:latin typeface="JetBrains Mono"/>
                <a:ea typeface="JetBrains Mono"/>
                <a:cs typeface="JetBrains Mono"/>
                <a:sym typeface="JetBrains Mono"/>
              </a:rPr>
              <a:t>python -m venv .venv	</a:t>
            </a:r>
            <a:r>
              <a:rPr lang="en-US" sz="2325">
                <a:solidFill>
                  <a:srgbClr val="9AA0A6"/>
                </a:solidFill>
                <a:latin typeface="JetBrains Mono"/>
                <a:ea typeface="JetBrains Mono"/>
                <a:cs typeface="JetBrains Mono"/>
                <a:sym typeface="JetBrains Mono"/>
              </a:rPr>
              <a:t># create the virtual environment</a:t>
            </a:r>
            <a:endParaRPr sz="23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2325"/>
              <a:buFont typeface="JetBrains Mono"/>
              <a:buNone/>
            </a:pPr>
            <a:r>
              <a:rPr lang="en-US" sz="2325">
                <a:solidFill>
                  <a:srgbClr val="6E7D4C"/>
                </a:solidFill>
                <a:latin typeface="JetBrains Mono"/>
                <a:ea typeface="JetBrains Mono"/>
                <a:cs typeface="JetBrains Mono"/>
                <a:sym typeface="JetBrains Mono"/>
              </a:rPr>
              <a:t>$</a:t>
            </a:r>
            <a:r>
              <a:rPr lang="en-US" sz="2325">
                <a:solidFill>
                  <a:srgbClr val="E8EAED"/>
                </a:solidFill>
                <a:latin typeface="JetBrains Mono"/>
                <a:ea typeface="JetBrains Mono"/>
                <a:cs typeface="JetBrains Mono"/>
                <a:sym typeface="JetBrains Mono"/>
              </a:rPr>
              <a:t>source .venv/bin/activate	</a:t>
            </a:r>
            <a:r>
              <a:rPr lang="en-US" sz="2325">
                <a:solidFill>
                  <a:srgbClr val="9AA0A6"/>
                </a:solidFill>
                <a:latin typeface="JetBrains Mono"/>
                <a:ea typeface="JetBrains Mono"/>
                <a:cs typeface="JetBrains Mono"/>
                <a:sym typeface="JetBrains Mono"/>
              </a:rPr>
              <a:t># Activate it · Windows: .venv\Scripts\activate</a:t>
            </a:r>
            <a:endParaRPr sz="23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2325"/>
              <a:buFont typeface="JetBrains Mono"/>
              <a:buNone/>
            </a:pPr>
            <a:r>
              <a:rPr lang="en-US" sz="2325">
                <a:solidFill>
                  <a:srgbClr val="6E7D4C"/>
                </a:solidFill>
                <a:latin typeface="JetBrains Mono"/>
                <a:ea typeface="JetBrains Mono"/>
                <a:cs typeface="JetBrains Mono"/>
                <a:sym typeface="JetBrains Mono"/>
              </a:rPr>
              <a:t>$</a:t>
            </a:r>
            <a:r>
              <a:rPr lang="en-US" sz="2325">
                <a:solidFill>
                  <a:srgbClr val="E8EAED"/>
                </a:solidFill>
                <a:latin typeface="JetBrains Mono"/>
                <a:ea typeface="JetBrains Mono"/>
                <a:cs typeface="JetBrains Mono"/>
                <a:sym typeface="JetBrains Mono"/>
              </a:rPr>
              <a:t>pip install chromadb	</a:t>
            </a:r>
            <a:r>
              <a:rPr lang="en-US" sz="2325">
                <a:solidFill>
                  <a:srgbClr val="9AA0A6"/>
                </a:solidFill>
                <a:latin typeface="JetBrains Mono"/>
                <a:ea typeface="JetBrains Mono"/>
                <a:cs typeface="JetBrains Mono"/>
                <a:sym typeface="JetBrains Mono"/>
              </a:rPr>
              <a:t># install ChromaDB</a:t>
            </a:r>
            <a:endParaRPr sz="23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2325"/>
              <a:buFont typeface="JetBrains Mono"/>
              <a:buNone/>
            </a:pPr>
            <a:r>
              <a:rPr lang="en-US" sz="2325">
                <a:solidFill>
                  <a:srgbClr val="6E7D4C"/>
                </a:solidFill>
                <a:latin typeface="JetBrains Mono"/>
                <a:ea typeface="JetBrains Mono"/>
                <a:cs typeface="JetBrains Mono"/>
                <a:sym typeface="JetBrains Mono"/>
              </a:rPr>
              <a:t>$</a:t>
            </a:r>
            <a:r>
              <a:rPr lang="en-US" sz="2325">
                <a:solidFill>
                  <a:srgbClr val="E8EAED"/>
                </a:solidFill>
                <a:latin typeface="JetBrains Mono"/>
                <a:ea typeface="JetBrains Mono"/>
                <a:cs typeface="JetBrains Mono"/>
                <a:sym typeface="JetBrains Mono"/>
              </a:rPr>
              <a:t>pip show chromadb </a:t>
            </a:r>
            <a:r>
              <a:rPr lang="en-US" sz="2325">
                <a:solidFill>
                  <a:srgbClr val="9AA0A6"/>
                </a:solidFill>
                <a:latin typeface="JetBrains Mono"/>
                <a:ea typeface="JetBrains Mono"/>
                <a:cs typeface="JetBrains Mono"/>
                <a:sym typeface="JetBrains Mono"/>
              </a:rPr>
              <a:t># displays information about the installed ChromaDB package </a:t>
            </a:r>
            <a:endParaRPr sz="23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2325"/>
              <a:buFont typeface="JetBrains Mono"/>
              <a:buNone/>
            </a:pPr>
            <a:r>
              <a:t/>
            </a:r>
            <a:endParaRPr sz="2325">
              <a:solidFill>
                <a:srgbClr val="9AA0A6"/>
              </a:solidFill>
              <a:latin typeface="JetBrains Mono"/>
              <a:ea typeface="JetBrains Mono"/>
              <a:cs typeface="JetBrains Mono"/>
              <a:sym typeface="JetBrains Mono"/>
            </a:endParaRPr>
          </a:p>
          <a:p>
            <a:pPr indent="0" lvl="0" marL="0" rtl="0" algn="l">
              <a:lnSpc>
                <a:spcPct val="150000"/>
              </a:lnSpc>
              <a:spcBef>
                <a:spcPts val="0"/>
              </a:spcBef>
              <a:spcAft>
                <a:spcPts val="0"/>
              </a:spcAft>
              <a:buClr>
                <a:srgbClr val="6E7D4C"/>
              </a:buClr>
              <a:buSzPts val="2325"/>
              <a:buFont typeface="JetBrains Mono"/>
              <a:buNone/>
            </a:pPr>
            <a:r>
              <a:t/>
            </a:r>
            <a:endParaRPr sz="2325">
              <a:solidFill>
                <a:srgbClr val="9AA0A6"/>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6E7D4C"/>
              </a:buClr>
              <a:buSzPts val="2325"/>
              <a:buFont typeface="JetBrains Mono"/>
              <a:buNone/>
            </a:pPr>
            <a:r>
              <a:t/>
            </a:r>
            <a:endParaRPr sz="2325">
              <a:solidFill>
                <a:srgbClr val="9AA0A6"/>
              </a:solidFill>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3" name="Shape 1083"/>
        <p:cNvGrpSpPr/>
        <p:nvPr/>
      </p:nvGrpSpPr>
      <p:grpSpPr>
        <a:xfrm>
          <a:off x="0" y="0"/>
          <a:ext cx="0" cy="0"/>
          <a:chOff x="0" y="0"/>
          <a:chExt cx="0" cy="0"/>
        </a:xfrm>
      </p:grpSpPr>
      <p:pic>
        <p:nvPicPr>
          <p:cNvPr descr="preencoded.png" id="1084" name="Google Shape;1084;g3f776df2723_1_249"/>
          <p:cNvPicPr preferRelativeResize="0"/>
          <p:nvPr/>
        </p:nvPicPr>
        <p:blipFill rotWithShape="1">
          <a:blip r:embed="rId3">
            <a:alphaModFix/>
          </a:blip>
          <a:srcRect b="0" l="0" r="0" t="0"/>
          <a:stretch/>
        </p:blipFill>
        <p:spPr>
          <a:xfrm>
            <a:off x="16202092" y="952500"/>
            <a:ext cx="1066768" cy="1304066"/>
          </a:xfrm>
          <a:prstGeom prst="rect">
            <a:avLst/>
          </a:prstGeom>
          <a:noFill/>
          <a:ln>
            <a:noFill/>
          </a:ln>
        </p:spPr>
      </p:pic>
      <p:sp>
        <p:nvSpPr>
          <p:cNvPr id="1085" name="Google Shape;1085;g3f776df2723_1_249"/>
          <p:cNvSpPr/>
          <p:nvPr/>
        </p:nvSpPr>
        <p:spPr>
          <a:xfrm>
            <a:off x="1047750" y="666750"/>
            <a:ext cx="17811900" cy="493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Setup</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1086" name="Google Shape;1086;g3f776df2723_1_249"/>
          <p:cNvSpPr/>
          <p:nvPr/>
        </p:nvSpPr>
        <p:spPr>
          <a:xfrm>
            <a:off x="1047750" y="1178884"/>
            <a:ext cx="17811900" cy="109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Quick Start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a:t>
            </a:r>
            <a:r>
              <a:rPr b="1" lang="en-US" sz="6000">
                <a:solidFill>
                  <a:srgbClr val="274D71"/>
                </a:solidFill>
                <a:latin typeface="Gabarito"/>
                <a:ea typeface="Gabarito"/>
                <a:cs typeface="Gabarito"/>
                <a:sym typeface="Gabarito"/>
              </a:rPr>
              <a:t>Create &amp; Add document</a:t>
            </a:r>
            <a:endParaRPr b="0" i="0" sz="6000" u="none" cap="none" strike="noStrike">
              <a:solidFill>
                <a:schemeClr val="dk1"/>
              </a:solidFill>
              <a:latin typeface="Calibri"/>
              <a:ea typeface="Calibri"/>
              <a:cs typeface="Calibri"/>
              <a:sym typeface="Calibri"/>
            </a:endParaRPr>
          </a:p>
        </p:txBody>
      </p:sp>
      <p:sp>
        <p:nvSpPr>
          <p:cNvPr id="1087" name="Google Shape;1087;g3f776df2723_1_249"/>
          <p:cNvSpPr/>
          <p:nvPr/>
        </p:nvSpPr>
        <p:spPr>
          <a:xfrm>
            <a:off x="1047750" y="2427725"/>
            <a:ext cx="16192500" cy="7457400"/>
          </a:xfrm>
          <a:prstGeom prst="roundRect">
            <a:avLst>
              <a:gd fmla="val 1925"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g3f776df2723_1_249"/>
          <p:cNvSpPr/>
          <p:nvPr/>
        </p:nvSpPr>
        <p:spPr>
          <a:xfrm>
            <a:off x="1047750" y="2427718"/>
            <a:ext cx="16192500" cy="647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g3f776df2723_1_249"/>
          <p:cNvSpPr/>
          <p:nvPr/>
        </p:nvSpPr>
        <p:spPr>
          <a:xfrm>
            <a:off x="1295301" y="2684859"/>
            <a:ext cx="133200" cy="1332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g3f776df2723_1_249"/>
          <p:cNvSpPr/>
          <p:nvPr/>
        </p:nvSpPr>
        <p:spPr>
          <a:xfrm>
            <a:off x="1523835" y="2684859"/>
            <a:ext cx="133200" cy="1332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g3f776df2723_1_249"/>
          <p:cNvSpPr/>
          <p:nvPr/>
        </p:nvSpPr>
        <p:spPr>
          <a:xfrm>
            <a:off x="1752369" y="2684859"/>
            <a:ext cx="133200" cy="1332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g3f776df2723_1_249"/>
          <p:cNvSpPr/>
          <p:nvPr/>
        </p:nvSpPr>
        <p:spPr>
          <a:xfrm>
            <a:off x="2114186" y="2561002"/>
            <a:ext cx="5280900" cy="41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2250"/>
              <a:buFont typeface="JetBrains Mono"/>
              <a:buNone/>
            </a:pPr>
            <a:r>
              <a:rPr b="0" i="0" lang="en-US" sz="2250" u="none" cap="none" strike="noStrike">
                <a:solidFill>
                  <a:srgbClr val="9AA0A6"/>
                </a:solidFill>
                <a:latin typeface="JetBrains Mono"/>
                <a:ea typeface="JetBrains Mono"/>
                <a:cs typeface="JetBrains Mono"/>
                <a:sym typeface="JetBrains Mono"/>
              </a:rPr>
              <a:t>quickstart.py </a:t>
            </a:r>
            <a:r>
              <a:rPr lang="en-US" sz="2250">
                <a:solidFill>
                  <a:srgbClr val="9AA0A6"/>
                </a:solidFill>
                <a:latin typeface="JetBrains Mono"/>
                <a:ea typeface="JetBrains Mono"/>
                <a:cs typeface="JetBrains Mono"/>
                <a:sym typeface="JetBrains Mono"/>
              </a:rPr>
              <a:t> </a:t>
            </a:r>
            <a:endParaRPr b="0" i="0" sz="2250" u="none" cap="none" strike="noStrike">
              <a:solidFill>
                <a:schemeClr val="dk1"/>
              </a:solidFill>
              <a:latin typeface="Calibri"/>
              <a:ea typeface="Calibri"/>
              <a:cs typeface="Calibri"/>
              <a:sym typeface="Calibri"/>
            </a:endParaRPr>
          </a:p>
        </p:txBody>
      </p:sp>
      <p:sp>
        <p:nvSpPr>
          <p:cNvPr id="1093" name="Google Shape;1093;g3f776df2723_1_249"/>
          <p:cNvSpPr/>
          <p:nvPr/>
        </p:nvSpPr>
        <p:spPr>
          <a:xfrm>
            <a:off x="1428750" y="3303800"/>
            <a:ext cx="15304200" cy="60957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C792EA"/>
              </a:buClr>
              <a:buSzPts val="2250"/>
              <a:buFont typeface="JetBrains Mono"/>
              <a:buNone/>
            </a:pPr>
            <a:r>
              <a:rPr b="0" i="0" lang="en-US" sz="2250" u="none" cap="none" strike="noStrike">
                <a:solidFill>
                  <a:srgbClr val="C792EA"/>
                </a:solidFill>
                <a:latin typeface="JetBrains Mono"/>
                <a:ea typeface="JetBrains Mono"/>
                <a:cs typeface="JetBrains Mono"/>
                <a:sym typeface="JetBrains Mono"/>
              </a:rPr>
              <a:t>import </a:t>
            </a:r>
            <a:r>
              <a:rPr b="0" i="0" lang="en-US" sz="2250" u="none" cap="none" strike="noStrike">
                <a:solidFill>
                  <a:srgbClr val="E8EAED"/>
                </a:solidFill>
                <a:latin typeface="JetBrains Mono"/>
                <a:ea typeface="JetBrains Mono"/>
                <a:cs typeface="JetBrains Mono"/>
                <a:sym typeface="JetBrains Mono"/>
              </a:rPr>
              <a:t>chromadb</a:t>
            </a:r>
            <a:endParaRPr b="0" i="0" sz="2250" u="none" cap="none" strike="noStrike">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C792EA"/>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rPr lang="en-US" sz="2250">
                <a:solidFill>
                  <a:srgbClr val="9AA0A6"/>
                </a:solidFill>
                <a:latin typeface="JetBrains Mono"/>
                <a:ea typeface="JetBrains Mono"/>
                <a:cs typeface="JetBrains Mono"/>
                <a:sym typeface="JetBrains Mono"/>
              </a:rPr>
              <a:t># 1. Create the ChromaDB client</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rPr lang="en-US" sz="2250">
                <a:solidFill>
                  <a:srgbClr val="E8EAED"/>
                </a:solidFill>
                <a:latin typeface="JetBrains Mono"/>
                <a:ea typeface="JetBrains Mono"/>
                <a:cs typeface="JetBrains Mono"/>
                <a:sym typeface="JetBrains Mono"/>
              </a:rPr>
              <a:t>client = chromadb.Client()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rPr lang="en-US" sz="2250">
                <a:solidFill>
                  <a:srgbClr val="9AA0A6"/>
                </a:solidFill>
                <a:latin typeface="JetBrains Mono"/>
                <a:ea typeface="JetBrains Mono"/>
                <a:cs typeface="JetBrains Mono"/>
                <a:sym typeface="JetBrains Mono"/>
              </a:rPr>
              <a:t># 2. Create the collection</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rPr lang="en-US" sz="2250">
                <a:solidFill>
                  <a:srgbClr val="E8EAED"/>
                </a:solidFill>
                <a:latin typeface="JetBrains Mono"/>
                <a:ea typeface="JetBrains Mono"/>
                <a:cs typeface="JetBrains Mono"/>
                <a:sym typeface="JetBrains Mono"/>
              </a:rPr>
              <a:t>collection = client.get_or_create_collection(name=</a:t>
            </a:r>
            <a:r>
              <a:rPr lang="en-US" sz="2250">
                <a:solidFill>
                  <a:srgbClr val="A8D08D"/>
                </a:solidFill>
                <a:latin typeface="JetBrains Mono"/>
                <a:ea typeface="JetBrains Mono"/>
                <a:cs typeface="JetBrains Mono"/>
                <a:sym typeface="JetBrains Mono"/>
              </a:rPr>
              <a:t>"my_collection"</a:t>
            </a: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rPr lang="en-US" sz="2250">
                <a:solidFill>
                  <a:srgbClr val="9AA0A6"/>
                </a:solidFill>
                <a:latin typeface="JetBrains Mono"/>
                <a:ea typeface="JetBrains Mono"/>
                <a:cs typeface="JetBrains Mono"/>
                <a:sym typeface="JetBrains Mono"/>
              </a:rPr>
              <a:t># 3. Add documents</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rPr lang="en-US" sz="2250">
                <a:solidFill>
                  <a:srgbClr val="E8EAED"/>
                </a:solidFill>
                <a:latin typeface="JetBrains Mono"/>
                <a:ea typeface="JetBrains Mono"/>
                <a:cs typeface="JetBrains Mono"/>
                <a:sym typeface="JetBrains Mono"/>
              </a:rPr>
              <a:t>collection.upsert(</a:t>
            </a:r>
            <a:endParaRPr sz="225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E8EAED"/>
              </a:buClr>
              <a:buSzPts val="2250"/>
              <a:buFont typeface="JetBrains Mono"/>
              <a:buNone/>
            </a:pPr>
            <a:r>
              <a:rPr lang="en-US" sz="2250">
                <a:solidFill>
                  <a:srgbClr val="E8EAED"/>
                </a:solidFill>
                <a:latin typeface="JetBrains Mono"/>
                <a:ea typeface="JetBrains Mono"/>
                <a:cs typeface="JetBrains Mono"/>
                <a:sym typeface="JetBrains Mono"/>
              </a:rPr>
              <a:t>ids=[</a:t>
            </a:r>
            <a:r>
              <a:rPr lang="en-US" sz="2250">
                <a:solidFill>
                  <a:srgbClr val="A8D08D"/>
                </a:solidFill>
                <a:latin typeface="JetBrains Mono"/>
                <a:ea typeface="JetBrains Mono"/>
                <a:cs typeface="JetBrains Mono"/>
                <a:sym typeface="JetBrains Mono"/>
              </a:rPr>
              <a:t>"id1"</a:t>
            </a:r>
            <a:r>
              <a:rPr lang="en-US" sz="2250">
                <a:solidFill>
                  <a:srgbClr val="E8EAED"/>
                </a:solidFill>
                <a:latin typeface="JetBrains Mono"/>
                <a:ea typeface="JetBrains Mono"/>
                <a:cs typeface="JetBrains Mono"/>
                <a:sym typeface="JetBrains Mono"/>
              </a:rPr>
              <a:t>,</a:t>
            </a:r>
            <a:r>
              <a:rPr lang="en-US" sz="2250">
                <a:solidFill>
                  <a:srgbClr val="A8D08D"/>
                </a:solidFill>
                <a:latin typeface="JetBrains Mono"/>
                <a:ea typeface="JetBrains Mono"/>
                <a:cs typeface="JetBrains Mono"/>
                <a:sym typeface="JetBrains Mono"/>
              </a:rPr>
              <a:t>"id2"</a:t>
            </a: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0" lvl="0" marL="457200" rtl="0" algn="l">
              <a:lnSpc>
                <a:spcPct val="115000"/>
              </a:lnSpc>
              <a:spcBef>
                <a:spcPts val="0"/>
              </a:spcBef>
              <a:spcAft>
                <a:spcPts val="0"/>
              </a:spcAft>
              <a:buClr>
                <a:srgbClr val="E8EAED"/>
              </a:buClr>
              <a:buSzPts val="2250"/>
              <a:buFont typeface="JetBrains Mono"/>
              <a:buNone/>
            </a:pPr>
            <a:r>
              <a:rPr lang="en-US" sz="2250">
                <a:solidFill>
                  <a:srgbClr val="E8EAED"/>
                </a:solidFill>
                <a:latin typeface="JetBrains Mono"/>
                <a:ea typeface="JetBrains Mono"/>
                <a:cs typeface="JetBrains Mono"/>
                <a:sym typeface="JetBrains Mono"/>
              </a:rPr>
              <a:t>documents=[</a:t>
            </a:r>
            <a:endParaRPr sz="2250">
              <a:solidFill>
                <a:srgbClr val="E8EAED"/>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rgbClr val="E8EAED"/>
              </a:buClr>
              <a:buSzPts val="2250"/>
              <a:buFont typeface="JetBrains Mono"/>
              <a:buNone/>
            </a:pPr>
            <a:r>
              <a:rPr lang="en-US" sz="2250">
                <a:solidFill>
                  <a:srgbClr val="A8D08D"/>
                </a:solidFill>
                <a:latin typeface="JetBrains Mono"/>
                <a:ea typeface="JetBrains Mono"/>
                <a:cs typeface="JetBrains Mono"/>
                <a:sym typeface="JetBrains Mono"/>
              </a:rPr>
              <a:t>"This is a document about pineapple"</a:t>
            </a: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rgbClr val="A8D08D"/>
              </a:buClr>
              <a:buSzPts val="2250"/>
              <a:buFont typeface="JetBrains Mono"/>
              <a:buNone/>
            </a:pPr>
            <a:r>
              <a:rPr lang="en-US" sz="2250">
                <a:solidFill>
                  <a:srgbClr val="A8D08D"/>
                </a:solidFill>
                <a:latin typeface="JetBrains Mono"/>
                <a:ea typeface="JetBrains Mono"/>
                <a:cs typeface="JetBrains Mono"/>
                <a:sym typeface="JetBrains Mono"/>
              </a:rPr>
              <a:t>"This is a document about oranges"</a:t>
            </a:r>
            <a:endParaRPr sz="2250">
              <a:solidFill>
                <a:srgbClr val="A8D08D"/>
              </a:solidFill>
              <a:latin typeface="JetBrains Mono"/>
              <a:ea typeface="JetBrains Mono"/>
              <a:cs typeface="JetBrains Mono"/>
              <a:sym typeface="JetBrains Mono"/>
            </a:endParaRPr>
          </a:p>
          <a:p>
            <a:pPr indent="457200" lvl="0" marL="914400" rtl="0" algn="l">
              <a:lnSpc>
                <a:spcPct val="115000"/>
              </a:lnSpc>
              <a:spcBef>
                <a:spcPts val="0"/>
              </a:spcBef>
              <a:spcAft>
                <a:spcPts val="0"/>
              </a:spcAft>
              <a:buClr>
                <a:srgbClr val="A8D08D"/>
              </a:buClr>
              <a:buSzPts val="2250"/>
              <a:buFont typeface="JetBrains Mono"/>
              <a:buNone/>
            </a:pP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rPr lang="en-US" sz="2250">
                <a:solidFill>
                  <a:srgbClr val="E8EAED"/>
                </a:solidFill>
                <a:latin typeface="JetBrains Mono"/>
                <a:ea typeface="JetBrains Mono"/>
                <a:cs typeface="JetBrains Mono"/>
                <a:sym typeface="JetBrains Mono"/>
              </a:rPr>
              <a:t>)</a:t>
            </a:r>
            <a:endParaRPr sz="2250">
              <a:solidFill>
                <a:srgbClr val="F0B45C"/>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A8D08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C792EA"/>
              </a:buClr>
              <a:buSzPts val="2250"/>
              <a:buFont typeface="JetBrains Mono"/>
              <a:buNone/>
            </a:pPr>
            <a:r>
              <a:t/>
            </a:r>
            <a:endParaRPr sz="2250">
              <a:solidFill>
                <a:srgbClr val="E8EAED"/>
              </a:solidFill>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8" name="Shape 1098"/>
        <p:cNvGrpSpPr/>
        <p:nvPr/>
      </p:nvGrpSpPr>
      <p:grpSpPr>
        <a:xfrm>
          <a:off x="0" y="0"/>
          <a:ext cx="0" cy="0"/>
          <a:chOff x="0" y="0"/>
          <a:chExt cx="0" cy="0"/>
        </a:xfrm>
      </p:grpSpPr>
      <p:pic>
        <p:nvPicPr>
          <p:cNvPr descr="preencoded.png" id="1099" name="Google Shape;1099;g3f776df2723_1_321"/>
          <p:cNvPicPr preferRelativeResize="0"/>
          <p:nvPr/>
        </p:nvPicPr>
        <p:blipFill rotWithShape="1">
          <a:blip r:embed="rId3">
            <a:alphaModFix/>
          </a:blip>
          <a:srcRect b="0" l="0" r="0" t="0"/>
          <a:stretch/>
        </p:blipFill>
        <p:spPr>
          <a:xfrm>
            <a:off x="16202092" y="952500"/>
            <a:ext cx="1066768" cy="1304066"/>
          </a:xfrm>
          <a:prstGeom prst="rect">
            <a:avLst/>
          </a:prstGeom>
          <a:noFill/>
          <a:ln>
            <a:noFill/>
          </a:ln>
        </p:spPr>
      </p:pic>
      <p:sp>
        <p:nvSpPr>
          <p:cNvPr id="1100" name="Google Shape;1100;g3f776df2723_1_321"/>
          <p:cNvSpPr/>
          <p:nvPr/>
        </p:nvSpPr>
        <p:spPr>
          <a:xfrm>
            <a:off x="1047750" y="666750"/>
            <a:ext cx="17811900" cy="493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Setup</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1101" name="Google Shape;1101;g3f776df2723_1_321"/>
          <p:cNvSpPr/>
          <p:nvPr/>
        </p:nvSpPr>
        <p:spPr>
          <a:xfrm>
            <a:off x="1047750" y="1178884"/>
            <a:ext cx="17811900" cy="109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Quick Start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a:t>
            </a:r>
            <a:r>
              <a:rPr b="1" lang="en-US" sz="6000">
                <a:solidFill>
                  <a:srgbClr val="274D71"/>
                </a:solidFill>
                <a:latin typeface="Gabarito"/>
                <a:ea typeface="Gabarito"/>
                <a:cs typeface="Gabarito"/>
                <a:sym typeface="Gabarito"/>
              </a:rPr>
              <a:t>Search, Print</a:t>
            </a:r>
            <a:r>
              <a:rPr b="1" lang="en-US" sz="6000">
                <a:solidFill>
                  <a:srgbClr val="274D71"/>
                </a:solidFill>
                <a:latin typeface="Gabarito"/>
                <a:ea typeface="Gabarito"/>
                <a:cs typeface="Gabarito"/>
                <a:sym typeface="Gabarito"/>
              </a:rPr>
              <a:t> &amp; Delete</a:t>
            </a:r>
            <a:endParaRPr b="0" i="0" sz="6000" u="none" cap="none" strike="noStrike">
              <a:solidFill>
                <a:schemeClr val="dk1"/>
              </a:solidFill>
              <a:latin typeface="Calibri"/>
              <a:ea typeface="Calibri"/>
              <a:cs typeface="Calibri"/>
              <a:sym typeface="Calibri"/>
            </a:endParaRPr>
          </a:p>
        </p:txBody>
      </p:sp>
      <p:sp>
        <p:nvSpPr>
          <p:cNvPr id="1102" name="Google Shape;1102;g3f776df2723_1_321"/>
          <p:cNvSpPr/>
          <p:nvPr/>
        </p:nvSpPr>
        <p:spPr>
          <a:xfrm>
            <a:off x="1047750" y="2427725"/>
            <a:ext cx="16192500" cy="7457400"/>
          </a:xfrm>
          <a:prstGeom prst="roundRect">
            <a:avLst>
              <a:gd fmla="val 1925"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g3f776df2723_1_321"/>
          <p:cNvSpPr/>
          <p:nvPr/>
        </p:nvSpPr>
        <p:spPr>
          <a:xfrm>
            <a:off x="1047750" y="2427718"/>
            <a:ext cx="16192500" cy="647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g3f776df2723_1_321"/>
          <p:cNvSpPr/>
          <p:nvPr/>
        </p:nvSpPr>
        <p:spPr>
          <a:xfrm>
            <a:off x="1295301" y="2684859"/>
            <a:ext cx="133200" cy="1332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g3f776df2723_1_321"/>
          <p:cNvSpPr/>
          <p:nvPr/>
        </p:nvSpPr>
        <p:spPr>
          <a:xfrm>
            <a:off x="1523835" y="2684859"/>
            <a:ext cx="133200" cy="1332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g3f776df2723_1_321"/>
          <p:cNvSpPr/>
          <p:nvPr/>
        </p:nvSpPr>
        <p:spPr>
          <a:xfrm>
            <a:off x="1752369" y="2684859"/>
            <a:ext cx="133200" cy="1332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g3f776df2723_1_321"/>
          <p:cNvSpPr/>
          <p:nvPr/>
        </p:nvSpPr>
        <p:spPr>
          <a:xfrm>
            <a:off x="2114186" y="2561002"/>
            <a:ext cx="5280900" cy="41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2250"/>
              <a:buFont typeface="JetBrains Mono"/>
              <a:buNone/>
            </a:pPr>
            <a:r>
              <a:rPr b="0" i="0" lang="en-US" sz="2250" u="none" cap="none" strike="noStrike">
                <a:solidFill>
                  <a:srgbClr val="9AA0A6"/>
                </a:solidFill>
                <a:latin typeface="JetBrains Mono"/>
                <a:ea typeface="JetBrains Mono"/>
                <a:cs typeface="JetBrains Mono"/>
                <a:sym typeface="JetBrains Mono"/>
              </a:rPr>
              <a:t>quickstart.py </a:t>
            </a:r>
            <a:r>
              <a:rPr lang="en-US" sz="2250">
                <a:solidFill>
                  <a:srgbClr val="9AA0A6"/>
                </a:solidFill>
                <a:latin typeface="JetBrains Mono"/>
                <a:ea typeface="JetBrains Mono"/>
                <a:cs typeface="JetBrains Mono"/>
                <a:sym typeface="JetBrains Mono"/>
              </a:rPr>
              <a:t> </a:t>
            </a:r>
            <a:endParaRPr b="0" i="0" sz="2250" u="none" cap="none" strike="noStrike">
              <a:solidFill>
                <a:schemeClr val="dk1"/>
              </a:solidFill>
              <a:latin typeface="Calibri"/>
              <a:ea typeface="Calibri"/>
              <a:cs typeface="Calibri"/>
              <a:sym typeface="Calibri"/>
            </a:endParaRPr>
          </a:p>
        </p:txBody>
      </p:sp>
      <p:sp>
        <p:nvSpPr>
          <p:cNvPr id="1108" name="Google Shape;1108;g3f776df2723_1_321"/>
          <p:cNvSpPr/>
          <p:nvPr/>
        </p:nvSpPr>
        <p:spPr>
          <a:xfrm>
            <a:off x="1428750" y="3303800"/>
            <a:ext cx="15304200" cy="60957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9AA0A6"/>
              </a:buClr>
              <a:buSzPts val="2250"/>
              <a:buFont typeface="JetBrains Mono"/>
              <a:buNone/>
            </a:pPr>
            <a:r>
              <a:rPr lang="en-US" sz="2250">
                <a:solidFill>
                  <a:srgbClr val="9AA0A6"/>
                </a:solidFill>
                <a:latin typeface="JetBrains Mono"/>
                <a:ea typeface="JetBrains Mono"/>
                <a:cs typeface="JetBrains Mono"/>
                <a:sym typeface="JetBrains Mono"/>
              </a:rPr>
              <a:t># 4. Search</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results = collection.query(</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    query_texts=[</a:t>
            </a:r>
            <a:r>
              <a:rPr lang="en-US" sz="2250">
                <a:solidFill>
                  <a:srgbClr val="A8D08D"/>
                </a:solidFill>
                <a:latin typeface="JetBrains Mono"/>
                <a:ea typeface="JetBrains Mono"/>
                <a:cs typeface="JetBrains Mono"/>
                <a:sym typeface="JetBrains Mono"/>
              </a:rPr>
              <a:t>"fruit from tropical places"</a:t>
            </a:r>
            <a:r>
              <a:rPr lang="en-US" sz="2250">
                <a:solidFill>
                  <a:srgbClr val="E8EAED"/>
                </a:solidFill>
                <a:latin typeface="JetBrains Mono"/>
                <a:ea typeface="JetBrains Mono"/>
                <a:cs typeface="JetBrains Mono"/>
                <a:sym typeface="JetBrains Mono"/>
              </a:rPr>
              <a:t>], n_results=</a:t>
            </a:r>
            <a:r>
              <a:rPr lang="en-US" sz="2250">
                <a:solidFill>
                  <a:schemeClr val="accent4"/>
                </a:solidFill>
                <a:latin typeface="JetBrains Mono"/>
                <a:ea typeface="JetBrains Mono"/>
                <a:cs typeface="JetBrains Mono"/>
                <a:sym typeface="JetBrains Mono"/>
              </a:rPr>
              <a:t>2</a:t>
            </a:r>
            <a:endParaRPr sz="2250">
              <a:solidFill>
                <a:schemeClr val="accent4"/>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a:t>
            </a:r>
            <a:endParaRPr sz="2250">
              <a:solidFill>
                <a:srgbClr val="9AA0A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9AA0A6"/>
              </a:buClr>
              <a:buSzPts val="2250"/>
              <a:buFont typeface="JetBrains Mono"/>
              <a:buNone/>
            </a:pPr>
            <a:r>
              <a:rPr lang="en-US" sz="2250">
                <a:solidFill>
                  <a:srgbClr val="9AA0A6"/>
                </a:solidFill>
                <a:latin typeface="JetBrains Mono"/>
                <a:ea typeface="JetBrains Mono"/>
                <a:cs typeface="JetBrains Mono"/>
                <a:sym typeface="JetBrains Mono"/>
              </a:rPr>
              <a:t># 5. Print Result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print(</a:t>
            </a:r>
            <a:r>
              <a:rPr lang="en-US" sz="2250">
                <a:solidFill>
                  <a:srgbClr val="A8D08D"/>
                </a:solidFill>
                <a:latin typeface="JetBrains Mono"/>
                <a:ea typeface="JetBrains Mono"/>
                <a:cs typeface="JetBrains Mono"/>
                <a:sym typeface="JetBrains Mono"/>
              </a:rPr>
              <a:t>"Query Results:"</a:t>
            </a: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C792EA"/>
                </a:solidFill>
                <a:latin typeface="JetBrains Mono"/>
                <a:ea typeface="JetBrains Mono"/>
                <a:cs typeface="JetBrains Mono"/>
                <a:sym typeface="JetBrains Mono"/>
              </a:rPr>
              <a:t>for</a:t>
            </a:r>
            <a:r>
              <a:rPr lang="en-US" sz="2250">
                <a:solidFill>
                  <a:srgbClr val="E8EAED"/>
                </a:solidFill>
                <a:latin typeface="JetBrains Mono"/>
                <a:ea typeface="JetBrains Mono"/>
                <a:cs typeface="JetBrains Mono"/>
                <a:sym typeface="JetBrains Mono"/>
              </a:rPr>
              <a:t> i </a:t>
            </a:r>
            <a:r>
              <a:rPr lang="en-US" sz="2250">
                <a:solidFill>
                  <a:srgbClr val="C792EA"/>
                </a:solidFill>
                <a:latin typeface="JetBrains Mono"/>
                <a:ea typeface="JetBrains Mono"/>
                <a:cs typeface="JetBrains Mono"/>
                <a:sym typeface="JetBrains Mono"/>
              </a:rPr>
              <a:t>in</a:t>
            </a:r>
            <a:r>
              <a:rPr lang="en-US" sz="2250">
                <a:solidFill>
                  <a:srgbClr val="E8EAED"/>
                </a:solidFill>
                <a:latin typeface="JetBrains Mono"/>
                <a:ea typeface="JetBrains Mono"/>
                <a:cs typeface="JetBrains Mono"/>
                <a:sym typeface="JetBrains Mono"/>
              </a:rPr>
              <a:t> range(len(results[</a:t>
            </a:r>
            <a:r>
              <a:rPr lang="en-US" sz="2250">
                <a:solidFill>
                  <a:srgbClr val="A8D08D"/>
                </a:solidFill>
                <a:latin typeface="JetBrains Mono"/>
                <a:ea typeface="JetBrains Mono"/>
                <a:cs typeface="JetBrains Mono"/>
                <a:sym typeface="JetBrains Mono"/>
              </a:rPr>
              <a:t>"ids"</a:t>
            </a:r>
            <a:r>
              <a:rPr lang="en-US" sz="2250">
                <a:solidFill>
                  <a:srgbClr val="E8EAED"/>
                </a:solidFill>
                <a:latin typeface="JetBrains Mono"/>
                <a:ea typeface="JetBrains Mono"/>
                <a:cs typeface="JetBrains Mono"/>
                <a:sym typeface="JetBrains Mono"/>
              </a:rPr>
              <a:t>][0])):</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    print(</a:t>
            </a:r>
            <a:r>
              <a:rPr lang="en-US" sz="2250">
                <a:solidFill>
                  <a:schemeClr val="lt1"/>
                </a:solidFill>
                <a:latin typeface="JetBrains Mono"/>
                <a:ea typeface="JetBrains Mono"/>
                <a:cs typeface="JetBrains Mono"/>
                <a:sym typeface="JetBrains Mono"/>
              </a:rPr>
              <a:t>f</a:t>
            </a:r>
            <a:r>
              <a:rPr lang="en-US" sz="2250">
                <a:solidFill>
                  <a:srgbClr val="A8D08D"/>
                </a:solidFill>
                <a:latin typeface="JetBrains Mono"/>
                <a:ea typeface="JetBrains Mono"/>
                <a:cs typeface="JetBrains Mono"/>
                <a:sym typeface="JetBrains Mono"/>
              </a:rPr>
              <a:t>"\nResult {i + 1}"</a:t>
            </a: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    print(</a:t>
            </a:r>
            <a:r>
              <a:rPr lang="en-US" sz="2250">
                <a:solidFill>
                  <a:srgbClr val="A8D08D"/>
                </a:solidFill>
                <a:latin typeface="JetBrains Mono"/>
                <a:ea typeface="JetBrains Mono"/>
                <a:cs typeface="JetBrains Mono"/>
                <a:sym typeface="JetBrains Mono"/>
              </a:rPr>
              <a:t>"ID:"</a:t>
            </a:r>
            <a:r>
              <a:rPr lang="en-US" sz="2250">
                <a:solidFill>
                  <a:srgbClr val="E8EAED"/>
                </a:solidFill>
                <a:latin typeface="JetBrains Mono"/>
                <a:ea typeface="JetBrains Mono"/>
                <a:cs typeface="JetBrains Mono"/>
                <a:sym typeface="JetBrains Mono"/>
              </a:rPr>
              <a:t>, results[</a:t>
            </a:r>
            <a:r>
              <a:rPr lang="en-US" sz="2250">
                <a:solidFill>
                  <a:srgbClr val="A8D08D"/>
                </a:solidFill>
                <a:latin typeface="JetBrains Mono"/>
                <a:ea typeface="JetBrains Mono"/>
                <a:cs typeface="JetBrains Mono"/>
                <a:sym typeface="JetBrains Mono"/>
              </a:rPr>
              <a:t>"ids"</a:t>
            </a:r>
            <a:r>
              <a:rPr lang="en-US" sz="2250">
                <a:solidFill>
                  <a:srgbClr val="E8EAED"/>
                </a:solidFill>
                <a:latin typeface="JetBrains Mono"/>
                <a:ea typeface="JetBrains Mono"/>
                <a:cs typeface="JetBrains Mono"/>
                <a:sym typeface="JetBrains Mono"/>
              </a:rPr>
              <a:t>][0][i])</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    print(</a:t>
            </a:r>
            <a:r>
              <a:rPr lang="en-US" sz="2250">
                <a:solidFill>
                  <a:srgbClr val="A8D08D"/>
                </a:solidFill>
                <a:latin typeface="JetBrains Mono"/>
                <a:ea typeface="JetBrains Mono"/>
                <a:cs typeface="JetBrains Mono"/>
                <a:sym typeface="JetBrains Mono"/>
              </a:rPr>
              <a:t>"Document:"</a:t>
            </a:r>
            <a:r>
              <a:rPr lang="en-US" sz="2250">
                <a:solidFill>
                  <a:srgbClr val="E8EAED"/>
                </a:solidFill>
                <a:latin typeface="JetBrains Mono"/>
                <a:ea typeface="JetBrains Mono"/>
                <a:cs typeface="JetBrains Mono"/>
                <a:sym typeface="JetBrains Mono"/>
              </a:rPr>
              <a:t>, results[</a:t>
            </a:r>
            <a:r>
              <a:rPr lang="en-US" sz="2250">
                <a:solidFill>
                  <a:srgbClr val="A8D08D"/>
                </a:solidFill>
                <a:latin typeface="JetBrains Mono"/>
                <a:ea typeface="JetBrains Mono"/>
                <a:cs typeface="JetBrains Mono"/>
                <a:sym typeface="JetBrains Mono"/>
              </a:rPr>
              <a:t>"documents"</a:t>
            </a:r>
            <a:r>
              <a:rPr lang="en-US" sz="2250">
                <a:solidFill>
                  <a:srgbClr val="E8EAED"/>
                </a:solidFill>
                <a:latin typeface="JetBrains Mono"/>
                <a:ea typeface="JetBrains Mono"/>
                <a:cs typeface="JetBrains Mono"/>
                <a:sym typeface="JetBrains Mono"/>
              </a:rPr>
              <a:t>][0][i])</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    print(</a:t>
            </a:r>
            <a:r>
              <a:rPr lang="en-US" sz="2250">
                <a:solidFill>
                  <a:srgbClr val="A8D08D"/>
                </a:solidFill>
                <a:latin typeface="JetBrains Mono"/>
                <a:ea typeface="JetBrains Mono"/>
                <a:cs typeface="JetBrains Mono"/>
                <a:sym typeface="JetBrains Mono"/>
              </a:rPr>
              <a:t>"Distance:"</a:t>
            </a:r>
            <a:r>
              <a:rPr lang="en-US" sz="2250">
                <a:solidFill>
                  <a:srgbClr val="E8EAED"/>
                </a:solidFill>
                <a:latin typeface="JetBrains Mono"/>
                <a:ea typeface="JetBrains Mono"/>
                <a:cs typeface="JetBrains Mono"/>
                <a:sym typeface="JetBrains Mono"/>
              </a:rPr>
              <a:t>, results[</a:t>
            </a:r>
            <a:r>
              <a:rPr lang="en-US" sz="2250">
                <a:solidFill>
                  <a:srgbClr val="A8D08D"/>
                </a:solidFill>
                <a:latin typeface="JetBrains Mono"/>
                <a:ea typeface="JetBrains Mono"/>
                <a:cs typeface="JetBrains Mono"/>
                <a:sym typeface="JetBrains Mono"/>
              </a:rPr>
              <a:t>"distances"</a:t>
            </a:r>
            <a:r>
              <a:rPr lang="en-US" sz="2250">
                <a:solidFill>
                  <a:srgbClr val="E8EAED"/>
                </a:solidFill>
                <a:latin typeface="JetBrains Mono"/>
                <a:ea typeface="JetBrains Mono"/>
                <a:cs typeface="JetBrains Mono"/>
                <a:sym typeface="JetBrains Mono"/>
              </a:rPr>
              <a:t>][0][i])</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9AA0A6"/>
                </a:solidFill>
                <a:latin typeface="JetBrains Mono"/>
                <a:ea typeface="JetBrains Mono"/>
                <a:cs typeface="JetBrains Mono"/>
                <a:sym typeface="JetBrains Mono"/>
              </a:rPr>
              <a:t># 6. Delete collection</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US" sz="2250">
                <a:solidFill>
                  <a:srgbClr val="E8EAED"/>
                </a:solidFill>
                <a:latin typeface="JetBrains Mono"/>
                <a:ea typeface="JetBrains Mono"/>
                <a:cs typeface="JetBrains Mono"/>
                <a:sym typeface="JetBrains Mono"/>
              </a:rPr>
              <a:t>client.delete_collection(name=</a:t>
            </a:r>
            <a:r>
              <a:rPr lang="en-US" sz="2250">
                <a:solidFill>
                  <a:srgbClr val="A8D08D"/>
                </a:solidFill>
                <a:latin typeface="JetBrains Mono"/>
                <a:ea typeface="JetBrains Mono"/>
                <a:cs typeface="JetBrains Mono"/>
                <a:sym typeface="JetBrains Mono"/>
              </a:rPr>
              <a:t>"my_collection"</a:t>
            </a:r>
            <a:r>
              <a:rPr lang="en-US" sz="2250">
                <a:solidFill>
                  <a:srgbClr val="E8EAED"/>
                </a:solidFill>
                <a:latin typeface="JetBrains Mono"/>
                <a:ea typeface="JetBrains Mono"/>
                <a:cs typeface="JetBrains Mono"/>
                <a:sym typeface="JetBrains Mono"/>
              </a:rPr>
              <a:t>)</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A8D08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E8EAED"/>
              </a:buClr>
              <a:buSzPts val="2250"/>
              <a:buFont typeface="JetBrains Mono"/>
              <a:buNone/>
            </a:pPr>
            <a:r>
              <a:t/>
            </a:r>
            <a:endParaRPr sz="2250">
              <a:solidFill>
                <a:srgbClr val="E8EAED"/>
              </a:solidFill>
              <a:latin typeface="JetBrains Mono"/>
              <a:ea typeface="JetBrains Mono"/>
              <a:cs typeface="JetBrains Mono"/>
              <a:sym typeface="JetBrains Mono"/>
            </a:endParaRPr>
          </a:p>
          <a:p>
            <a:pPr indent="0" lvl="0" marL="0" rtl="0" algn="l">
              <a:lnSpc>
                <a:spcPct val="115000"/>
              </a:lnSpc>
              <a:spcBef>
                <a:spcPts val="0"/>
              </a:spcBef>
              <a:spcAft>
                <a:spcPts val="0"/>
              </a:spcAft>
              <a:buClr>
                <a:srgbClr val="9AA0A6"/>
              </a:buClr>
              <a:buSzPts val="2250"/>
              <a:buFont typeface="JetBrains Mono"/>
              <a:buNone/>
            </a:pPr>
            <a:r>
              <a:t/>
            </a:r>
            <a:endParaRPr sz="2250">
              <a:solidFill>
                <a:srgbClr val="9AA0A6"/>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C792EA"/>
              </a:buClr>
              <a:buSzPts val="2250"/>
              <a:buFont typeface="JetBrains Mono"/>
              <a:buNone/>
            </a:pPr>
            <a:r>
              <a:t/>
            </a:r>
            <a:endParaRPr sz="2250">
              <a:solidFill>
                <a:srgbClr val="E8EAED"/>
              </a:solidFill>
              <a:latin typeface="JetBrains Mono"/>
              <a:ea typeface="JetBrains Mono"/>
              <a:cs typeface="JetBrains Mono"/>
              <a:sym typeface="JetBrains Mon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3" name="Shape 1113"/>
        <p:cNvGrpSpPr/>
        <p:nvPr/>
      </p:nvGrpSpPr>
      <p:grpSpPr>
        <a:xfrm>
          <a:off x="0" y="0"/>
          <a:ext cx="0" cy="0"/>
          <a:chOff x="0" y="0"/>
          <a:chExt cx="0" cy="0"/>
        </a:xfrm>
      </p:grpSpPr>
      <p:pic>
        <p:nvPicPr>
          <p:cNvPr descr="preencoded.png" id="1114" name="Google Shape;1114;g3f776df2723_1_337"/>
          <p:cNvPicPr preferRelativeResize="0"/>
          <p:nvPr/>
        </p:nvPicPr>
        <p:blipFill rotWithShape="1">
          <a:blip r:embed="rId3">
            <a:alphaModFix/>
          </a:blip>
          <a:srcRect b="0" l="0" r="0" t="0"/>
          <a:stretch/>
        </p:blipFill>
        <p:spPr>
          <a:xfrm>
            <a:off x="16202092" y="952500"/>
            <a:ext cx="1066768" cy="1304066"/>
          </a:xfrm>
          <a:prstGeom prst="rect">
            <a:avLst/>
          </a:prstGeom>
          <a:noFill/>
          <a:ln>
            <a:noFill/>
          </a:ln>
        </p:spPr>
      </p:pic>
      <p:sp>
        <p:nvSpPr>
          <p:cNvPr id="1115" name="Google Shape;1115;g3f776df2723_1_337"/>
          <p:cNvSpPr/>
          <p:nvPr/>
        </p:nvSpPr>
        <p:spPr>
          <a:xfrm>
            <a:off x="1047750" y="666750"/>
            <a:ext cx="17811900" cy="493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Setup</a:t>
            </a:r>
            <a:r>
              <a:rPr b="1" lang="en-US" sz="3000">
                <a:solidFill>
                  <a:srgbClr val="FF9900"/>
                </a:solidFill>
                <a:latin typeface="Gabarito"/>
                <a:ea typeface="Gabarito"/>
                <a:cs typeface="Gabarito"/>
                <a:sym typeface="Gabarito"/>
              </a:rPr>
              <a:t> </a:t>
            </a:r>
            <a:endParaRPr b="0" i="0" sz="3000" u="none" cap="none" strike="noStrike">
              <a:solidFill>
                <a:schemeClr val="dk1"/>
              </a:solidFill>
              <a:latin typeface="Calibri"/>
              <a:ea typeface="Calibri"/>
              <a:cs typeface="Calibri"/>
              <a:sym typeface="Calibri"/>
            </a:endParaRPr>
          </a:p>
        </p:txBody>
      </p:sp>
      <p:sp>
        <p:nvSpPr>
          <p:cNvPr id="1116" name="Google Shape;1116;g3f776df2723_1_337"/>
          <p:cNvSpPr/>
          <p:nvPr/>
        </p:nvSpPr>
        <p:spPr>
          <a:xfrm>
            <a:off x="1047750" y="1178884"/>
            <a:ext cx="17811900" cy="109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Quick Start </a:t>
            </a:r>
            <a:r>
              <a:rPr b="1" lang="en-US" sz="6000">
                <a:solidFill>
                  <a:srgbClr val="274D71"/>
                </a:solidFill>
                <a:latin typeface="Gabarito"/>
                <a:ea typeface="Gabarito"/>
                <a:cs typeface="Gabarito"/>
                <a:sym typeface="Gabarito"/>
              </a:rPr>
              <a:t>-</a:t>
            </a:r>
            <a:r>
              <a:rPr b="1" i="0" lang="en-US" sz="6000" u="none" cap="none" strike="noStrike">
                <a:solidFill>
                  <a:srgbClr val="274D71"/>
                </a:solidFill>
                <a:latin typeface="Gabarito"/>
                <a:ea typeface="Gabarito"/>
                <a:cs typeface="Gabarito"/>
                <a:sym typeface="Gabarito"/>
              </a:rPr>
              <a:t> </a:t>
            </a:r>
            <a:r>
              <a:rPr b="1" lang="en-US" sz="6000">
                <a:solidFill>
                  <a:srgbClr val="274D71"/>
                </a:solidFill>
                <a:latin typeface="Gabarito"/>
                <a:ea typeface="Gabarito"/>
                <a:cs typeface="Gabarito"/>
                <a:sym typeface="Gabarito"/>
              </a:rPr>
              <a:t>Search, Print &amp; Delete</a:t>
            </a:r>
            <a:endParaRPr b="0" i="0" sz="6000" u="none" cap="none" strike="noStrike">
              <a:solidFill>
                <a:schemeClr val="dk1"/>
              </a:solidFill>
              <a:latin typeface="Calibri"/>
              <a:ea typeface="Calibri"/>
              <a:cs typeface="Calibri"/>
              <a:sym typeface="Calibri"/>
            </a:endParaRPr>
          </a:p>
        </p:txBody>
      </p:sp>
      <p:sp>
        <p:nvSpPr>
          <p:cNvPr id="1117" name="Google Shape;1117;g3f776df2723_1_337"/>
          <p:cNvSpPr/>
          <p:nvPr/>
        </p:nvSpPr>
        <p:spPr>
          <a:xfrm>
            <a:off x="1047750" y="2427725"/>
            <a:ext cx="16192500" cy="5796900"/>
          </a:xfrm>
          <a:prstGeom prst="roundRect">
            <a:avLst>
              <a:gd fmla="val 1925" name="adj"/>
            </a:avLst>
          </a:prstGeom>
          <a:solidFill>
            <a:srgbClr val="1E2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g3f776df2723_1_337"/>
          <p:cNvSpPr/>
          <p:nvPr/>
        </p:nvSpPr>
        <p:spPr>
          <a:xfrm>
            <a:off x="1047750" y="2427718"/>
            <a:ext cx="16192500" cy="647700"/>
          </a:xfrm>
          <a:prstGeom prst="rect">
            <a:avLst/>
          </a:prstGeom>
          <a:solidFill>
            <a:srgbClr val="2A2F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g3f776df2723_1_337"/>
          <p:cNvSpPr/>
          <p:nvPr/>
        </p:nvSpPr>
        <p:spPr>
          <a:xfrm>
            <a:off x="1295301" y="2684859"/>
            <a:ext cx="133200" cy="133200"/>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g3f776df2723_1_337"/>
          <p:cNvSpPr/>
          <p:nvPr/>
        </p:nvSpPr>
        <p:spPr>
          <a:xfrm>
            <a:off x="1523835" y="2684859"/>
            <a:ext cx="133200" cy="133200"/>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g3f776df2723_1_337"/>
          <p:cNvSpPr/>
          <p:nvPr/>
        </p:nvSpPr>
        <p:spPr>
          <a:xfrm>
            <a:off x="1752369" y="2684859"/>
            <a:ext cx="133200" cy="1332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g3f776df2723_1_337"/>
          <p:cNvSpPr/>
          <p:nvPr/>
        </p:nvSpPr>
        <p:spPr>
          <a:xfrm>
            <a:off x="2114186" y="2561002"/>
            <a:ext cx="5280900" cy="41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9AA0A6"/>
              </a:buClr>
              <a:buSzPts val="2250"/>
              <a:buFont typeface="JetBrains Mono"/>
              <a:buNone/>
            </a:pPr>
            <a:r>
              <a:rPr b="0" i="0" lang="en-US" sz="2250" u="none" cap="none" strike="noStrike">
                <a:solidFill>
                  <a:srgbClr val="9AA0A6"/>
                </a:solidFill>
                <a:latin typeface="JetBrains Mono"/>
                <a:ea typeface="JetBrains Mono"/>
                <a:cs typeface="JetBrains Mono"/>
                <a:sym typeface="JetBrains Mono"/>
              </a:rPr>
              <a:t>quickstart.py </a:t>
            </a:r>
            <a:r>
              <a:rPr lang="en-US" sz="2250">
                <a:solidFill>
                  <a:srgbClr val="9AA0A6"/>
                </a:solidFill>
                <a:latin typeface="JetBrains Mono"/>
                <a:ea typeface="JetBrains Mono"/>
                <a:cs typeface="JetBrains Mono"/>
                <a:sym typeface="JetBrains Mono"/>
              </a:rPr>
              <a:t> </a:t>
            </a:r>
            <a:endParaRPr b="0" i="0" sz="2250" u="none" cap="none" strike="noStrike">
              <a:solidFill>
                <a:schemeClr val="dk1"/>
              </a:solidFill>
              <a:latin typeface="Calibri"/>
              <a:ea typeface="Calibri"/>
              <a:cs typeface="Calibri"/>
              <a:sym typeface="Calibri"/>
            </a:endParaRPr>
          </a:p>
        </p:txBody>
      </p:sp>
      <p:sp>
        <p:nvSpPr>
          <p:cNvPr id="1123" name="Google Shape;1123;g3f776df2723_1_337"/>
          <p:cNvSpPr/>
          <p:nvPr/>
        </p:nvSpPr>
        <p:spPr>
          <a:xfrm>
            <a:off x="1428750" y="3429125"/>
            <a:ext cx="15447300" cy="44832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Query Results:</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Result 1</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ID: id1</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Document: This is a document about pineapple</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Distance: </a:t>
            </a:r>
            <a:r>
              <a:rPr lang="en-US" sz="2000">
                <a:solidFill>
                  <a:srgbClr val="A8D08D"/>
                </a:solidFill>
                <a:latin typeface="JetBrains Mono"/>
                <a:ea typeface="JetBrains Mono"/>
                <a:cs typeface="JetBrains Mono"/>
                <a:sym typeface="JetBrains Mono"/>
              </a:rPr>
              <a:t>1.066545844078064</a:t>
            </a:r>
            <a:endParaRPr sz="2000">
              <a:solidFill>
                <a:srgbClr val="A8D08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Result 2</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ID: id2</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Document: This is a document about oranges</a:t>
            </a:r>
            <a:endParaRPr sz="2000">
              <a:solidFill>
                <a:srgbClr val="E8EAED"/>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E8EAED"/>
                </a:solidFill>
                <a:latin typeface="JetBrains Mono"/>
                <a:ea typeface="JetBrains Mono"/>
                <a:cs typeface="JetBrains Mono"/>
                <a:sym typeface="JetBrains Mono"/>
              </a:rPr>
              <a:t>Distance: </a:t>
            </a:r>
            <a:r>
              <a:rPr lang="en-US" sz="2000">
                <a:solidFill>
                  <a:srgbClr val="C15F3C"/>
                </a:solidFill>
                <a:latin typeface="JetBrains Mono"/>
                <a:ea typeface="JetBrains Mono"/>
                <a:cs typeface="JetBrains Mono"/>
                <a:sym typeface="JetBrains Mono"/>
              </a:rPr>
              <a:t>1.1986472606658936</a:t>
            </a:r>
            <a:endParaRPr sz="2000">
              <a:solidFill>
                <a:srgbClr val="C15F3C"/>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2000">
              <a:solidFill>
                <a:srgbClr val="C15F3C"/>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US" sz="2000">
                <a:solidFill>
                  <a:srgbClr val="9AA0A6"/>
                </a:solidFill>
                <a:latin typeface="JetBrains Mono"/>
                <a:ea typeface="JetBrains Mono"/>
                <a:cs typeface="JetBrains Mono"/>
                <a:sym typeface="JetBrains Mono"/>
              </a:rPr>
              <a:t>( Your distances number will differ )</a:t>
            </a:r>
            <a:endParaRPr sz="2000">
              <a:solidFill>
                <a:srgbClr val="C15F3C"/>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2000">
              <a:solidFill>
                <a:srgbClr val="5B5B5B"/>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2000">
              <a:solidFill>
                <a:srgbClr val="E8EAED"/>
              </a:solidFill>
              <a:latin typeface="JetBrains Mono"/>
              <a:ea typeface="JetBrains Mono"/>
              <a:cs typeface="JetBrains Mono"/>
              <a:sym typeface="JetBrains Mono"/>
            </a:endParaRPr>
          </a:p>
        </p:txBody>
      </p:sp>
      <p:sp>
        <p:nvSpPr>
          <p:cNvPr id="1124" name="Google Shape;1124;g3f776df2723_1_337"/>
          <p:cNvSpPr/>
          <p:nvPr/>
        </p:nvSpPr>
        <p:spPr>
          <a:xfrm>
            <a:off x="1047750" y="8523400"/>
            <a:ext cx="16192500" cy="1304100"/>
          </a:xfrm>
          <a:prstGeom prst="roundRect">
            <a:avLst>
              <a:gd fmla="val 9123" name="adj"/>
            </a:avLst>
          </a:prstGeom>
          <a:solidFill>
            <a:srgbClr val="7A8A5A">
              <a:alpha val="5880"/>
            </a:srgbClr>
          </a:solidFill>
          <a:ln cap="flat" cmpd="sng" w="10575">
            <a:solidFill>
              <a:srgbClr val="6E7D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g3f776df2723_1_337"/>
          <p:cNvSpPr/>
          <p:nvPr/>
        </p:nvSpPr>
        <p:spPr>
          <a:xfrm>
            <a:off x="1324901" y="8698374"/>
            <a:ext cx="8170500" cy="419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A33"/>
              </a:buClr>
              <a:buSzPts val="2475"/>
              <a:buFont typeface="Gabarito"/>
              <a:buNone/>
            </a:pPr>
            <a:r>
              <a:rPr b="1" i="0" lang="en-US" sz="2400" u="none" cap="none" strike="noStrike">
                <a:solidFill>
                  <a:srgbClr val="4C5A33"/>
                </a:solidFill>
                <a:latin typeface="Gabarito"/>
                <a:ea typeface="Gabarito"/>
                <a:cs typeface="Gabarito"/>
                <a:sym typeface="Gabarito"/>
              </a:rPr>
              <a:t>What the numbers mean</a:t>
            </a:r>
            <a:endParaRPr b="0" i="0" sz="2400" u="none" cap="none" strike="noStrike">
              <a:solidFill>
                <a:schemeClr val="dk1"/>
              </a:solidFill>
              <a:latin typeface="Calibri"/>
              <a:ea typeface="Calibri"/>
              <a:cs typeface="Calibri"/>
              <a:sym typeface="Calibri"/>
            </a:endParaRPr>
          </a:p>
        </p:txBody>
      </p:sp>
      <p:sp>
        <p:nvSpPr>
          <p:cNvPr id="1126" name="Google Shape;1126;g3f776df2723_1_337"/>
          <p:cNvSpPr/>
          <p:nvPr/>
        </p:nvSpPr>
        <p:spPr>
          <a:xfrm>
            <a:off x="1324899" y="9155433"/>
            <a:ext cx="15344100" cy="811200"/>
          </a:xfrm>
          <a:prstGeom prst="rect">
            <a:avLst/>
          </a:prstGeom>
          <a:noFill/>
          <a:ln>
            <a:noFill/>
          </a:ln>
        </p:spPr>
        <p:txBody>
          <a:bodyPr anchorCtr="0" anchor="t" bIns="25400" lIns="25400" spcFirstLastPara="1" rIns="25400" wrap="square" tIns="25400">
            <a:noAutofit/>
          </a:bodyPr>
          <a:lstStyle/>
          <a:p>
            <a:pPr indent="0" lvl="0" marL="0" marR="0" rtl="0" algn="l">
              <a:lnSpc>
                <a:spcPct val="114187"/>
              </a:lnSpc>
              <a:spcBef>
                <a:spcPts val="0"/>
              </a:spcBef>
              <a:spcAft>
                <a:spcPts val="0"/>
              </a:spcAft>
              <a:buClr>
                <a:srgbClr val="37474F"/>
              </a:buClr>
              <a:buSzPts val="2175"/>
              <a:buFont typeface="Gabarito"/>
              <a:buNone/>
            </a:pPr>
            <a:r>
              <a:rPr b="0" i="0" lang="en-US" sz="2400" u="none" cap="none" strike="noStrike">
                <a:solidFill>
                  <a:srgbClr val="37474F"/>
                </a:solidFill>
                <a:latin typeface="Gabarito"/>
                <a:ea typeface="Gabarito"/>
                <a:cs typeface="Gabarito"/>
                <a:sym typeface="Gabarito"/>
              </a:rPr>
              <a:t>A smaller distance means a closer meaning. Pineapple wins even though neither document says "tropical".</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1" name="Shape 1131"/>
        <p:cNvGrpSpPr/>
        <p:nvPr/>
      </p:nvGrpSpPr>
      <p:grpSpPr>
        <a:xfrm>
          <a:off x="0" y="0"/>
          <a:ext cx="0" cy="0"/>
          <a:chOff x="0" y="0"/>
          <a:chExt cx="0" cy="0"/>
        </a:xfrm>
      </p:grpSpPr>
      <p:sp>
        <p:nvSpPr>
          <p:cNvPr id="1132" name="Google Shape;1132;p38"/>
          <p:cNvSpPr/>
          <p:nvPr/>
        </p:nvSpPr>
        <p:spPr>
          <a:xfrm>
            <a:off x="15660886" y="666750"/>
            <a:ext cx="1737300" cy="1476375"/>
          </a:xfrm>
          <a:prstGeom prst="rect">
            <a:avLst/>
          </a:prstGeom>
          <a:noFill/>
          <a:ln>
            <a:noFill/>
          </a:ln>
        </p:spPr>
        <p:txBody>
          <a:bodyPr anchorCtr="0" anchor="t" bIns="25400" lIns="25400" spcFirstLastPara="1" rIns="25400" wrap="square" tIns="25400">
            <a:noAutofit/>
          </a:bodyPr>
          <a:lstStyle/>
          <a:p>
            <a:pPr indent="0" lvl="0" marL="0" marR="0" rtl="0" algn="l">
              <a:lnSpc>
                <a:spcPct val="83425"/>
              </a:lnSpc>
              <a:spcBef>
                <a:spcPts val="0"/>
              </a:spcBef>
              <a:spcAft>
                <a:spcPts val="0"/>
              </a:spcAft>
              <a:buClr>
                <a:srgbClr val="FF9900"/>
              </a:buClr>
              <a:buSzPts val="11325"/>
              <a:buFont typeface="Gabarito"/>
              <a:buNone/>
            </a:pPr>
            <a:r>
              <a:rPr b="1" i="0" lang="en-US" sz="11325" u="none" cap="none" strike="noStrike">
                <a:solidFill>
                  <a:srgbClr val="FF9900"/>
                </a:solidFill>
                <a:latin typeface="Gabarito"/>
                <a:ea typeface="Gabarito"/>
                <a:cs typeface="Gabarito"/>
                <a:sym typeface="Gabarito"/>
              </a:rPr>
              <a:t>05</a:t>
            </a:r>
            <a:endParaRPr b="0" i="0" sz="11325" u="none" cap="none" strike="noStrike">
              <a:solidFill>
                <a:schemeClr val="dk1"/>
              </a:solidFill>
              <a:latin typeface="Calibri"/>
              <a:ea typeface="Calibri"/>
              <a:cs typeface="Calibri"/>
              <a:sym typeface="Calibri"/>
            </a:endParaRPr>
          </a:p>
        </p:txBody>
      </p:sp>
      <p:sp>
        <p:nvSpPr>
          <p:cNvPr id="1133" name="Google Shape;1133;p38"/>
          <p:cNvSpPr/>
          <p:nvPr/>
        </p:nvSpPr>
        <p:spPr>
          <a:xfrm>
            <a:off x="1266825" y="2857500"/>
            <a:ext cx="1905000" cy="1905000"/>
          </a:xfrm>
          <a:prstGeom prst="ellipse">
            <a:avLst/>
          </a:prstGeom>
          <a:solidFill>
            <a:srgbClr val="5E7488">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4" name="Google Shape;1134;p38"/>
          <p:cNvPicPr preferRelativeResize="0"/>
          <p:nvPr/>
        </p:nvPicPr>
        <p:blipFill rotWithShape="1">
          <a:blip r:embed="rId3">
            <a:alphaModFix/>
          </a:blip>
          <a:srcRect b="0" l="0" r="0" t="0"/>
          <a:stretch/>
        </p:blipFill>
        <p:spPr>
          <a:xfrm>
            <a:off x="1743075" y="3333750"/>
            <a:ext cx="952500" cy="952500"/>
          </a:xfrm>
          <a:prstGeom prst="rect">
            <a:avLst/>
          </a:prstGeom>
          <a:noFill/>
          <a:ln>
            <a:noFill/>
          </a:ln>
        </p:spPr>
      </p:pic>
      <p:sp>
        <p:nvSpPr>
          <p:cNvPr id="1135" name="Google Shape;1135;p38"/>
          <p:cNvSpPr/>
          <p:nvPr/>
        </p:nvSpPr>
        <p:spPr>
          <a:xfrm>
            <a:off x="1266825" y="5334000"/>
            <a:ext cx="14668500" cy="1012924"/>
          </a:xfrm>
          <a:prstGeom prst="rect">
            <a:avLst/>
          </a:prstGeom>
          <a:noFill/>
          <a:ln>
            <a:noFill/>
          </a:ln>
        </p:spPr>
        <p:txBody>
          <a:bodyPr anchorCtr="0" anchor="t" bIns="25400" lIns="25400" spcFirstLastPara="1" rIns="25400" wrap="square" tIns="25400">
            <a:noAutofit/>
          </a:bodyPr>
          <a:lstStyle/>
          <a:p>
            <a:pPr indent="0" lvl="0" marL="0" marR="0" rtl="0" algn="l">
              <a:lnSpc>
                <a:spcPct val="95654"/>
              </a:lnSpc>
              <a:spcBef>
                <a:spcPts val="0"/>
              </a:spcBef>
              <a:spcAft>
                <a:spcPts val="0"/>
              </a:spcAft>
              <a:buClr>
                <a:srgbClr val="274D71"/>
              </a:buClr>
              <a:buSzPts val="6675"/>
              <a:buFont typeface="Gabarito"/>
              <a:buNone/>
            </a:pPr>
            <a:r>
              <a:rPr b="1" i="0" lang="en-US" sz="6675" u="none" cap="none" strike="noStrike">
                <a:solidFill>
                  <a:srgbClr val="274D71"/>
                </a:solidFill>
                <a:latin typeface="Gabarito"/>
                <a:ea typeface="Gabarito"/>
                <a:cs typeface="Gabarito"/>
                <a:sym typeface="Gabarito"/>
              </a:rPr>
              <a:t>Building the RAG App</a:t>
            </a:r>
            <a:endParaRPr b="0" i="0" sz="6675" u="none" cap="none" strike="noStrike">
              <a:solidFill>
                <a:schemeClr val="dk1"/>
              </a:solidFill>
              <a:latin typeface="Calibri"/>
              <a:ea typeface="Calibri"/>
              <a:cs typeface="Calibri"/>
              <a:sym typeface="Calibri"/>
            </a:endParaRPr>
          </a:p>
        </p:txBody>
      </p:sp>
      <p:sp>
        <p:nvSpPr>
          <p:cNvPr id="1136" name="Google Shape;1136;p38"/>
          <p:cNvSpPr/>
          <p:nvPr/>
        </p:nvSpPr>
        <p:spPr>
          <a:xfrm>
            <a:off x="1266825" y="6440537"/>
            <a:ext cx="15697200" cy="1276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4050"/>
              <a:buFont typeface="Gabarito"/>
              <a:buNone/>
            </a:pPr>
            <a:r>
              <a:rPr b="0" i="0" lang="en-US" sz="4050" u="none" cap="none" strike="noStrike">
                <a:solidFill>
                  <a:srgbClr val="78746A"/>
                </a:solidFill>
                <a:latin typeface="Gabarito"/>
                <a:ea typeface="Gabarito"/>
                <a:cs typeface="Gabarito"/>
                <a:sym typeface="Gabarito"/>
              </a:rPr>
              <a:t>A working terminal chatbot, built by hand with no framework hiding the pipeline.</a:t>
            </a:r>
            <a:endParaRPr b="0" i="0" sz="4050" u="none" cap="none" strike="noStrike">
              <a:solidFill>
                <a:schemeClr val="dk1"/>
              </a:solidFill>
              <a:latin typeface="Calibri"/>
              <a:ea typeface="Calibri"/>
              <a:cs typeface="Calibri"/>
              <a:sym typeface="Calibri"/>
            </a:endParaRPr>
          </a:p>
        </p:txBody>
      </p:sp>
      <p:sp>
        <p:nvSpPr>
          <p:cNvPr id="1137" name="Google Shape;1137;p38"/>
          <p:cNvSpPr/>
          <p:nvPr/>
        </p:nvSpPr>
        <p:spPr>
          <a:xfrm>
            <a:off x="1266825" y="9086850"/>
            <a:ext cx="990600" cy="9525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2" name="Shape 1142"/>
        <p:cNvGrpSpPr/>
        <p:nvPr/>
      </p:nvGrpSpPr>
      <p:grpSpPr>
        <a:xfrm>
          <a:off x="0" y="0"/>
          <a:ext cx="0" cy="0"/>
          <a:chOff x="0" y="0"/>
          <a:chExt cx="0" cy="0"/>
        </a:xfrm>
      </p:grpSpPr>
      <p:pic>
        <p:nvPicPr>
          <p:cNvPr descr="preencoded.png" id="1143" name="Google Shape;1143;p39"/>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144" name="Google Shape;1144;p39"/>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Overview</a:t>
            </a:r>
            <a:endParaRPr b="0" i="0" sz="3000" u="none" cap="none" strike="noStrike">
              <a:solidFill>
                <a:schemeClr val="dk1"/>
              </a:solidFill>
              <a:latin typeface="Calibri"/>
              <a:ea typeface="Calibri"/>
              <a:cs typeface="Calibri"/>
              <a:sym typeface="Calibri"/>
            </a:endParaRPr>
          </a:p>
        </p:txBody>
      </p:sp>
      <p:sp>
        <p:nvSpPr>
          <p:cNvPr id="1145" name="Google Shape;1145;p39"/>
          <p:cNvSpPr/>
          <p:nvPr/>
        </p:nvSpPr>
        <p:spPr>
          <a:xfrm>
            <a:off x="1047750" y="1181100"/>
            <a:ext cx="17811750" cy="10858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900"/>
              <a:buFont typeface="Gabarito"/>
              <a:buNone/>
            </a:pPr>
            <a:r>
              <a:rPr b="1" i="0" lang="en-US" sz="6000" u="none" cap="none" strike="noStrike">
                <a:solidFill>
                  <a:srgbClr val="274D71"/>
                </a:solidFill>
                <a:latin typeface="Gabarito"/>
                <a:ea typeface="Gabarito"/>
                <a:cs typeface="Gabarito"/>
                <a:sym typeface="Gabarito"/>
              </a:rPr>
              <a:t>What You're Building</a:t>
            </a:r>
            <a:endParaRPr b="0" i="0" sz="6000" u="none" cap="none" strike="noStrike">
              <a:solidFill>
                <a:schemeClr val="dk1"/>
              </a:solidFill>
              <a:latin typeface="Calibri"/>
              <a:ea typeface="Calibri"/>
              <a:cs typeface="Calibri"/>
              <a:sym typeface="Calibri"/>
            </a:endParaRPr>
          </a:p>
        </p:txBody>
      </p:sp>
      <p:sp>
        <p:nvSpPr>
          <p:cNvPr id="1146" name="Google Shape;1146;p39"/>
          <p:cNvSpPr/>
          <p:nvPr/>
        </p:nvSpPr>
        <p:spPr>
          <a:xfrm>
            <a:off x="1047750" y="2193875"/>
            <a:ext cx="15154275" cy="963811"/>
          </a:xfrm>
          <a:prstGeom prst="rect">
            <a:avLst/>
          </a:prstGeom>
          <a:noFill/>
          <a:ln>
            <a:noFill/>
          </a:ln>
        </p:spPr>
        <p:txBody>
          <a:bodyPr anchorCtr="0" anchor="t" bIns="25400" lIns="25400" spcFirstLastPara="1" rIns="25400" wrap="square" tIns="25400">
            <a:noAutofit/>
          </a:bodyPr>
          <a:lstStyle/>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The baseline app puts every concept from this deck into a working terminal chatbot </a:t>
            </a:r>
            <a:r>
              <a:rPr lang="en-US" sz="3000">
                <a:solidFill>
                  <a:srgbClr val="212121"/>
                </a:solidFill>
                <a:latin typeface="Gabarito"/>
                <a:ea typeface="Gabarito"/>
                <a:cs typeface="Gabarito"/>
                <a:sym typeface="Gabarito"/>
              </a:rPr>
              <a:t>-</a:t>
            </a:r>
            <a:endParaRPr sz="3000">
              <a:solidFill>
                <a:srgbClr val="212121"/>
              </a:solidFill>
              <a:latin typeface="Gabarito"/>
              <a:ea typeface="Gabarito"/>
              <a:cs typeface="Gabarito"/>
              <a:sym typeface="Gabarito"/>
            </a:endParaRPr>
          </a:p>
          <a:p>
            <a:pPr indent="0" lvl="0" marL="0" marR="0" rtl="0" algn="l">
              <a:lnSpc>
                <a:spcPct val="113023"/>
              </a:lnSpc>
              <a:spcBef>
                <a:spcPts val="0"/>
              </a:spcBef>
              <a:spcAft>
                <a:spcPts val="0"/>
              </a:spcAft>
              <a:buClr>
                <a:srgbClr val="212121"/>
              </a:buClr>
              <a:buSzPts val="2700"/>
              <a:buFont typeface="Gabarito"/>
              <a:buNone/>
            </a:pPr>
            <a:r>
              <a:rPr b="0" i="0" lang="en-US" sz="3000" u="none" cap="none" strike="noStrike">
                <a:solidFill>
                  <a:srgbClr val="212121"/>
                </a:solidFill>
                <a:latin typeface="Gabarito"/>
                <a:ea typeface="Gabarito"/>
                <a:cs typeface="Gabarito"/>
                <a:sym typeface="Gabarito"/>
              </a:rPr>
              <a:t>built from scratch, with no RAG framework hiding the pipeline from you.</a:t>
            </a:r>
            <a:endParaRPr b="0" i="0" sz="3000" u="none" cap="none" strike="noStrike">
              <a:solidFill>
                <a:schemeClr val="dk1"/>
              </a:solidFill>
              <a:latin typeface="Calibri"/>
              <a:ea typeface="Calibri"/>
              <a:cs typeface="Calibri"/>
              <a:sym typeface="Calibri"/>
            </a:endParaRPr>
          </a:p>
        </p:txBody>
      </p:sp>
      <p:sp>
        <p:nvSpPr>
          <p:cNvPr id="1147" name="Google Shape;1147;p39"/>
          <p:cNvSpPr/>
          <p:nvPr/>
        </p:nvSpPr>
        <p:spPr>
          <a:xfrm>
            <a:off x="1047750" y="3380482"/>
            <a:ext cx="7981950" cy="2729508"/>
          </a:xfrm>
          <a:prstGeom prst="roundRect">
            <a:avLst>
              <a:gd fmla="val 5583" name="adj"/>
            </a:avLst>
          </a:prstGeom>
          <a:solidFill>
            <a:srgbClr val="035595">
              <a:alpha val="3922"/>
            </a:srgbClr>
          </a:solidFill>
          <a:ln cap="flat" cmpd="sng" w="19050">
            <a:solidFill>
              <a:srgbClr val="0355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39"/>
          <p:cNvSpPr/>
          <p:nvPr/>
        </p:nvSpPr>
        <p:spPr>
          <a:xfrm>
            <a:off x="1371600" y="3666232"/>
            <a:ext cx="8067675"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550"/>
              <a:buFont typeface="Gabarito"/>
              <a:buNone/>
            </a:pPr>
            <a:r>
              <a:rPr b="1" i="0" lang="en-US" sz="2550" u="none" cap="none" strike="noStrike">
                <a:solidFill>
                  <a:srgbClr val="035595"/>
                </a:solidFill>
                <a:latin typeface="Gabarito"/>
                <a:ea typeface="Gabarito"/>
                <a:cs typeface="Gabarito"/>
                <a:sym typeface="Gabarito"/>
              </a:rPr>
              <a:t>No framework, no magic</a:t>
            </a:r>
            <a:endParaRPr b="0" i="0" sz="2550" u="none" cap="none" strike="noStrike">
              <a:solidFill>
                <a:schemeClr val="dk1"/>
              </a:solidFill>
              <a:latin typeface="Calibri"/>
              <a:ea typeface="Calibri"/>
              <a:cs typeface="Calibri"/>
              <a:sym typeface="Calibri"/>
            </a:endParaRPr>
          </a:p>
        </p:txBody>
      </p:sp>
      <p:sp>
        <p:nvSpPr>
          <p:cNvPr id="1149" name="Google Shape;1149;p39"/>
          <p:cNvSpPr/>
          <p:nvPr/>
        </p:nvSpPr>
        <p:spPr>
          <a:xfrm>
            <a:off x="1371600" y="4152000"/>
            <a:ext cx="7182300" cy="1278000"/>
          </a:xfrm>
          <a:prstGeom prst="rect">
            <a:avLst/>
          </a:prstGeom>
          <a:noFill/>
          <a:ln>
            <a:noFill/>
          </a:ln>
        </p:spPr>
        <p:txBody>
          <a:bodyPr anchorCtr="0" anchor="t" bIns="25400" lIns="25400" spcFirstLastPara="1" rIns="25400" wrap="square" tIns="25400">
            <a:noAutofit/>
          </a:bodyPr>
          <a:lstStyle/>
          <a:p>
            <a:pPr indent="0" lvl="0" marL="0" marR="0" rtl="0" algn="l">
              <a:lnSpc>
                <a:spcPct val="117297"/>
              </a:lnSpc>
              <a:spcBef>
                <a:spcPts val="0"/>
              </a:spcBef>
              <a:spcAft>
                <a:spcPts val="0"/>
              </a:spcAft>
              <a:buClr>
                <a:srgbClr val="37474F"/>
              </a:buClr>
              <a:buSzPts val="2325"/>
              <a:buFont typeface="Gabarito"/>
              <a:buNone/>
            </a:pPr>
            <a:r>
              <a:rPr b="0" i="0" lang="en-US" sz="2325" u="none" cap="none" strike="noStrike">
                <a:solidFill>
                  <a:srgbClr val="37474F"/>
                </a:solidFill>
                <a:latin typeface="Gabarito"/>
                <a:ea typeface="Gabarito"/>
                <a:cs typeface="Gabarito"/>
                <a:sym typeface="Gabarito"/>
              </a:rPr>
              <a:t>Every stage </a:t>
            </a:r>
            <a:r>
              <a:rPr lang="en-US" sz="2325">
                <a:solidFill>
                  <a:srgbClr val="37474F"/>
                </a:solidFill>
                <a:latin typeface="Gabarito"/>
                <a:ea typeface="Gabarito"/>
                <a:cs typeface="Gabarito"/>
                <a:sym typeface="Gabarito"/>
              </a:rPr>
              <a:t>- </a:t>
            </a:r>
            <a:r>
              <a:rPr b="0" i="0" lang="en-US" sz="2325" u="none" cap="none" strike="noStrike">
                <a:solidFill>
                  <a:srgbClr val="37474F"/>
                </a:solidFill>
                <a:latin typeface="Gabarito"/>
                <a:ea typeface="Gabarito"/>
                <a:cs typeface="Gabarito"/>
                <a:sym typeface="Gabarito"/>
              </a:rPr>
              <a:t>ingestion, chunking, embedding </a:t>
            </a:r>
            <a:r>
              <a:rPr lang="en-US" sz="2325">
                <a:solidFill>
                  <a:srgbClr val="37474F"/>
                </a:solidFill>
                <a:latin typeface="Gabarito"/>
                <a:ea typeface="Gabarito"/>
                <a:cs typeface="Gabarito"/>
                <a:sym typeface="Gabarito"/>
              </a:rPr>
              <a:t>- </a:t>
            </a:r>
            <a:r>
              <a:rPr b="0" i="0" lang="en-US" sz="2325" u="none" cap="none" strike="noStrike">
                <a:solidFill>
                  <a:srgbClr val="37474F"/>
                </a:solidFill>
                <a:latin typeface="Gabarito"/>
                <a:ea typeface="Gabarito"/>
                <a:cs typeface="Gabarito"/>
                <a:sym typeface="Gabarito"/>
              </a:rPr>
              <a:t>is written by hand so you see exactly what each step does and why it exists.</a:t>
            </a:r>
            <a:endParaRPr b="0" i="0" sz="2325" u="none" cap="none" strike="noStrike">
              <a:solidFill>
                <a:schemeClr val="dk1"/>
              </a:solidFill>
              <a:latin typeface="Calibri"/>
              <a:ea typeface="Calibri"/>
              <a:cs typeface="Calibri"/>
              <a:sym typeface="Calibri"/>
            </a:endParaRPr>
          </a:p>
        </p:txBody>
      </p:sp>
      <p:sp>
        <p:nvSpPr>
          <p:cNvPr id="1150" name="Google Shape;1150;p39"/>
          <p:cNvSpPr/>
          <p:nvPr/>
        </p:nvSpPr>
        <p:spPr>
          <a:xfrm>
            <a:off x="9258300" y="3380482"/>
            <a:ext cx="7981950" cy="2729508"/>
          </a:xfrm>
          <a:prstGeom prst="roundRect">
            <a:avLst>
              <a:gd fmla="val 5583" name="adj"/>
            </a:avLst>
          </a:prstGeom>
          <a:solidFill>
            <a:srgbClr val="FF9900">
              <a:alpha val="3922"/>
            </a:srgbClr>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39"/>
          <p:cNvSpPr/>
          <p:nvPr/>
        </p:nvSpPr>
        <p:spPr>
          <a:xfrm>
            <a:off x="9582150" y="3666232"/>
            <a:ext cx="8067675"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D97D00"/>
              </a:buClr>
              <a:buSzPts val="2550"/>
              <a:buFont typeface="Gabarito"/>
              <a:buNone/>
            </a:pPr>
            <a:r>
              <a:rPr b="1" i="0" lang="en-US" sz="2550" u="none" cap="none" strike="noStrike">
                <a:solidFill>
                  <a:srgbClr val="D97D00"/>
                </a:solidFill>
                <a:latin typeface="Gabarito"/>
                <a:ea typeface="Gabarito"/>
                <a:cs typeface="Gabarito"/>
                <a:sym typeface="Gabarito"/>
              </a:rPr>
              <a:t>Two commands, two pipelines</a:t>
            </a:r>
            <a:endParaRPr b="0" i="0" sz="2550" u="none" cap="none" strike="noStrike">
              <a:solidFill>
                <a:schemeClr val="dk1"/>
              </a:solidFill>
              <a:latin typeface="Calibri"/>
              <a:ea typeface="Calibri"/>
              <a:cs typeface="Calibri"/>
              <a:sym typeface="Calibri"/>
            </a:endParaRPr>
          </a:p>
        </p:txBody>
      </p:sp>
      <p:sp>
        <p:nvSpPr>
          <p:cNvPr id="1152" name="Google Shape;1152;p39"/>
          <p:cNvSpPr/>
          <p:nvPr/>
        </p:nvSpPr>
        <p:spPr>
          <a:xfrm>
            <a:off x="9582150" y="4152007"/>
            <a:ext cx="7554278" cy="1710333"/>
          </a:xfrm>
          <a:prstGeom prst="rect">
            <a:avLst/>
          </a:prstGeom>
          <a:noFill/>
          <a:ln>
            <a:noFill/>
          </a:ln>
        </p:spPr>
        <p:txBody>
          <a:bodyPr anchorCtr="0" anchor="t" bIns="25400" lIns="25400" spcFirstLastPara="1" rIns="25400" wrap="square" tIns="25400">
            <a:noAutofit/>
          </a:bodyPr>
          <a:lstStyle/>
          <a:p>
            <a:pPr indent="0" lvl="0" marL="0" marR="0" rtl="0" algn="l">
              <a:lnSpc>
                <a:spcPct val="117297"/>
              </a:lnSpc>
              <a:spcBef>
                <a:spcPts val="0"/>
              </a:spcBef>
              <a:spcAft>
                <a:spcPts val="0"/>
              </a:spcAft>
              <a:buClr>
                <a:srgbClr val="37474F"/>
              </a:buClr>
              <a:buSzPts val="2325"/>
              <a:buFont typeface="JetBrains Mono"/>
              <a:buNone/>
            </a:pPr>
            <a:r>
              <a:rPr b="0" i="0" lang="en-US" sz="2325" u="none" cap="none" strike="noStrike">
                <a:solidFill>
                  <a:srgbClr val="37474F"/>
                </a:solidFill>
                <a:latin typeface="JetBrains Mono"/>
                <a:ea typeface="JetBrains Mono"/>
                <a:cs typeface="JetBrains Mono"/>
                <a:sym typeface="JetBrains Mono"/>
              </a:rPr>
              <a:t>python main.py ingest </a:t>
            </a:r>
            <a:r>
              <a:rPr b="0" i="0" lang="en-US" sz="2325" u="none" cap="none" strike="noStrike">
                <a:solidFill>
                  <a:srgbClr val="37474F"/>
                </a:solidFill>
                <a:latin typeface="Gabarito"/>
                <a:ea typeface="Gabarito"/>
                <a:cs typeface="Gabarito"/>
                <a:sym typeface="Gabarito"/>
              </a:rPr>
              <a:t>runs the offline pipeline once to load, chunk, embed, and store documents; </a:t>
            </a:r>
            <a:r>
              <a:rPr b="0" i="0" lang="en-US" sz="2325" u="none" cap="none" strike="noStrike">
                <a:solidFill>
                  <a:srgbClr val="37474F"/>
                </a:solidFill>
                <a:latin typeface="JetBrains Mono"/>
                <a:ea typeface="JetBrains Mono"/>
                <a:cs typeface="JetBrains Mono"/>
                <a:sym typeface="JetBrains Mono"/>
              </a:rPr>
              <a:t>python main.py chat </a:t>
            </a:r>
            <a:r>
              <a:rPr b="0" i="0" lang="en-US" sz="2325" u="none" cap="none" strike="noStrike">
                <a:solidFill>
                  <a:srgbClr val="37474F"/>
                </a:solidFill>
                <a:latin typeface="Gabarito"/>
                <a:ea typeface="Gabarito"/>
                <a:cs typeface="Gabarito"/>
                <a:sym typeface="Gabarito"/>
              </a:rPr>
              <a:t>starts the loop that answers every question you type.</a:t>
            </a:r>
            <a:endParaRPr b="0" i="0" sz="2325" u="none" cap="none" strike="noStrike">
              <a:solidFill>
                <a:schemeClr val="dk1"/>
              </a:solidFill>
              <a:latin typeface="Calibri"/>
              <a:ea typeface="Calibri"/>
              <a:cs typeface="Calibri"/>
              <a:sym typeface="Calibri"/>
            </a:endParaRPr>
          </a:p>
        </p:txBody>
      </p:sp>
      <p:sp>
        <p:nvSpPr>
          <p:cNvPr id="1153" name="Google Shape;1153;p39"/>
          <p:cNvSpPr/>
          <p:nvPr/>
        </p:nvSpPr>
        <p:spPr>
          <a:xfrm>
            <a:off x="1047750" y="6304359"/>
            <a:ext cx="16192500" cy="1838325"/>
          </a:xfrm>
          <a:prstGeom prst="roundRect">
            <a:avLst>
              <a:gd fmla="val 8290" name="adj"/>
            </a:avLst>
          </a:prstGeom>
          <a:noFill/>
          <a:ln cap="flat" cmpd="sng" w="19050">
            <a:solidFill>
              <a:srgbClr val="DAD6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39"/>
          <p:cNvSpPr/>
          <p:nvPr/>
        </p:nvSpPr>
        <p:spPr>
          <a:xfrm>
            <a:off x="1371600" y="6571059"/>
            <a:ext cx="17099280" cy="4286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2550"/>
              <a:buFont typeface="Gabarito"/>
              <a:buNone/>
            </a:pPr>
            <a:r>
              <a:rPr b="1" i="0" lang="en-US" sz="2550" u="none" cap="none" strike="noStrike">
                <a:solidFill>
                  <a:srgbClr val="274D71"/>
                </a:solidFill>
                <a:latin typeface="Gabarito"/>
                <a:ea typeface="Gabarito"/>
                <a:cs typeface="Gabarito"/>
                <a:sym typeface="Gabarito"/>
              </a:rPr>
              <a:t>STACK</a:t>
            </a:r>
            <a:endParaRPr b="0" i="0" sz="2550" u="none" cap="none" strike="noStrike">
              <a:solidFill>
                <a:schemeClr val="dk1"/>
              </a:solidFill>
              <a:latin typeface="Calibri"/>
              <a:ea typeface="Calibri"/>
              <a:cs typeface="Calibri"/>
              <a:sym typeface="Calibri"/>
            </a:endParaRPr>
          </a:p>
        </p:txBody>
      </p:sp>
      <p:sp>
        <p:nvSpPr>
          <p:cNvPr id="1155" name="Google Shape;1155;p39"/>
          <p:cNvSpPr/>
          <p:nvPr/>
        </p:nvSpPr>
        <p:spPr>
          <a:xfrm>
            <a:off x="1371600" y="7056834"/>
            <a:ext cx="16011144" cy="8572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7474F"/>
              </a:buClr>
              <a:buSzPts val="2400"/>
              <a:buFont typeface="JetBrains Mono"/>
              <a:buNone/>
            </a:pPr>
            <a:r>
              <a:rPr b="0" i="0" lang="en-US" sz="2400" u="none" cap="none" strike="noStrike">
                <a:solidFill>
                  <a:srgbClr val="37474F"/>
                </a:solidFill>
                <a:latin typeface="JetBrains Mono"/>
                <a:ea typeface="JetBrains Mono"/>
                <a:cs typeface="JetBrains Mono"/>
                <a:sym typeface="JetBrains Mono"/>
              </a:rPr>
              <a:t>Python + Poetry + Ollama (llama3.2 for generation, nomic-embed-text for embedding) + ChromaDB as the persistent vector store</a:t>
            </a:r>
            <a:endParaRPr b="0" i="0" sz="2400" u="none" cap="none" strike="noStrike">
              <a:solidFill>
                <a:schemeClr val="dk1"/>
              </a:solidFill>
              <a:latin typeface="Calibri"/>
              <a:ea typeface="Calibri"/>
              <a:cs typeface="Calibri"/>
              <a:sym typeface="Calibri"/>
            </a:endParaRPr>
          </a:p>
        </p:txBody>
      </p:sp>
      <p:sp>
        <p:nvSpPr>
          <p:cNvPr id="1156" name="Google Shape;1156;p39"/>
          <p:cNvSpPr/>
          <p:nvPr/>
        </p:nvSpPr>
        <p:spPr>
          <a:xfrm>
            <a:off x="1047750" y="8337053"/>
            <a:ext cx="16192500" cy="1238250"/>
          </a:xfrm>
          <a:prstGeom prst="roundRect">
            <a:avLst>
              <a:gd fmla="val 12308" name="adj"/>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39"/>
          <p:cNvSpPr/>
          <p:nvPr/>
        </p:nvSpPr>
        <p:spPr>
          <a:xfrm>
            <a:off x="1390650" y="8565653"/>
            <a:ext cx="15992475" cy="8191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2550"/>
              <a:buFont typeface="Gabarito"/>
              <a:buNone/>
            </a:pPr>
            <a:r>
              <a:rPr b="1" i="0" lang="en-US" sz="2550" u="none" cap="none" strike="noStrike">
                <a:solidFill>
                  <a:srgbClr val="FF9900"/>
                </a:solidFill>
                <a:latin typeface="Gabarito"/>
                <a:ea typeface="Gabarito"/>
                <a:cs typeface="Gabarito"/>
                <a:sym typeface="Gabarito"/>
              </a:rPr>
              <a:t>Why it matters: </a:t>
            </a:r>
            <a:r>
              <a:rPr b="0" i="0" lang="en-US" sz="2550" u="none" cap="none" strike="noStrike">
                <a:solidFill>
                  <a:srgbClr val="5B5B5B"/>
                </a:solidFill>
                <a:latin typeface="Gabarito"/>
                <a:ea typeface="Gabarito"/>
                <a:cs typeface="Gabarito"/>
                <a:sym typeface="Gabarito"/>
              </a:rPr>
              <a:t>every file in this project maps to exactly one stage of the pipeline — there is no layer you cannot open and read.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2" name="Shape 1162"/>
        <p:cNvGrpSpPr/>
        <p:nvPr/>
      </p:nvGrpSpPr>
      <p:grpSpPr>
        <a:xfrm>
          <a:off x="0" y="0"/>
          <a:ext cx="0" cy="0"/>
          <a:chOff x="0" y="0"/>
          <a:chExt cx="0" cy="0"/>
        </a:xfrm>
      </p:grpSpPr>
      <p:pic>
        <p:nvPicPr>
          <p:cNvPr descr="preencoded.png" id="1163" name="Google Shape;1163;p40"/>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164" name="Google Shape;1164;p40"/>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Structure</a:t>
            </a:r>
            <a:endParaRPr b="0" i="0" sz="3000" u="none" cap="none" strike="noStrike">
              <a:solidFill>
                <a:schemeClr val="dk1"/>
              </a:solidFill>
              <a:latin typeface="Calibri"/>
              <a:ea typeface="Calibri"/>
              <a:cs typeface="Calibri"/>
              <a:sym typeface="Calibri"/>
            </a:endParaRPr>
          </a:p>
        </p:txBody>
      </p:sp>
      <p:sp>
        <p:nvSpPr>
          <p:cNvPr id="1165" name="Google Shape;1165;p40"/>
          <p:cNvSpPr/>
          <p:nvPr/>
        </p:nvSpPr>
        <p:spPr>
          <a:xfrm>
            <a:off x="1047750" y="1181100"/>
            <a:ext cx="17811750" cy="10001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300"/>
              <a:buFont typeface="Gabarito"/>
              <a:buNone/>
            </a:pPr>
            <a:r>
              <a:rPr b="1" i="0" lang="en-US" sz="6000" u="none" cap="none" strike="noStrike">
                <a:solidFill>
                  <a:srgbClr val="274D71"/>
                </a:solidFill>
                <a:latin typeface="Gabarito"/>
                <a:ea typeface="Gabarito"/>
                <a:cs typeface="Gabarito"/>
                <a:sym typeface="Gabarito"/>
              </a:rPr>
              <a:t>Project Structure — One File, One Concept</a:t>
            </a:r>
            <a:endParaRPr b="0" i="0" sz="6000" u="none" cap="none" strike="noStrike">
              <a:solidFill>
                <a:schemeClr val="dk1"/>
              </a:solidFill>
              <a:latin typeface="Calibri"/>
              <a:ea typeface="Calibri"/>
              <a:cs typeface="Calibri"/>
              <a:sym typeface="Calibri"/>
            </a:endParaRPr>
          </a:p>
        </p:txBody>
      </p:sp>
      <p:sp>
        <p:nvSpPr>
          <p:cNvPr id="1166" name="Google Shape;1166;p40"/>
          <p:cNvSpPr/>
          <p:nvPr/>
        </p:nvSpPr>
        <p:spPr>
          <a:xfrm>
            <a:off x="1047751" y="2275977"/>
            <a:ext cx="14782800" cy="947700"/>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212121"/>
              </a:buClr>
              <a:buSzPts val="2625"/>
              <a:buFont typeface="Gabarito"/>
              <a:buNone/>
            </a:pPr>
            <a:r>
              <a:rPr b="0" i="0" lang="en-US" sz="3000" u="none" cap="none" strike="noStrike">
                <a:solidFill>
                  <a:srgbClr val="212121"/>
                </a:solidFill>
                <a:latin typeface="Gabarito"/>
                <a:ea typeface="Gabarito"/>
                <a:cs typeface="Gabarito"/>
                <a:sym typeface="Gabarito"/>
              </a:rPr>
              <a:t>The </a:t>
            </a:r>
            <a:r>
              <a:rPr b="0" i="0" lang="en-US" sz="3000" u="none" cap="none" strike="noStrike">
                <a:solidFill>
                  <a:srgbClr val="035595"/>
                </a:solidFill>
                <a:latin typeface="JetBrains Mono"/>
                <a:ea typeface="JetBrains Mono"/>
                <a:cs typeface="JetBrains Mono"/>
                <a:sym typeface="JetBrains Mono"/>
              </a:rPr>
              <a:t>/</a:t>
            </a:r>
            <a:r>
              <a:rPr b="1" i="0" lang="en-US" sz="3000" u="none" cap="none" strike="noStrike">
                <a:solidFill>
                  <a:srgbClr val="035595"/>
                </a:solidFill>
                <a:latin typeface="JetBrains Mono"/>
                <a:ea typeface="JetBrains Mono"/>
                <a:cs typeface="JetBrains Mono"/>
                <a:sym typeface="JetBrains Mono"/>
              </a:rPr>
              <a:t>src</a:t>
            </a:r>
            <a:r>
              <a:rPr b="0" i="0" lang="en-US" sz="3000" u="none" cap="none" strike="noStrike">
                <a:solidFill>
                  <a:srgbClr val="035595"/>
                </a:solidFill>
                <a:latin typeface="JetBrains Mono"/>
                <a:ea typeface="JetBrains Mono"/>
                <a:cs typeface="JetBrains Mono"/>
                <a:sym typeface="JetBrains Mono"/>
              </a:rPr>
              <a:t> </a:t>
            </a:r>
            <a:r>
              <a:rPr b="0" i="0" lang="en-US" sz="3000" u="none" cap="none" strike="noStrike">
                <a:solidFill>
                  <a:srgbClr val="212121"/>
                </a:solidFill>
                <a:latin typeface="Gabarito"/>
                <a:ea typeface="Gabarito"/>
                <a:cs typeface="Gabarito"/>
                <a:sym typeface="Gabarito"/>
              </a:rPr>
              <a:t>layout keeps each pipeline stage isolated </a:t>
            </a:r>
            <a:r>
              <a:rPr lang="en-US" sz="3000">
                <a:solidFill>
                  <a:srgbClr val="212121"/>
                </a:solidFill>
                <a:latin typeface="Gabarito"/>
                <a:ea typeface="Gabarito"/>
                <a:cs typeface="Gabarito"/>
                <a:sym typeface="Gabarito"/>
              </a:rPr>
              <a:t>- </a:t>
            </a:r>
            <a:r>
              <a:rPr b="0" i="0" lang="en-US" sz="3000" u="none" cap="none" strike="noStrike">
                <a:solidFill>
                  <a:srgbClr val="212121"/>
                </a:solidFill>
                <a:latin typeface="Gabarito"/>
                <a:ea typeface="Gabarito"/>
                <a:cs typeface="Gabarito"/>
                <a:sym typeface="Gabarito"/>
              </a:rPr>
              <a:t>changing how chunking works never touches retrieval, and swapping the vector store never touches generation.</a:t>
            </a:r>
            <a:endParaRPr b="0" i="0" sz="3000" u="none" cap="none" strike="noStrike">
              <a:solidFill>
                <a:schemeClr val="dk1"/>
              </a:solidFill>
              <a:latin typeface="Calibri"/>
              <a:ea typeface="Calibri"/>
              <a:cs typeface="Calibri"/>
              <a:sym typeface="Calibri"/>
            </a:endParaRPr>
          </a:p>
        </p:txBody>
      </p:sp>
      <p:sp>
        <p:nvSpPr>
          <p:cNvPr id="1167" name="Google Shape;1167;p40"/>
          <p:cNvSpPr/>
          <p:nvPr/>
        </p:nvSpPr>
        <p:spPr>
          <a:xfrm>
            <a:off x="1047750" y="3665200"/>
            <a:ext cx="16221000" cy="772500"/>
          </a:xfrm>
          <a:prstGeom prst="roundRect">
            <a:avLst>
              <a:gd fmla="val 16020" name="adj"/>
            </a:avLst>
          </a:prstGeom>
          <a:noFill/>
          <a:ln cap="flat" cmpd="sng" w="17675">
            <a:solidFill>
              <a:srgbClr val="DAD6C9"/>
            </a:solidFill>
            <a:prstDash val="solid"/>
            <a:round/>
            <a:headEnd len="sm" w="sm" type="none"/>
            <a:tailEnd len="sm" w="sm" type="none"/>
          </a:ln>
        </p:spPr>
        <p:txBody>
          <a:bodyPr anchorCtr="0" anchor="ctr" bIns="84825" lIns="84825" spcFirstLastPara="1" rIns="84825" wrap="square" tIns="84825">
            <a:noAutofit/>
          </a:bodyPr>
          <a:lstStyle/>
          <a:p>
            <a:pPr indent="0" lvl="0" marL="0" marR="0" rtl="0" algn="l">
              <a:lnSpc>
                <a:spcPct val="100000"/>
              </a:lnSpc>
              <a:spcBef>
                <a:spcPts val="0"/>
              </a:spcBef>
              <a:spcAft>
                <a:spcPts val="0"/>
              </a:spcAft>
              <a:buClr>
                <a:srgbClr val="000000"/>
              </a:buClr>
              <a:buSzPts val="1299"/>
              <a:buFont typeface="Arial"/>
              <a:buNone/>
            </a:pPr>
            <a:r>
              <a:t/>
            </a:r>
            <a:endParaRPr b="0" i="0" sz="1299" u="none" cap="none" strike="noStrike">
              <a:solidFill>
                <a:srgbClr val="000000"/>
              </a:solidFill>
              <a:latin typeface="Arial"/>
              <a:ea typeface="Arial"/>
              <a:cs typeface="Arial"/>
              <a:sym typeface="Arial"/>
            </a:endParaRPr>
          </a:p>
        </p:txBody>
      </p:sp>
      <p:sp>
        <p:nvSpPr>
          <p:cNvPr id="1168" name="Google Shape;1168;p40"/>
          <p:cNvSpPr/>
          <p:nvPr/>
        </p:nvSpPr>
        <p:spPr>
          <a:xfrm>
            <a:off x="1330514" y="3859611"/>
            <a:ext cx="3304500" cy="414900"/>
          </a:xfrm>
          <a:prstGeom prst="rect">
            <a:avLst/>
          </a:prstGeom>
          <a:noFill/>
          <a:ln>
            <a:noFill/>
          </a:ln>
        </p:spPr>
        <p:txBody>
          <a:bodyPr anchorCtr="0" anchor="t" bIns="23575" lIns="23575" spcFirstLastPara="1" rIns="23575" wrap="square" tIns="23575">
            <a:noAutofit/>
          </a:bodyPr>
          <a:lstStyle/>
          <a:p>
            <a:pPr indent="0" lvl="0" marL="0" marR="0" rtl="0" algn="l">
              <a:lnSpc>
                <a:spcPct val="100000"/>
              </a:lnSpc>
              <a:spcBef>
                <a:spcPts val="0"/>
              </a:spcBef>
              <a:spcAft>
                <a:spcPts val="0"/>
              </a:spcAft>
              <a:buClr>
                <a:srgbClr val="035595"/>
              </a:buClr>
              <a:buSzPts val="2226"/>
              <a:buFont typeface="JetBrains Mono"/>
              <a:buNone/>
            </a:pPr>
            <a:r>
              <a:rPr b="1" i="0" lang="en-US" sz="2226" u="none" cap="none" strike="noStrike">
                <a:solidFill>
                  <a:srgbClr val="035595"/>
                </a:solidFill>
                <a:latin typeface="JetBrains Mono"/>
                <a:ea typeface="JetBrains Mono"/>
                <a:cs typeface="JetBrains Mono"/>
                <a:sym typeface="JetBrains Mono"/>
              </a:rPr>
              <a:t>src/ingestion.py</a:t>
            </a:r>
            <a:endParaRPr b="0" i="0" sz="2226" u="none" cap="none" strike="noStrike">
              <a:solidFill>
                <a:schemeClr val="dk1"/>
              </a:solidFill>
              <a:latin typeface="Calibri"/>
              <a:ea typeface="Calibri"/>
              <a:cs typeface="Calibri"/>
              <a:sym typeface="Calibri"/>
            </a:endParaRPr>
          </a:p>
        </p:txBody>
      </p:sp>
      <p:sp>
        <p:nvSpPr>
          <p:cNvPr id="1169" name="Google Shape;1169;p40"/>
          <p:cNvSpPr/>
          <p:nvPr/>
        </p:nvSpPr>
        <p:spPr>
          <a:xfrm>
            <a:off x="5360573" y="3859600"/>
            <a:ext cx="12384900" cy="418800"/>
          </a:xfrm>
          <a:prstGeom prst="rect">
            <a:avLst/>
          </a:prstGeom>
          <a:noFill/>
          <a:ln>
            <a:noFill/>
          </a:ln>
        </p:spPr>
        <p:txBody>
          <a:bodyPr anchorCtr="0" anchor="t" bIns="23575" lIns="23575" spcFirstLastPara="1" rIns="23575" wrap="square" tIns="23575">
            <a:noAutofit/>
          </a:bodyPr>
          <a:lstStyle/>
          <a:p>
            <a:pPr indent="0" lvl="0" marL="0" marR="0" rtl="0" algn="l">
              <a:lnSpc>
                <a:spcPct val="117297"/>
              </a:lnSpc>
              <a:spcBef>
                <a:spcPts val="0"/>
              </a:spcBef>
              <a:spcAft>
                <a:spcPts val="0"/>
              </a:spcAft>
              <a:buClr>
                <a:srgbClr val="37474F"/>
              </a:buClr>
              <a:buSzPts val="2157"/>
              <a:buFont typeface="Gabarito"/>
              <a:buNone/>
            </a:pPr>
            <a:r>
              <a:rPr b="0" i="0" lang="en-US" sz="2357" u="none" cap="none" strike="noStrike">
                <a:solidFill>
                  <a:srgbClr val="37474F"/>
                </a:solidFill>
                <a:latin typeface="Gabarito"/>
                <a:ea typeface="Gabarito"/>
                <a:cs typeface="Gabarito"/>
                <a:sym typeface="Gabarito"/>
              </a:rPr>
              <a:t>Offline pipeline: load documents, chunk text, embed, store in </a:t>
            </a:r>
            <a:r>
              <a:rPr b="1" i="0" lang="en-US" sz="2357" u="none" cap="none" strike="noStrike">
                <a:solidFill>
                  <a:srgbClr val="37474F"/>
                </a:solidFill>
                <a:latin typeface="Gabarito"/>
                <a:ea typeface="Gabarito"/>
                <a:cs typeface="Gabarito"/>
                <a:sym typeface="Gabarito"/>
              </a:rPr>
              <a:t>ChromaDB</a:t>
            </a:r>
            <a:r>
              <a:rPr b="0" i="0" lang="en-US" sz="2357" u="none" cap="none" strike="noStrike">
                <a:solidFill>
                  <a:srgbClr val="37474F"/>
                </a:solidFill>
                <a:latin typeface="Gabarito"/>
                <a:ea typeface="Gabarito"/>
                <a:cs typeface="Gabarito"/>
                <a:sym typeface="Gabarito"/>
              </a:rPr>
              <a:t>.</a:t>
            </a:r>
            <a:endParaRPr b="0" i="0" sz="2357" u="none" cap="none" strike="noStrike">
              <a:solidFill>
                <a:schemeClr val="dk1"/>
              </a:solidFill>
              <a:latin typeface="Calibri"/>
              <a:ea typeface="Calibri"/>
              <a:cs typeface="Calibri"/>
              <a:sym typeface="Calibri"/>
            </a:endParaRPr>
          </a:p>
        </p:txBody>
      </p:sp>
      <p:sp>
        <p:nvSpPr>
          <p:cNvPr id="1170" name="Google Shape;1170;p40"/>
          <p:cNvSpPr/>
          <p:nvPr/>
        </p:nvSpPr>
        <p:spPr>
          <a:xfrm>
            <a:off x="1047750" y="4578800"/>
            <a:ext cx="16221000" cy="1164600"/>
          </a:xfrm>
          <a:prstGeom prst="roundRect">
            <a:avLst>
              <a:gd fmla="val 10624" name="adj"/>
            </a:avLst>
          </a:prstGeom>
          <a:noFill/>
          <a:ln cap="flat" cmpd="sng" w="17675">
            <a:solidFill>
              <a:srgbClr val="DAD6C9"/>
            </a:solidFill>
            <a:prstDash val="solid"/>
            <a:round/>
            <a:headEnd len="sm" w="sm" type="none"/>
            <a:tailEnd len="sm" w="sm" type="none"/>
          </a:ln>
        </p:spPr>
        <p:txBody>
          <a:bodyPr anchorCtr="0" anchor="ctr" bIns="84825" lIns="84825" spcFirstLastPara="1" rIns="84825" wrap="square" tIns="84825">
            <a:noAutofit/>
          </a:bodyPr>
          <a:lstStyle/>
          <a:p>
            <a:pPr indent="0" lvl="0" marL="0" marR="0" rtl="0" algn="l">
              <a:lnSpc>
                <a:spcPct val="100000"/>
              </a:lnSpc>
              <a:spcBef>
                <a:spcPts val="0"/>
              </a:spcBef>
              <a:spcAft>
                <a:spcPts val="0"/>
              </a:spcAft>
              <a:buClr>
                <a:srgbClr val="000000"/>
              </a:buClr>
              <a:buSzPts val="1299"/>
              <a:buFont typeface="Arial"/>
              <a:buNone/>
            </a:pPr>
            <a:r>
              <a:t/>
            </a:r>
            <a:endParaRPr b="0" i="0" sz="1299" u="none" cap="none" strike="noStrike">
              <a:solidFill>
                <a:srgbClr val="000000"/>
              </a:solidFill>
              <a:latin typeface="Arial"/>
              <a:ea typeface="Arial"/>
              <a:cs typeface="Arial"/>
              <a:sym typeface="Arial"/>
            </a:endParaRPr>
          </a:p>
        </p:txBody>
      </p:sp>
      <p:sp>
        <p:nvSpPr>
          <p:cNvPr id="1171" name="Google Shape;1171;p40"/>
          <p:cNvSpPr/>
          <p:nvPr/>
        </p:nvSpPr>
        <p:spPr>
          <a:xfrm>
            <a:off x="1330514" y="4773207"/>
            <a:ext cx="3304500" cy="414900"/>
          </a:xfrm>
          <a:prstGeom prst="rect">
            <a:avLst/>
          </a:prstGeom>
          <a:noFill/>
          <a:ln>
            <a:noFill/>
          </a:ln>
        </p:spPr>
        <p:txBody>
          <a:bodyPr anchorCtr="0" anchor="t" bIns="23575" lIns="23575" spcFirstLastPara="1" rIns="23575" wrap="square" tIns="23575">
            <a:noAutofit/>
          </a:bodyPr>
          <a:lstStyle/>
          <a:p>
            <a:pPr indent="0" lvl="0" marL="0" marR="0" rtl="0" algn="l">
              <a:lnSpc>
                <a:spcPct val="100000"/>
              </a:lnSpc>
              <a:spcBef>
                <a:spcPts val="0"/>
              </a:spcBef>
              <a:spcAft>
                <a:spcPts val="0"/>
              </a:spcAft>
              <a:buClr>
                <a:srgbClr val="D97D00"/>
              </a:buClr>
              <a:buSzPts val="2226"/>
              <a:buFont typeface="JetBrains Mono"/>
              <a:buNone/>
            </a:pPr>
            <a:r>
              <a:rPr b="1" i="0" lang="en-US" sz="2226" u="none" cap="none" strike="noStrike">
                <a:solidFill>
                  <a:srgbClr val="D97D00"/>
                </a:solidFill>
                <a:latin typeface="JetBrains Mono"/>
                <a:ea typeface="JetBrains Mono"/>
                <a:cs typeface="JetBrains Mono"/>
                <a:sym typeface="JetBrains Mono"/>
              </a:rPr>
              <a:t>src/retriever.py</a:t>
            </a:r>
            <a:endParaRPr b="0" i="0" sz="2226" u="none" cap="none" strike="noStrike">
              <a:solidFill>
                <a:schemeClr val="dk1"/>
              </a:solidFill>
              <a:latin typeface="Calibri"/>
              <a:ea typeface="Calibri"/>
              <a:cs typeface="Calibri"/>
              <a:sym typeface="Calibri"/>
            </a:endParaRPr>
          </a:p>
        </p:txBody>
      </p:sp>
      <p:sp>
        <p:nvSpPr>
          <p:cNvPr id="1172" name="Google Shape;1172;p40"/>
          <p:cNvSpPr/>
          <p:nvPr/>
        </p:nvSpPr>
        <p:spPr>
          <a:xfrm>
            <a:off x="5360575" y="4773191"/>
            <a:ext cx="11308200" cy="811200"/>
          </a:xfrm>
          <a:prstGeom prst="rect">
            <a:avLst/>
          </a:prstGeom>
          <a:noFill/>
          <a:ln>
            <a:noFill/>
          </a:ln>
        </p:spPr>
        <p:txBody>
          <a:bodyPr anchorCtr="0" anchor="t" bIns="23575" lIns="23575" spcFirstLastPara="1" rIns="23575" wrap="square" tIns="23575">
            <a:noAutofit/>
          </a:bodyPr>
          <a:lstStyle/>
          <a:p>
            <a:pPr indent="0" lvl="0" marL="0" marR="0" rtl="0" algn="l">
              <a:lnSpc>
                <a:spcPct val="117297"/>
              </a:lnSpc>
              <a:spcBef>
                <a:spcPts val="0"/>
              </a:spcBef>
              <a:spcAft>
                <a:spcPts val="0"/>
              </a:spcAft>
              <a:buClr>
                <a:srgbClr val="37474F"/>
              </a:buClr>
              <a:buSzPts val="2157"/>
              <a:buFont typeface="Gabarito"/>
              <a:buNone/>
            </a:pPr>
            <a:r>
              <a:rPr b="0" i="0" lang="en-US" sz="2357" u="none" cap="none" strike="noStrike">
                <a:solidFill>
                  <a:srgbClr val="37474F"/>
                </a:solidFill>
                <a:latin typeface="Gabarito"/>
                <a:ea typeface="Gabarito"/>
                <a:cs typeface="Gabarito"/>
                <a:sym typeface="Gabarito"/>
              </a:rPr>
              <a:t>Online pipeline step 1: embed the query, </a:t>
            </a:r>
            <a:r>
              <a:rPr b="0" i="0" lang="en-US" sz="2357" u="none" cap="none" strike="noStrike">
                <a:solidFill>
                  <a:srgbClr val="37474F"/>
                </a:solidFill>
                <a:latin typeface="JetBrains Mono"/>
                <a:ea typeface="JetBrains Mono"/>
                <a:cs typeface="JetBrains Mono"/>
                <a:sym typeface="JetBrains Mono"/>
              </a:rPr>
              <a:t>collection.query </a:t>
            </a:r>
            <a:r>
              <a:rPr b="0" i="0" lang="en-US" sz="2357" u="none" cap="none" strike="noStrike">
                <a:solidFill>
                  <a:srgbClr val="37474F"/>
                </a:solidFill>
                <a:latin typeface="Gabarito"/>
                <a:ea typeface="Gabarito"/>
                <a:cs typeface="Gabarito"/>
                <a:sym typeface="Gabarito"/>
              </a:rPr>
              <a:t>returns top-k chunks with distance scores.</a:t>
            </a:r>
            <a:endParaRPr b="0" i="0" sz="2357" u="none" cap="none" strike="noStrike">
              <a:solidFill>
                <a:schemeClr val="dk1"/>
              </a:solidFill>
              <a:latin typeface="Calibri"/>
              <a:ea typeface="Calibri"/>
              <a:cs typeface="Calibri"/>
              <a:sym typeface="Calibri"/>
            </a:endParaRPr>
          </a:p>
        </p:txBody>
      </p:sp>
      <p:sp>
        <p:nvSpPr>
          <p:cNvPr id="1173" name="Google Shape;1173;p40"/>
          <p:cNvSpPr/>
          <p:nvPr/>
        </p:nvSpPr>
        <p:spPr>
          <a:xfrm>
            <a:off x="1047750" y="5884649"/>
            <a:ext cx="16221000" cy="1173300"/>
          </a:xfrm>
          <a:prstGeom prst="roundRect">
            <a:avLst>
              <a:gd fmla="val 10544" name="adj"/>
            </a:avLst>
          </a:prstGeom>
          <a:noFill/>
          <a:ln cap="flat" cmpd="sng" w="17675">
            <a:solidFill>
              <a:srgbClr val="DAD6C9"/>
            </a:solidFill>
            <a:prstDash val="solid"/>
            <a:round/>
            <a:headEnd len="sm" w="sm" type="none"/>
            <a:tailEnd len="sm" w="sm" type="none"/>
          </a:ln>
        </p:spPr>
        <p:txBody>
          <a:bodyPr anchorCtr="0" anchor="ctr" bIns="84825" lIns="84825" spcFirstLastPara="1" rIns="84825" wrap="square" tIns="84825">
            <a:noAutofit/>
          </a:bodyPr>
          <a:lstStyle/>
          <a:p>
            <a:pPr indent="0" lvl="0" marL="0" marR="0" rtl="0" algn="l">
              <a:lnSpc>
                <a:spcPct val="100000"/>
              </a:lnSpc>
              <a:spcBef>
                <a:spcPts val="0"/>
              </a:spcBef>
              <a:spcAft>
                <a:spcPts val="0"/>
              </a:spcAft>
              <a:buClr>
                <a:srgbClr val="000000"/>
              </a:buClr>
              <a:buSzPts val="1299"/>
              <a:buFont typeface="Arial"/>
              <a:buNone/>
            </a:pPr>
            <a:r>
              <a:t/>
            </a:r>
            <a:endParaRPr b="0" i="0" sz="1299" u="none" cap="none" strike="noStrike">
              <a:solidFill>
                <a:srgbClr val="000000"/>
              </a:solidFill>
              <a:latin typeface="Arial"/>
              <a:ea typeface="Arial"/>
              <a:cs typeface="Arial"/>
              <a:sym typeface="Arial"/>
            </a:endParaRPr>
          </a:p>
        </p:txBody>
      </p:sp>
      <p:sp>
        <p:nvSpPr>
          <p:cNvPr id="1174" name="Google Shape;1174;p40"/>
          <p:cNvSpPr/>
          <p:nvPr/>
        </p:nvSpPr>
        <p:spPr>
          <a:xfrm>
            <a:off x="1330514" y="6079054"/>
            <a:ext cx="3304500" cy="414900"/>
          </a:xfrm>
          <a:prstGeom prst="rect">
            <a:avLst/>
          </a:prstGeom>
          <a:noFill/>
          <a:ln>
            <a:noFill/>
          </a:ln>
        </p:spPr>
        <p:txBody>
          <a:bodyPr anchorCtr="0" anchor="t" bIns="23575" lIns="23575" spcFirstLastPara="1" rIns="23575" wrap="square" tIns="23575">
            <a:noAutofit/>
          </a:bodyPr>
          <a:lstStyle/>
          <a:p>
            <a:pPr indent="0" lvl="0" marL="0" marR="0" rtl="0" algn="l">
              <a:lnSpc>
                <a:spcPct val="100000"/>
              </a:lnSpc>
              <a:spcBef>
                <a:spcPts val="0"/>
              </a:spcBef>
              <a:spcAft>
                <a:spcPts val="0"/>
              </a:spcAft>
              <a:buClr>
                <a:srgbClr val="4C5A33"/>
              </a:buClr>
              <a:buSzPts val="2226"/>
              <a:buFont typeface="JetBrains Mono"/>
              <a:buNone/>
            </a:pPr>
            <a:r>
              <a:rPr b="1" i="0" lang="en-US" sz="2226" u="none" cap="none" strike="noStrike">
                <a:solidFill>
                  <a:srgbClr val="4C5A33"/>
                </a:solidFill>
                <a:latin typeface="JetBrains Mono"/>
                <a:ea typeface="JetBrains Mono"/>
                <a:cs typeface="JetBrains Mono"/>
                <a:sym typeface="JetBrains Mono"/>
              </a:rPr>
              <a:t>src/generator.py</a:t>
            </a:r>
            <a:endParaRPr b="0" i="0" sz="2226" u="none" cap="none" strike="noStrike">
              <a:solidFill>
                <a:schemeClr val="dk1"/>
              </a:solidFill>
              <a:latin typeface="Calibri"/>
              <a:ea typeface="Calibri"/>
              <a:cs typeface="Calibri"/>
              <a:sym typeface="Calibri"/>
            </a:endParaRPr>
          </a:p>
        </p:txBody>
      </p:sp>
      <p:sp>
        <p:nvSpPr>
          <p:cNvPr id="1175" name="Google Shape;1175;p40"/>
          <p:cNvSpPr/>
          <p:nvPr/>
        </p:nvSpPr>
        <p:spPr>
          <a:xfrm>
            <a:off x="5360575" y="6079044"/>
            <a:ext cx="11214600" cy="819900"/>
          </a:xfrm>
          <a:prstGeom prst="rect">
            <a:avLst/>
          </a:prstGeom>
          <a:noFill/>
          <a:ln>
            <a:noFill/>
          </a:ln>
        </p:spPr>
        <p:txBody>
          <a:bodyPr anchorCtr="0" anchor="t" bIns="23575" lIns="23575" spcFirstLastPara="1" rIns="23575" wrap="square" tIns="23575">
            <a:noAutofit/>
          </a:bodyPr>
          <a:lstStyle/>
          <a:p>
            <a:pPr indent="0" lvl="0" marL="0" marR="0" rtl="0" algn="l">
              <a:lnSpc>
                <a:spcPct val="117297"/>
              </a:lnSpc>
              <a:spcBef>
                <a:spcPts val="0"/>
              </a:spcBef>
              <a:spcAft>
                <a:spcPts val="0"/>
              </a:spcAft>
              <a:buClr>
                <a:srgbClr val="37474F"/>
              </a:buClr>
              <a:buSzPts val="2157"/>
              <a:buFont typeface="Gabarito"/>
              <a:buNone/>
            </a:pPr>
            <a:r>
              <a:rPr b="0" i="0" lang="en-US" sz="2357" u="none" cap="none" strike="noStrike">
                <a:solidFill>
                  <a:srgbClr val="37474F"/>
                </a:solidFill>
                <a:latin typeface="Gabarito"/>
                <a:ea typeface="Gabarito"/>
                <a:cs typeface="Gabarito"/>
                <a:sym typeface="Gabarito"/>
              </a:rPr>
              <a:t>Online pipeline step 2: </a:t>
            </a:r>
            <a:r>
              <a:rPr b="0" i="0" lang="en-US" sz="2357" u="none" cap="none" strike="noStrike">
                <a:solidFill>
                  <a:srgbClr val="37474F"/>
                </a:solidFill>
                <a:latin typeface="JetBrains Mono"/>
                <a:ea typeface="JetBrains Mono"/>
                <a:cs typeface="JetBrains Mono"/>
                <a:sym typeface="JetBrains Mono"/>
              </a:rPr>
              <a:t>build_prompt </a:t>
            </a:r>
            <a:r>
              <a:rPr b="0" i="0" lang="en-US" sz="2357" u="none" cap="none" strike="noStrike">
                <a:solidFill>
                  <a:srgbClr val="37474F"/>
                </a:solidFill>
                <a:latin typeface="Gabarito"/>
                <a:ea typeface="Gabarito"/>
                <a:cs typeface="Gabarito"/>
                <a:sym typeface="Gabarito"/>
              </a:rPr>
              <a:t>assembles question + context + instructions, </a:t>
            </a:r>
            <a:r>
              <a:rPr b="0" i="0" lang="en-US" sz="2357" u="none" cap="none" strike="noStrike">
                <a:solidFill>
                  <a:srgbClr val="37474F"/>
                </a:solidFill>
                <a:latin typeface="JetBrains Mono"/>
                <a:ea typeface="JetBrains Mono"/>
                <a:cs typeface="JetBrains Mono"/>
                <a:sym typeface="JetBrains Mono"/>
              </a:rPr>
              <a:t>generate </a:t>
            </a:r>
            <a:r>
              <a:rPr b="0" i="0" lang="en-US" sz="2357" u="none" cap="none" strike="noStrike">
                <a:solidFill>
                  <a:srgbClr val="37474F"/>
                </a:solidFill>
                <a:latin typeface="Gabarito"/>
                <a:ea typeface="Gabarito"/>
                <a:cs typeface="Gabarito"/>
                <a:sym typeface="Gabarito"/>
              </a:rPr>
              <a:t>streams the answer token by token.</a:t>
            </a:r>
            <a:endParaRPr b="0" i="0" sz="2357" u="none" cap="none" strike="noStrike">
              <a:solidFill>
                <a:schemeClr val="dk1"/>
              </a:solidFill>
              <a:latin typeface="Calibri"/>
              <a:ea typeface="Calibri"/>
              <a:cs typeface="Calibri"/>
              <a:sym typeface="Calibri"/>
            </a:endParaRPr>
          </a:p>
        </p:txBody>
      </p:sp>
      <p:sp>
        <p:nvSpPr>
          <p:cNvPr id="1176" name="Google Shape;1176;p40"/>
          <p:cNvSpPr/>
          <p:nvPr/>
        </p:nvSpPr>
        <p:spPr>
          <a:xfrm>
            <a:off x="1047750" y="7199330"/>
            <a:ext cx="16221000" cy="1164600"/>
          </a:xfrm>
          <a:prstGeom prst="roundRect">
            <a:avLst>
              <a:gd fmla="val 10624" name="adj"/>
            </a:avLst>
          </a:prstGeom>
          <a:noFill/>
          <a:ln cap="flat" cmpd="sng" w="17675">
            <a:solidFill>
              <a:srgbClr val="DAD6C9"/>
            </a:solidFill>
            <a:prstDash val="solid"/>
            <a:round/>
            <a:headEnd len="sm" w="sm" type="none"/>
            <a:tailEnd len="sm" w="sm" type="none"/>
          </a:ln>
        </p:spPr>
        <p:txBody>
          <a:bodyPr anchorCtr="0" anchor="ctr" bIns="84825" lIns="84825" spcFirstLastPara="1" rIns="84825" wrap="square" tIns="84825">
            <a:noAutofit/>
          </a:bodyPr>
          <a:lstStyle/>
          <a:p>
            <a:pPr indent="0" lvl="0" marL="0" marR="0" rtl="0" algn="l">
              <a:lnSpc>
                <a:spcPct val="100000"/>
              </a:lnSpc>
              <a:spcBef>
                <a:spcPts val="0"/>
              </a:spcBef>
              <a:spcAft>
                <a:spcPts val="0"/>
              </a:spcAft>
              <a:buClr>
                <a:srgbClr val="000000"/>
              </a:buClr>
              <a:buSzPts val="1299"/>
              <a:buFont typeface="Arial"/>
              <a:buNone/>
            </a:pPr>
            <a:r>
              <a:t/>
            </a:r>
            <a:endParaRPr b="0" i="0" sz="1299" u="none" cap="none" strike="noStrike">
              <a:solidFill>
                <a:srgbClr val="000000"/>
              </a:solidFill>
              <a:latin typeface="Arial"/>
              <a:ea typeface="Arial"/>
              <a:cs typeface="Arial"/>
              <a:sym typeface="Arial"/>
            </a:endParaRPr>
          </a:p>
        </p:txBody>
      </p:sp>
      <p:sp>
        <p:nvSpPr>
          <p:cNvPr id="1177" name="Google Shape;1177;p40"/>
          <p:cNvSpPr/>
          <p:nvPr/>
        </p:nvSpPr>
        <p:spPr>
          <a:xfrm>
            <a:off x="1330525" y="7393725"/>
            <a:ext cx="4156800" cy="795300"/>
          </a:xfrm>
          <a:prstGeom prst="rect">
            <a:avLst/>
          </a:prstGeom>
          <a:noFill/>
          <a:ln>
            <a:noFill/>
          </a:ln>
        </p:spPr>
        <p:txBody>
          <a:bodyPr anchorCtr="0" anchor="t" bIns="23575" lIns="23575" spcFirstLastPara="1" rIns="23575" wrap="square" tIns="23575">
            <a:noAutofit/>
          </a:bodyPr>
          <a:lstStyle/>
          <a:p>
            <a:pPr indent="0" lvl="0" marL="0" marR="0" rtl="0" algn="l">
              <a:lnSpc>
                <a:spcPct val="100000"/>
              </a:lnSpc>
              <a:spcBef>
                <a:spcPts val="0"/>
              </a:spcBef>
              <a:spcAft>
                <a:spcPts val="0"/>
              </a:spcAft>
              <a:buClr>
                <a:srgbClr val="5E7488"/>
              </a:buClr>
              <a:buSzPts val="2226"/>
              <a:buFont typeface="JetBrains Mono"/>
              <a:buNone/>
            </a:pPr>
            <a:r>
              <a:rPr b="1" i="0" lang="en-US" sz="2226" u="none" cap="none" strike="noStrike">
                <a:solidFill>
                  <a:srgbClr val="5E7488"/>
                </a:solidFill>
                <a:latin typeface="JetBrains Mono"/>
                <a:ea typeface="JetBrains Mono"/>
                <a:cs typeface="JetBrains Mono"/>
                <a:sym typeface="JetBrains Mono"/>
              </a:rPr>
              <a:t>pipeline.py + main.py</a:t>
            </a:r>
            <a:endParaRPr b="0" i="0" sz="2226" u="none" cap="none" strike="noStrike">
              <a:solidFill>
                <a:schemeClr val="dk1"/>
              </a:solidFill>
              <a:latin typeface="Calibri"/>
              <a:ea typeface="Calibri"/>
              <a:cs typeface="Calibri"/>
              <a:sym typeface="Calibri"/>
            </a:endParaRPr>
          </a:p>
        </p:txBody>
      </p:sp>
      <p:sp>
        <p:nvSpPr>
          <p:cNvPr id="1178" name="Google Shape;1178;p40"/>
          <p:cNvSpPr/>
          <p:nvPr/>
        </p:nvSpPr>
        <p:spPr>
          <a:xfrm>
            <a:off x="5360574" y="7393723"/>
            <a:ext cx="11308200" cy="811200"/>
          </a:xfrm>
          <a:prstGeom prst="rect">
            <a:avLst/>
          </a:prstGeom>
          <a:noFill/>
          <a:ln>
            <a:noFill/>
          </a:ln>
        </p:spPr>
        <p:txBody>
          <a:bodyPr anchorCtr="0" anchor="t" bIns="23575" lIns="23575" spcFirstLastPara="1" rIns="23575" wrap="square" tIns="23575">
            <a:noAutofit/>
          </a:bodyPr>
          <a:lstStyle/>
          <a:p>
            <a:pPr indent="0" lvl="0" marL="0" marR="0" rtl="0" algn="l">
              <a:lnSpc>
                <a:spcPct val="117297"/>
              </a:lnSpc>
              <a:spcBef>
                <a:spcPts val="0"/>
              </a:spcBef>
              <a:spcAft>
                <a:spcPts val="0"/>
              </a:spcAft>
              <a:buClr>
                <a:srgbClr val="37474F"/>
              </a:buClr>
              <a:buSzPts val="2157"/>
              <a:buFont typeface="Gabarito"/>
              <a:buNone/>
            </a:pPr>
            <a:r>
              <a:rPr b="0" i="0" lang="en-US" sz="2357" u="none" cap="none" strike="noStrike">
                <a:solidFill>
                  <a:srgbClr val="37474F"/>
                </a:solidFill>
                <a:latin typeface="Gabarito"/>
                <a:ea typeface="Gabarito"/>
                <a:cs typeface="Gabarito"/>
                <a:sym typeface="Gabarito"/>
              </a:rPr>
              <a:t>The glue: </a:t>
            </a:r>
            <a:r>
              <a:rPr b="0" i="0" lang="en-US" sz="2357" u="none" cap="none" strike="noStrike">
                <a:solidFill>
                  <a:srgbClr val="37474F"/>
                </a:solidFill>
                <a:latin typeface="JetBrains Mono"/>
                <a:ea typeface="JetBrains Mono"/>
                <a:cs typeface="JetBrains Mono"/>
                <a:sym typeface="JetBrains Mono"/>
              </a:rPr>
              <a:t>pipeline.py </a:t>
            </a:r>
            <a:r>
              <a:rPr b="0" i="0" lang="en-US" sz="2357" u="none" cap="none" strike="noStrike">
                <a:solidFill>
                  <a:srgbClr val="37474F"/>
                </a:solidFill>
                <a:latin typeface="Gabarito"/>
                <a:ea typeface="Gabarito"/>
                <a:cs typeface="Gabarito"/>
                <a:sym typeface="Gabarito"/>
              </a:rPr>
              <a:t>wires retriever and generator together; </a:t>
            </a:r>
            <a:r>
              <a:rPr b="0" i="0" lang="en-US" sz="2357" u="none" cap="none" strike="noStrike">
                <a:solidFill>
                  <a:srgbClr val="37474F"/>
                </a:solidFill>
                <a:latin typeface="JetBrains Mono"/>
                <a:ea typeface="JetBrains Mono"/>
                <a:cs typeface="JetBrains Mono"/>
                <a:sym typeface="JetBrains Mono"/>
              </a:rPr>
              <a:t>main.py </a:t>
            </a:r>
            <a:r>
              <a:rPr b="0" i="0" lang="en-US" sz="2357" u="none" cap="none" strike="noStrike">
                <a:solidFill>
                  <a:srgbClr val="37474F"/>
                </a:solidFill>
                <a:latin typeface="Gabarito"/>
                <a:ea typeface="Gabarito"/>
                <a:cs typeface="Gabarito"/>
                <a:sym typeface="Gabarito"/>
              </a:rPr>
              <a:t>exposes ingest and chat modes via CLI.</a:t>
            </a:r>
            <a:endParaRPr b="0" i="0" sz="2357" u="none" cap="none" strike="noStrike">
              <a:solidFill>
                <a:schemeClr val="dk1"/>
              </a:solidFill>
              <a:latin typeface="Calibri"/>
              <a:ea typeface="Calibri"/>
              <a:cs typeface="Calibri"/>
              <a:sym typeface="Calibri"/>
            </a:endParaRPr>
          </a:p>
        </p:txBody>
      </p:sp>
      <p:sp>
        <p:nvSpPr>
          <p:cNvPr id="1179" name="Google Shape;1179;p40"/>
          <p:cNvSpPr/>
          <p:nvPr/>
        </p:nvSpPr>
        <p:spPr>
          <a:xfrm>
            <a:off x="1047750" y="8608559"/>
            <a:ext cx="16221000" cy="1148700"/>
          </a:xfrm>
          <a:prstGeom prst="roundRect">
            <a:avLst>
              <a:gd fmla="val 12308" name="adj"/>
            </a:avLst>
          </a:prstGeom>
          <a:noFill/>
          <a:ln cap="flat" cmpd="sng" w="17675">
            <a:solidFill>
              <a:srgbClr val="FF9900"/>
            </a:solidFill>
            <a:prstDash val="solid"/>
            <a:round/>
            <a:headEnd len="sm" w="sm" type="none"/>
            <a:tailEnd len="sm" w="sm" type="none"/>
          </a:ln>
        </p:spPr>
        <p:txBody>
          <a:bodyPr anchorCtr="0" anchor="ctr" bIns="84825" lIns="84825" spcFirstLastPara="1" rIns="84825" wrap="square" tIns="84825">
            <a:noAutofit/>
          </a:bodyPr>
          <a:lstStyle/>
          <a:p>
            <a:pPr indent="0" lvl="0" marL="0" marR="0" rtl="0" algn="l">
              <a:lnSpc>
                <a:spcPct val="100000"/>
              </a:lnSpc>
              <a:spcBef>
                <a:spcPts val="0"/>
              </a:spcBef>
              <a:spcAft>
                <a:spcPts val="0"/>
              </a:spcAft>
              <a:buClr>
                <a:srgbClr val="000000"/>
              </a:buClr>
              <a:buSzPts val="1299"/>
              <a:buFont typeface="Arial"/>
              <a:buNone/>
            </a:pPr>
            <a:r>
              <a:t/>
            </a:r>
            <a:endParaRPr b="0" i="0" sz="1299" u="none" cap="none" strike="noStrike">
              <a:solidFill>
                <a:srgbClr val="000000"/>
              </a:solidFill>
              <a:latin typeface="Arial"/>
              <a:ea typeface="Arial"/>
              <a:cs typeface="Arial"/>
              <a:sym typeface="Arial"/>
            </a:endParaRPr>
          </a:p>
        </p:txBody>
      </p:sp>
      <p:sp>
        <p:nvSpPr>
          <p:cNvPr id="1180" name="Google Shape;1180;p40"/>
          <p:cNvSpPr/>
          <p:nvPr/>
        </p:nvSpPr>
        <p:spPr>
          <a:xfrm>
            <a:off x="1365850" y="8752600"/>
            <a:ext cx="15594900" cy="760200"/>
          </a:xfrm>
          <a:prstGeom prst="rect">
            <a:avLst/>
          </a:prstGeom>
          <a:noFill/>
          <a:ln>
            <a:noFill/>
          </a:ln>
        </p:spPr>
        <p:txBody>
          <a:bodyPr anchorCtr="0" anchor="t" bIns="23575" lIns="23575" spcFirstLastPara="1" rIns="23575" wrap="square" tIns="23575">
            <a:noAutofit/>
          </a:bodyPr>
          <a:lstStyle/>
          <a:p>
            <a:pPr indent="0" lvl="0" marL="0" marR="0" rtl="0" algn="l">
              <a:lnSpc>
                <a:spcPct val="100000"/>
              </a:lnSpc>
              <a:spcBef>
                <a:spcPts val="0"/>
              </a:spcBef>
              <a:spcAft>
                <a:spcPts val="0"/>
              </a:spcAft>
              <a:buClr>
                <a:srgbClr val="FF9900"/>
              </a:buClr>
              <a:buSzPts val="2366"/>
              <a:buFont typeface="Gabarito"/>
              <a:buNone/>
            </a:pPr>
            <a:r>
              <a:rPr b="1" i="0" lang="en-US" sz="2566" u="none" cap="none" strike="noStrike">
                <a:solidFill>
                  <a:srgbClr val="FF9900"/>
                </a:solidFill>
                <a:latin typeface="Gabarito"/>
                <a:ea typeface="Gabarito"/>
                <a:cs typeface="Gabarito"/>
                <a:sym typeface="Gabarito"/>
              </a:rPr>
              <a:t>Why it matters: </a:t>
            </a:r>
            <a:r>
              <a:rPr b="0" i="0" lang="en-US" sz="2566" u="none" cap="none" strike="noStrike">
                <a:solidFill>
                  <a:srgbClr val="5B5B5B"/>
                </a:solidFill>
                <a:latin typeface="Gabarito"/>
                <a:ea typeface="Gabarito"/>
                <a:cs typeface="Gabarito"/>
                <a:sym typeface="Gabarito"/>
              </a:rPr>
              <a:t>if something goes wrong </a:t>
            </a:r>
            <a:r>
              <a:rPr lang="en-US" sz="2566">
                <a:solidFill>
                  <a:srgbClr val="5B5B5B"/>
                </a:solidFill>
                <a:latin typeface="Gabarito"/>
                <a:ea typeface="Gabarito"/>
                <a:cs typeface="Gabarito"/>
                <a:sym typeface="Gabarito"/>
              </a:rPr>
              <a:t>- </a:t>
            </a:r>
            <a:r>
              <a:rPr b="0" i="0" lang="en-US" sz="2566" u="none" cap="none" strike="noStrike">
                <a:solidFill>
                  <a:srgbClr val="5B5B5B"/>
                </a:solidFill>
                <a:latin typeface="Gabarito"/>
                <a:ea typeface="Gabarito"/>
                <a:cs typeface="Gabarito"/>
                <a:sym typeface="Gabarito"/>
              </a:rPr>
              <a:t>wrong chunks retrieved, bad answer generated </a:t>
            </a:r>
            <a:r>
              <a:rPr lang="en-US" sz="2566">
                <a:solidFill>
                  <a:srgbClr val="5B5B5B"/>
                </a:solidFill>
                <a:latin typeface="Gabarito"/>
                <a:ea typeface="Gabarito"/>
                <a:cs typeface="Gabarito"/>
                <a:sym typeface="Gabarito"/>
              </a:rPr>
              <a:t>-</a:t>
            </a:r>
            <a:r>
              <a:rPr b="0" i="0" lang="en-US" sz="2566" u="none" cap="none" strike="noStrike">
                <a:solidFill>
                  <a:srgbClr val="5B5B5B"/>
                </a:solidFill>
                <a:latin typeface="Gabarito"/>
                <a:ea typeface="Gabarito"/>
                <a:cs typeface="Gabarito"/>
                <a:sym typeface="Gabarito"/>
              </a:rPr>
              <a:t> this structure tells us exactly which file to check first.</a:t>
            </a:r>
            <a:endParaRPr b="0" i="0" sz="1313"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5" name="Shape 1185"/>
        <p:cNvGrpSpPr/>
        <p:nvPr/>
      </p:nvGrpSpPr>
      <p:grpSpPr>
        <a:xfrm>
          <a:off x="0" y="0"/>
          <a:ext cx="0" cy="0"/>
          <a:chOff x="0" y="0"/>
          <a:chExt cx="0" cy="0"/>
        </a:xfrm>
      </p:grpSpPr>
      <p:sp>
        <p:nvSpPr>
          <p:cNvPr id="1186" name="Google Shape;1186;p41"/>
          <p:cNvSpPr/>
          <p:nvPr/>
        </p:nvSpPr>
        <p:spPr>
          <a:xfrm>
            <a:off x="15626358" y="666750"/>
            <a:ext cx="1775281" cy="1476375"/>
          </a:xfrm>
          <a:prstGeom prst="rect">
            <a:avLst/>
          </a:prstGeom>
          <a:noFill/>
          <a:ln>
            <a:noFill/>
          </a:ln>
        </p:spPr>
        <p:txBody>
          <a:bodyPr anchorCtr="0" anchor="t" bIns="25400" lIns="25400" spcFirstLastPara="1" rIns="25400" wrap="square" tIns="25400">
            <a:noAutofit/>
          </a:bodyPr>
          <a:lstStyle/>
          <a:p>
            <a:pPr indent="0" lvl="0" marL="0" marR="0" rtl="0" algn="l">
              <a:lnSpc>
                <a:spcPct val="83425"/>
              </a:lnSpc>
              <a:spcBef>
                <a:spcPts val="0"/>
              </a:spcBef>
              <a:spcAft>
                <a:spcPts val="0"/>
              </a:spcAft>
              <a:buClr>
                <a:srgbClr val="FF9900"/>
              </a:buClr>
              <a:buSzPts val="11325"/>
              <a:buFont typeface="Gabarito"/>
              <a:buNone/>
            </a:pPr>
            <a:r>
              <a:rPr b="1" i="0" lang="en-US" sz="11325" u="none" cap="none" strike="noStrike">
                <a:solidFill>
                  <a:srgbClr val="FF9900"/>
                </a:solidFill>
                <a:latin typeface="Gabarito"/>
                <a:ea typeface="Gabarito"/>
                <a:cs typeface="Gabarito"/>
                <a:sym typeface="Gabarito"/>
              </a:rPr>
              <a:t>06</a:t>
            </a:r>
            <a:endParaRPr b="0" i="0" sz="11325" u="none" cap="none" strike="noStrike">
              <a:solidFill>
                <a:schemeClr val="dk1"/>
              </a:solidFill>
              <a:latin typeface="Calibri"/>
              <a:ea typeface="Calibri"/>
              <a:cs typeface="Calibri"/>
              <a:sym typeface="Calibri"/>
            </a:endParaRPr>
          </a:p>
        </p:txBody>
      </p:sp>
      <p:sp>
        <p:nvSpPr>
          <p:cNvPr id="1187" name="Google Shape;1187;p41"/>
          <p:cNvSpPr/>
          <p:nvPr/>
        </p:nvSpPr>
        <p:spPr>
          <a:xfrm>
            <a:off x="1266825" y="2857500"/>
            <a:ext cx="1905000" cy="1905000"/>
          </a:xfrm>
          <a:prstGeom prst="ellipse">
            <a:avLst/>
          </a:prstGeom>
          <a:solidFill>
            <a:srgbClr val="D97757">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88" name="Google Shape;1188;p41"/>
          <p:cNvPicPr preferRelativeResize="0"/>
          <p:nvPr/>
        </p:nvPicPr>
        <p:blipFill rotWithShape="1">
          <a:blip r:embed="rId3">
            <a:alphaModFix/>
          </a:blip>
          <a:srcRect b="0" l="0" r="0" t="0"/>
          <a:stretch/>
        </p:blipFill>
        <p:spPr>
          <a:xfrm>
            <a:off x="1743075" y="3333750"/>
            <a:ext cx="952500" cy="952500"/>
          </a:xfrm>
          <a:prstGeom prst="rect">
            <a:avLst/>
          </a:prstGeom>
          <a:noFill/>
          <a:ln>
            <a:noFill/>
          </a:ln>
        </p:spPr>
      </p:pic>
      <p:sp>
        <p:nvSpPr>
          <p:cNvPr id="1189" name="Google Shape;1189;p41"/>
          <p:cNvSpPr/>
          <p:nvPr/>
        </p:nvSpPr>
        <p:spPr>
          <a:xfrm>
            <a:off x="1266825" y="5334000"/>
            <a:ext cx="14668500" cy="1012924"/>
          </a:xfrm>
          <a:prstGeom prst="rect">
            <a:avLst/>
          </a:prstGeom>
          <a:noFill/>
          <a:ln>
            <a:noFill/>
          </a:ln>
        </p:spPr>
        <p:txBody>
          <a:bodyPr anchorCtr="0" anchor="t" bIns="25400" lIns="25400" spcFirstLastPara="1" rIns="25400" wrap="square" tIns="25400">
            <a:noAutofit/>
          </a:bodyPr>
          <a:lstStyle/>
          <a:p>
            <a:pPr indent="0" lvl="0" marL="0" marR="0" rtl="0" algn="l">
              <a:lnSpc>
                <a:spcPct val="95654"/>
              </a:lnSpc>
              <a:spcBef>
                <a:spcPts val="0"/>
              </a:spcBef>
              <a:spcAft>
                <a:spcPts val="0"/>
              </a:spcAft>
              <a:buClr>
                <a:srgbClr val="274D71"/>
              </a:buClr>
              <a:buSzPts val="6675"/>
              <a:buFont typeface="Gabarito"/>
              <a:buNone/>
            </a:pPr>
            <a:r>
              <a:rPr b="1" i="0" lang="en-US" sz="6675" u="none" cap="none" strike="noStrike">
                <a:solidFill>
                  <a:srgbClr val="274D71"/>
                </a:solidFill>
                <a:latin typeface="Gabarito"/>
                <a:ea typeface="Gabarito"/>
                <a:cs typeface="Gabarito"/>
                <a:sym typeface="Gabarito"/>
              </a:rPr>
              <a:t>Code Walkthrough</a:t>
            </a:r>
            <a:endParaRPr b="0" i="0" sz="6675" u="none" cap="none" strike="noStrike">
              <a:solidFill>
                <a:schemeClr val="dk1"/>
              </a:solidFill>
              <a:latin typeface="Calibri"/>
              <a:ea typeface="Calibri"/>
              <a:cs typeface="Calibri"/>
              <a:sym typeface="Calibri"/>
            </a:endParaRPr>
          </a:p>
        </p:txBody>
      </p:sp>
      <p:sp>
        <p:nvSpPr>
          <p:cNvPr id="1190" name="Google Shape;1190;p41"/>
          <p:cNvSpPr/>
          <p:nvPr/>
        </p:nvSpPr>
        <p:spPr>
          <a:xfrm>
            <a:off x="1266825" y="6368951"/>
            <a:ext cx="16764000" cy="6572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8746A"/>
              </a:buClr>
              <a:buSzPts val="4050"/>
              <a:buFont typeface="Gabarito"/>
              <a:buNone/>
            </a:pPr>
            <a:r>
              <a:rPr b="0" i="0" lang="en-US" sz="4050" u="none" cap="none" strike="noStrike">
                <a:solidFill>
                  <a:srgbClr val="78746A"/>
                </a:solidFill>
                <a:latin typeface="Gabarito"/>
                <a:ea typeface="Gabarito"/>
                <a:cs typeface="Gabarito"/>
                <a:sym typeface="Gabarito"/>
              </a:rPr>
              <a:t>Reading the four files that turn the pipeline into working code.</a:t>
            </a:r>
            <a:endParaRPr b="0" i="0" sz="4050" u="none" cap="none" strike="noStrike">
              <a:solidFill>
                <a:schemeClr val="dk1"/>
              </a:solidFill>
              <a:latin typeface="Calibri"/>
              <a:ea typeface="Calibri"/>
              <a:cs typeface="Calibri"/>
              <a:sym typeface="Calibri"/>
            </a:endParaRPr>
          </a:p>
        </p:txBody>
      </p:sp>
      <p:sp>
        <p:nvSpPr>
          <p:cNvPr id="1191" name="Google Shape;1191;p41"/>
          <p:cNvSpPr/>
          <p:nvPr/>
        </p:nvSpPr>
        <p:spPr>
          <a:xfrm>
            <a:off x="1266825" y="9086850"/>
            <a:ext cx="990600" cy="95250"/>
          </a:xfrm>
          <a:prstGeom prst="roundRect">
            <a:avLst>
              <a:gd fmla="val 50000" name="adj"/>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6" name="Shape 1196"/>
        <p:cNvGrpSpPr/>
        <p:nvPr/>
      </p:nvGrpSpPr>
      <p:grpSpPr>
        <a:xfrm>
          <a:off x="0" y="0"/>
          <a:ext cx="0" cy="0"/>
          <a:chOff x="0" y="0"/>
          <a:chExt cx="0" cy="0"/>
        </a:xfrm>
      </p:grpSpPr>
      <p:pic>
        <p:nvPicPr>
          <p:cNvPr descr="preencoded.png" id="1197" name="Google Shape;1197;p42"/>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198" name="Google Shape;1198;p42"/>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Code Example — File 1</a:t>
            </a:r>
            <a:endParaRPr b="0" i="0" sz="3000" u="none" cap="none" strike="noStrike">
              <a:solidFill>
                <a:schemeClr val="dk1"/>
              </a:solidFill>
              <a:latin typeface="Calibri"/>
              <a:ea typeface="Calibri"/>
              <a:cs typeface="Calibri"/>
              <a:sym typeface="Calibri"/>
            </a:endParaRPr>
          </a:p>
        </p:txBody>
      </p:sp>
      <p:sp>
        <p:nvSpPr>
          <p:cNvPr id="1199" name="Google Shape;1199;p42"/>
          <p:cNvSpPr/>
          <p:nvPr/>
        </p:nvSpPr>
        <p:spPr>
          <a:xfrm>
            <a:off x="1047750" y="1181100"/>
            <a:ext cx="17811750" cy="10953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300"/>
              <a:buFont typeface="JetBrains Mono"/>
              <a:buNone/>
            </a:pPr>
            <a:r>
              <a:rPr b="1" i="0" lang="en-US" sz="6300" u="none" cap="none" strike="noStrike">
                <a:solidFill>
                  <a:srgbClr val="274D71"/>
                </a:solidFill>
                <a:latin typeface="JetBrains Mono"/>
                <a:ea typeface="JetBrains Mono"/>
                <a:cs typeface="JetBrains Mono"/>
                <a:sym typeface="JetBrains Mono"/>
              </a:rPr>
              <a:t>ingest.py</a:t>
            </a:r>
            <a:endParaRPr b="0" i="0" sz="6300" u="none" cap="none" strike="noStrike">
              <a:solidFill>
                <a:schemeClr val="dk1"/>
              </a:solidFill>
              <a:latin typeface="Calibri"/>
              <a:ea typeface="Calibri"/>
              <a:cs typeface="Calibri"/>
              <a:sym typeface="Calibri"/>
            </a:endParaRPr>
          </a:p>
        </p:txBody>
      </p:sp>
      <p:sp>
        <p:nvSpPr>
          <p:cNvPr id="1200" name="Google Shape;1200;p42"/>
          <p:cNvSpPr/>
          <p:nvPr/>
        </p:nvSpPr>
        <p:spPr>
          <a:xfrm>
            <a:off x="1047750" y="2276475"/>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2121"/>
              </a:buClr>
              <a:buSzPts val="2775"/>
              <a:buFont typeface="Gabarito"/>
              <a:buNone/>
            </a:pPr>
            <a:r>
              <a:rPr b="0" i="0" lang="en-US" sz="3000" u="none" cap="none" strike="noStrike">
                <a:solidFill>
                  <a:srgbClr val="212121"/>
                </a:solidFill>
                <a:latin typeface="Gabarito"/>
                <a:ea typeface="Gabarito"/>
                <a:cs typeface="Gabarito"/>
                <a:sym typeface="Gabarito"/>
              </a:rPr>
              <a:t>The offline pipeline </a:t>
            </a:r>
            <a:r>
              <a:rPr lang="en-US" sz="3000">
                <a:solidFill>
                  <a:srgbClr val="212121"/>
                </a:solidFill>
                <a:latin typeface="Gabarito"/>
                <a:ea typeface="Gabarito"/>
                <a:cs typeface="Gabarito"/>
                <a:sym typeface="Gabarito"/>
              </a:rPr>
              <a:t>-</a:t>
            </a:r>
            <a:r>
              <a:rPr b="0" i="0" lang="en-US" sz="3000" u="none" cap="none" strike="noStrike">
                <a:solidFill>
                  <a:srgbClr val="212121"/>
                </a:solidFill>
                <a:latin typeface="Gabarito"/>
                <a:ea typeface="Gabarito"/>
                <a:cs typeface="Gabarito"/>
                <a:sym typeface="Gabarito"/>
              </a:rPr>
              <a:t> runs once, loads everything into </a:t>
            </a:r>
            <a:r>
              <a:rPr b="1" i="0" lang="en-US" sz="3000" u="none" cap="none" strike="noStrike">
                <a:solidFill>
                  <a:srgbClr val="274D71"/>
                </a:solidFill>
                <a:latin typeface="Gabarito"/>
                <a:ea typeface="Gabarito"/>
                <a:cs typeface="Gabarito"/>
                <a:sym typeface="Gabarito"/>
              </a:rPr>
              <a:t>ChromaDB</a:t>
            </a:r>
            <a:r>
              <a:rPr b="0" i="0" lang="en-US" sz="3000" u="none" cap="none" strike="noStrike">
                <a:solidFill>
                  <a:srgbClr val="212121"/>
                </a:solidFill>
                <a:latin typeface="Gabarito"/>
                <a:ea typeface="Gabarito"/>
                <a:cs typeface="Gabarito"/>
                <a:sym typeface="Gabarito"/>
              </a:rPr>
              <a:t>.</a:t>
            </a:r>
            <a:endParaRPr b="0" i="0" sz="3000" u="none" cap="none" strike="noStrike">
              <a:solidFill>
                <a:schemeClr val="dk1"/>
              </a:solidFill>
              <a:latin typeface="Calibri"/>
              <a:ea typeface="Calibri"/>
              <a:cs typeface="Calibri"/>
              <a:sym typeface="Calibri"/>
            </a:endParaRPr>
          </a:p>
        </p:txBody>
      </p:sp>
      <p:sp>
        <p:nvSpPr>
          <p:cNvPr id="1201" name="Google Shape;1201;p42"/>
          <p:cNvSpPr/>
          <p:nvPr/>
        </p:nvSpPr>
        <p:spPr>
          <a:xfrm>
            <a:off x="1047750" y="2994868"/>
            <a:ext cx="16192500" cy="6507212"/>
          </a:xfrm>
          <a:prstGeom prst="roundRect">
            <a:avLst>
              <a:gd fmla="val 2342"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42"/>
          <p:cNvSpPr/>
          <p:nvPr/>
        </p:nvSpPr>
        <p:spPr>
          <a:xfrm>
            <a:off x="1047750" y="2994868"/>
            <a:ext cx="16192500" cy="714375"/>
          </a:xfrm>
          <a:prstGeom prst="rect">
            <a:avLst/>
          </a:prstGeom>
          <a:solidFill>
            <a:srgbClr val="2A2F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42"/>
          <p:cNvSpPr/>
          <p:nvPr/>
        </p:nvSpPr>
        <p:spPr>
          <a:xfrm>
            <a:off x="1295400" y="3275856"/>
            <a:ext cx="152400" cy="152400"/>
          </a:xfrm>
          <a:prstGeom prst="ellipse">
            <a:avLst/>
          </a:prstGeom>
          <a:solidFill>
            <a:srgbClr val="FF5F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42"/>
          <p:cNvSpPr/>
          <p:nvPr/>
        </p:nvSpPr>
        <p:spPr>
          <a:xfrm>
            <a:off x="1543050" y="3275856"/>
            <a:ext cx="152400" cy="152400"/>
          </a:xfrm>
          <a:prstGeom prst="ellipse">
            <a:avLst/>
          </a:prstGeom>
          <a:solidFill>
            <a:srgbClr val="FEBC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42"/>
          <p:cNvSpPr/>
          <p:nvPr/>
        </p:nvSpPr>
        <p:spPr>
          <a:xfrm>
            <a:off x="1790700" y="3275856"/>
            <a:ext cx="152400" cy="152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42"/>
          <p:cNvSpPr/>
          <p:nvPr/>
        </p:nvSpPr>
        <p:spPr>
          <a:xfrm>
            <a:off x="2171700" y="3147268"/>
            <a:ext cx="5834003"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AA0A6"/>
              </a:buClr>
              <a:buSzPts val="2400"/>
              <a:buFont typeface="JetBrains Mono"/>
              <a:buNone/>
            </a:pPr>
            <a:r>
              <a:rPr b="0" i="0" lang="en-US" sz="2400" u="none" cap="none" strike="noStrike">
                <a:solidFill>
                  <a:srgbClr val="9AA0A6"/>
                </a:solidFill>
                <a:latin typeface="JetBrains Mono"/>
                <a:ea typeface="JetBrains Mono"/>
                <a:cs typeface="JetBrains Mono"/>
                <a:sym typeface="JetBrains Mono"/>
              </a:rPr>
              <a:t># Four functions, four stages</a:t>
            </a:r>
            <a:endParaRPr b="0" i="0" sz="2400" u="none" cap="none" strike="noStrike">
              <a:solidFill>
                <a:schemeClr val="dk1"/>
              </a:solidFill>
              <a:latin typeface="Calibri"/>
              <a:ea typeface="Calibri"/>
              <a:cs typeface="Calibri"/>
              <a:sym typeface="Calibri"/>
            </a:endParaRPr>
          </a:p>
        </p:txBody>
      </p:sp>
      <p:sp>
        <p:nvSpPr>
          <p:cNvPr id="1207" name="Google Shape;1207;p42"/>
          <p:cNvSpPr/>
          <p:nvPr/>
        </p:nvSpPr>
        <p:spPr>
          <a:xfrm>
            <a:off x="1466850" y="4014043"/>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load_documents(docs_dir) -&gt; list[dict]:</a:t>
            </a:r>
            <a:endParaRPr b="0" i="0" sz="2550" u="none" cap="none" strike="noStrike">
              <a:solidFill>
                <a:schemeClr val="dk1"/>
              </a:solidFill>
              <a:latin typeface="Calibri"/>
              <a:ea typeface="Calibri"/>
              <a:cs typeface="Calibri"/>
              <a:sym typeface="Calibri"/>
            </a:endParaRPr>
          </a:p>
        </p:txBody>
      </p:sp>
      <p:sp>
        <p:nvSpPr>
          <p:cNvPr id="1208" name="Google Shape;1208;p42"/>
          <p:cNvSpPr/>
          <p:nvPr/>
        </p:nvSpPr>
        <p:spPr>
          <a:xfrm>
            <a:off x="1809750" y="4564558"/>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reads every .txt / .md → returns {source, text}</a:t>
            </a:r>
            <a:endParaRPr b="0" i="0" sz="2550" u="none" cap="none" strike="noStrike">
              <a:solidFill>
                <a:schemeClr val="dk1"/>
              </a:solidFill>
              <a:latin typeface="Calibri"/>
              <a:ea typeface="Calibri"/>
              <a:cs typeface="Calibri"/>
              <a:sym typeface="Calibri"/>
            </a:endParaRPr>
          </a:p>
        </p:txBody>
      </p:sp>
      <p:sp>
        <p:nvSpPr>
          <p:cNvPr id="1209" name="Google Shape;1209;p42"/>
          <p:cNvSpPr/>
          <p:nvPr/>
        </p:nvSpPr>
        <p:spPr>
          <a:xfrm>
            <a:off x="1466850" y="5191273"/>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chunk_text(text, chunk_size=</a:t>
            </a:r>
            <a:r>
              <a:rPr b="0" i="0" lang="en-US" sz="2550" u="none" cap="none" strike="noStrike">
                <a:solidFill>
                  <a:srgbClr val="F0B45C"/>
                </a:solidFill>
                <a:latin typeface="JetBrains Mono"/>
                <a:ea typeface="JetBrains Mono"/>
                <a:cs typeface="JetBrains Mono"/>
                <a:sym typeface="JetBrains Mono"/>
              </a:rPr>
              <a:t>500</a:t>
            </a:r>
            <a:r>
              <a:rPr b="0" i="0" lang="en-US" sz="2550" u="none" cap="none" strike="noStrike">
                <a:solidFill>
                  <a:srgbClr val="E8EAED"/>
                </a:solidFill>
                <a:latin typeface="JetBrains Mono"/>
                <a:ea typeface="JetBrains Mono"/>
                <a:cs typeface="JetBrains Mono"/>
                <a:sym typeface="JetBrains Mono"/>
              </a:rPr>
              <a:t>, overlap=</a:t>
            </a:r>
            <a:r>
              <a:rPr b="0" i="0" lang="en-US" sz="2550" u="none" cap="none" strike="noStrike">
                <a:solidFill>
                  <a:srgbClr val="F0B45C"/>
                </a:solidFill>
                <a:latin typeface="JetBrains Mono"/>
                <a:ea typeface="JetBrains Mono"/>
                <a:cs typeface="JetBrains Mono"/>
                <a:sym typeface="JetBrains Mono"/>
              </a:rPr>
              <a:t>50</a:t>
            </a:r>
            <a:r>
              <a:rPr b="0" i="0" lang="en-US" sz="2550" u="none" cap="none" strike="noStrike">
                <a:solidFill>
                  <a:srgbClr val="E8EAED"/>
                </a:solidFill>
                <a:latin typeface="JetBrains Mono"/>
                <a:ea typeface="JetBrains Mono"/>
                <a:cs typeface="JetBrains Mono"/>
                <a:sym typeface="JetBrains Mono"/>
              </a:rPr>
              <a:t>) -&gt; list[str]:</a:t>
            </a:r>
            <a:endParaRPr b="0" i="0" sz="2550" u="none" cap="none" strike="noStrike">
              <a:solidFill>
                <a:schemeClr val="dk1"/>
              </a:solidFill>
              <a:latin typeface="Calibri"/>
              <a:ea typeface="Calibri"/>
              <a:cs typeface="Calibri"/>
              <a:sym typeface="Calibri"/>
            </a:endParaRPr>
          </a:p>
        </p:txBody>
      </p:sp>
      <p:sp>
        <p:nvSpPr>
          <p:cNvPr id="1210" name="Google Shape;1210;p42"/>
          <p:cNvSpPr/>
          <p:nvPr/>
        </p:nvSpPr>
        <p:spPr>
          <a:xfrm>
            <a:off x="1809750" y="5741789"/>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slides a window across text, snaps cuts to "."</a:t>
            </a:r>
            <a:endParaRPr b="0" i="0" sz="2550" u="none" cap="none" strike="noStrike">
              <a:solidFill>
                <a:schemeClr val="dk1"/>
              </a:solidFill>
              <a:latin typeface="Calibri"/>
              <a:ea typeface="Calibri"/>
              <a:cs typeface="Calibri"/>
              <a:sym typeface="Calibri"/>
            </a:endParaRPr>
          </a:p>
        </p:txBody>
      </p:sp>
      <p:sp>
        <p:nvSpPr>
          <p:cNvPr id="1211" name="Google Shape;1211;p42"/>
          <p:cNvSpPr/>
          <p:nvPr/>
        </p:nvSpPr>
        <p:spPr>
          <a:xfrm>
            <a:off x="1466850" y="6368504"/>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embed(text) -&gt; list[float]:</a:t>
            </a:r>
            <a:endParaRPr b="0" i="0" sz="2550" u="none" cap="none" strike="noStrike">
              <a:solidFill>
                <a:schemeClr val="dk1"/>
              </a:solidFill>
              <a:latin typeface="Calibri"/>
              <a:ea typeface="Calibri"/>
              <a:cs typeface="Calibri"/>
              <a:sym typeface="Calibri"/>
            </a:endParaRPr>
          </a:p>
        </p:txBody>
      </p:sp>
      <p:sp>
        <p:nvSpPr>
          <p:cNvPr id="1212" name="Google Shape;1212;p42"/>
          <p:cNvSpPr/>
          <p:nvPr/>
        </p:nvSpPr>
        <p:spPr>
          <a:xfrm>
            <a:off x="1809750" y="6919019"/>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ollama.embed(model="nomic-embed-text", input=text)</a:t>
            </a:r>
            <a:endParaRPr b="0" i="0" sz="2550" u="none" cap="none" strike="noStrike">
              <a:solidFill>
                <a:schemeClr val="dk1"/>
              </a:solidFill>
              <a:latin typeface="Calibri"/>
              <a:ea typeface="Calibri"/>
              <a:cs typeface="Calibri"/>
              <a:sym typeface="Calibri"/>
            </a:endParaRPr>
          </a:p>
        </p:txBody>
      </p:sp>
      <p:sp>
        <p:nvSpPr>
          <p:cNvPr id="1213" name="Google Shape;1213;p42"/>
          <p:cNvSpPr/>
          <p:nvPr/>
        </p:nvSpPr>
        <p:spPr>
          <a:xfrm>
            <a:off x="1466850" y="7545734"/>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ingest(docs_dir) -&gt; None:</a:t>
            </a:r>
            <a:endParaRPr b="0" i="0" sz="2550" u="none" cap="none" strike="noStrike">
              <a:solidFill>
                <a:schemeClr val="dk1"/>
              </a:solidFill>
              <a:latin typeface="Calibri"/>
              <a:ea typeface="Calibri"/>
              <a:cs typeface="Calibri"/>
              <a:sym typeface="Calibri"/>
            </a:endParaRPr>
          </a:p>
        </p:txBody>
      </p:sp>
      <p:sp>
        <p:nvSpPr>
          <p:cNvPr id="1214" name="Google Shape;1214;p42"/>
          <p:cNvSpPr/>
          <p:nvPr/>
        </p:nvSpPr>
        <p:spPr>
          <a:xfrm>
            <a:off x="1809750" y="8096250"/>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orchestrates: load → chunk → embed → collection.add()</a:t>
            </a:r>
            <a:endParaRPr b="0" i="0" sz="2550" u="none" cap="none" strike="noStrike">
              <a:solidFill>
                <a:schemeClr val="dk1"/>
              </a:solidFill>
              <a:latin typeface="Calibri"/>
              <a:ea typeface="Calibri"/>
              <a:cs typeface="Calibri"/>
              <a:sym typeface="Calibri"/>
            </a:endParaRPr>
          </a:p>
        </p:txBody>
      </p:sp>
      <p:sp>
        <p:nvSpPr>
          <p:cNvPr id="1215" name="Google Shape;1215;p42"/>
          <p:cNvSpPr/>
          <p:nvPr/>
        </p:nvSpPr>
        <p:spPr>
          <a:xfrm>
            <a:off x="1809750" y="8646765"/>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chunk_id = f"{source}::chunk_{i}" ← prevents duplicates</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0" name="Shape 1220"/>
        <p:cNvGrpSpPr/>
        <p:nvPr/>
      </p:nvGrpSpPr>
      <p:grpSpPr>
        <a:xfrm>
          <a:off x="0" y="0"/>
          <a:ext cx="0" cy="0"/>
          <a:chOff x="0" y="0"/>
          <a:chExt cx="0" cy="0"/>
        </a:xfrm>
      </p:grpSpPr>
      <p:pic>
        <p:nvPicPr>
          <p:cNvPr descr="preencoded.png" id="1221" name="Google Shape;1221;p43"/>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222" name="Google Shape;1222;p43"/>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Code Example — File 2</a:t>
            </a:r>
            <a:endParaRPr b="0" i="0" sz="3000" u="none" cap="none" strike="noStrike">
              <a:solidFill>
                <a:schemeClr val="dk1"/>
              </a:solidFill>
              <a:latin typeface="Calibri"/>
              <a:ea typeface="Calibri"/>
              <a:cs typeface="Calibri"/>
              <a:sym typeface="Calibri"/>
            </a:endParaRPr>
          </a:p>
        </p:txBody>
      </p:sp>
      <p:sp>
        <p:nvSpPr>
          <p:cNvPr id="1223" name="Google Shape;1223;p43"/>
          <p:cNvSpPr/>
          <p:nvPr/>
        </p:nvSpPr>
        <p:spPr>
          <a:xfrm>
            <a:off x="1047750" y="1181100"/>
            <a:ext cx="17811750" cy="10953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300"/>
              <a:buFont typeface="JetBrains Mono"/>
              <a:buNone/>
            </a:pPr>
            <a:r>
              <a:rPr b="1" i="0" lang="en-US" sz="6300" u="none" cap="none" strike="noStrike">
                <a:solidFill>
                  <a:srgbClr val="274D71"/>
                </a:solidFill>
                <a:latin typeface="JetBrains Mono"/>
                <a:ea typeface="JetBrains Mono"/>
                <a:cs typeface="JetBrains Mono"/>
                <a:sym typeface="JetBrains Mono"/>
              </a:rPr>
              <a:t>retriever.py</a:t>
            </a:r>
            <a:endParaRPr b="0" i="0" sz="6300" u="none" cap="none" strike="noStrike">
              <a:solidFill>
                <a:schemeClr val="dk1"/>
              </a:solidFill>
              <a:latin typeface="Calibri"/>
              <a:ea typeface="Calibri"/>
              <a:cs typeface="Calibri"/>
              <a:sym typeface="Calibri"/>
            </a:endParaRPr>
          </a:p>
        </p:txBody>
      </p:sp>
      <p:sp>
        <p:nvSpPr>
          <p:cNvPr id="1224" name="Google Shape;1224;p43"/>
          <p:cNvSpPr/>
          <p:nvPr/>
        </p:nvSpPr>
        <p:spPr>
          <a:xfrm>
            <a:off x="1047750" y="2294781"/>
            <a:ext cx="17811750" cy="4667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2121"/>
              </a:buClr>
              <a:buSzPts val="2775"/>
              <a:buFont typeface="Gabarito"/>
              <a:buNone/>
            </a:pPr>
            <a:r>
              <a:rPr b="0" i="0" lang="en-US" sz="3000" u="none" cap="none" strike="noStrike">
                <a:solidFill>
                  <a:srgbClr val="212121"/>
                </a:solidFill>
                <a:latin typeface="Gabarito"/>
                <a:ea typeface="Gabarito"/>
                <a:cs typeface="Gabarito"/>
                <a:sym typeface="Gabarito"/>
              </a:rPr>
              <a:t>The first step of the online pipeline </a:t>
            </a:r>
            <a:r>
              <a:rPr lang="en-US" sz="3000">
                <a:solidFill>
                  <a:srgbClr val="212121"/>
                </a:solidFill>
                <a:latin typeface="Gabarito"/>
                <a:ea typeface="Gabarito"/>
                <a:cs typeface="Gabarito"/>
                <a:sym typeface="Gabarito"/>
              </a:rPr>
              <a:t>-</a:t>
            </a:r>
            <a:r>
              <a:rPr b="0" i="0" lang="en-US" sz="3000" u="none" cap="none" strike="noStrike">
                <a:solidFill>
                  <a:srgbClr val="212121"/>
                </a:solidFill>
                <a:latin typeface="Gabarito"/>
                <a:ea typeface="Gabarito"/>
                <a:cs typeface="Gabarito"/>
                <a:sym typeface="Gabarito"/>
              </a:rPr>
              <a:t> turns a question into a vector, finds the closest chunks.</a:t>
            </a:r>
            <a:endParaRPr b="0" i="0" sz="3000" u="none" cap="none" strike="noStrike">
              <a:solidFill>
                <a:schemeClr val="dk1"/>
              </a:solidFill>
              <a:latin typeface="Calibri"/>
              <a:ea typeface="Calibri"/>
              <a:cs typeface="Calibri"/>
              <a:sym typeface="Calibri"/>
            </a:endParaRPr>
          </a:p>
        </p:txBody>
      </p:sp>
      <p:sp>
        <p:nvSpPr>
          <p:cNvPr id="1225" name="Google Shape;1225;p43"/>
          <p:cNvSpPr/>
          <p:nvPr/>
        </p:nvSpPr>
        <p:spPr>
          <a:xfrm>
            <a:off x="1047750" y="3048000"/>
            <a:ext cx="16192500" cy="6431012"/>
          </a:xfrm>
          <a:prstGeom prst="roundRect">
            <a:avLst>
              <a:gd fmla="val 2370"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43"/>
          <p:cNvSpPr/>
          <p:nvPr/>
        </p:nvSpPr>
        <p:spPr>
          <a:xfrm>
            <a:off x="1047750" y="3048000"/>
            <a:ext cx="16192500" cy="714375"/>
          </a:xfrm>
          <a:prstGeom prst="rect">
            <a:avLst/>
          </a:prstGeom>
          <a:solidFill>
            <a:srgbClr val="2A2F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43"/>
          <p:cNvSpPr/>
          <p:nvPr/>
        </p:nvSpPr>
        <p:spPr>
          <a:xfrm>
            <a:off x="1295400" y="3328988"/>
            <a:ext cx="152400" cy="152400"/>
          </a:xfrm>
          <a:prstGeom prst="ellipse">
            <a:avLst/>
          </a:prstGeom>
          <a:solidFill>
            <a:srgbClr val="FF5F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43"/>
          <p:cNvSpPr/>
          <p:nvPr/>
        </p:nvSpPr>
        <p:spPr>
          <a:xfrm>
            <a:off x="1543050" y="3328988"/>
            <a:ext cx="152400" cy="152400"/>
          </a:xfrm>
          <a:prstGeom prst="ellipse">
            <a:avLst/>
          </a:prstGeom>
          <a:solidFill>
            <a:srgbClr val="FEBC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43"/>
          <p:cNvSpPr/>
          <p:nvPr/>
        </p:nvSpPr>
        <p:spPr>
          <a:xfrm>
            <a:off x="1790700" y="3328988"/>
            <a:ext cx="152400" cy="152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43"/>
          <p:cNvSpPr/>
          <p:nvPr/>
        </p:nvSpPr>
        <p:spPr>
          <a:xfrm>
            <a:off x="2171700" y="3200400"/>
            <a:ext cx="3419921"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AA0A6"/>
              </a:buClr>
              <a:buSzPts val="2400"/>
              <a:buFont typeface="JetBrains Mono"/>
              <a:buNone/>
            </a:pPr>
            <a:r>
              <a:rPr b="0" i="0" lang="en-US" sz="2400" u="none" cap="none" strike="noStrike">
                <a:solidFill>
                  <a:srgbClr val="9AA0A6"/>
                </a:solidFill>
                <a:latin typeface="JetBrains Mono"/>
                <a:ea typeface="JetBrains Mono"/>
                <a:cs typeface="JetBrains Mono"/>
                <a:sym typeface="JetBrains Mono"/>
              </a:rPr>
              <a:t># Three functions</a:t>
            </a:r>
            <a:endParaRPr b="0" i="0" sz="2400" u="none" cap="none" strike="noStrike">
              <a:solidFill>
                <a:schemeClr val="dk1"/>
              </a:solidFill>
              <a:latin typeface="Calibri"/>
              <a:ea typeface="Calibri"/>
              <a:cs typeface="Calibri"/>
              <a:sym typeface="Calibri"/>
            </a:endParaRPr>
          </a:p>
        </p:txBody>
      </p:sp>
      <p:sp>
        <p:nvSpPr>
          <p:cNvPr id="1231" name="Google Shape;1231;p43"/>
          <p:cNvSpPr/>
          <p:nvPr/>
        </p:nvSpPr>
        <p:spPr>
          <a:xfrm>
            <a:off x="1466850" y="4067175"/>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get_collection() -&gt; Collection:</a:t>
            </a:r>
            <a:endParaRPr b="0" i="0" sz="2550" u="none" cap="none" strike="noStrike">
              <a:solidFill>
                <a:schemeClr val="dk1"/>
              </a:solidFill>
              <a:latin typeface="Calibri"/>
              <a:ea typeface="Calibri"/>
              <a:cs typeface="Calibri"/>
              <a:sym typeface="Calibri"/>
            </a:endParaRPr>
          </a:p>
        </p:txBody>
      </p:sp>
      <p:sp>
        <p:nvSpPr>
          <p:cNvPr id="1232" name="Google Shape;1232;p43"/>
          <p:cNvSpPr/>
          <p:nvPr/>
        </p:nvSpPr>
        <p:spPr>
          <a:xfrm>
            <a:off x="1809750" y="4617690"/>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PersistentClient(path=".chroma").get_collection("rag_docs")</a:t>
            </a:r>
            <a:endParaRPr b="0" i="0" sz="2550" u="none" cap="none" strike="noStrike">
              <a:solidFill>
                <a:schemeClr val="dk1"/>
              </a:solidFill>
              <a:latin typeface="Calibri"/>
              <a:ea typeface="Calibri"/>
              <a:cs typeface="Calibri"/>
              <a:sym typeface="Calibri"/>
            </a:endParaRPr>
          </a:p>
        </p:txBody>
      </p:sp>
      <p:sp>
        <p:nvSpPr>
          <p:cNvPr id="1233" name="Google Shape;1233;p43"/>
          <p:cNvSpPr/>
          <p:nvPr/>
        </p:nvSpPr>
        <p:spPr>
          <a:xfrm>
            <a:off x="1809750" y="5168205"/>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get_collection ← NOT get_or_create (must ingest first)</a:t>
            </a:r>
            <a:endParaRPr b="0" i="0" sz="2550" u="none" cap="none" strike="noStrike">
              <a:solidFill>
                <a:schemeClr val="dk1"/>
              </a:solidFill>
              <a:latin typeface="Calibri"/>
              <a:ea typeface="Calibri"/>
              <a:cs typeface="Calibri"/>
              <a:sym typeface="Calibri"/>
            </a:endParaRPr>
          </a:p>
        </p:txBody>
      </p:sp>
      <p:sp>
        <p:nvSpPr>
          <p:cNvPr id="1234" name="Google Shape;1234;p43"/>
          <p:cNvSpPr/>
          <p:nvPr/>
        </p:nvSpPr>
        <p:spPr>
          <a:xfrm>
            <a:off x="1466850" y="5794921"/>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embed_query(query) -&gt; list[float]:</a:t>
            </a:r>
            <a:endParaRPr b="0" i="0" sz="2550" u="none" cap="none" strike="noStrike">
              <a:solidFill>
                <a:schemeClr val="dk1"/>
              </a:solidFill>
              <a:latin typeface="Calibri"/>
              <a:ea typeface="Calibri"/>
              <a:cs typeface="Calibri"/>
              <a:sym typeface="Calibri"/>
            </a:endParaRPr>
          </a:p>
        </p:txBody>
      </p:sp>
      <p:sp>
        <p:nvSpPr>
          <p:cNvPr id="1235" name="Google Shape;1235;p43"/>
          <p:cNvSpPr/>
          <p:nvPr/>
        </p:nvSpPr>
        <p:spPr>
          <a:xfrm>
            <a:off x="1809750" y="6345436"/>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same model as ingest — nomic-embed-text</a:t>
            </a:r>
            <a:endParaRPr b="0" i="0" sz="2550" u="none" cap="none" strike="noStrike">
              <a:solidFill>
                <a:schemeClr val="dk1"/>
              </a:solidFill>
              <a:latin typeface="Calibri"/>
              <a:ea typeface="Calibri"/>
              <a:cs typeface="Calibri"/>
              <a:sym typeface="Calibri"/>
            </a:endParaRPr>
          </a:p>
        </p:txBody>
      </p:sp>
      <p:sp>
        <p:nvSpPr>
          <p:cNvPr id="1236" name="Google Shape;1236;p43"/>
          <p:cNvSpPr/>
          <p:nvPr/>
        </p:nvSpPr>
        <p:spPr>
          <a:xfrm>
            <a:off x="1809750" y="6895951"/>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CRITICAL: same model = same vector space</a:t>
            </a:r>
            <a:endParaRPr b="0" i="0" sz="2550" u="none" cap="none" strike="noStrike">
              <a:solidFill>
                <a:schemeClr val="dk1"/>
              </a:solidFill>
              <a:latin typeface="Calibri"/>
              <a:ea typeface="Calibri"/>
              <a:cs typeface="Calibri"/>
              <a:sym typeface="Calibri"/>
            </a:endParaRPr>
          </a:p>
        </p:txBody>
      </p:sp>
      <p:sp>
        <p:nvSpPr>
          <p:cNvPr id="1237" name="Google Shape;1237;p43"/>
          <p:cNvSpPr/>
          <p:nvPr/>
        </p:nvSpPr>
        <p:spPr>
          <a:xfrm>
            <a:off x="1466850" y="7522666"/>
            <a:ext cx="158149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C792EA"/>
              </a:buClr>
              <a:buSzPts val="2550"/>
              <a:buFont typeface="JetBrains Mono"/>
              <a:buNone/>
            </a:pPr>
            <a:r>
              <a:rPr b="0" i="0" lang="en-US" sz="2550" u="none" cap="none" strike="noStrike">
                <a:solidFill>
                  <a:srgbClr val="C792EA"/>
                </a:solidFill>
                <a:latin typeface="JetBrains Mono"/>
                <a:ea typeface="JetBrains Mono"/>
                <a:cs typeface="JetBrains Mono"/>
                <a:sym typeface="JetBrains Mono"/>
              </a:rPr>
              <a:t>def </a:t>
            </a:r>
            <a:r>
              <a:rPr b="0" i="0" lang="en-US" sz="2550" u="none" cap="none" strike="noStrike">
                <a:solidFill>
                  <a:srgbClr val="E8EAED"/>
                </a:solidFill>
                <a:latin typeface="JetBrains Mono"/>
                <a:ea typeface="JetBrains Mono"/>
                <a:cs typeface="JetBrains Mono"/>
                <a:sym typeface="JetBrains Mono"/>
              </a:rPr>
              <a:t>retrieve(query, top_k=</a:t>
            </a:r>
            <a:r>
              <a:rPr b="0" i="0" lang="en-US" sz="2550" u="none" cap="none" strike="noStrike">
                <a:solidFill>
                  <a:srgbClr val="F0B45C"/>
                </a:solidFill>
                <a:latin typeface="JetBrains Mono"/>
                <a:ea typeface="JetBrains Mono"/>
                <a:cs typeface="JetBrains Mono"/>
                <a:sym typeface="JetBrains Mono"/>
              </a:rPr>
              <a:t>3</a:t>
            </a:r>
            <a:r>
              <a:rPr b="0" i="0" lang="en-US" sz="2550" u="none" cap="none" strike="noStrike">
                <a:solidFill>
                  <a:srgbClr val="E8EAED"/>
                </a:solidFill>
                <a:latin typeface="JetBrains Mono"/>
                <a:ea typeface="JetBrains Mono"/>
                <a:cs typeface="JetBrains Mono"/>
                <a:sym typeface="JetBrains Mono"/>
              </a:rPr>
              <a:t>) -&gt; list[dict]:</a:t>
            </a:r>
            <a:endParaRPr b="0" i="0" sz="2550" u="none" cap="none" strike="noStrike">
              <a:solidFill>
                <a:schemeClr val="dk1"/>
              </a:solidFill>
              <a:latin typeface="Calibri"/>
              <a:ea typeface="Calibri"/>
              <a:cs typeface="Calibri"/>
              <a:sym typeface="Calibri"/>
            </a:endParaRPr>
          </a:p>
        </p:txBody>
      </p:sp>
      <p:sp>
        <p:nvSpPr>
          <p:cNvPr id="1238" name="Google Shape;1238;p43"/>
          <p:cNvSpPr/>
          <p:nvPr/>
        </p:nvSpPr>
        <p:spPr>
          <a:xfrm>
            <a:off x="1809750" y="8073182"/>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collection.query(query_embeddings=[...], n_results=top_k)</a:t>
            </a:r>
            <a:endParaRPr b="0" i="0" sz="2550" u="none" cap="none" strike="noStrike">
              <a:solidFill>
                <a:schemeClr val="dk1"/>
              </a:solidFill>
              <a:latin typeface="Calibri"/>
              <a:ea typeface="Calibri"/>
              <a:cs typeface="Calibri"/>
              <a:sym typeface="Calibri"/>
            </a:endParaRPr>
          </a:p>
        </p:txBody>
      </p:sp>
      <p:sp>
        <p:nvSpPr>
          <p:cNvPr id="1239" name="Google Shape;1239;p43"/>
          <p:cNvSpPr/>
          <p:nvPr/>
        </p:nvSpPr>
        <p:spPr>
          <a:xfrm>
            <a:off x="1809750" y="8623697"/>
            <a:ext cx="15472029" cy="588615"/>
          </a:xfrm>
          <a:prstGeom prst="rect">
            <a:avLst/>
          </a:prstGeom>
          <a:noFill/>
          <a:ln>
            <a:noFill/>
          </a:ln>
        </p:spPr>
        <p:txBody>
          <a:bodyPr anchorCtr="0" anchor="t" bIns="25400" lIns="25400" spcFirstLastPara="1" rIns="25400" wrap="square" tIns="25400">
            <a:noAutofit/>
          </a:bodyPr>
          <a:lstStyle/>
          <a:p>
            <a:pPr indent="0" lvl="0" marL="0" marR="0" rtl="0" algn="l">
              <a:lnSpc>
                <a:spcPct val="128444"/>
              </a:lnSpc>
              <a:spcBef>
                <a:spcPts val="0"/>
              </a:spcBef>
              <a:spcAft>
                <a:spcPts val="0"/>
              </a:spcAft>
              <a:buClr>
                <a:srgbClr val="9AA0A6"/>
              </a:buClr>
              <a:buSzPts val="2550"/>
              <a:buFont typeface="JetBrains Mono"/>
              <a:buNone/>
            </a:pPr>
            <a:r>
              <a:rPr b="0" i="0" lang="en-US" sz="2550" u="none" cap="none" strike="noStrike">
                <a:solidFill>
                  <a:srgbClr val="9AA0A6"/>
                </a:solidFill>
                <a:latin typeface="JetBrains Mono"/>
                <a:ea typeface="JetBrains Mono"/>
                <a:cs typeface="JetBrains Mono"/>
                <a:sym typeface="JetBrains Mono"/>
              </a:rPr>
              <a:t># returns: [{text, source, chunk_index, distance}]</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4" name="Shape 1244"/>
        <p:cNvGrpSpPr/>
        <p:nvPr/>
      </p:nvGrpSpPr>
      <p:grpSpPr>
        <a:xfrm>
          <a:off x="0" y="0"/>
          <a:ext cx="0" cy="0"/>
          <a:chOff x="0" y="0"/>
          <a:chExt cx="0" cy="0"/>
        </a:xfrm>
      </p:grpSpPr>
      <p:pic>
        <p:nvPicPr>
          <p:cNvPr descr="preencoded.png" id="1245" name="Google Shape;1245;p44"/>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246" name="Google Shape;1246;p44"/>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Code Example — File 3</a:t>
            </a:r>
            <a:endParaRPr b="0" i="0" sz="3000" u="none" cap="none" strike="noStrike">
              <a:solidFill>
                <a:schemeClr val="dk1"/>
              </a:solidFill>
              <a:latin typeface="Calibri"/>
              <a:ea typeface="Calibri"/>
              <a:cs typeface="Calibri"/>
              <a:sym typeface="Calibri"/>
            </a:endParaRPr>
          </a:p>
        </p:txBody>
      </p:sp>
      <p:sp>
        <p:nvSpPr>
          <p:cNvPr id="1247" name="Google Shape;1247;p44"/>
          <p:cNvSpPr/>
          <p:nvPr/>
        </p:nvSpPr>
        <p:spPr>
          <a:xfrm>
            <a:off x="1047750" y="1181100"/>
            <a:ext cx="17811750" cy="10953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300"/>
              <a:buFont typeface="JetBrains Mono"/>
              <a:buNone/>
            </a:pPr>
            <a:r>
              <a:rPr b="1" i="0" lang="en-US" sz="6300" u="none" cap="none" strike="noStrike">
                <a:solidFill>
                  <a:srgbClr val="274D71"/>
                </a:solidFill>
                <a:latin typeface="JetBrains Mono"/>
                <a:ea typeface="JetBrains Mono"/>
                <a:cs typeface="JetBrains Mono"/>
                <a:sym typeface="JetBrains Mono"/>
              </a:rPr>
              <a:t>generator.py</a:t>
            </a:r>
            <a:endParaRPr b="0" i="0" sz="6300" u="none" cap="none" strike="noStrike">
              <a:solidFill>
                <a:schemeClr val="dk1"/>
              </a:solidFill>
              <a:latin typeface="Calibri"/>
              <a:ea typeface="Calibri"/>
              <a:cs typeface="Calibri"/>
              <a:sym typeface="Calibri"/>
            </a:endParaRPr>
          </a:p>
        </p:txBody>
      </p:sp>
      <p:sp>
        <p:nvSpPr>
          <p:cNvPr id="1248" name="Google Shape;1248;p44"/>
          <p:cNvSpPr/>
          <p:nvPr/>
        </p:nvSpPr>
        <p:spPr>
          <a:xfrm>
            <a:off x="1047751" y="2300287"/>
            <a:ext cx="14382750" cy="8953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12121"/>
              </a:buClr>
              <a:buSzPts val="2775"/>
              <a:buFont typeface="Gabarito"/>
              <a:buNone/>
            </a:pPr>
            <a:r>
              <a:rPr b="0" i="0" lang="en-US" sz="3000" u="none" cap="none" strike="noStrike">
                <a:solidFill>
                  <a:srgbClr val="212121"/>
                </a:solidFill>
                <a:latin typeface="Gabarito"/>
                <a:ea typeface="Gabarito"/>
                <a:cs typeface="Gabarito"/>
                <a:sym typeface="Gabarito"/>
              </a:rPr>
              <a:t>The second step of the online pipeline </a:t>
            </a:r>
            <a:r>
              <a:rPr lang="en-US" sz="3000">
                <a:solidFill>
                  <a:srgbClr val="212121"/>
                </a:solidFill>
                <a:latin typeface="Gabarito"/>
                <a:ea typeface="Gabarito"/>
                <a:cs typeface="Gabarito"/>
                <a:sym typeface="Gabarito"/>
              </a:rPr>
              <a:t>- </a:t>
            </a:r>
            <a:r>
              <a:rPr b="0" i="0" lang="en-US" sz="3000" u="none" cap="none" strike="noStrike">
                <a:solidFill>
                  <a:srgbClr val="212121"/>
                </a:solidFill>
                <a:latin typeface="Gabarito"/>
                <a:ea typeface="Gabarito"/>
                <a:cs typeface="Gabarito"/>
                <a:sym typeface="Gabarito"/>
              </a:rPr>
              <a:t>assembles the augmented prompt, calls the LLM, streams the answer.</a:t>
            </a:r>
            <a:endParaRPr b="0" i="0" sz="3000" u="none" cap="none" strike="noStrike">
              <a:solidFill>
                <a:schemeClr val="dk1"/>
              </a:solidFill>
              <a:latin typeface="Calibri"/>
              <a:ea typeface="Calibri"/>
              <a:cs typeface="Calibri"/>
              <a:sym typeface="Calibri"/>
            </a:endParaRPr>
          </a:p>
        </p:txBody>
      </p:sp>
      <p:sp>
        <p:nvSpPr>
          <p:cNvPr id="1249" name="Google Shape;1249;p44"/>
          <p:cNvSpPr/>
          <p:nvPr/>
        </p:nvSpPr>
        <p:spPr>
          <a:xfrm>
            <a:off x="1047750" y="3476625"/>
            <a:ext cx="16192500" cy="6076950"/>
          </a:xfrm>
          <a:prstGeom prst="roundRect">
            <a:avLst>
              <a:gd fmla="val 2508"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44"/>
          <p:cNvSpPr/>
          <p:nvPr/>
        </p:nvSpPr>
        <p:spPr>
          <a:xfrm>
            <a:off x="1047750" y="3476625"/>
            <a:ext cx="16192500" cy="714375"/>
          </a:xfrm>
          <a:prstGeom prst="rect">
            <a:avLst/>
          </a:prstGeom>
          <a:solidFill>
            <a:srgbClr val="2A2F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44"/>
          <p:cNvSpPr/>
          <p:nvPr/>
        </p:nvSpPr>
        <p:spPr>
          <a:xfrm>
            <a:off x="1295400" y="3757613"/>
            <a:ext cx="152400" cy="152400"/>
          </a:xfrm>
          <a:prstGeom prst="ellipse">
            <a:avLst/>
          </a:prstGeom>
          <a:solidFill>
            <a:srgbClr val="FF5F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44"/>
          <p:cNvSpPr/>
          <p:nvPr/>
        </p:nvSpPr>
        <p:spPr>
          <a:xfrm>
            <a:off x="1543050" y="3757613"/>
            <a:ext cx="152400" cy="152400"/>
          </a:xfrm>
          <a:prstGeom prst="ellipse">
            <a:avLst/>
          </a:prstGeom>
          <a:solidFill>
            <a:srgbClr val="FEBC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44"/>
          <p:cNvSpPr/>
          <p:nvPr/>
        </p:nvSpPr>
        <p:spPr>
          <a:xfrm>
            <a:off x="1790700" y="3757613"/>
            <a:ext cx="152400" cy="152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44"/>
          <p:cNvSpPr/>
          <p:nvPr/>
        </p:nvSpPr>
        <p:spPr>
          <a:xfrm>
            <a:off x="2171700" y="3629025"/>
            <a:ext cx="3419921"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AA0A6"/>
              </a:buClr>
              <a:buSzPts val="2400"/>
              <a:buFont typeface="JetBrains Mono"/>
              <a:buNone/>
            </a:pPr>
            <a:r>
              <a:rPr b="0" i="0" lang="en-US" sz="2400" u="none" cap="none" strike="noStrike">
                <a:solidFill>
                  <a:srgbClr val="9AA0A6"/>
                </a:solidFill>
                <a:latin typeface="JetBrains Mono"/>
                <a:ea typeface="JetBrains Mono"/>
                <a:cs typeface="JetBrains Mono"/>
                <a:sym typeface="JetBrains Mono"/>
              </a:rPr>
              <a:t># Three functions</a:t>
            </a:r>
            <a:endParaRPr b="0" i="0" sz="2400" u="none" cap="none" strike="noStrike">
              <a:solidFill>
                <a:schemeClr val="dk1"/>
              </a:solidFill>
              <a:latin typeface="Calibri"/>
              <a:ea typeface="Calibri"/>
              <a:cs typeface="Calibri"/>
              <a:sym typeface="Calibri"/>
            </a:endParaRPr>
          </a:p>
        </p:txBody>
      </p:sp>
      <p:sp>
        <p:nvSpPr>
          <p:cNvPr id="1255" name="Google Shape;1255;p44"/>
          <p:cNvSpPr/>
          <p:nvPr/>
        </p:nvSpPr>
        <p:spPr>
          <a:xfrm>
            <a:off x="1466850" y="4438650"/>
            <a:ext cx="168897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C792EA"/>
              </a:buClr>
              <a:buSzPts val="2475"/>
              <a:buFont typeface="JetBrains Mono"/>
              <a:buNone/>
            </a:pPr>
            <a:r>
              <a:rPr b="0" i="0" lang="en-US" sz="2475" u="none" cap="none" strike="noStrike">
                <a:solidFill>
                  <a:srgbClr val="C792EA"/>
                </a:solidFill>
                <a:latin typeface="JetBrains Mono"/>
                <a:ea typeface="JetBrains Mono"/>
                <a:cs typeface="JetBrains Mono"/>
                <a:sym typeface="JetBrains Mono"/>
              </a:rPr>
              <a:t>def </a:t>
            </a:r>
            <a:r>
              <a:rPr b="0" i="0" lang="en-US" sz="2475" u="none" cap="none" strike="noStrike">
                <a:solidFill>
                  <a:srgbClr val="E8EAED"/>
                </a:solidFill>
                <a:latin typeface="JetBrains Mono"/>
                <a:ea typeface="JetBrains Mono"/>
                <a:cs typeface="JetBrains Mono"/>
                <a:sym typeface="JetBrains Mono"/>
              </a:rPr>
              <a:t>build_prompt(query, chunks) -&gt; str:</a:t>
            </a:r>
            <a:endParaRPr b="0" i="0" sz="2475" u="none" cap="none" strike="noStrike">
              <a:solidFill>
                <a:schemeClr val="dk1"/>
              </a:solidFill>
              <a:latin typeface="Calibri"/>
              <a:ea typeface="Calibri"/>
              <a:cs typeface="Calibri"/>
              <a:sym typeface="Calibri"/>
            </a:endParaRPr>
          </a:p>
        </p:txBody>
      </p:sp>
      <p:sp>
        <p:nvSpPr>
          <p:cNvPr id="1256" name="Google Shape;1256;p44"/>
          <p:cNvSpPr/>
          <p:nvPr/>
        </p:nvSpPr>
        <p:spPr>
          <a:xfrm>
            <a:off x="1809750" y="4910138"/>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system instruction: "answer only from context below"</a:t>
            </a:r>
            <a:endParaRPr b="0" i="0" sz="2475" u="none" cap="none" strike="noStrike">
              <a:solidFill>
                <a:schemeClr val="dk1"/>
              </a:solidFill>
              <a:latin typeface="Calibri"/>
              <a:ea typeface="Calibri"/>
              <a:cs typeface="Calibri"/>
              <a:sym typeface="Calibri"/>
            </a:endParaRPr>
          </a:p>
        </p:txBody>
      </p:sp>
      <p:sp>
        <p:nvSpPr>
          <p:cNvPr id="1257" name="Google Shape;1257;p44"/>
          <p:cNvSpPr/>
          <p:nvPr/>
        </p:nvSpPr>
        <p:spPr>
          <a:xfrm>
            <a:off x="1809750" y="5381625"/>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numbered list of chunks with source filenames</a:t>
            </a:r>
            <a:endParaRPr b="0" i="0" sz="2475" u="none" cap="none" strike="noStrike">
              <a:solidFill>
                <a:schemeClr val="dk1"/>
              </a:solidFill>
              <a:latin typeface="Calibri"/>
              <a:ea typeface="Calibri"/>
              <a:cs typeface="Calibri"/>
              <a:sym typeface="Calibri"/>
            </a:endParaRPr>
          </a:p>
        </p:txBody>
      </p:sp>
      <p:sp>
        <p:nvSpPr>
          <p:cNvPr id="1258" name="Google Shape;1258;p44"/>
          <p:cNvSpPr/>
          <p:nvPr/>
        </p:nvSpPr>
        <p:spPr>
          <a:xfrm>
            <a:off x="1809750" y="5853113"/>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user question at the bottom</a:t>
            </a:r>
            <a:endParaRPr b="0" i="0" sz="2475" u="none" cap="none" strike="noStrike">
              <a:solidFill>
                <a:schemeClr val="dk1"/>
              </a:solidFill>
              <a:latin typeface="Calibri"/>
              <a:ea typeface="Calibri"/>
              <a:cs typeface="Calibri"/>
              <a:sym typeface="Calibri"/>
            </a:endParaRPr>
          </a:p>
        </p:txBody>
      </p:sp>
      <p:sp>
        <p:nvSpPr>
          <p:cNvPr id="1259" name="Google Shape;1259;p44"/>
          <p:cNvSpPr/>
          <p:nvPr/>
        </p:nvSpPr>
        <p:spPr>
          <a:xfrm>
            <a:off x="1466850" y="6400800"/>
            <a:ext cx="168897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C792EA"/>
              </a:buClr>
              <a:buSzPts val="2475"/>
              <a:buFont typeface="JetBrains Mono"/>
              <a:buNone/>
            </a:pPr>
            <a:r>
              <a:rPr b="0" i="0" lang="en-US" sz="2475" u="none" cap="none" strike="noStrike">
                <a:solidFill>
                  <a:srgbClr val="C792EA"/>
                </a:solidFill>
                <a:latin typeface="JetBrains Mono"/>
                <a:ea typeface="JetBrains Mono"/>
                <a:cs typeface="JetBrains Mono"/>
                <a:sym typeface="JetBrains Mono"/>
              </a:rPr>
              <a:t>def </a:t>
            </a:r>
            <a:r>
              <a:rPr b="0" i="0" lang="en-US" sz="2475" u="none" cap="none" strike="noStrike">
                <a:solidFill>
                  <a:srgbClr val="E8EAED"/>
                </a:solidFill>
                <a:latin typeface="JetBrains Mono"/>
                <a:ea typeface="JetBrains Mono"/>
                <a:cs typeface="JetBrains Mono"/>
                <a:sym typeface="JetBrains Mono"/>
              </a:rPr>
              <a:t>generate(prompt) -&gt; None:</a:t>
            </a:r>
            <a:endParaRPr b="0" i="0" sz="2475" u="none" cap="none" strike="noStrike">
              <a:solidFill>
                <a:schemeClr val="dk1"/>
              </a:solidFill>
              <a:latin typeface="Calibri"/>
              <a:ea typeface="Calibri"/>
              <a:cs typeface="Calibri"/>
              <a:sym typeface="Calibri"/>
            </a:endParaRPr>
          </a:p>
        </p:txBody>
      </p:sp>
      <p:sp>
        <p:nvSpPr>
          <p:cNvPr id="1260" name="Google Shape;1260;p44"/>
          <p:cNvSpPr/>
          <p:nvPr/>
        </p:nvSpPr>
        <p:spPr>
          <a:xfrm>
            <a:off x="1809750" y="6872288"/>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ollama.chat(model="llama3.2", stream=True)</a:t>
            </a:r>
            <a:endParaRPr b="0" i="0" sz="2475" u="none" cap="none" strike="noStrike">
              <a:solidFill>
                <a:schemeClr val="dk1"/>
              </a:solidFill>
              <a:latin typeface="Calibri"/>
              <a:ea typeface="Calibri"/>
              <a:cs typeface="Calibri"/>
              <a:sym typeface="Calibri"/>
            </a:endParaRPr>
          </a:p>
        </p:txBody>
      </p:sp>
      <p:sp>
        <p:nvSpPr>
          <p:cNvPr id="1261" name="Google Shape;1261;p44"/>
          <p:cNvSpPr/>
          <p:nvPr/>
        </p:nvSpPr>
        <p:spPr>
          <a:xfrm>
            <a:off x="1809750" y="7343775"/>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print(chunk, end="", flush=True) ← token-by-token streaming</a:t>
            </a:r>
            <a:endParaRPr b="0" i="0" sz="2475" u="none" cap="none" strike="noStrike">
              <a:solidFill>
                <a:schemeClr val="dk1"/>
              </a:solidFill>
              <a:latin typeface="Calibri"/>
              <a:ea typeface="Calibri"/>
              <a:cs typeface="Calibri"/>
              <a:sym typeface="Calibri"/>
            </a:endParaRPr>
          </a:p>
        </p:txBody>
      </p:sp>
      <p:sp>
        <p:nvSpPr>
          <p:cNvPr id="1262" name="Google Shape;1262;p44"/>
          <p:cNvSpPr/>
          <p:nvPr/>
        </p:nvSpPr>
        <p:spPr>
          <a:xfrm>
            <a:off x="1466850" y="7891463"/>
            <a:ext cx="168897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C792EA"/>
              </a:buClr>
              <a:buSzPts val="2475"/>
              <a:buFont typeface="JetBrains Mono"/>
              <a:buNone/>
            </a:pPr>
            <a:r>
              <a:rPr b="0" i="0" lang="en-US" sz="2475" u="none" cap="none" strike="noStrike">
                <a:solidFill>
                  <a:srgbClr val="C792EA"/>
                </a:solidFill>
                <a:latin typeface="JetBrains Mono"/>
                <a:ea typeface="JetBrains Mono"/>
                <a:cs typeface="JetBrains Mono"/>
                <a:sym typeface="JetBrains Mono"/>
              </a:rPr>
              <a:t>def </a:t>
            </a:r>
            <a:r>
              <a:rPr b="0" i="0" lang="en-US" sz="2475" u="none" cap="none" strike="noStrike">
                <a:solidFill>
                  <a:srgbClr val="E8EAED"/>
                </a:solidFill>
                <a:latin typeface="JetBrains Mono"/>
                <a:ea typeface="JetBrains Mono"/>
                <a:cs typeface="JetBrains Mono"/>
                <a:sym typeface="JetBrains Mono"/>
              </a:rPr>
              <a:t>answer(query, chunks) -&gt; None:</a:t>
            </a:r>
            <a:endParaRPr b="0" i="0" sz="2475" u="none" cap="none" strike="noStrike">
              <a:solidFill>
                <a:schemeClr val="dk1"/>
              </a:solidFill>
              <a:latin typeface="Calibri"/>
              <a:ea typeface="Calibri"/>
              <a:cs typeface="Calibri"/>
              <a:sym typeface="Calibri"/>
            </a:endParaRPr>
          </a:p>
        </p:txBody>
      </p:sp>
      <p:sp>
        <p:nvSpPr>
          <p:cNvPr id="1263" name="Google Shape;1263;p44"/>
          <p:cNvSpPr/>
          <p:nvPr/>
        </p:nvSpPr>
        <p:spPr>
          <a:xfrm>
            <a:off x="1809750" y="8362950"/>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build_prompt → generate</a:t>
            </a:r>
            <a:endParaRPr b="0" i="0" sz="2475" u="none" cap="none" strike="noStrike">
              <a:solidFill>
                <a:schemeClr val="dk1"/>
              </a:solidFill>
              <a:latin typeface="Calibri"/>
              <a:ea typeface="Calibri"/>
              <a:cs typeface="Calibri"/>
              <a:sym typeface="Calibri"/>
            </a:endParaRPr>
          </a:p>
        </p:txBody>
      </p:sp>
      <p:sp>
        <p:nvSpPr>
          <p:cNvPr id="1264" name="Google Shape;1264;p44"/>
          <p:cNvSpPr/>
          <p:nvPr/>
        </p:nvSpPr>
        <p:spPr>
          <a:xfrm>
            <a:off x="1809750" y="8834438"/>
            <a:ext cx="16546830" cy="509587"/>
          </a:xfrm>
          <a:prstGeom prst="rect">
            <a:avLst/>
          </a:prstGeom>
          <a:noFill/>
          <a:ln>
            <a:noFill/>
          </a:ln>
        </p:spPr>
        <p:txBody>
          <a:bodyPr anchorCtr="0" anchor="t" bIns="25400" lIns="25400" spcFirstLastPara="1" rIns="25400" wrap="square" tIns="25400">
            <a:noAutofit/>
          </a:bodyPr>
          <a:lstStyle/>
          <a:p>
            <a:pPr indent="0" lvl="0" marL="0" marR="0" rtl="0" algn="l">
              <a:lnSpc>
                <a:spcPct val="112500"/>
              </a:lnSpc>
              <a:spcBef>
                <a:spcPts val="0"/>
              </a:spcBef>
              <a:spcAft>
                <a:spcPts val="0"/>
              </a:spcAft>
              <a:buClr>
                <a:srgbClr val="9AA0A6"/>
              </a:buClr>
              <a:buSzPts val="2475"/>
              <a:buFont typeface="JetBrains Mono"/>
              <a:buNone/>
            </a:pPr>
            <a:r>
              <a:rPr b="0" i="0" lang="en-US" sz="2475" u="none" cap="none" strike="noStrike">
                <a:solidFill>
                  <a:srgbClr val="9AA0A6"/>
                </a:solidFill>
                <a:latin typeface="JetBrains Mono"/>
                <a:ea typeface="JetBrains Mono"/>
                <a:cs typeface="JetBrains Mono"/>
                <a:sym typeface="JetBrains Mono"/>
              </a:rPr>
              <a:t># the only public function — this is what pipeline.py calls</a:t>
            </a:r>
            <a:endParaRPr b="0" i="0" sz="2475"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9" name="Shape 1269"/>
        <p:cNvGrpSpPr/>
        <p:nvPr/>
      </p:nvGrpSpPr>
      <p:grpSpPr>
        <a:xfrm>
          <a:off x="0" y="0"/>
          <a:ext cx="0" cy="0"/>
          <a:chOff x="0" y="0"/>
          <a:chExt cx="0" cy="0"/>
        </a:xfrm>
      </p:grpSpPr>
      <p:pic>
        <p:nvPicPr>
          <p:cNvPr descr="preencoded.png" id="1270" name="Google Shape;1270;p45"/>
          <p:cNvPicPr preferRelativeResize="0"/>
          <p:nvPr/>
        </p:nvPicPr>
        <p:blipFill rotWithShape="1">
          <a:blip r:embed="rId3">
            <a:alphaModFix/>
          </a:blip>
          <a:srcRect b="0" l="0" r="0" t="0"/>
          <a:stretch/>
        </p:blipFill>
        <p:spPr>
          <a:xfrm>
            <a:off x="16202025" y="952500"/>
            <a:ext cx="1066800" cy="1304181"/>
          </a:xfrm>
          <a:prstGeom prst="rect">
            <a:avLst/>
          </a:prstGeom>
          <a:noFill/>
          <a:ln>
            <a:noFill/>
          </a:ln>
        </p:spPr>
      </p:pic>
      <p:sp>
        <p:nvSpPr>
          <p:cNvPr id="1271" name="Google Shape;1271;p45"/>
          <p:cNvSpPr/>
          <p:nvPr/>
        </p:nvSpPr>
        <p:spPr>
          <a:xfrm>
            <a:off x="1047750" y="666750"/>
            <a:ext cx="17811750" cy="4953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9900"/>
              </a:buClr>
              <a:buSzPts val="3000"/>
              <a:buFont typeface="Gabarito"/>
              <a:buNone/>
            </a:pPr>
            <a:r>
              <a:rPr b="1" i="0" lang="en-US" sz="3000" u="none" cap="none" strike="noStrike">
                <a:solidFill>
                  <a:srgbClr val="FF9900"/>
                </a:solidFill>
                <a:latin typeface="Gabarito"/>
                <a:ea typeface="Gabarito"/>
                <a:cs typeface="Gabarito"/>
                <a:sym typeface="Gabarito"/>
              </a:rPr>
              <a:t>Code Example — File 4</a:t>
            </a:r>
            <a:endParaRPr b="0" i="0" sz="3000" u="none" cap="none" strike="noStrike">
              <a:solidFill>
                <a:schemeClr val="dk1"/>
              </a:solidFill>
              <a:latin typeface="Calibri"/>
              <a:ea typeface="Calibri"/>
              <a:cs typeface="Calibri"/>
              <a:sym typeface="Calibri"/>
            </a:endParaRPr>
          </a:p>
        </p:txBody>
      </p:sp>
      <p:sp>
        <p:nvSpPr>
          <p:cNvPr id="1272" name="Google Shape;1272;p45"/>
          <p:cNvSpPr/>
          <p:nvPr/>
        </p:nvSpPr>
        <p:spPr>
          <a:xfrm>
            <a:off x="1047750" y="1181100"/>
            <a:ext cx="17811750" cy="9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5250"/>
              <a:buFont typeface="JetBrains Mono"/>
              <a:buNone/>
            </a:pPr>
            <a:r>
              <a:rPr b="1" i="0" lang="en-US" sz="5250" u="none" cap="none" strike="noStrike">
                <a:solidFill>
                  <a:srgbClr val="274D71"/>
                </a:solidFill>
                <a:latin typeface="JetBrains Mono"/>
                <a:ea typeface="JetBrains Mono"/>
                <a:cs typeface="JetBrains Mono"/>
                <a:sym typeface="JetBrains Mono"/>
              </a:rPr>
              <a:t>pipeline.py + main.py</a:t>
            </a:r>
            <a:endParaRPr b="0" i="0" sz="5250" u="none" cap="none" strike="noStrike">
              <a:solidFill>
                <a:schemeClr val="dk1"/>
              </a:solidFill>
              <a:latin typeface="Calibri"/>
              <a:ea typeface="Calibri"/>
              <a:cs typeface="Calibri"/>
              <a:sym typeface="Calibri"/>
            </a:endParaRPr>
          </a:p>
        </p:txBody>
      </p:sp>
      <p:sp>
        <p:nvSpPr>
          <p:cNvPr id="1273" name="Google Shape;1273;p45"/>
          <p:cNvSpPr/>
          <p:nvPr/>
        </p:nvSpPr>
        <p:spPr>
          <a:xfrm>
            <a:off x="1047751" y="2218581"/>
            <a:ext cx="14230350" cy="9334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35595"/>
              </a:buClr>
              <a:buSzPts val="2775"/>
              <a:buFont typeface="JetBrains Mono"/>
              <a:buNone/>
            </a:pPr>
            <a:r>
              <a:rPr b="0" i="0" lang="en-US" sz="3000" u="none" cap="none" strike="noStrike">
                <a:solidFill>
                  <a:srgbClr val="035595"/>
                </a:solidFill>
                <a:latin typeface="JetBrains Mono"/>
                <a:ea typeface="JetBrains Mono"/>
                <a:cs typeface="JetBrains Mono"/>
                <a:sym typeface="JetBrains Mono"/>
              </a:rPr>
              <a:t>pipeline.py </a:t>
            </a:r>
            <a:r>
              <a:rPr b="0" i="0" lang="en-US" sz="3000" u="none" cap="none" strike="noStrike">
                <a:solidFill>
                  <a:srgbClr val="212121"/>
                </a:solidFill>
                <a:latin typeface="Gabarito"/>
                <a:ea typeface="Gabarito"/>
                <a:cs typeface="Gabarito"/>
                <a:sym typeface="Gabarito"/>
              </a:rPr>
              <a:t>connects retriever and generator into one call, while </a:t>
            </a:r>
            <a:r>
              <a:rPr b="0" i="0" lang="en-US" sz="3000" u="none" cap="none" strike="noStrike">
                <a:solidFill>
                  <a:srgbClr val="035595"/>
                </a:solidFill>
                <a:latin typeface="JetBrains Mono"/>
                <a:ea typeface="JetBrains Mono"/>
                <a:cs typeface="JetBrains Mono"/>
                <a:sym typeface="JetBrains Mono"/>
              </a:rPr>
              <a:t>main.py </a:t>
            </a:r>
            <a:r>
              <a:rPr b="0" i="0" lang="en-US" sz="3000" u="none" cap="none" strike="noStrike">
                <a:solidFill>
                  <a:srgbClr val="212121"/>
                </a:solidFill>
                <a:latin typeface="Gabarito"/>
                <a:ea typeface="Gabarito"/>
                <a:cs typeface="Gabarito"/>
                <a:sym typeface="Gabarito"/>
              </a:rPr>
              <a:t>exposes everything as a CLI.</a:t>
            </a:r>
            <a:endParaRPr b="0" i="0" sz="3000" u="none" cap="none" strike="noStrike">
              <a:solidFill>
                <a:schemeClr val="dk1"/>
              </a:solidFill>
              <a:latin typeface="Calibri"/>
              <a:ea typeface="Calibri"/>
              <a:cs typeface="Calibri"/>
              <a:sym typeface="Calibri"/>
            </a:endParaRPr>
          </a:p>
        </p:txBody>
      </p:sp>
      <p:sp>
        <p:nvSpPr>
          <p:cNvPr id="1274" name="Google Shape;1274;p45"/>
          <p:cNvSpPr/>
          <p:nvPr/>
        </p:nvSpPr>
        <p:spPr>
          <a:xfrm>
            <a:off x="1047750" y="3333750"/>
            <a:ext cx="16192500" cy="6391275"/>
          </a:xfrm>
          <a:prstGeom prst="roundRect">
            <a:avLst>
              <a:gd fmla="val 2385" name="adj"/>
            </a:avLst>
          </a:prstGeom>
          <a:solidFill>
            <a:srgbClr val="1E22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45"/>
          <p:cNvSpPr/>
          <p:nvPr/>
        </p:nvSpPr>
        <p:spPr>
          <a:xfrm>
            <a:off x="1047750" y="3333750"/>
            <a:ext cx="16192500" cy="714375"/>
          </a:xfrm>
          <a:prstGeom prst="rect">
            <a:avLst/>
          </a:prstGeom>
          <a:solidFill>
            <a:srgbClr val="2A2F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45"/>
          <p:cNvSpPr/>
          <p:nvPr/>
        </p:nvSpPr>
        <p:spPr>
          <a:xfrm>
            <a:off x="1295400" y="3614738"/>
            <a:ext cx="152400" cy="152400"/>
          </a:xfrm>
          <a:prstGeom prst="ellipse">
            <a:avLst/>
          </a:prstGeom>
          <a:solidFill>
            <a:srgbClr val="FF5F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45"/>
          <p:cNvSpPr/>
          <p:nvPr/>
        </p:nvSpPr>
        <p:spPr>
          <a:xfrm>
            <a:off x="1543050" y="3614738"/>
            <a:ext cx="152400" cy="152400"/>
          </a:xfrm>
          <a:prstGeom prst="ellipse">
            <a:avLst/>
          </a:prstGeom>
          <a:solidFill>
            <a:srgbClr val="FEBC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45"/>
          <p:cNvSpPr/>
          <p:nvPr/>
        </p:nvSpPr>
        <p:spPr>
          <a:xfrm>
            <a:off x="1790700" y="3614738"/>
            <a:ext cx="152400" cy="152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45"/>
          <p:cNvSpPr/>
          <p:nvPr/>
        </p:nvSpPr>
        <p:spPr>
          <a:xfrm>
            <a:off x="2171700" y="3486150"/>
            <a:ext cx="4224561" cy="44767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AA0A6"/>
              </a:buClr>
              <a:buSzPts val="2400"/>
              <a:buFont typeface="JetBrains Mono"/>
              <a:buNone/>
            </a:pPr>
            <a:r>
              <a:rPr b="0" i="0" lang="en-US" sz="2400" u="none" cap="none" strike="noStrike">
                <a:solidFill>
                  <a:srgbClr val="9AA0A6"/>
                </a:solidFill>
                <a:latin typeface="JetBrains Mono"/>
                <a:ea typeface="JetBrains Mono"/>
                <a:cs typeface="JetBrains Mono"/>
                <a:sym typeface="JetBrains Mono"/>
              </a:rPr>
              <a:t>pipeline.py + main.py</a:t>
            </a:r>
            <a:endParaRPr b="0" i="0" sz="2400" u="none" cap="none" strike="noStrike">
              <a:solidFill>
                <a:schemeClr val="dk1"/>
              </a:solidFill>
              <a:latin typeface="Calibri"/>
              <a:ea typeface="Calibri"/>
              <a:cs typeface="Calibri"/>
              <a:sym typeface="Calibri"/>
            </a:endParaRPr>
          </a:p>
        </p:txBody>
      </p:sp>
      <p:sp>
        <p:nvSpPr>
          <p:cNvPr id="1280" name="Google Shape;1280;p45"/>
          <p:cNvSpPr/>
          <p:nvPr/>
        </p:nvSpPr>
        <p:spPr>
          <a:xfrm>
            <a:off x="1466850" y="4352925"/>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9AA0A6"/>
              </a:buClr>
              <a:buSzPts val="2625"/>
              <a:buFont typeface="JetBrains Mono"/>
              <a:buNone/>
            </a:pPr>
            <a:r>
              <a:rPr b="0" i="0" lang="en-US" sz="2625" u="none" cap="none" strike="noStrike">
                <a:solidFill>
                  <a:srgbClr val="9AA0A6"/>
                </a:solidFill>
                <a:latin typeface="JetBrains Mono"/>
                <a:ea typeface="JetBrains Mono"/>
                <a:cs typeface="JetBrains Mono"/>
                <a:sym typeface="JetBrains Mono"/>
              </a:rPr>
              <a:t># pipeline.py — one function</a:t>
            </a:r>
            <a:endParaRPr b="0" i="0" sz="2625" u="none" cap="none" strike="noStrike">
              <a:solidFill>
                <a:schemeClr val="dk1"/>
              </a:solidFill>
              <a:latin typeface="Calibri"/>
              <a:ea typeface="Calibri"/>
              <a:cs typeface="Calibri"/>
              <a:sym typeface="Calibri"/>
            </a:endParaRPr>
          </a:p>
        </p:txBody>
      </p:sp>
      <p:sp>
        <p:nvSpPr>
          <p:cNvPr id="1281" name="Google Shape;1281;p45"/>
          <p:cNvSpPr/>
          <p:nvPr/>
        </p:nvSpPr>
        <p:spPr>
          <a:xfrm>
            <a:off x="1466850" y="4969669"/>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C792EA"/>
              </a:buClr>
              <a:buSzPts val="2625"/>
              <a:buFont typeface="JetBrains Mono"/>
              <a:buNone/>
            </a:pPr>
            <a:r>
              <a:rPr b="0" i="0" lang="en-US" sz="2625" u="none" cap="none" strike="noStrike">
                <a:solidFill>
                  <a:srgbClr val="C792EA"/>
                </a:solidFill>
                <a:latin typeface="JetBrains Mono"/>
                <a:ea typeface="JetBrains Mono"/>
                <a:cs typeface="JetBrains Mono"/>
                <a:sym typeface="JetBrains Mono"/>
              </a:rPr>
              <a:t>def </a:t>
            </a:r>
            <a:r>
              <a:rPr b="0" i="0" lang="en-US" sz="2625" u="none" cap="none" strike="noStrike">
                <a:solidFill>
                  <a:srgbClr val="E8EAED"/>
                </a:solidFill>
                <a:latin typeface="JetBrains Mono"/>
                <a:ea typeface="JetBrains Mono"/>
                <a:cs typeface="JetBrains Mono"/>
                <a:sym typeface="JetBrains Mono"/>
              </a:rPr>
              <a:t>run(query: str) -&gt; None:</a:t>
            </a:r>
            <a:endParaRPr b="0" i="0" sz="2625" u="none" cap="none" strike="noStrike">
              <a:solidFill>
                <a:schemeClr val="dk1"/>
              </a:solidFill>
              <a:latin typeface="Calibri"/>
              <a:ea typeface="Calibri"/>
              <a:cs typeface="Calibri"/>
              <a:sym typeface="Calibri"/>
            </a:endParaRPr>
          </a:p>
        </p:txBody>
      </p:sp>
      <p:sp>
        <p:nvSpPr>
          <p:cNvPr id="1282" name="Google Shape;1282;p45"/>
          <p:cNvSpPr/>
          <p:nvPr/>
        </p:nvSpPr>
        <p:spPr>
          <a:xfrm>
            <a:off x="1466850" y="5586413"/>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E8EAED"/>
              </a:buClr>
              <a:buSzPts val="2625"/>
              <a:buFont typeface="JetBrains Mono"/>
              <a:buNone/>
            </a:pPr>
            <a:r>
              <a:rPr b="0" i="0" lang="en-US" sz="2625" u="none" cap="none" strike="noStrike">
                <a:solidFill>
                  <a:srgbClr val="E8EAED"/>
                </a:solidFill>
                <a:latin typeface="JetBrains Mono"/>
                <a:ea typeface="JetBrains Mono"/>
                <a:cs typeface="JetBrains Mono"/>
                <a:sym typeface="JetBrains Mono"/>
              </a:rPr>
              <a:t>chunks = retrieve(query)</a:t>
            </a:r>
            <a:r>
              <a:rPr b="0" i="0" lang="en-US" sz="2625" u="none" cap="none" strike="noStrike">
                <a:solidFill>
                  <a:srgbClr val="9AA0A6"/>
                </a:solidFill>
                <a:latin typeface="JetBrains Mono"/>
                <a:ea typeface="JetBrains Mono"/>
                <a:cs typeface="JetBrains Mono"/>
                <a:sym typeface="JetBrains Mono"/>
              </a:rPr>
              <a:t># retriever.py</a:t>
            </a:r>
            <a:endParaRPr b="0" i="0" sz="2625" u="none" cap="none" strike="noStrike">
              <a:solidFill>
                <a:schemeClr val="dk1"/>
              </a:solidFill>
              <a:latin typeface="Calibri"/>
              <a:ea typeface="Calibri"/>
              <a:cs typeface="Calibri"/>
              <a:sym typeface="Calibri"/>
            </a:endParaRPr>
          </a:p>
        </p:txBody>
      </p:sp>
      <p:sp>
        <p:nvSpPr>
          <p:cNvPr id="1283" name="Google Shape;1283;p45"/>
          <p:cNvSpPr/>
          <p:nvPr/>
        </p:nvSpPr>
        <p:spPr>
          <a:xfrm>
            <a:off x="1466850" y="6203156"/>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E8EAED"/>
              </a:buClr>
              <a:buSzPts val="2625"/>
              <a:buFont typeface="JetBrains Mono"/>
              <a:buNone/>
            </a:pPr>
            <a:r>
              <a:rPr b="0" i="0" lang="en-US" sz="2625" u="none" cap="none" strike="noStrike">
                <a:solidFill>
                  <a:srgbClr val="E8EAED"/>
                </a:solidFill>
                <a:latin typeface="JetBrains Mono"/>
                <a:ea typeface="JetBrains Mono"/>
                <a:cs typeface="JetBrains Mono"/>
                <a:sym typeface="JetBrains Mono"/>
              </a:rPr>
              <a:t>answer(query, chunks)</a:t>
            </a:r>
            <a:r>
              <a:rPr b="0" i="0" lang="en-US" sz="2625" u="none" cap="none" strike="noStrike">
                <a:solidFill>
                  <a:srgbClr val="9AA0A6"/>
                </a:solidFill>
                <a:latin typeface="JetBrains Mono"/>
                <a:ea typeface="JetBrains Mono"/>
                <a:cs typeface="JetBrains Mono"/>
                <a:sym typeface="JetBrains Mono"/>
              </a:rPr>
              <a:t># generator.py</a:t>
            </a:r>
            <a:endParaRPr b="0" i="0" sz="2625" u="none" cap="none" strike="noStrike">
              <a:solidFill>
                <a:schemeClr val="dk1"/>
              </a:solidFill>
              <a:latin typeface="Calibri"/>
              <a:ea typeface="Calibri"/>
              <a:cs typeface="Calibri"/>
              <a:sym typeface="Calibri"/>
            </a:endParaRPr>
          </a:p>
        </p:txBody>
      </p:sp>
      <p:sp>
        <p:nvSpPr>
          <p:cNvPr id="1284" name="Google Shape;1284;p45"/>
          <p:cNvSpPr/>
          <p:nvPr/>
        </p:nvSpPr>
        <p:spPr>
          <a:xfrm>
            <a:off x="1466850" y="6953250"/>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9AA0A6"/>
              </a:buClr>
              <a:buSzPts val="2625"/>
              <a:buFont typeface="JetBrains Mono"/>
              <a:buNone/>
            </a:pPr>
            <a:r>
              <a:rPr b="0" i="0" lang="en-US" sz="2625" u="none" cap="none" strike="noStrike">
                <a:solidFill>
                  <a:srgbClr val="9AA0A6"/>
                </a:solidFill>
                <a:latin typeface="JetBrains Mono"/>
                <a:ea typeface="JetBrains Mono"/>
                <a:cs typeface="JetBrains Mono"/>
                <a:sym typeface="JetBrains Mono"/>
              </a:rPr>
              <a:t># main.py — two modes via argparse</a:t>
            </a:r>
            <a:endParaRPr b="0" i="0" sz="2625" u="none" cap="none" strike="noStrike">
              <a:solidFill>
                <a:schemeClr val="dk1"/>
              </a:solidFill>
              <a:latin typeface="Calibri"/>
              <a:ea typeface="Calibri"/>
              <a:cs typeface="Calibri"/>
              <a:sym typeface="Calibri"/>
            </a:endParaRPr>
          </a:p>
        </p:txBody>
      </p:sp>
      <p:sp>
        <p:nvSpPr>
          <p:cNvPr id="1285" name="Google Shape;1285;p45"/>
          <p:cNvSpPr/>
          <p:nvPr/>
        </p:nvSpPr>
        <p:spPr>
          <a:xfrm>
            <a:off x="1466850" y="7569994"/>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C792EA"/>
              </a:buClr>
              <a:buSzPts val="2625"/>
              <a:buFont typeface="JetBrains Mono"/>
              <a:buNone/>
            </a:pPr>
            <a:r>
              <a:rPr b="0" i="0" lang="en-US" sz="2625" u="none" cap="none" strike="noStrike">
                <a:solidFill>
                  <a:srgbClr val="C792EA"/>
                </a:solidFill>
                <a:latin typeface="JetBrains Mono"/>
                <a:ea typeface="JetBrains Mono"/>
                <a:cs typeface="JetBrains Mono"/>
                <a:sym typeface="JetBrains Mono"/>
              </a:rPr>
              <a:t>if </a:t>
            </a:r>
            <a:r>
              <a:rPr b="0" i="0" lang="en-US" sz="2625" u="none" cap="none" strike="noStrike">
                <a:solidFill>
                  <a:srgbClr val="E8EAED"/>
                </a:solidFill>
                <a:latin typeface="JetBrains Mono"/>
                <a:ea typeface="JetBrains Mono"/>
                <a:cs typeface="JetBrains Mono"/>
                <a:sym typeface="JetBrains Mono"/>
              </a:rPr>
              <a:t>mode == "ingest": ingest(docs_dir="docs/")</a:t>
            </a:r>
            <a:endParaRPr b="0" i="0" sz="2625" u="none" cap="none" strike="noStrike">
              <a:solidFill>
                <a:schemeClr val="dk1"/>
              </a:solidFill>
              <a:latin typeface="Calibri"/>
              <a:ea typeface="Calibri"/>
              <a:cs typeface="Calibri"/>
              <a:sym typeface="Calibri"/>
            </a:endParaRPr>
          </a:p>
        </p:txBody>
      </p:sp>
      <p:sp>
        <p:nvSpPr>
          <p:cNvPr id="1286" name="Google Shape;1286;p45"/>
          <p:cNvSpPr/>
          <p:nvPr/>
        </p:nvSpPr>
        <p:spPr>
          <a:xfrm>
            <a:off x="1466850" y="8186738"/>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C792EA"/>
              </a:buClr>
              <a:buSzPts val="2625"/>
              <a:buFont typeface="JetBrains Mono"/>
              <a:buNone/>
            </a:pPr>
            <a:r>
              <a:rPr b="0" i="0" lang="en-US" sz="2625" u="none" cap="none" strike="noStrike">
                <a:solidFill>
                  <a:srgbClr val="C792EA"/>
                </a:solidFill>
                <a:latin typeface="JetBrains Mono"/>
                <a:ea typeface="JetBrains Mono"/>
                <a:cs typeface="JetBrains Mono"/>
                <a:sym typeface="JetBrains Mono"/>
              </a:rPr>
              <a:t>if </a:t>
            </a:r>
            <a:r>
              <a:rPr b="0" i="0" lang="en-US" sz="2625" u="none" cap="none" strike="noStrike">
                <a:solidFill>
                  <a:srgbClr val="E8EAED"/>
                </a:solidFill>
                <a:latin typeface="JetBrains Mono"/>
                <a:ea typeface="JetBrains Mono"/>
                <a:cs typeface="JetBrains Mono"/>
                <a:sym typeface="JetBrains Mono"/>
              </a:rPr>
              <a:t>mode == "chat":</a:t>
            </a:r>
            <a:endParaRPr b="0" i="0" sz="2625" u="none" cap="none" strike="noStrike">
              <a:solidFill>
                <a:schemeClr val="dk1"/>
              </a:solidFill>
              <a:latin typeface="Calibri"/>
              <a:ea typeface="Calibri"/>
              <a:cs typeface="Calibri"/>
              <a:sym typeface="Calibri"/>
            </a:endParaRPr>
          </a:p>
        </p:txBody>
      </p:sp>
      <p:sp>
        <p:nvSpPr>
          <p:cNvPr id="1287" name="Google Shape;1287;p45"/>
          <p:cNvSpPr/>
          <p:nvPr/>
        </p:nvSpPr>
        <p:spPr>
          <a:xfrm>
            <a:off x="1466850" y="8803481"/>
            <a:ext cx="15814929" cy="654844"/>
          </a:xfrm>
          <a:prstGeom prst="rect">
            <a:avLst/>
          </a:prstGeom>
          <a:noFill/>
          <a:ln>
            <a:noFill/>
          </a:ln>
        </p:spPr>
        <p:txBody>
          <a:bodyPr anchorCtr="0" anchor="t" bIns="25400" lIns="25400" spcFirstLastPara="1" rIns="25400" wrap="square" tIns="25400">
            <a:noAutofit/>
          </a:bodyPr>
          <a:lstStyle/>
          <a:p>
            <a:pPr indent="0" lvl="0" marL="0" marR="0" rtl="0" algn="l">
              <a:lnSpc>
                <a:spcPct val="137766"/>
              </a:lnSpc>
              <a:spcBef>
                <a:spcPts val="0"/>
              </a:spcBef>
              <a:spcAft>
                <a:spcPts val="0"/>
              </a:spcAft>
              <a:buClr>
                <a:srgbClr val="C792EA"/>
              </a:buClr>
              <a:buSzPts val="2625"/>
              <a:buFont typeface="JetBrains Mono"/>
              <a:buNone/>
            </a:pPr>
            <a:r>
              <a:rPr b="0" i="0" lang="en-US" sz="2625" u="none" cap="none" strike="noStrike">
                <a:solidFill>
                  <a:srgbClr val="C792EA"/>
                </a:solidFill>
                <a:latin typeface="JetBrains Mono"/>
                <a:ea typeface="JetBrains Mono"/>
                <a:cs typeface="JetBrains Mono"/>
                <a:sym typeface="JetBrains Mono"/>
              </a:rPr>
              <a:t>while </a:t>
            </a:r>
            <a:r>
              <a:rPr b="0" i="0" lang="en-US" sz="2625" u="none" cap="none" strike="noStrike">
                <a:solidFill>
                  <a:srgbClr val="E8EAED"/>
                </a:solidFill>
                <a:latin typeface="JetBrains Mono"/>
                <a:ea typeface="JetBrains Mono"/>
                <a:cs typeface="JetBrains Mono"/>
                <a:sym typeface="JetBrains Mono"/>
              </a:rPr>
              <a:t>True: pipeline.run(input(</a:t>
            </a:r>
            <a:r>
              <a:rPr b="0" i="0" lang="en-US" sz="2625" u="none" cap="none" strike="noStrike">
                <a:solidFill>
                  <a:srgbClr val="A3C57F"/>
                </a:solidFill>
                <a:latin typeface="JetBrains Mono"/>
                <a:ea typeface="JetBrains Mono"/>
                <a:cs typeface="JetBrains Mono"/>
                <a:sym typeface="JetBrains Mono"/>
              </a:rPr>
              <a:t>"You: "</a:t>
            </a:r>
            <a:r>
              <a:rPr b="0" i="0" lang="en-US" sz="2625" u="none" cap="none" strike="noStrike">
                <a:solidFill>
                  <a:srgbClr val="E8EAED"/>
                </a:solidFill>
                <a:latin typeface="JetBrains Mono"/>
                <a:ea typeface="JetBrains Mono"/>
                <a:cs typeface="JetBrains Mono"/>
                <a:sym typeface="JetBrains Mono"/>
              </a:rPr>
              <a:t>))</a:t>
            </a:r>
            <a:endParaRPr b="0" i="0" sz="2625"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2" name="Shape 1292"/>
        <p:cNvGrpSpPr/>
        <p:nvPr/>
      </p:nvGrpSpPr>
      <p:grpSpPr>
        <a:xfrm>
          <a:off x="0" y="0"/>
          <a:ext cx="0" cy="0"/>
          <a:chOff x="0" y="0"/>
          <a:chExt cx="0" cy="0"/>
        </a:xfrm>
      </p:grpSpPr>
      <p:sp>
        <p:nvSpPr>
          <p:cNvPr id="1293" name="Google Shape;1293;p46"/>
          <p:cNvSpPr/>
          <p:nvPr/>
        </p:nvSpPr>
        <p:spPr>
          <a:xfrm>
            <a:off x="1451850" y="1905000"/>
            <a:ext cx="4296000" cy="10002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274D71"/>
              </a:buClr>
              <a:buSzPts val="6300"/>
              <a:buFont typeface="Gabarito"/>
              <a:buNone/>
            </a:pPr>
            <a:r>
              <a:rPr b="1" i="0" lang="en-US" sz="6000" u="none" cap="none" strike="noStrike">
                <a:solidFill>
                  <a:srgbClr val="274D71"/>
                </a:solidFill>
                <a:latin typeface="Gabarito"/>
                <a:ea typeface="Gabarito"/>
                <a:cs typeface="Gabarito"/>
                <a:sym typeface="Gabarito"/>
              </a:rPr>
              <a:t>References</a:t>
            </a:r>
            <a:endParaRPr b="0" i="0" sz="6000" u="none" cap="none" strike="noStrike">
              <a:solidFill>
                <a:schemeClr val="dk1"/>
              </a:solidFill>
              <a:latin typeface="Calibri"/>
              <a:ea typeface="Calibri"/>
              <a:cs typeface="Calibri"/>
              <a:sym typeface="Calibri"/>
            </a:endParaRPr>
          </a:p>
        </p:txBody>
      </p:sp>
      <p:sp>
        <p:nvSpPr>
          <p:cNvPr id="1294" name="Google Shape;1294;p46"/>
          <p:cNvSpPr/>
          <p:nvPr/>
        </p:nvSpPr>
        <p:spPr>
          <a:xfrm>
            <a:off x="1451850" y="389615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295" name="Google Shape;1295;p46"/>
          <p:cNvSpPr/>
          <p:nvPr/>
        </p:nvSpPr>
        <p:spPr>
          <a:xfrm>
            <a:off x="1451850" y="336275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3">
                  <a:extLst>
                    <a:ext uri="{A12FA001-AC4F-418D-AE19-62706E023703}">
                      <ahyp:hlinkClr val="tx"/>
                    </a:ext>
                  </a:extLst>
                </a:hlinkClick>
              </a:rPr>
              <a:t>What is RAG (Retrieval-Augmented Generation)?</a:t>
            </a:r>
            <a:endParaRPr b="0" i="0" sz="2625" u="none" cap="none" strike="noStrike">
              <a:solidFill>
                <a:srgbClr val="1E4E79"/>
              </a:solidFill>
              <a:latin typeface="Calibri"/>
              <a:ea typeface="Calibri"/>
              <a:cs typeface="Calibri"/>
              <a:sym typeface="Calibri"/>
            </a:endParaRPr>
          </a:p>
        </p:txBody>
      </p:sp>
      <p:sp>
        <p:nvSpPr>
          <p:cNvPr id="1296" name="Google Shape;1296;p46"/>
          <p:cNvSpPr/>
          <p:nvPr/>
        </p:nvSpPr>
        <p:spPr>
          <a:xfrm>
            <a:off x="1451850" y="460100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297" name="Google Shape;1297;p46"/>
          <p:cNvSpPr/>
          <p:nvPr/>
        </p:nvSpPr>
        <p:spPr>
          <a:xfrm>
            <a:off x="1451850" y="406760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4">
                  <a:extLst>
                    <a:ext uri="{A12FA001-AC4F-418D-AE19-62706E023703}">
                      <ahyp:hlinkClr val="tx"/>
                    </a:ext>
                  </a:extLst>
                </a:hlinkClick>
              </a:rPr>
              <a:t>RAG Expansion — Naive RAG, Advanced RAG, and Modular RAG Architecture</a:t>
            </a:r>
            <a:endParaRPr b="0" i="0" sz="2625" u="none" cap="none" strike="noStrike">
              <a:solidFill>
                <a:srgbClr val="1E4E79"/>
              </a:solidFill>
              <a:latin typeface="Calibri"/>
              <a:ea typeface="Calibri"/>
              <a:cs typeface="Calibri"/>
              <a:sym typeface="Calibri"/>
            </a:endParaRPr>
          </a:p>
        </p:txBody>
      </p:sp>
      <p:sp>
        <p:nvSpPr>
          <p:cNvPr id="1298" name="Google Shape;1298;p46"/>
          <p:cNvSpPr/>
          <p:nvPr/>
        </p:nvSpPr>
        <p:spPr>
          <a:xfrm>
            <a:off x="1451850" y="530585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299" name="Google Shape;1299;p46"/>
          <p:cNvSpPr/>
          <p:nvPr/>
        </p:nvSpPr>
        <p:spPr>
          <a:xfrm>
            <a:off x="1451850" y="477245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5">
                  <a:extLst>
                    <a:ext uri="{A12FA001-AC4F-418D-AE19-62706E023703}">
                      <ahyp:hlinkClr val="tx"/>
                    </a:ext>
                  </a:extLst>
                </a:hlinkClick>
              </a:rPr>
              <a:t>RAG Architecture Explained: A Comprehensive Guide</a:t>
            </a:r>
            <a:endParaRPr b="0" i="0" sz="2625" u="none" cap="none" strike="noStrike">
              <a:solidFill>
                <a:srgbClr val="1E4E79"/>
              </a:solidFill>
              <a:latin typeface="Calibri"/>
              <a:ea typeface="Calibri"/>
              <a:cs typeface="Calibri"/>
              <a:sym typeface="Calibri"/>
            </a:endParaRPr>
          </a:p>
        </p:txBody>
      </p:sp>
      <p:sp>
        <p:nvSpPr>
          <p:cNvPr id="1300" name="Google Shape;1300;p46"/>
          <p:cNvSpPr/>
          <p:nvPr/>
        </p:nvSpPr>
        <p:spPr>
          <a:xfrm>
            <a:off x="1451850" y="601070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301" name="Google Shape;1301;p46"/>
          <p:cNvSpPr/>
          <p:nvPr/>
        </p:nvSpPr>
        <p:spPr>
          <a:xfrm>
            <a:off x="1451850" y="547730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6">
                  <a:extLst>
                    <a:ext uri="{A12FA001-AC4F-418D-AE19-62706E023703}">
                      <ahyp:hlinkClr val="tx"/>
                    </a:ext>
                  </a:extLst>
                </a:hlinkClick>
              </a:rPr>
              <a:t>RAG Pipeline </a:t>
            </a:r>
            <a:r>
              <a:rPr b="0" i="0" lang="en-US" sz="2625" u="none" cap="none" strike="noStrike">
                <a:solidFill>
                  <a:srgbClr val="1E4E79"/>
                </a:solidFill>
                <a:latin typeface="Gabarito"/>
                <a:ea typeface="Gabarito"/>
                <a:cs typeface="Gabarito"/>
                <a:sym typeface="Gabarito"/>
              </a:rPr>
              <a:t>&amp; </a:t>
            </a:r>
            <a:r>
              <a:rPr b="0" i="0" lang="en-US" sz="2625" u="sng" cap="none" strike="noStrike">
                <a:solidFill>
                  <a:srgbClr val="1E4E79"/>
                </a:solidFill>
                <a:latin typeface="Gabarito"/>
                <a:ea typeface="Gabarito"/>
                <a:cs typeface="Gabarito"/>
                <a:sym typeface="Gabarito"/>
                <a:hlinkClick r:id="rId7">
                  <a:extLst>
                    <a:ext uri="{A12FA001-AC4F-418D-AE19-62706E023703}">
                      <ahyp:hlinkClr val="tx"/>
                    </a:ext>
                  </a:extLst>
                </a:hlinkClick>
              </a:rPr>
              <a:t>Chunking Strategies for RAG</a:t>
            </a:r>
            <a:endParaRPr b="0" i="0" sz="2625" u="none" cap="none" strike="noStrike">
              <a:solidFill>
                <a:srgbClr val="1E4E79"/>
              </a:solidFill>
              <a:latin typeface="Calibri"/>
              <a:ea typeface="Calibri"/>
              <a:cs typeface="Calibri"/>
              <a:sym typeface="Calibri"/>
            </a:endParaRPr>
          </a:p>
        </p:txBody>
      </p:sp>
      <p:sp>
        <p:nvSpPr>
          <p:cNvPr id="1302" name="Google Shape;1302;p46"/>
          <p:cNvSpPr/>
          <p:nvPr/>
        </p:nvSpPr>
        <p:spPr>
          <a:xfrm>
            <a:off x="1451850" y="671555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303" name="Google Shape;1303;p46"/>
          <p:cNvSpPr/>
          <p:nvPr/>
        </p:nvSpPr>
        <p:spPr>
          <a:xfrm>
            <a:off x="1451850" y="618215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8">
                  <a:extLst>
                    <a:ext uri="{A12FA001-AC4F-418D-AE19-62706E023703}">
                      <ahyp:hlinkClr val="tx"/>
                    </a:ext>
                  </a:extLst>
                </a:hlinkClick>
              </a:rPr>
              <a:t>End-to-End RAG Workflow: How Retrieval-Augmented Generation Works</a:t>
            </a:r>
            <a:endParaRPr b="0" i="0" sz="2625" u="none" cap="none" strike="noStrike">
              <a:solidFill>
                <a:srgbClr val="1E4E79"/>
              </a:solidFill>
              <a:latin typeface="Calibri"/>
              <a:ea typeface="Calibri"/>
              <a:cs typeface="Calibri"/>
              <a:sym typeface="Calibri"/>
            </a:endParaRPr>
          </a:p>
        </p:txBody>
      </p:sp>
      <p:sp>
        <p:nvSpPr>
          <p:cNvPr id="1304" name="Google Shape;1304;p46"/>
          <p:cNvSpPr/>
          <p:nvPr/>
        </p:nvSpPr>
        <p:spPr>
          <a:xfrm>
            <a:off x="1451850" y="742040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305" name="Google Shape;1305;p46"/>
          <p:cNvSpPr/>
          <p:nvPr/>
        </p:nvSpPr>
        <p:spPr>
          <a:xfrm>
            <a:off x="1451850" y="688700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9">
                  <a:extLst>
                    <a:ext uri="{A12FA001-AC4F-418D-AE19-62706E023703}">
                      <ahyp:hlinkClr val="tx"/>
                    </a:ext>
                  </a:extLst>
                </a:hlinkClick>
              </a:rPr>
              <a:t>Open-Source Embedding Models for RAG</a:t>
            </a:r>
            <a:endParaRPr b="0" i="0" sz="2625" u="none" cap="none" strike="noStrike">
              <a:solidFill>
                <a:srgbClr val="1E4E79"/>
              </a:solidFill>
              <a:latin typeface="Calibri"/>
              <a:ea typeface="Calibri"/>
              <a:cs typeface="Calibri"/>
              <a:sym typeface="Calibri"/>
            </a:endParaRPr>
          </a:p>
        </p:txBody>
      </p:sp>
      <p:sp>
        <p:nvSpPr>
          <p:cNvPr id="1306" name="Google Shape;1306;p46"/>
          <p:cNvSpPr/>
          <p:nvPr/>
        </p:nvSpPr>
        <p:spPr>
          <a:xfrm>
            <a:off x="1451850" y="8125250"/>
            <a:ext cx="16192500" cy="19200"/>
          </a:xfrm>
          <a:prstGeom prst="rect">
            <a:avLst/>
          </a:prstGeom>
          <a:solidFill>
            <a:srgbClr val="EDEAE0"/>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b="0" i="0" sz="1400" u="none" cap="none" strike="noStrike">
              <a:solidFill>
                <a:srgbClr val="1E4E79"/>
              </a:solidFill>
              <a:latin typeface="Arial"/>
              <a:ea typeface="Arial"/>
              <a:cs typeface="Arial"/>
              <a:sym typeface="Arial"/>
            </a:endParaRPr>
          </a:p>
        </p:txBody>
      </p:sp>
      <p:sp>
        <p:nvSpPr>
          <p:cNvPr id="1307" name="Google Shape;1307;p46"/>
          <p:cNvSpPr/>
          <p:nvPr/>
        </p:nvSpPr>
        <p:spPr>
          <a:xfrm>
            <a:off x="1451850" y="759185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Char char="●"/>
            </a:pPr>
            <a:r>
              <a:rPr b="0" i="0" lang="en-US" sz="2625" u="sng" cap="none" strike="noStrike">
                <a:solidFill>
                  <a:srgbClr val="1E4E79"/>
                </a:solidFill>
                <a:latin typeface="Gabarito"/>
                <a:ea typeface="Gabarito"/>
                <a:cs typeface="Gabarito"/>
                <a:sym typeface="Gabarito"/>
                <a:hlinkClick r:id="rId10">
                  <a:extLst>
                    <a:ext uri="{A12FA001-AC4F-418D-AE19-62706E023703}">
                      <ahyp:hlinkClr val="tx"/>
                    </a:ext>
                  </a:extLst>
                </a:hlinkClick>
              </a:rPr>
              <a:t>Vector Database Setup</a:t>
            </a:r>
            <a:r>
              <a:rPr lang="en-US" sz="2625">
                <a:solidFill>
                  <a:srgbClr val="1E4E79"/>
                </a:solidFill>
                <a:latin typeface="Calibri"/>
                <a:ea typeface="Calibri"/>
                <a:cs typeface="Calibri"/>
                <a:sym typeface="Calibri"/>
              </a:rPr>
              <a:t> , </a:t>
            </a:r>
            <a:r>
              <a:rPr lang="en-US" sz="2625" u="sng">
                <a:solidFill>
                  <a:srgbClr val="1E4E79"/>
                </a:solidFill>
                <a:latin typeface="Gabarito"/>
                <a:ea typeface="Gabarito"/>
                <a:cs typeface="Gabarito"/>
                <a:sym typeface="Gabarito"/>
                <a:hlinkClick r:id="rId11">
                  <a:extLst>
                    <a:ext uri="{A12FA001-AC4F-418D-AE19-62706E023703}">
                      <ahyp:hlinkClr val="tx"/>
                    </a:ext>
                  </a:extLst>
                </a:hlinkClick>
              </a:rPr>
              <a:t>chromaD</a:t>
            </a:r>
            <a:endParaRPr sz="2625" u="sng">
              <a:solidFill>
                <a:srgbClr val="1E4E79"/>
              </a:solidFill>
              <a:latin typeface="Gabarito"/>
              <a:ea typeface="Gabarito"/>
              <a:cs typeface="Gabarito"/>
              <a:sym typeface="Gabarito"/>
            </a:endParaRPr>
          </a:p>
        </p:txBody>
      </p:sp>
      <p:sp>
        <p:nvSpPr>
          <p:cNvPr id="1308" name="Google Shape;1308;p46"/>
          <p:cNvSpPr/>
          <p:nvPr/>
        </p:nvSpPr>
        <p:spPr>
          <a:xfrm>
            <a:off x="1451850" y="8296700"/>
            <a:ext cx="16678200" cy="438300"/>
          </a:xfrm>
          <a:prstGeom prst="rect">
            <a:avLst/>
          </a:prstGeom>
          <a:noFill/>
          <a:ln>
            <a:noFill/>
          </a:ln>
        </p:spPr>
        <p:txBody>
          <a:bodyPr anchorCtr="0" anchor="t" bIns="25400" lIns="25400" spcFirstLastPara="1" rIns="25400" wrap="square" tIns="25400">
            <a:noAutofit/>
          </a:bodyPr>
          <a:lstStyle/>
          <a:p>
            <a:pPr indent="-395288" lvl="0" marL="457200" marR="0" rtl="0" algn="l">
              <a:lnSpc>
                <a:spcPct val="100000"/>
              </a:lnSpc>
              <a:spcBef>
                <a:spcPts val="0"/>
              </a:spcBef>
              <a:spcAft>
                <a:spcPts val="0"/>
              </a:spcAft>
              <a:buClr>
                <a:srgbClr val="1E4E79"/>
              </a:buClr>
              <a:buSzPts val="2625"/>
              <a:buFont typeface="Gabarito"/>
              <a:buChar char="●"/>
            </a:pPr>
            <a:r>
              <a:rPr b="0" i="0" lang="en-US" sz="2625" u="sng" cap="none" strike="noStrike">
                <a:solidFill>
                  <a:srgbClr val="1E4E79"/>
                </a:solidFill>
                <a:latin typeface="Gabarito"/>
                <a:ea typeface="Gabarito"/>
                <a:cs typeface="Gabarito"/>
                <a:sym typeface="Gabarito"/>
                <a:hlinkClick r:id="rId12">
                  <a:extLst>
                    <a:ext uri="{A12FA001-AC4F-418D-AE19-62706E023703}">
                      <ahyp:hlinkClr val="tx"/>
                    </a:ext>
                  </a:extLst>
                </a:hlinkClick>
              </a:rPr>
              <a:t>Retrieval and Reranking</a:t>
            </a:r>
            <a:endParaRPr b="0" i="0" sz="2625" u="none" cap="none" strike="noStrike">
              <a:solidFill>
                <a:srgbClr val="1E4E79"/>
              </a:solidFill>
              <a:latin typeface="Calibri"/>
              <a:ea typeface="Calibri"/>
              <a:cs typeface="Calibri"/>
              <a:sym typeface="Calibri"/>
            </a:endParaRPr>
          </a:p>
        </p:txBody>
      </p:sp>
      <p:pic>
        <p:nvPicPr>
          <p:cNvPr descr="preencoded.png" id="1309" name="Google Shape;1309;p46"/>
          <p:cNvPicPr preferRelativeResize="0"/>
          <p:nvPr/>
        </p:nvPicPr>
        <p:blipFill rotWithShape="1">
          <a:blip r:embed="rId13">
            <a:alphaModFix/>
          </a:blip>
          <a:srcRect b="0" l="0" r="0" t="0"/>
          <a:stretch/>
        </p:blipFill>
        <p:spPr>
          <a:xfrm>
            <a:off x="16202025" y="952500"/>
            <a:ext cx="1066800" cy="130418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4" name="Shape 1314"/>
        <p:cNvGrpSpPr/>
        <p:nvPr/>
      </p:nvGrpSpPr>
      <p:grpSpPr>
        <a:xfrm>
          <a:off x="0" y="0"/>
          <a:ext cx="0" cy="0"/>
          <a:chOff x="0" y="0"/>
          <a:chExt cx="0" cy="0"/>
        </a:xfrm>
      </p:grpSpPr>
      <p:sp>
        <p:nvSpPr>
          <p:cNvPr id="1315" name="Google Shape;1315;g3f77afb2111_0_1"/>
          <p:cNvSpPr/>
          <p:nvPr/>
        </p:nvSpPr>
        <p:spPr>
          <a:xfrm>
            <a:off x="5508600" y="4645950"/>
            <a:ext cx="7270800" cy="1564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74D71"/>
              </a:buClr>
              <a:buSzPts val="6600"/>
              <a:buFont typeface="Gabarito"/>
              <a:buNone/>
            </a:pPr>
            <a:r>
              <a:rPr b="1" lang="en-US" sz="10000">
                <a:solidFill>
                  <a:srgbClr val="274D71"/>
                </a:solidFill>
                <a:latin typeface="Gabarito"/>
                <a:ea typeface="Gabarito"/>
                <a:cs typeface="Gabarito"/>
                <a:sym typeface="Gabarito"/>
              </a:rPr>
              <a:t>THANK YOU</a:t>
            </a:r>
            <a:endParaRPr b="0" i="0" sz="10000" u="none" cap="none" strike="noStrike">
              <a:solidFill>
                <a:srgbClr val="000000"/>
              </a:solidFill>
              <a:latin typeface="Calibri"/>
              <a:ea typeface="Calibri"/>
              <a:cs typeface="Calibri"/>
              <a:sym typeface="Calibri"/>
            </a:endParaRPr>
          </a:p>
        </p:txBody>
      </p:sp>
      <p:sp>
        <p:nvSpPr>
          <p:cNvPr id="1316" name="Google Shape;1316;g3f77afb2111_0_1"/>
          <p:cNvSpPr/>
          <p:nvPr/>
        </p:nvSpPr>
        <p:spPr>
          <a:xfrm>
            <a:off x="6927300" y="6210150"/>
            <a:ext cx="4433400" cy="1031100"/>
          </a:xfrm>
          <a:prstGeom prst="roundRect">
            <a:avLst>
              <a:gd fmla="val 9743"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u="sng">
                <a:solidFill>
                  <a:schemeClr val="accent2"/>
                </a:solidFill>
                <a:latin typeface="Gabarito"/>
                <a:ea typeface="Gabarito"/>
                <a:cs typeface="Gabarito"/>
                <a:sym typeface="Gabarito"/>
              </a:rPr>
              <a:t>Practice makes perfect</a:t>
            </a:r>
            <a:r>
              <a:rPr lang="en-US" sz="100" u="sng">
                <a:solidFill>
                  <a:schemeClr val="accent2"/>
                </a:solidFill>
              </a:rPr>
              <a:t> </a:t>
            </a:r>
            <a:endParaRPr sz="100" u="sng">
              <a:solidFill>
                <a:schemeClr val="accent2"/>
              </a:solidFill>
            </a:endParaRPr>
          </a:p>
        </p:txBody>
      </p:sp>
      <p:pic>
        <p:nvPicPr>
          <p:cNvPr descr="preencoded.png" id="1317" name="Google Shape;1317;g3f77afb2111_0_1"/>
          <p:cNvPicPr preferRelativeResize="0"/>
          <p:nvPr/>
        </p:nvPicPr>
        <p:blipFill rotWithShape="1">
          <a:blip r:embed="rId3">
            <a:alphaModFix/>
          </a:blip>
          <a:srcRect b="0" l="0" r="0" t="0"/>
          <a:stretch/>
        </p:blipFill>
        <p:spPr>
          <a:xfrm>
            <a:off x="628650" y="600075"/>
            <a:ext cx="7248525" cy="2444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coreProperties>
</file>